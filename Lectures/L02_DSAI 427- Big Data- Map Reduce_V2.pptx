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3"/>
  </p:notesMasterIdLst>
  <p:sldIdLst>
    <p:sldId id="256" r:id="rId2"/>
    <p:sldId id="257" r:id="rId3"/>
    <p:sldId id="260" r:id="rId4"/>
    <p:sldId id="261" r:id="rId5"/>
    <p:sldId id="262" r:id="rId6"/>
    <p:sldId id="263" r:id="rId7"/>
    <p:sldId id="274" r:id="rId8"/>
    <p:sldId id="264" r:id="rId9"/>
    <p:sldId id="265" r:id="rId10"/>
    <p:sldId id="266" r:id="rId11"/>
    <p:sldId id="303" r:id="rId12"/>
    <p:sldId id="267" r:id="rId13"/>
    <p:sldId id="269" r:id="rId14"/>
    <p:sldId id="305" r:id="rId15"/>
    <p:sldId id="306" r:id="rId16"/>
    <p:sldId id="283" r:id="rId17"/>
    <p:sldId id="316" r:id="rId18"/>
    <p:sldId id="270" r:id="rId19"/>
    <p:sldId id="271" r:id="rId20"/>
    <p:sldId id="302" r:id="rId21"/>
    <p:sldId id="304" r:id="rId22"/>
    <p:sldId id="273" r:id="rId23"/>
    <p:sldId id="275" r:id="rId24"/>
    <p:sldId id="307" r:id="rId25"/>
    <p:sldId id="308" r:id="rId26"/>
    <p:sldId id="284" r:id="rId27"/>
    <p:sldId id="309" r:id="rId28"/>
    <p:sldId id="282" r:id="rId29"/>
    <p:sldId id="310" r:id="rId30"/>
    <p:sldId id="311" r:id="rId31"/>
    <p:sldId id="281" r:id="rId32"/>
    <p:sldId id="272" r:id="rId33"/>
    <p:sldId id="285" r:id="rId34"/>
    <p:sldId id="286" r:id="rId35"/>
    <p:sldId id="287" r:id="rId36"/>
    <p:sldId id="288" r:id="rId37"/>
    <p:sldId id="289" r:id="rId38"/>
    <p:sldId id="277" r:id="rId39"/>
    <p:sldId id="290" r:id="rId40"/>
    <p:sldId id="291" r:id="rId41"/>
    <p:sldId id="292" r:id="rId42"/>
    <p:sldId id="294" r:id="rId43"/>
    <p:sldId id="295" r:id="rId44"/>
    <p:sldId id="298" r:id="rId45"/>
    <p:sldId id="317" r:id="rId46"/>
    <p:sldId id="299" r:id="rId47"/>
    <p:sldId id="313" r:id="rId48"/>
    <p:sldId id="314" r:id="rId49"/>
    <p:sldId id="300" r:id="rId50"/>
    <p:sldId id="301" r:id="rId51"/>
    <p:sldId id="315"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14" autoAdjust="0"/>
    <p:restoredTop sz="65426" autoAdjust="0"/>
  </p:normalViewPr>
  <p:slideViewPr>
    <p:cSldViewPr snapToGrid="0">
      <p:cViewPr varScale="1">
        <p:scale>
          <a:sx n="44" d="100"/>
          <a:sy n="44" d="100"/>
        </p:scale>
        <p:origin x="960" y="40"/>
      </p:cViewPr>
      <p:guideLst/>
    </p:cSldViewPr>
  </p:slideViewPr>
  <p:notesTextViewPr>
    <p:cViewPr>
      <p:scale>
        <a:sx n="1" d="1"/>
        <a:sy n="1" d="1"/>
      </p:scale>
      <p:origin x="0" y="0"/>
    </p:cViewPr>
  </p:notesTextViewPr>
  <p:sorterViewPr>
    <p:cViewPr>
      <p:scale>
        <a:sx n="100" d="100"/>
        <a:sy n="100" d="100"/>
      </p:scale>
      <p:origin x="0" y="-549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911D21-B03E-47ED-B043-AFEDB84E8537}" type="datetimeFigureOut">
              <a:rPr lang="en-US" smtClean="0"/>
              <a:t>3/8/2026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363088-F16C-4FAF-8BB4-7C6C9F3D1EC9}" type="slidenum">
              <a:rPr lang="en-US" smtClean="0"/>
              <a:t>‹#›</a:t>
            </a:fld>
            <a:endParaRPr lang="en-US"/>
          </a:p>
        </p:txBody>
      </p:sp>
    </p:spTree>
    <p:extLst>
      <p:ext uri="{BB962C8B-B14F-4D97-AF65-F5344CB8AC3E}">
        <p14:creationId xmlns:p14="http://schemas.microsoft.com/office/powerpoint/2010/main" val="9463126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s://data-flair.training/blogs/hadoop-inputformat-types/" TargetMode="External"/><Relationship Id="rId2" Type="http://schemas.openxmlformats.org/officeDocument/2006/relationships/slide" Target="../slides/slide25.xml"/><Relationship Id="rId1" Type="http://schemas.openxmlformats.org/officeDocument/2006/relationships/notesMaster" Target="../notesMasters/notesMaster1.xml"/><Relationship Id="rId5" Type="http://schemas.openxmlformats.org/officeDocument/2006/relationships/hyperlink" Target="https://data-flair.training/blogs/how-hadoop-mapreduce-works/" TargetMode="External"/><Relationship Id="rId4" Type="http://schemas.openxmlformats.org/officeDocument/2006/relationships/hyperlink" Target="https://data-flair.training/blogs/comprehensive-hdfs-guide-introduction-architecture-data-read-write-tutorial/" TargetMode="Externa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1</a:t>
            </a:fld>
            <a:endParaRPr lang="en-US"/>
          </a:p>
        </p:txBody>
      </p:sp>
    </p:spTree>
    <p:extLst>
      <p:ext uri="{BB962C8B-B14F-4D97-AF65-F5344CB8AC3E}">
        <p14:creationId xmlns:p14="http://schemas.microsoft.com/office/powerpoint/2010/main" val="15224611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2</a:t>
            </a:fld>
            <a:endParaRPr lang="en-US"/>
          </a:p>
        </p:txBody>
      </p:sp>
    </p:spTree>
    <p:extLst>
      <p:ext uri="{BB962C8B-B14F-4D97-AF65-F5344CB8AC3E}">
        <p14:creationId xmlns:p14="http://schemas.microsoft.com/office/powerpoint/2010/main" val="1154529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smtClean="0">
                <a:solidFill>
                  <a:schemeClr val="tx1"/>
                </a:solidFill>
                <a:effectLst/>
                <a:latin typeface="+mn-lt"/>
                <a:ea typeface="+mn-ea"/>
                <a:cs typeface="+mn-cs"/>
              </a:rPr>
              <a:t>An abstraction that specifies how parallel tasks are created, coordinated, and executed.</a:t>
            </a:r>
          </a:p>
          <a:p>
            <a:endParaRPr lang="en-US" sz="1200" b="1" kern="1200" dirty="0" smtClean="0">
              <a:solidFill>
                <a:schemeClr val="tx1"/>
              </a:solidFill>
              <a:effectLst/>
              <a:latin typeface="+mn-lt"/>
              <a:ea typeface="+mn-ea"/>
              <a:cs typeface="+mn-cs"/>
            </a:endParaRPr>
          </a:p>
          <a:p>
            <a:r>
              <a:rPr lang="en-US" sz="1200" b="1" kern="1200" dirty="0" smtClean="0">
                <a:solidFill>
                  <a:schemeClr val="tx1"/>
                </a:solidFill>
                <a:effectLst/>
                <a:latin typeface="+mn-lt"/>
                <a:ea typeface="+mn-ea"/>
                <a:cs typeface="+mn-cs"/>
              </a:rPr>
              <a:t>Frameworks that specify how parallel processes interact, communicate, and synchronize. </a:t>
            </a:r>
          </a:p>
          <a:p>
            <a:endParaRPr lang="en-US" sz="1200" b="1"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 parallel programming model provides the conceptual framework for dividing large-scale data processing tasks into smaller concurrent operations that run across distributed nodes or parallel processors, while handling coordination, communication, and synchronization.</a:t>
            </a:r>
          </a:p>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3</a:t>
            </a:fld>
            <a:endParaRPr lang="en-US"/>
          </a:p>
        </p:txBody>
      </p:sp>
    </p:spTree>
    <p:extLst>
      <p:ext uri="{BB962C8B-B14F-4D97-AF65-F5344CB8AC3E}">
        <p14:creationId xmlns:p14="http://schemas.microsoft.com/office/powerpoint/2010/main" val="39760757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4</a:t>
            </a:fld>
            <a:endParaRPr lang="en-US"/>
          </a:p>
        </p:txBody>
      </p:sp>
    </p:spTree>
    <p:extLst>
      <p:ext uri="{BB962C8B-B14F-4D97-AF65-F5344CB8AC3E}">
        <p14:creationId xmlns:p14="http://schemas.microsoft.com/office/powerpoint/2010/main" val="34740636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Each process:</a:t>
            </a:r>
          </a:p>
          <a:p>
            <a:r>
              <a:rPr lang="en-US" dirty="0" smtClean="0"/>
              <a:t>Has its own local memory</a:t>
            </a:r>
          </a:p>
          <a:p>
            <a:r>
              <a:rPr lang="en-US" dirty="0" smtClean="0"/>
              <a:t>Communicates by explicitly sending/receiving messages</a:t>
            </a:r>
          </a:p>
          <a:p>
            <a:r>
              <a:rPr lang="en-US" dirty="0" smtClean="0"/>
              <a:t>There is </a:t>
            </a:r>
            <a:r>
              <a:rPr lang="en-US" b="1" dirty="0" smtClean="0"/>
              <a:t>no shared memory</a:t>
            </a:r>
            <a:r>
              <a:rPr lang="en-US" dirty="0" smtClean="0"/>
              <a:t>.</a:t>
            </a:r>
          </a:p>
          <a:p>
            <a:endParaRPr lang="en-US" dirty="0" smtClean="0"/>
          </a:p>
          <a:p>
            <a:r>
              <a:rPr lang="en-US" dirty="0" smtClean="0"/>
              <a:t>Process A → sends data → Process B</a:t>
            </a:r>
            <a:br>
              <a:rPr lang="en-US" dirty="0" smtClean="0"/>
            </a:br>
            <a:r>
              <a:rPr lang="en-US" dirty="0" smtClean="0"/>
              <a:t>Process B → sends result → Process A</a:t>
            </a:r>
          </a:p>
          <a:p>
            <a:r>
              <a:rPr lang="en-US" dirty="0" smtClean="0"/>
              <a:t>Communication is controlled by the programmer.</a:t>
            </a:r>
          </a:p>
          <a:p>
            <a:endParaRPr lang="en-US" dirty="0" smtClean="0"/>
          </a:p>
          <a:p>
            <a:r>
              <a:rPr lang="en-US" b="1" dirty="0" smtClean="0"/>
              <a:t>🔹 Characteristics</a:t>
            </a:r>
          </a:p>
          <a:p>
            <a:r>
              <a:rPr lang="en-US" dirty="0" smtClean="0"/>
              <a:t>-</a:t>
            </a:r>
            <a:r>
              <a:rPr lang="en-US" baseline="0" dirty="0" smtClean="0"/>
              <a:t> </a:t>
            </a:r>
            <a:r>
              <a:rPr lang="en-US" dirty="0" smtClean="0"/>
              <a:t>High scalability</a:t>
            </a:r>
            <a:br>
              <a:rPr lang="en-US" dirty="0" smtClean="0"/>
            </a:br>
            <a:r>
              <a:rPr lang="en-US" dirty="0" smtClean="0"/>
              <a:t>-</a:t>
            </a:r>
            <a:r>
              <a:rPr lang="en-US" baseline="0" dirty="0" smtClean="0"/>
              <a:t> </a:t>
            </a:r>
            <a:r>
              <a:rPr lang="en-US" dirty="0" smtClean="0"/>
              <a:t>Works across machines</a:t>
            </a:r>
            <a:br>
              <a:rPr lang="en-US" dirty="0" smtClean="0"/>
            </a:br>
            <a:r>
              <a:rPr lang="en-US" dirty="0" smtClean="0"/>
              <a:t>-</a:t>
            </a:r>
            <a:r>
              <a:rPr lang="en-US" baseline="0" dirty="0" smtClean="0"/>
              <a:t> </a:t>
            </a:r>
            <a:r>
              <a:rPr lang="en-US" dirty="0" smtClean="0"/>
              <a:t>Complex to program</a:t>
            </a:r>
            <a:br>
              <a:rPr lang="en-US" dirty="0" smtClean="0"/>
            </a:br>
            <a:r>
              <a:rPr lang="en-US" dirty="0" smtClean="0"/>
              <a:t>-</a:t>
            </a:r>
            <a:r>
              <a:rPr lang="en-US" baseline="0" dirty="0" smtClean="0"/>
              <a:t> </a:t>
            </a:r>
            <a:r>
              <a:rPr lang="en-US" dirty="0" smtClean="0"/>
              <a:t>Programmer manages communication</a:t>
            </a:r>
          </a:p>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5</a:t>
            </a:fld>
            <a:endParaRPr lang="en-US"/>
          </a:p>
        </p:txBody>
      </p:sp>
    </p:spTree>
    <p:extLst>
      <p:ext uri="{BB962C8B-B14F-4D97-AF65-F5344CB8AC3E}">
        <p14:creationId xmlns:p14="http://schemas.microsoft.com/office/powerpoint/2010/main" val="32546369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Same operation applied to multiple data elements simultaneously.</a:t>
            </a:r>
          </a:p>
          <a:p>
            <a:r>
              <a:rPr lang="en-US" dirty="0" smtClean="0"/>
              <a:t>The data is partitioned automatically.</a:t>
            </a:r>
          </a:p>
          <a:p>
            <a:endParaRPr lang="en-US" dirty="0" smtClean="0"/>
          </a:p>
          <a:p>
            <a:r>
              <a:rPr lang="en-US" dirty="0" smtClean="0"/>
              <a:t>Instead of writing:</a:t>
            </a:r>
          </a:p>
          <a:p>
            <a:r>
              <a:rPr lang="en-US" dirty="0" smtClean="0"/>
              <a:t>“Send data to process 2”</a:t>
            </a:r>
          </a:p>
          <a:p>
            <a:r>
              <a:rPr lang="en-US" dirty="0" smtClean="0"/>
              <a:t>You write:</a:t>
            </a:r>
          </a:p>
          <a:p>
            <a:r>
              <a:rPr lang="en-US" dirty="0" smtClean="0"/>
              <a:t>“Apply this function to all elements”</a:t>
            </a:r>
          </a:p>
          <a:p>
            <a:endParaRPr lang="en-US" dirty="0" smtClean="0"/>
          </a:p>
          <a:p>
            <a:r>
              <a:rPr lang="en-US" dirty="0" smtClean="0"/>
              <a:t>The system handles: (not the programmer)</a:t>
            </a:r>
          </a:p>
          <a:p>
            <a:r>
              <a:rPr lang="en-US" dirty="0" smtClean="0"/>
              <a:t>Data splitting</a:t>
            </a:r>
          </a:p>
          <a:p>
            <a:r>
              <a:rPr lang="en-US" dirty="0" smtClean="0"/>
              <a:t>Synchronization</a:t>
            </a:r>
          </a:p>
          <a:p>
            <a:r>
              <a:rPr lang="en-US" dirty="0" smtClean="0"/>
              <a:t>Communication</a:t>
            </a:r>
          </a:p>
          <a:p>
            <a:endParaRPr lang="en-US" dirty="0" smtClean="0"/>
          </a:p>
          <a:p>
            <a:endParaRPr lang="en-US" dirty="0" smtClean="0"/>
          </a:p>
          <a:p>
            <a:r>
              <a:rPr lang="en-US" b="1" dirty="0" smtClean="0"/>
              <a:t>Characteristics</a:t>
            </a:r>
          </a:p>
          <a:p>
            <a:r>
              <a:rPr lang="en-US" dirty="0" smtClean="0"/>
              <a:t>-</a:t>
            </a:r>
            <a:r>
              <a:rPr lang="en-US" baseline="0" dirty="0" smtClean="0"/>
              <a:t> </a:t>
            </a:r>
            <a:r>
              <a:rPr lang="en-US" dirty="0" smtClean="0"/>
              <a:t>Easier to program</a:t>
            </a:r>
            <a:br>
              <a:rPr lang="en-US" dirty="0" smtClean="0"/>
            </a:br>
            <a:r>
              <a:rPr lang="en-US" dirty="0" smtClean="0"/>
              <a:t>-</a:t>
            </a:r>
            <a:r>
              <a:rPr lang="en-US" baseline="0" dirty="0" smtClean="0"/>
              <a:t> </a:t>
            </a:r>
            <a:r>
              <a:rPr lang="en-US" dirty="0" smtClean="0"/>
              <a:t>Good for large datasets</a:t>
            </a:r>
            <a:br>
              <a:rPr lang="en-US" dirty="0" smtClean="0"/>
            </a:br>
            <a:r>
              <a:rPr lang="en-US" dirty="0" smtClean="0"/>
              <a:t>-</a:t>
            </a:r>
            <a:r>
              <a:rPr lang="en-US" baseline="0" dirty="0" smtClean="0"/>
              <a:t> </a:t>
            </a:r>
            <a:r>
              <a:rPr lang="en-US" dirty="0" smtClean="0"/>
              <a:t>Implicit communication</a:t>
            </a:r>
            <a:br>
              <a:rPr lang="en-US" dirty="0" smtClean="0"/>
            </a:br>
            <a:r>
              <a:rPr lang="en-US" dirty="0" smtClean="0"/>
              <a:t>-</a:t>
            </a:r>
            <a:r>
              <a:rPr lang="en-US" baseline="0" dirty="0" smtClean="0"/>
              <a:t> </a:t>
            </a:r>
            <a:r>
              <a:rPr lang="en-US" dirty="0" smtClean="0"/>
              <a:t>High-level abstraction</a:t>
            </a:r>
          </a:p>
          <a:p>
            <a:endParaRPr lang="en-US" dirty="0" smtClean="0"/>
          </a:p>
          <a:p>
            <a:endParaRPr lang="en-US" dirty="0" smtClean="0"/>
          </a:p>
          <a:p>
            <a:r>
              <a:rPr lang="en-US" dirty="0" smtClean="0"/>
              <a:t>---------------------------------------------------------------------------------------------------</a:t>
            </a:r>
          </a:p>
          <a:p>
            <a:r>
              <a:rPr lang="en-US" b="1" dirty="0" smtClean="0"/>
              <a:t>Message Passing Model:</a:t>
            </a:r>
          </a:p>
          <a:p>
            <a:r>
              <a:rPr lang="en-US" dirty="0" smtClean="0"/>
              <a:t>Focus = </a:t>
            </a:r>
            <a:r>
              <a:rPr lang="en-US" b="1" dirty="0" smtClean="0"/>
              <a:t>How processors communicate</a:t>
            </a:r>
            <a:endParaRPr lang="en-US" dirty="0" smtClean="0"/>
          </a:p>
          <a:p>
            <a:endParaRPr lang="en-US" dirty="0" smtClean="0"/>
          </a:p>
          <a:p>
            <a:r>
              <a:rPr lang="en-US" dirty="0" smtClean="0"/>
              <a:t>You manage:</a:t>
            </a:r>
          </a:p>
          <a:p>
            <a:r>
              <a:rPr lang="en-US" dirty="0" smtClean="0"/>
              <a:t>Sending</a:t>
            </a:r>
          </a:p>
          <a:p>
            <a:r>
              <a:rPr lang="en-US" dirty="0" smtClean="0"/>
              <a:t>Receiving</a:t>
            </a:r>
          </a:p>
          <a:p>
            <a:r>
              <a:rPr lang="en-US" dirty="0" smtClean="0"/>
              <a:t>Synchronization</a:t>
            </a:r>
          </a:p>
          <a:p>
            <a:r>
              <a:rPr lang="en-US" b="1" dirty="0" smtClean="0"/>
              <a:t>Data Parallel Model:</a:t>
            </a:r>
          </a:p>
          <a:p>
            <a:r>
              <a:rPr lang="en-US" dirty="0" smtClean="0"/>
              <a:t>Focus = </a:t>
            </a:r>
            <a:r>
              <a:rPr lang="en-US" b="1" dirty="0" smtClean="0"/>
              <a:t>How data is divided</a:t>
            </a:r>
            <a:endParaRPr lang="en-US" dirty="0" smtClean="0"/>
          </a:p>
          <a:p>
            <a:endParaRPr lang="en-US" dirty="0" smtClean="0"/>
          </a:p>
          <a:p>
            <a:r>
              <a:rPr lang="en-US" dirty="0" smtClean="0"/>
              <a:t>You specify:</a:t>
            </a:r>
          </a:p>
          <a:p>
            <a:r>
              <a:rPr lang="en-US" dirty="0" smtClean="0"/>
              <a:t>Operation</a:t>
            </a:r>
          </a:p>
          <a:p>
            <a:r>
              <a:rPr lang="en-US" dirty="0" smtClean="0"/>
              <a:t>Data</a:t>
            </a:r>
          </a:p>
          <a:p>
            <a:endParaRPr lang="en-US" dirty="0" smtClean="0"/>
          </a:p>
          <a:p>
            <a:r>
              <a:rPr lang="en-US" dirty="0" smtClean="0"/>
              <a:t>System manages:</a:t>
            </a:r>
          </a:p>
          <a:p>
            <a:r>
              <a:rPr lang="en-US" dirty="0" smtClean="0"/>
              <a:t>Communication</a:t>
            </a:r>
          </a:p>
          <a:p>
            <a:r>
              <a:rPr lang="en-US" dirty="0" smtClean="0"/>
              <a:t>Synchronization</a:t>
            </a:r>
          </a:p>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6</a:t>
            </a:fld>
            <a:endParaRPr lang="en-US"/>
          </a:p>
        </p:txBody>
      </p:sp>
    </p:spTree>
    <p:extLst>
      <p:ext uri="{BB962C8B-B14F-4D97-AF65-F5344CB8AC3E}">
        <p14:creationId xmlns:p14="http://schemas.microsoft.com/office/powerpoint/2010/main" val="34153691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7</a:t>
            </a:fld>
            <a:endParaRPr lang="en-US"/>
          </a:p>
        </p:txBody>
      </p:sp>
    </p:spTree>
    <p:extLst>
      <p:ext uri="{BB962C8B-B14F-4D97-AF65-F5344CB8AC3E}">
        <p14:creationId xmlns:p14="http://schemas.microsoft.com/office/powerpoint/2010/main" val="25796688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 key scientific requirement for data parallelism is that the operations on each partition should ideally be </a:t>
            </a:r>
            <a:r>
              <a:rPr lang="en-US" b="1" dirty="0" smtClean="0"/>
              <a:t>independent (stateless)</a:t>
            </a:r>
            <a:r>
              <a:rPr lang="en-US" dirty="0" smtClean="0"/>
              <a:t>. If Partition A needs a result from Partition B during the operation, it becomes a "Task Parallel" or "Message Passing" problem</a:t>
            </a:r>
          </a:p>
          <a:p>
            <a:endParaRPr lang="en-US" dirty="0" smtClean="0"/>
          </a:p>
          <a:p>
            <a:r>
              <a:rPr lang="en-US" dirty="0" smtClean="0"/>
              <a:t>Data </a:t>
            </a:r>
            <a:r>
              <a:rPr lang="en-US" dirty="0" err="1" smtClean="0"/>
              <a:t>Paralelism</a:t>
            </a:r>
            <a:r>
              <a:rPr lang="en-US" baseline="0" dirty="0" smtClean="0"/>
              <a:t> is known also SIMD (Single instruction Multiple Data), SPMD (Single Program Multiple Data)</a:t>
            </a:r>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8</a:t>
            </a:fld>
            <a:endParaRPr lang="en-US"/>
          </a:p>
        </p:txBody>
      </p:sp>
    </p:spTree>
    <p:extLst>
      <p:ext uri="{BB962C8B-B14F-4D97-AF65-F5344CB8AC3E}">
        <p14:creationId xmlns:p14="http://schemas.microsoft.com/office/powerpoint/2010/main" val="39752500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9</a:t>
            </a:fld>
            <a:endParaRPr lang="en-US"/>
          </a:p>
        </p:txBody>
      </p:sp>
    </p:spTree>
    <p:extLst>
      <p:ext uri="{BB962C8B-B14F-4D97-AF65-F5344CB8AC3E}">
        <p14:creationId xmlns:p14="http://schemas.microsoft.com/office/powerpoint/2010/main" val="22435239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smtClean="0">
                <a:solidFill>
                  <a:schemeClr val="tx1"/>
                </a:solidFill>
                <a:effectLst/>
                <a:latin typeface="+mn-lt"/>
                <a:ea typeface="+mn-ea"/>
                <a:cs typeface="+mn-cs"/>
              </a:rPr>
              <a:t>Data Parallelism</a:t>
            </a:r>
          </a:p>
          <a:p>
            <a:r>
              <a:rPr lang="en-US" sz="1200" kern="1200" dirty="0" smtClean="0">
                <a:solidFill>
                  <a:schemeClr val="tx1"/>
                </a:solidFill>
                <a:effectLst/>
                <a:latin typeface="+mn-lt"/>
                <a:ea typeface="+mn-ea"/>
                <a:cs typeface="+mn-cs"/>
              </a:rPr>
              <a:t>“Everyone does the same job, but on different pieces of data.”</a:t>
            </a:r>
          </a:p>
          <a:p>
            <a:r>
              <a:rPr lang="en-US" sz="1200" b="1" kern="1200" dirty="0" smtClean="0">
                <a:solidFill>
                  <a:schemeClr val="tx1"/>
                </a:solidFill>
                <a:effectLst/>
                <a:latin typeface="+mn-lt"/>
                <a:ea typeface="+mn-ea"/>
                <a:cs typeface="+mn-cs"/>
              </a:rPr>
              <a:t>Task Parallelism</a:t>
            </a:r>
          </a:p>
          <a:p>
            <a:r>
              <a:rPr lang="en-US" sz="1200" kern="1200" dirty="0" smtClean="0">
                <a:solidFill>
                  <a:schemeClr val="tx1"/>
                </a:solidFill>
                <a:effectLst/>
                <a:latin typeface="+mn-lt"/>
                <a:ea typeface="+mn-ea"/>
                <a:cs typeface="+mn-cs"/>
              </a:rPr>
              <a:t>“Everyone does a different job at the same time</a:t>
            </a:r>
            <a:r>
              <a:rPr lang="en-US" sz="1200" kern="1200" dirty="0" smtClean="0">
                <a:solidFill>
                  <a:schemeClr val="tx1"/>
                </a:solidFill>
                <a:effectLst/>
                <a:latin typeface="+mn-lt"/>
                <a:ea typeface="+mn-ea"/>
                <a:cs typeface="+mn-cs"/>
              </a:rPr>
              <a:t>.”</a:t>
            </a:r>
          </a:p>
          <a:p>
            <a:endParaRPr lang="en-US"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In modern big data systems, we rarely use just one. For example, a </a:t>
            </a:r>
            <a:r>
              <a:rPr lang="en-US" b="1" dirty="0" smtClean="0"/>
              <a:t>Spark</a:t>
            </a:r>
            <a:r>
              <a:rPr lang="en-US" dirty="0" smtClean="0"/>
              <a:t> job is </a:t>
            </a:r>
            <a:r>
              <a:rPr lang="en-US" b="1" dirty="0" smtClean="0"/>
              <a:t>Task Parallel</a:t>
            </a:r>
            <a:r>
              <a:rPr lang="en-US" dirty="0" smtClean="0"/>
              <a:t> because it manages a complex graph of different stages, but each of those stages is </a:t>
            </a:r>
            <a:r>
              <a:rPr lang="en-US" b="1" dirty="0" smtClean="0"/>
              <a:t>Data Parallel</a:t>
            </a:r>
            <a:r>
              <a:rPr lang="en-US" dirty="0" smtClean="0"/>
              <a:t> because it processes millions of rows at once.</a:t>
            </a:r>
          </a:p>
          <a:p>
            <a:endParaRPr lang="en-US" sz="1200" kern="1200" dirty="0" smtClean="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10</a:t>
            </a:fld>
            <a:endParaRPr lang="en-US"/>
          </a:p>
        </p:txBody>
      </p:sp>
    </p:spTree>
    <p:extLst>
      <p:ext uri="{BB962C8B-B14F-4D97-AF65-F5344CB8AC3E}">
        <p14:creationId xmlns:p14="http://schemas.microsoft.com/office/powerpoint/2010/main" val="13920021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How Data Locality Works</a:t>
            </a:r>
          </a:p>
          <a:p>
            <a:r>
              <a:rPr lang="en-US" dirty="0" smtClean="0"/>
              <a:t>Files are split into </a:t>
            </a:r>
            <a:r>
              <a:rPr lang="en-US" b="1" dirty="0" smtClean="0"/>
              <a:t>HDFS blocks</a:t>
            </a:r>
            <a:endParaRPr lang="en-US" dirty="0" smtClean="0"/>
          </a:p>
          <a:p>
            <a:r>
              <a:rPr lang="en-US" dirty="0" smtClean="0"/>
              <a:t>Each block is stored on </a:t>
            </a:r>
            <a:r>
              <a:rPr lang="en-US" b="1" dirty="0" smtClean="0"/>
              <a:t>multiple </a:t>
            </a:r>
            <a:r>
              <a:rPr lang="en-US" b="1" dirty="0" err="1" smtClean="0"/>
              <a:t>DataNodes</a:t>
            </a:r>
            <a:r>
              <a:rPr lang="en-US" dirty="0" smtClean="0"/>
              <a:t> (replicas)</a:t>
            </a:r>
          </a:p>
          <a:p>
            <a:r>
              <a:rPr lang="en-US" dirty="0" smtClean="0"/>
              <a:t>The scheduler checks:</a:t>
            </a:r>
          </a:p>
          <a:p>
            <a:pPr lvl="1"/>
            <a:r>
              <a:rPr lang="en-US" dirty="0" smtClean="0"/>
              <a:t>Where the block replicas are</a:t>
            </a:r>
          </a:p>
          <a:p>
            <a:r>
              <a:rPr lang="en-US" dirty="0" smtClean="0"/>
              <a:t>Tasks are scheduled:</a:t>
            </a:r>
          </a:p>
          <a:p>
            <a:pPr lvl="1"/>
            <a:r>
              <a:rPr lang="en-US" b="1" dirty="0" smtClean="0"/>
              <a:t>Node-local</a:t>
            </a:r>
            <a:r>
              <a:rPr lang="en-US" dirty="0" smtClean="0"/>
              <a:t> (same </a:t>
            </a:r>
            <a:r>
              <a:rPr lang="en-US" dirty="0" err="1" smtClean="0"/>
              <a:t>DataNode</a:t>
            </a:r>
            <a:r>
              <a:rPr lang="en-US" dirty="0" smtClean="0"/>
              <a:t>) → best</a:t>
            </a:r>
          </a:p>
          <a:p>
            <a:pPr lvl="1"/>
            <a:r>
              <a:rPr lang="en-US" b="1" dirty="0" smtClean="0"/>
              <a:t>Rack-local</a:t>
            </a:r>
            <a:r>
              <a:rPr lang="en-US" dirty="0" smtClean="0"/>
              <a:t> (same rack) → acceptable</a:t>
            </a:r>
          </a:p>
          <a:p>
            <a:pPr lvl="1"/>
            <a:r>
              <a:rPr lang="en-US" b="1" dirty="0" smtClean="0"/>
              <a:t>Remote</a:t>
            </a:r>
            <a:r>
              <a:rPr lang="en-US" dirty="0" smtClean="0"/>
              <a:t> (different rack) → worst</a:t>
            </a:r>
          </a:p>
          <a:p>
            <a:r>
              <a:rPr lang="en-US" dirty="0" smtClean="0"/>
              <a:t>This minimizes:</a:t>
            </a:r>
          </a:p>
          <a:p>
            <a:r>
              <a:rPr lang="en-US" dirty="0" smtClean="0"/>
              <a:t>Network I/O</a:t>
            </a:r>
          </a:p>
          <a:p>
            <a:r>
              <a:rPr lang="en-US" dirty="0" smtClean="0"/>
              <a:t>Job execution time</a:t>
            </a:r>
          </a:p>
          <a:p>
            <a:r>
              <a:rPr lang="en-US" dirty="0" smtClean="0"/>
              <a:t>Cluster congestion</a:t>
            </a:r>
          </a:p>
          <a:p>
            <a:r>
              <a:rPr lang="en-US" b="1" dirty="0" smtClean="0"/>
              <a:t>Why Data Locality Matters</a:t>
            </a:r>
          </a:p>
          <a:p>
            <a:r>
              <a:rPr lang="en-US" dirty="0" smtClean="0"/>
              <a:t>Network is often the </a:t>
            </a:r>
            <a:r>
              <a:rPr lang="en-US" b="1" dirty="0" smtClean="0"/>
              <a:t>slowest resource</a:t>
            </a:r>
            <a:r>
              <a:rPr lang="en-US" dirty="0" smtClean="0"/>
              <a:t> in a cluster</a:t>
            </a:r>
          </a:p>
          <a:p>
            <a:r>
              <a:rPr lang="en-US" dirty="0" smtClean="0"/>
              <a:t>Reading data locally can be </a:t>
            </a:r>
            <a:r>
              <a:rPr lang="en-US" b="1" dirty="0" smtClean="0"/>
              <a:t>10× faster</a:t>
            </a:r>
            <a:r>
              <a:rPr lang="en-US" dirty="0" smtClean="0"/>
              <a:t> than remote reads</a:t>
            </a:r>
          </a:p>
          <a:p>
            <a:r>
              <a:rPr lang="en-US" dirty="0" smtClean="0"/>
              <a:t>Improves:</a:t>
            </a:r>
          </a:p>
          <a:p>
            <a:pPr lvl="1"/>
            <a:r>
              <a:rPr lang="en-US" dirty="0" smtClean="0"/>
              <a:t>Performance</a:t>
            </a:r>
          </a:p>
          <a:p>
            <a:pPr lvl="1"/>
            <a:r>
              <a:rPr lang="en-US" dirty="0" smtClean="0"/>
              <a:t>Scalability</a:t>
            </a:r>
          </a:p>
          <a:p>
            <a:pPr lvl="1"/>
            <a:r>
              <a:rPr lang="en-US" dirty="0" smtClean="0"/>
              <a:t>Cost efficiency</a:t>
            </a:r>
          </a:p>
          <a:p>
            <a:endParaRPr lang="en-US" b="1" dirty="0" smtClean="0"/>
          </a:p>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11</a:t>
            </a:fld>
            <a:endParaRPr lang="en-US"/>
          </a:p>
        </p:txBody>
      </p:sp>
    </p:spTree>
    <p:extLst>
      <p:ext uri="{BB962C8B-B14F-4D97-AF65-F5344CB8AC3E}">
        <p14:creationId xmlns:p14="http://schemas.microsoft.com/office/powerpoint/2010/main" val="15109492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What is </a:t>
            </a:r>
            <a:r>
              <a:rPr lang="en-US" sz="1200" b="0" i="0" u="none" strike="noStrike" kern="1200" baseline="0" dirty="0" err="1" smtClean="0">
                <a:solidFill>
                  <a:schemeClr val="tx1"/>
                </a:solidFill>
                <a:latin typeface="+mn-lt"/>
                <a:ea typeface="+mn-ea"/>
                <a:cs typeface="+mn-cs"/>
              </a:rPr>
              <a:t>MapReduce</a:t>
            </a:r>
            <a:r>
              <a:rPr lang="en-US" sz="1200" b="0" i="0" u="none" strike="noStrike" kern="1200" baseline="0" dirty="0" smtClean="0">
                <a:solidFill>
                  <a:schemeClr val="tx1"/>
                </a:solidFill>
                <a:latin typeface="+mn-lt"/>
                <a:ea typeface="+mn-ea"/>
                <a:cs typeface="+mn-cs"/>
              </a:rPr>
              <a:t>?</a:t>
            </a:r>
          </a:p>
          <a:p>
            <a:r>
              <a:rPr lang="en-US" sz="1200" b="0" i="0" u="none" strike="noStrike" kern="1200" baseline="0" dirty="0" smtClean="0">
                <a:solidFill>
                  <a:schemeClr val="tx1"/>
                </a:solidFill>
                <a:latin typeface="+mn-lt"/>
                <a:ea typeface="+mn-ea"/>
                <a:cs typeface="+mn-cs"/>
              </a:rPr>
              <a:t>• </a:t>
            </a:r>
            <a:r>
              <a:rPr lang="en-US" sz="1200" b="1" i="0" u="none" strike="noStrike" kern="1200" baseline="0" dirty="0" smtClean="0">
                <a:solidFill>
                  <a:schemeClr val="tx1"/>
                </a:solidFill>
                <a:latin typeface="+mn-lt"/>
                <a:ea typeface="+mn-ea"/>
                <a:cs typeface="+mn-cs"/>
              </a:rPr>
              <a:t>Programming model + implementation</a:t>
            </a:r>
          </a:p>
          <a:p>
            <a:r>
              <a:rPr lang="en-US" sz="1200" b="0" i="0" u="none" strike="noStrike" kern="1200" baseline="0" dirty="0" smtClean="0">
                <a:solidFill>
                  <a:schemeClr val="tx1"/>
                </a:solidFill>
                <a:latin typeface="+mn-lt"/>
                <a:ea typeface="+mn-ea"/>
                <a:cs typeface="+mn-cs"/>
              </a:rPr>
              <a:t>• Developed by Google in 2008</a:t>
            </a:r>
          </a:p>
          <a:p>
            <a:endParaRPr lang="en-US" sz="1200" b="0" i="0" u="none" strike="noStrike" kern="1200" baseline="0" dirty="0" smtClean="0">
              <a:solidFill>
                <a:schemeClr val="tx1"/>
              </a:solidFill>
              <a:latin typeface="+mn-lt"/>
              <a:ea typeface="+mn-ea"/>
              <a:cs typeface="+mn-cs"/>
            </a:endParaRPr>
          </a:p>
          <a:p>
            <a:endParaRPr lang="en-US" sz="120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smtClean="0"/>
              <a:t>The model was created as a reaction to the complexity of distributed computing. It aims to provide a simple abstraction that hides the "messy details" of parallelization, fault tolerance, data distribution, and load balancing in a library. This allows programmers without experience in parallel systems to easily utilize large-scale distributed resources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smtClean="0"/>
          </a:p>
          <a:p>
            <a:r>
              <a:rPr lang="en-US" sz="1200" b="0" i="0" u="none" strike="noStrike" kern="1200" baseline="0" dirty="0" smtClean="0">
                <a:solidFill>
                  <a:schemeClr val="tx1"/>
                </a:solidFill>
                <a:latin typeface="+mn-lt"/>
                <a:ea typeface="+mn-ea"/>
                <a:cs typeface="+mn-cs"/>
              </a:rPr>
              <a:t>The run-time system takes care of the details of partitioning the input data, scheduling the program's execution across a set of machines, handling machine failures, and managing the required inter-machine communication</a:t>
            </a:r>
            <a:endParaRPr lang="en-US" sz="1200" dirty="0" smtClean="0"/>
          </a:p>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12</a:t>
            </a:fld>
            <a:endParaRPr lang="en-US"/>
          </a:p>
        </p:txBody>
      </p:sp>
    </p:spTree>
    <p:extLst>
      <p:ext uri="{BB962C8B-B14F-4D97-AF65-F5344CB8AC3E}">
        <p14:creationId xmlns:p14="http://schemas.microsoft.com/office/powerpoint/2010/main" val="9268576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While map tasks benefit from data locality with HDFS blocks, reduce tasks must pull data from all map tasks across the cluster. This is why the </a:t>
            </a:r>
            <a:r>
              <a:rPr lang="en-US" sz="1200" b="1" i="0" kern="1200" dirty="0" smtClean="0">
                <a:solidFill>
                  <a:schemeClr val="tx1"/>
                </a:solidFill>
                <a:effectLst/>
                <a:latin typeface="+mn-lt"/>
                <a:ea typeface="+mn-ea"/>
                <a:cs typeface="+mn-cs"/>
              </a:rPr>
              <a:t>shuffle phase</a:t>
            </a:r>
            <a:r>
              <a:rPr lang="en-US" sz="1200" b="0" i="0" kern="1200" dirty="0" smtClean="0">
                <a:solidFill>
                  <a:schemeClr val="tx1"/>
                </a:solidFill>
                <a:effectLst/>
                <a:latin typeface="+mn-lt"/>
                <a:ea typeface="+mn-ea"/>
                <a:cs typeface="+mn-cs"/>
              </a:rPr>
              <a:t> (moving data from mappers to reducers) is often the most performance-critical part of a </a:t>
            </a:r>
            <a:r>
              <a:rPr lang="en-US" sz="1200" b="0" i="0" kern="1200" dirty="0" err="1" smtClean="0">
                <a:solidFill>
                  <a:schemeClr val="tx1"/>
                </a:solidFill>
                <a:effectLst/>
                <a:latin typeface="+mn-lt"/>
                <a:ea typeface="+mn-ea"/>
                <a:cs typeface="+mn-cs"/>
              </a:rPr>
              <a:t>MapReduce</a:t>
            </a:r>
            <a:r>
              <a:rPr lang="en-US" sz="1200" b="0" i="0" kern="1200" dirty="0" smtClean="0">
                <a:solidFill>
                  <a:schemeClr val="tx1"/>
                </a:solidFill>
                <a:effectLst/>
                <a:latin typeface="+mn-lt"/>
                <a:ea typeface="+mn-ea"/>
                <a:cs typeface="+mn-cs"/>
              </a:rPr>
              <a:t> job!</a:t>
            </a:r>
          </a:p>
          <a:p>
            <a:pPr lvl="0" rtl="0"/>
            <a:r>
              <a:rPr lang="en-US" sz="1200" b="1" kern="1200" dirty="0" smtClean="0">
                <a:solidFill>
                  <a:schemeClr val="tx1"/>
                </a:solidFill>
                <a:effectLst/>
                <a:latin typeface="+mn-lt"/>
                <a:ea typeface="+mn-ea"/>
                <a:cs typeface="+mn-cs"/>
              </a:rPr>
              <a:t>What the Programmer Implements:</a:t>
            </a:r>
            <a:endParaRPr lang="en-US" sz="1200" kern="1200" dirty="0" smtClean="0">
              <a:solidFill>
                <a:schemeClr val="tx1"/>
              </a:solidFill>
              <a:effectLst/>
              <a:latin typeface="+mn-lt"/>
              <a:ea typeface="+mn-ea"/>
              <a:cs typeface="+mn-cs"/>
            </a:endParaRPr>
          </a:p>
          <a:p>
            <a:pPr lvl="1"/>
            <a:r>
              <a:rPr lang="en-US" sz="1200" b="1" kern="1200" dirty="0" smtClean="0">
                <a:solidFill>
                  <a:schemeClr val="tx1"/>
                </a:solidFill>
                <a:effectLst/>
                <a:latin typeface="+mn-lt"/>
                <a:ea typeface="+mn-ea"/>
                <a:cs typeface="+mn-cs"/>
              </a:rPr>
              <a:t>Map function:</a:t>
            </a:r>
            <a:r>
              <a:rPr lang="en-US" sz="1200" kern="1200" dirty="0" smtClean="0">
                <a:solidFill>
                  <a:schemeClr val="tx1"/>
                </a:solidFill>
                <a:effectLst/>
                <a:latin typeface="+mn-lt"/>
                <a:ea typeface="+mn-ea"/>
                <a:cs typeface="+mn-cs"/>
              </a:rPr>
              <a:t> Processes a key/value pair to generate intermediate key/value pairs.</a:t>
            </a:r>
          </a:p>
          <a:p>
            <a:pPr lvl="1"/>
            <a:r>
              <a:rPr lang="en-US" sz="1200" b="1" kern="1200" dirty="0" smtClean="0">
                <a:solidFill>
                  <a:schemeClr val="tx1"/>
                </a:solidFill>
                <a:effectLst/>
                <a:latin typeface="+mn-lt"/>
                <a:ea typeface="+mn-ea"/>
                <a:cs typeface="+mn-cs"/>
              </a:rPr>
              <a:t>Reduce function:</a:t>
            </a:r>
            <a:r>
              <a:rPr lang="en-US" sz="1200" kern="1200" dirty="0" smtClean="0">
                <a:solidFill>
                  <a:schemeClr val="tx1"/>
                </a:solidFill>
                <a:effectLst/>
                <a:latin typeface="+mn-lt"/>
                <a:ea typeface="+mn-ea"/>
                <a:cs typeface="+mn-cs"/>
              </a:rPr>
              <a:t> Merges all intermediate values associated with the same intermediate key.</a:t>
            </a:r>
          </a:p>
          <a:p>
            <a:pPr lvl="1"/>
            <a:r>
              <a:rPr lang="en-US" sz="1200" b="1" kern="1200" dirty="0" err="1" smtClean="0">
                <a:solidFill>
                  <a:schemeClr val="tx1"/>
                </a:solidFill>
                <a:effectLst/>
                <a:latin typeface="+mn-lt"/>
                <a:ea typeface="+mn-ea"/>
                <a:cs typeface="+mn-cs"/>
              </a:rPr>
              <a:t>MapReduce</a:t>
            </a:r>
            <a:r>
              <a:rPr lang="en-US" sz="1200" b="1" kern="1200" dirty="0" smtClean="0">
                <a:solidFill>
                  <a:schemeClr val="tx1"/>
                </a:solidFill>
                <a:effectLst/>
                <a:latin typeface="+mn-lt"/>
                <a:ea typeface="+mn-ea"/>
                <a:cs typeface="+mn-cs"/>
              </a:rPr>
              <a:t> Specification:</a:t>
            </a:r>
            <a:r>
              <a:rPr lang="en-US" sz="1200" kern="1200" dirty="0" smtClean="0">
                <a:solidFill>
                  <a:schemeClr val="tx1"/>
                </a:solidFill>
                <a:effectLst/>
                <a:latin typeface="+mn-lt"/>
                <a:ea typeface="+mn-ea"/>
                <a:cs typeface="+mn-cs"/>
              </a:rPr>
              <a:t> Code to fill in input/output file names and optional tuning parameters.</a:t>
            </a:r>
          </a:p>
          <a:p>
            <a:endParaRPr lang="en-US" sz="1400" b="0" i="0" kern="1200" dirty="0" smtClean="0">
              <a:solidFill>
                <a:schemeClr val="tx1"/>
              </a:solidFill>
              <a:effectLst/>
              <a:latin typeface="+mn-lt"/>
              <a:ea typeface="+mn-ea"/>
              <a:cs typeface="+mn-cs"/>
            </a:endParaRPr>
          </a:p>
          <a:p>
            <a:pPr lvl="0"/>
            <a:r>
              <a:rPr lang="en-US" sz="2400" b="1" dirty="0" smtClean="0"/>
              <a:t>What the Framework Implements:</a:t>
            </a:r>
            <a:endParaRPr lang="en-US" sz="2400" dirty="0" smtClean="0"/>
          </a:p>
          <a:p>
            <a:pPr lvl="1"/>
            <a:r>
              <a:rPr lang="en-US" sz="2400" b="1" dirty="0" smtClean="0"/>
              <a:t>Automatic Parallelization:</a:t>
            </a:r>
            <a:r>
              <a:rPr lang="en-US" sz="2400" dirty="0" smtClean="0"/>
              <a:t> Distributes computations across a large cluster of commodity machines.</a:t>
            </a:r>
          </a:p>
          <a:p>
            <a:pPr lvl="1"/>
            <a:r>
              <a:rPr lang="en-US" sz="2400" b="1" dirty="0" smtClean="0"/>
              <a:t>Data Partitioning:</a:t>
            </a:r>
            <a:r>
              <a:rPr lang="en-US" sz="2400" dirty="0" smtClean="0"/>
              <a:t> Automatically splits input data into M pieces.</a:t>
            </a:r>
          </a:p>
          <a:p>
            <a:pPr lvl="1"/>
            <a:r>
              <a:rPr lang="en-US" sz="2400" b="1" dirty="0" smtClean="0"/>
              <a:t>Scheduling:</a:t>
            </a:r>
            <a:r>
              <a:rPr lang="en-US" sz="2400" dirty="0" smtClean="0"/>
              <a:t> Manages the execution of tasks across various machines.</a:t>
            </a:r>
          </a:p>
          <a:p>
            <a:pPr lvl="1"/>
            <a:r>
              <a:rPr lang="en-US" sz="2400" b="1" dirty="0" smtClean="0"/>
              <a:t>Fault Tolerance:</a:t>
            </a:r>
            <a:r>
              <a:rPr lang="en-US" sz="2400" dirty="0" smtClean="0"/>
              <a:t> Handles machine failures by re-executing tasks.</a:t>
            </a:r>
          </a:p>
          <a:p>
            <a:pPr lvl="1"/>
            <a:r>
              <a:rPr lang="en-US" sz="2400" b="1" dirty="0" smtClean="0"/>
              <a:t>Communication:</a:t>
            </a:r>
            <a:r>
              <a:rPr lang="en-US" sz="2400" dirty="0" smtClean="0"/>
              <a:t> Manages inter-machine communication and data shuffling.</a:t>
            </a:r>
          </a:p>
          <a:p>
            <a:endParaRPr lang="en-US" sz="1200" b="0" i="0" kern="1200" dirty="0" smtClean="0">
              <a:solidFill>
                <a:schemeClr val="tx1"/>
              </a:solidFill>
              <a:effectLst/>
              <a:latin typeface="+mn-lt"/>
              <a:ea typeface="+mn-ea"/>
              <a:cs typeface="+mn-cs"/>
            </a:endParaRP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
            </a:r>
            <a:br>
              <a:rPr lang="en-US" sz="1200" b="0" i="0" kern="1200" dirty="0" smtClean="0">
                <a:solidFill>
                  <a:schemeClr val="tx1"/>
                </a:solidFill>
                <a:effectLst/>
                <a:latin typeface="+mn-lt"/>
                <a:ea typeface="+mn-ea"/>
                <a:cs typeface="+mn-cs"/>
              </a:rPr>
            </a:br>
            <a:r>
              <a:rPr lang="en-US" sz="1200" b="1" kern="1200" dirty="0" smtClean="0">
                <a:solidFill>
                  <a:schemeClr val="tx1"/>
                </a:solidFill>
                <a:effectLst/>
                <a:latin typeface="+mn-lt"/>
                <a:ea typeface="+mn-ea"/>
                <a:cs typeface="+mn-cs"/>
              </a:rPr>
              <a:t>- Map Tasks: Always read data locally from HDFS blocks </a:t>
            </a:r>
            <a:endParaRPr lang="en-US" sz="1200" kern="1200" dirty="0" smtClean="0">
              <a:solidFill>
                <a:schemeClr val="tx1"/>
              </a:solidFill>
              <a:effectLst/>
              <a:latin typeface="+mn-lt"/>
              <a:ea typeface="+mn-ea"/>
              <a:cs typeface="+mn-cs"/>
            </a:endParaRPr>
          </a:p>
          <a:p>
            <a:r>
              <a:rPr lang="en-US" sz="1200" b="1" kern="1200" dirty="0" smtClean="0">
                <a:solidFill>
                  <a:schemeClr val="tx1"/>
                </a:solidFill>
                <a:effectLst/>
                <a:latin typeface="+mn-lt"/>
                <a:ea typeface="+mn-ea"/>
                <a:cs typeface="+mn-cs"/>
              </a:rPr>
              <a:t>- Shuffle Phase: Creates a "network crossbar" - every mapper connects to every reducer</a:t>
            </a:r>
            <a:endParaRPr lang="en-US" sz="1200" kern="1200" dirty="0" smtClean="0">
              <a:solidFill>
                <a:schemeClr val="tx1"/>
              </a:solidFill>
              <a:effectLst/>
              <a:latin typeface="+mn-lt"/>
              <a:ea typeface="+mn-ea"/>
              <a:cs typeface="+mn-cs"/>
            </a:endParaRPr>
          </a:p>
          <a:p>
            <a:r>
              <a:rPr lang="en-US" sz="1200" b="1" kern="1200" dirty="0" smtClean="0">
                <a:solidFill>
                  <a:schemeClr val="tx1"/>
                </a:solidFill>
                <a:effectLst/>
                <a:latin typeface="+mn-lt"/>
                <a:ea typeface="+mn-ea"/>
                <a:cs typeface="+mn-cs"/>
              </a:rPr>
              <a:t>- Reduce Tasks: Must fetch from all nodes, creating network traffic proportional to (mappers × reducers)</a:t>
            </a:r>
            <a:endParaRPr lang="en-US" sz="1200" kern="1200" dirty="0" smtClean="0">
              <a:solidFill>
                <a:schemeClr val="tx1"/>
              </a:solidFill>
              <a:effectLst/>
              <a:latin typeface="+mn-lt"/>
              <a:ea typeface="+mn-ea"/>
              <a:cs typeface="+mn-cs"/>
            </a:endParaRPr>
          </a:p>
          <a:p>
            <a:endParaRPr lang="en-US" sz="1200" b="1" kern="1200" dirty="0" smtClean="0">
              <a:solidFill>
                <a:schemeClr val="tx1"/>
              </a:solidFill>
              <a:effectLst/>
              <a:latin typeface="+mn-lt"/>
              <a:ea typeface="+mn-ea"/>
              <a:cs typeface="+mn-cs"/>
            </a:endParaRPr>
          </a:p>
          <a:p>
            <a:r>
              <a:rPr lang="en-US" sz="1200" b="1" kern="1200" dirty="0" smtClean="0">
                <a:solidFill>
                  <a:schemeClr val="tx1"/>
                </a:solidFill>
                <a:effectLst/>
                <a:latin typeface="+mn-lt"/>
                <a:ea typeface="+mn-ea"/>
                <a:cs typeface="+mn-cs"/>
              </a:rPr>
              <a:t>Data Flow:</a:t>
            </a:r>
            <a:endParaRPr lang="en-US" sz="1200" kern="1200" dirty="0" smtClean="0">
              <a:solidFill>
                <a:schemeClr val="tx1"/>
              </a:solidFill>
              <a:effectLst/>
              <a:latin typeface="+mn-lt"/>
              <a:ea typeface="+mn-ea"/>
              <a:cs typeface="+mn-cs"/>
            </a:endParaRPr>
          </a:p>
          <a:p>
            <a:r>
              <a:rPr lang="en-US" sz="1200" b="1" kern="1200" dirty="0" smtClean="0">
                <a:solidFill>
                  <a:schemeClr val="tx1"/>
                </a:solidFill>
                <a:effectLst/>
                <a:latin typeface="+mn-lt"/>
                <a:ea typeface="+mn-ea"/>
                <a:cs typeface="+mn-cs"/>
              </a:rPr>
              <a:t>Input: HDFS → Local read → Map → Network shuffle → Reduce → HDFS write</a:t>
            </a:r>
            <a:endParaRPr lang="en-US" sz="1200" kern="1200" dirty="0" smtClean="0">
              <a:solidFill>
                <a:schemeClr val="tx1"/>
              </a:solidFill>
              <a:effectLst/>
              <a:latin typeface="+mn-lt"/>
              <a:ea typeface="+mn-ea"/>
              <a:cs typeface="+mn-cs"/>
            </a:endParaRPr>
          </a:p>
          <a:p>
            <a:endParaRPr lang="en-US" sz="1200" b="1" kern="1200" dirty="0" smtClean="0">
              <a:solidFill>
                <a:schemeClr val="tx1"/>
              </a:solidFill>
              <a:effectLst/>
              <a:latin typeface="+mn-lt"/>
              <a:ea typeface="+mn-ea"/>
              <a:cs typeface="+mn-cs"/>
            </a:endParaRPr>
          </a:p>
          <a:p>
            <a:r>
              <a:rPr lang="en-US" sz="1200" b="1" kern="1200" dirty="0" smtClean="0">
                <a:solidFill>
                  <a:schemeClr val="tx1"/>
                </a:solidFill>
                <a:effectLst/>
                <a:latin typeface="+mn-lt"/>
                <a:ea typeface="+mn-ea"/>
                <a:cs typeface="+mn-cs"/>
              </a:rPr>
              <a:t>This is why </a:t>
            </a:r>
            <a:r>
              <a:rPr lang="en-US" sz="1200" b="1" kern="1200" dirty="0" err="1" smtClean="0">
                <a:solidFill>
                  <a:schemeClr val="tx1"/>
                </a:solidFill>
                <a:effectLst/>
                <a:latin typeface="+mn-lt"/>
                <a:ea typeface="+mn-ea"/>
                <a:cs typeface="+mn-cs"/>
              </a:rPr>
              <a:t>MapReduce</a:t>
            </a:r>
            <a:r>
              <a:rPr lang="en-US" sz="1200" b="1" kern="1200" dirty="0" smtClean="0">
                <a:solidFill>
                  <a:schemeClr val="tx1"/>
                </a:solidFill>
                <a:effectLst/>
                <a:latin typeface="+mn-lt"/>
                <a:ea typeface="+mn-ea"/>
                <a:cs typeface="+mn-cs"/>
              </a:rPr>
              <a:t> optimization often focuses on:</a:t>
            </a:r>
            <a:endParaRPr lang="en-US" sz="1200" kern="1200" dirty="0" smtClean="0">
              <a:solidFill>
                <a:schemeClr val="tx1"/>
              </a:solidFill>
              <a:effectLst/>
              <a:latin typeface="+mn-lt"/>
              <a:ea typeface="+mn-ea"/>
              <a:cs typeface="+mn-cs"/>
            </a:endParaRPr>
          </a:p>
          <a:p>
            <a:r>
              <a:rPr lang="en-US" sz="1200" b="1" kern="1200" dirty="0" smtClean="0">
                <a:solidFill>
                  <a:schemeClr val="tx1"/>
                </a:solidFill>
                <a:effectLst/>
                <a:latin typeface="+mn-lt"/>
                <a:ea typeface="+mn-ea"/>
                <a:cs typeface="+mn-cs"/>
              </a:rPr>
              <a:t>Reducing shuffle data (combiners)</a:t>
            </a:r>
            <a:endParaRPr lang="en-US" sz="1200" kern="1200" dirty="0" smtClean="0">
              <a:solidFill>
                <a:schemeClr val="tx1"/>
              </a:solidFill>
              <a:effectLst/>
              <a:latin typeface="+mn-lt"/>
              <a:ea typeface="+mn-ea"/>
              <a:cs typeface="+mn-cs"/>
            </a:endParaRPr>
          </a:p>
          <a:p>
            <a:r>
              <a:rPr lang="en-US" sz="1200" b="1" kern="1200" dirty="0" smtClean="0">
                <a:solidFill>
                  <a:schemeClr val="tx1"/>
                </a:solidFill>
                <a:effectLst/>
                <a:latin typeface="+mn-lt"/>
                <a:ea typeface="+mn-ea"/>
                <a:cs typeface="+mn-cs"/>
              </a:rPr>
              <a:t>Minimizing network transfers (data compression)</a:t>
            </a:r>
            <a:endParaRPr lang="en-US" sz="1200" kern="1200" dirty="0" smtClean="0">
              <a:solidFill>
                <a:schemeClr val="tx1"/>
              </a:solidFill>
              <a:effectLst/>
              <a:latin typeface="+mn-lt"/>
              <a:ea typeface="+mn-ea"/>
              <a:cs typeface="+mn-cs"/>
            </a:endParaRPr>
          </a:p>
          <a:p>
            <a:r>
              <a:rPr lang="en-US" sz="1200" b="1" kern="1200" dirty="0" smtClean="0">
                <a:solidFill>
                  <a:schemeClr val="tx1"/>
                </a:solidFill>
                <a:effectLst/>
                <a:latin typeface="+mn-lt"/>
                <a:ea typeface="+mn-ea"/>
                <a:cs typeface="+mn-cs"/>
              </a:rPr>
              <a:t>Balancing reducer workloads (good partitioning)</a:t>
            </a:r>
            <a:endParaRPr lang="en-US" sz="1200" kern="1200" dirty="0" smtClean="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13</a:t>
            </a:fld>
            <a:endParaRPr lang="en-US"/>
          </a:p>
        </p:txBody>
      </p:sp>
    </p:spTree>
    <p:extLst>
      <p:ext uri="{BB962C8B-B14F-4D97-AF65-F5344CB8AC3E}">
        <p14:creationId xmlns:p14="http://schemas.microsoft.com/office/powerpoint/2010/main" val="1038227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14</a:t>
            </a:fld>
            <a:endParaRPr lang="en-US"/>
          </a:p>
        </p:txBody>
      </p:sp>
    </p:spTree>
    <p:extLst>
      <p:ext uri="{BB962C8B-B14F-4D97-AF65-F5344CB8AC3E}">
        <p14:creationId xmlns:p14="http://schemas.microsoft.com/office/powerpoint/2010/main" val="1597494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Image source: https://medium.com/@maini_rohit/hadoop-map-reduce-execution-pipeline-a9eec8c5356c</a:t>
            </a:r>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15</a:t>
            </a:fld>
            <a:endParaRPr lang="en-US"/>
          </a:p>
        </p:txBody>
      </p:sp>
    </p:spTree>
    <p:extLst>
      <p:ext uri="{BB962C8B-B14F-4D97-AF65-F5344CB8AC3E}">
        <p14:creationId xmlns:p14="http://schemas.microsoft.com/office/powerpoint/2010/main" val="8332529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err="1" smtClean="0"/>
              <a:t>InputSplit</a:t>
            </a:r>
            <a:r>
              <a:rPr lang="en-US" dirty="0" smtClean="0"/>
              <a:t> divides work.</a:t>
            </a:r>
            <a:br>
              <a:rPr lang="en-US" dirty="0" smtClean="0"/>
            </a:br>
            <a:r>
              <a:rPr lang="en-US" dirty="0" err="1" smtClean="0"/>
              <a:t>RecordReader</a:t>
            </a:r>
            <a:r>
              <a:rPr lang="en-US" dirty="0" smtClean="0"/>
              <a:t> creates key–value pairs.</a:t>
            </a:r>
            <a:br>
              <a:rPr lang="en-US" dirty="0" smtClean="0"/>
            </a:br>
            <a:r>
              <a:rPr lang="en-US" dirty="0" smtClean="0"/>
              <a:t>Shuffle groups identical keys.</a:t>
            </a:r>
            <a:br>
              <a:rPr lang="en-US" dirty="0" smtClean="0"/>
            </a:br>
            <a:r>
              <a:rPr lang="en-US" dirty="0" smtClean="0"/>
              <a:t>Reduce aggregates results.</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r>
              <a:rPr lang="en-US" b="1" dirty="0" smtClean="0"/>
              <a:t>Example file:</a:t>
            </a:r>
          </a:p>
          <a:p>
            <a:pPr rtl="0"/>
            <a:r>
              <a:rPr lang="en-US" dirty="0" smtClean="0"/>
              <a:t>Hello Hadoop</a:t>
            </a:r>
            <a:br>
              <a:rPr lang="en-US" dirty="0" smtClean="0"/>
            </a:br>
            <a:r>
              <a:rPr lang="en-US" dirty="0" smtClean="0"/>
              <a:t>Big Data is powerful</a:t>
            </a:r>
            <a:br>
              <a:rPr lang="en-US" dirty="0" smtClean="0"/>
            </a:br>
            <a:r>
              <a:rPr lang="en-US" dirty="0" err="1" smtClean="0"/>
              <a:t>MapReduce</a:t>
            </a:r>
            <a:r>
              <a:rPr lang="en-US" dirty="0" smtClean="0"/>
              <a:t> is simple</a:t>
            </a:r>
          </a:p>
          <a:p>
            <a:r>
              <a:rPr lang="en-US" b="1" dirty="0" smtClean="0"/>
              <a:t>Generated pairs:</a:t>
            </a:r>
          </a:p>
          <a:p>
            <a:pPr rtl="0"/>
            <a:r>
              <a:rPr lang="en-US" dirty="0" smtClean="0"/>
              <a:t>(0, "Hello Hadoop")</a:t>
            </a:r>
            <a:br>
              <a:rPr lang="en-US" dirty="0" smtClean="0"/>
            </a:br>
            <a:r>
              <a:rPr lang="en-US" dirty="0" smtClean="0"/>
              <a:t>(13, "Big Data is powerful")</a:t>
            </a:r>
            <a:br>
              <a:rPr lang="en-US" dirty="0" smtClean="0"/>
            </a:br>
            <a:r>
              <a:rPr lang="en-US" dirty="0" smtClean="0"/>
              <a:t>(35, "</a:t>
            </a:r>
            <a:r>
              <a:rPr lang="en-US" dirty="0" err="1" smtClean="0"/>
              <a:t>MapReduce</a:t>
            </a:r>
            <a:r>
              <a:rPr lang="en-US" dirty="0" smtClean="0"/>
              <a:t> is simple")</a:t>
            </a:r>
          </a:p>
          <a:p>
            <a:r>
              <a:rPr lang="en-US" dirty="0" smtClean="0"/>
              <a:t>The key is:</a:t>
            </a:r>
          </a:p>
          <a:p>
            <a:r>
              <a:rPr lang="en-US" dirty="0" smtClean="0"/>
              <a:t>The starting byte position of the line in the file.</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r>
              <a:rPr lang="en-US" b="1" dirty="0" smtClean="0"/>
              <a:t>🔥 Why Byte Offset?</a:t>
            </a:r>
          </a:p>
          <a:p>
            <a:r>
              <a:rPr lang="en-US" dirty="0" smtClean="0"/>
              <a:t>It uniquely identifies the record</a:t>
            </a:r>
          </a:p>
          <a:p>
            <a:r>
              <a:rPr lang="en-US" dirty="0" smtClean="0"/>
              <a:t>It enables fault recovery</a:t>
            </a:r>
          </a:p>
          <a:p>
            <a:r>
              <a:rPr lang="en-US" dirty="0" smtClean="0"/>
              <a:t>It allows re-processing from exact location</a:t>
            </a:r>
          </a:p>
          <a:p>
            <a:endParaRPr lang="en-US" dirty="0" smtClean="0"/>
          </a:p>
          <a:p>
            <a:endParaRPr lang="en-US" dirty="0" smtClean="0"/>
          </a:p>
          <a:p>
            <a:r>
              <a:rPr lang="en-US" dirty="0" smtClean="0"/>
              <a:t>HDFS File</a:t>
            </a:r>
          </a:p>
          <a:p>
            <a:r>
              <a:rPr lang="en-US" dirty="0" smtClean="0"/>
              <a:t>   ↓</a:t>
            </a:r>
          </a:p>
          <a:p>
            <a:r>
              <a:rPr lang="en-US" dirty="0" err="1" smtClean="0"/>
              <a:t>InputSplit</a:t>
            </a:r>
            <a:r>
              <a:rPr lang="en-US" dirty="0" smtClean="0"/>
              <a:t> 1</a:t>
            </a:r>
          </a:p>
          <a:p>
            <a:r>
              <a:rPr lang="en-US" dirty="0" err="1" smtClean="0"/>
              <a:t>InputSplit</a:t>
            </a:r>
            <a:r>
              <a:rPr lang="en-US" dirty="0" smtClean="0"/>
              <a:t> 2</a:t>
            </a:r>
          </a:p>
          <a:p>
            <a:r>
              <a:rPr lang="en-US" dirty="0" err="1" smtClean="0"/>
              <a:t>InputSplit</a:t>
            </a:r>
            <a:r>
              <a:rPr lang="en-US" dirty="0" smtClean="0"/>
              <a:t> 3</a:t>
            </a:r>
          </a:p>
          <a:p>
            <a:r>
              <a:rPr lang="en-US" dirty="0" smtClean="0"/>
              <a:t>   ↓</a:t>
            </a:r>
          </a:p>
          <a:p>
            <a:r>
              <a:rPr lang="en-US" dirty="0" smtClean="0"/>
              <a:t>Each </a:t>
            </a:r>
            <a:r>
              <a:rPr lang="en-US" dirty="0" err="1" smtClean="0"/>
              <a:t>InputSplit</a:t>
            </a:r>
            <a:r>
              <a:rPr lang="en-US" dirty="0" smtClean="0"/>
              <a:t> assigned to a </a:t>
            </a:r>
            <a:r>
              <a:rPr lang="en-US" dirty="0" err="1" smtClean="0"/>
              <a:t>RecordReader</a:t>
            </a:r>
            <a:endParaRPr lang="en-US" dirty="0" smtClean="0"/>
          </a:p>
          <a:p>
            <a:r>
              <a:rPr lang="en-US" dirty="0" smtClean="0"/>
              <a:t>   ↓</a:t>
            </a:r>
          </a:p>
          <a:p>
            <a:r>
              <a:rPr lang="en-US" dirty="0" err="1" smtClean="0"/>
              <a:t>RecordReader</a:t>
            </a:r>
            <a:r>
              <a:rPr lang="en-US" dirty="0" smtClean="0"/>
              <a:t> converts raw text</a:t>
            </a:r>
          </a:p>
          <a:p>
            <a:r>
              <a:rPr lang="en-US" dirty="0" smtClean="0"/>
              <a:t>   ↓</a:t>
            </a:r>
          </a:p>
          <a:p>
            <a:r>
              <a:rPr lang="en-US" dirty="0" smtClean="0"/>
              <a:t>Generates (key, value)</a:t>
            </a:r>
          </a:p>
          <a:p>
            <a:r>
              <a:rPr lang="en-US" dirty="0" smtClean="0"/>
              <a:t>   ↓</a:t>
            </a:r>
          </a:p>
          <a:p>
            <a:r>
              <a:rPr lang="en-US" dirty="0" smtClean="0"/>
              <a:t>Sent to Map task</a:t>
            </a:r>
          </a:p>
          <a:p>
            <a:endParaRPr lang="en-US" dirty="0" smtClean="0"/>
          </a:p>
          <a:p>
            <a:r>
              <a:rPr lang="en-US" dirty="0" smtClean="0"/>
              <a:t>------------------------------------------------------------------</a:t>
            </a:r>
          </a:p>
          <a:p>
            <a:r>
              <a:rPr lang="en-US" dirty="0" err="1" smtClean="0"/>
              <a:t>MapReduce</a:t>
            </a:r>
            <a:r>
              <a:rPr lang="en-US" dirty="0" smtClean="0"/>
              <a:t> does NOT operate on files.</a:t>
            </a:r>
            <a:br>
              <a:rPr lang="en-US" dirty="0" smtClean="0"/>
            </a:br>
            <a:r>
              <a:rPr lang="en-US" dirty="0" smtClean="0"/>
              <a:t>It operates on:</a:t>
            </a:r>
          </a:p>
          <a:p>
            <a:r>
              <a:rPr lang="en-US" dirty="0" smtClean="0"/>
              <a:t>A stream of (key, value) pairs.</a:t>
            </a:r>
          </a:p>
          <a:p>
            <a:r>
              <a:rPr lang="en-US" dirty="0" smtClean="0"/>
              <a:t>------------------------------------------------------------------</a:t>
            </a:r>
          </a:p>
          <a:p>
            <a:r>
              <a:rPr lang="en-US" b="1" dirty="0" err="1" smtClean="0"/>
              <a:t>InputSplit</a:t>
            </a:r>
            <a:endParaRPr lang="en-US" dirty="0" smtClean="0"/>
          </a:p>
          <a:p>
            <a:r>
              <a:rPr lang="en-US" dirty="0" smtClean="0"/>
              <a:t>Logical data chunk</a:t>
            </a:r>
          </a:p>
          <a:p>
            <a:r>
              <a:rPr lang="en-US" dirty="0" smtClean="0"/>
              <a:t>Determines number of mappers</a:t>
            </a:r>
          </a:p>
          <a:p>
            <a:r>
              <a:rPr lang="en-US" dirty="0" smtClean="0"/>
              <a:t>Usually matches block size</a:t>
            </a:r>
          </a:p>
          <a:p>
            <a:r>
              <a:rPr lang="en-US" dirty="0" smtClean="0"/>
              <a:t>Enables parallelism</a:t>
            </a:r>
          </a:p>
          <a:p>
            <a:r>
              <a:rPr lang="en-US" b="1" dirty="0" err="1" smtClean="0"/>
              <a:t>RecordReader</a:t>
            </a:r>
            <a:endParaRPr lang="en-US" dirty="0" smtClean="0"/>
          </a:p>
          <a:p>
            <a:r>
              <a:rPr lang="en-US" dirty="0" smtClean="0"/>
              <a:t>Converts raw data to key-value pairs</a:t>
            </a:r>
          </a:p>
          <a:p>
            <a:r>
              <a:rPr lang="en-US" dirty="0" smtClean="0"/>
              <a:t>Default: (byte offset, line)</a:t>
            </a:r>
          </a:p>
          <a:p>
            <a:r>
              <a:rPr lang="en-US" dirty="0" smtClean="0"/>
              <a:t>Feeds Mapper</a:t>
            </a:r>
          </a:p>
          <a:p>
            <a:endParaRPr lang="en-US" dirty="0" smtClean="0"/>
          </a:p>
          <a:p>
            <a:endParaRPr lang="en-US" dirty="0" smtClean="0"/>
          </a:p>
          <a:p>
            <a:pPr fontAlgn="base"/>
            <a:r>
              <a:rPr lang="en-US" sz="1200" b="1" i="0" kern="1200" dirty="0" err="1" smtClean="0">
                <a:solidFill>
                  <a:schemeClr val="tx1"/>
                </a:solidFill>
                <a:effectLst/>
                <a:latin typeface="+mn-lt"/>
                <a:ea typeface="+mn-ea"/>
                <a:cs typeface="+mn-cs"/>
              </a:rPr>
              <a:t>TextInputFormat</a:t>
            </a:r>
            <a:endParaRPr lang="en-US" sz="1200" b="1" i="0" kern="1200" dirty="0" smtClean="0">
              <a:solidFill>
                <a:schemeClr val="tx1"/>
              </a:solidFill>
              <a:effectLst/>
              <a:latin typeface="+mn-lt"/>
              <a:ea typeface="+mn-ea"/>
              <a:cs typeface="+mn-cs"/>
            </a:endParaRPr>
          </a:p>
          <a:p>
            <a:pPr fontAlgn="base"/>
            <a:r>
              <a:rPr lang="en-US" sz="1200" b="0" i="0" kern="1200" dirty="0" smtClean="0">
                <a:solidFill>
                  <a:schemeClr val="tx1"/>
                </a:solidFill>
                <a:effectLst/>
                <a:latin typeface="+mn-lt"/>
                <a:ea typeface="+mn-ea"/>
                <a:cs typeface="+mn-cs"/>
              </a:rPr>
              <a:t>It is the default </a:t>
            </a:r>
            <a:r>
              <a:rPr lang="en-US" sz="1200" b="0" i="0" kern="1200" dirty="0" err="1" smtClean="0">
                <a:solidFill>
                  <a:schemeClr val="tx1"/>
                </a:solidFill>
                <a:effectLst/>
                <a:latin typeface="+mn-lt"/>
                <a:ea typeface="+mn-ea"/>
                <a:cs typeface="+mn-cs"/>
              </a:rPr>
              <a:t>InputFormat</a:t>
            </a:r>
            <a:r>
              <a:rPr lang="en-US" sz="1200" b="0" i="0" kern="1200" dirty="0" smtClean="0">
                <a:solidFill>
                  <a:schemeClr val="tx1"/>
                </a:solidFill>
                <a:effectLst/>
                <a:latin typeface="+mn-lt"/>
                <a:ea typeface="+mn-ea"/>
                <a:cs typeface="+mn-cs"/>
              </a:rPr>
              <a:t> of </a:t>
            </a:r>
            <a:r>
              <a:rPr lang="en-US" sz="1200" b="0" i="0" kern="1200" dirty="0" err="1" smtClean="0">
                <a:solidFill>
                  <a:schemeClr val="tx1"/>
                </a:solidFill>
                <a:effectLst/>
                <a:latin typeface="+mn-lt"/>
                <a:ea typeface="+mn-ea"/>
                <a:cs typeface="+mn-cs"/>
              </a:rPr>
              <a:t>MapReduce</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TextInputFormat</a:t>
            </a:r>
            <a:r>
              <a:rPr lang="en-US" sz="1200" b="0" i="0" kern="1200" dirty="0" smtClean="0">
                <a:solidFill>
                  <a:schemeClr val="tx1"/>
                </a:solidFill>
                <a:effectLst/>
                <a:latin typeface="+mn-lt"/>
                <a:ea typeface="+mn-ea"/>
                <a:cs typeface="+mn-cs"/>
              </a:rPr>
              <a:t> </a:t>
            </a:r>
            <a:r>
              <a:rPr lang="en-US" sz="1200" b="1" i="0" kern="1200" dirty="0" smtClean="0">
                <a:solidFill>
                  <a:schemeClr val="tx1"/>
                </a:solidFill>
                <a:effectLst/>
                <a:latin typeface="+mn-lt"/>
                <a:ea typeface="+mn-ea"/>
                <a:cs typeface="+mn-cs"/>
              </a:rPr>
              <a:t>treats each line of each input file as a separate record and performs no parsing.</a:t>
            </a:r>
            <a:r>
              <a:rPr lang="en-US" sz="1200" b="0" i="0" kern="1200" dirty="0" smtClean="0">
                <a:solidFill>
                  <a:schemeClr val="tx1"/>
                </a:solidFill>
                <a:effectLst/>
                <a:latin typeface="+mn-lt"/>
                <a:ea typeface="+mn-ea"/>
                <a:cs typeface="+mn-cs"/>
              </a:rPr>
              <a:t> This is useful for unformatted data or line-based records like log files.</a:t>
            </a:r>
          </a:p>
          <a:p>
            <a:pPr fontAlgn="base"/>
            <a:r>
              <a:rPr lang="en-US" sz="1200" b="1" i="0" kern="1200" dirty="0" smtClean="0">
                <a:solidFill>
                  <a:schemeClr val="tx1"/>
                </a:solidFill>
                <a:effectLst/>
                <a:latin typeface="+mn-lt"/>
                <a:ea typeface="+mn-ea"/>
                <a:cs typeface="+mn-cs"/>
              </a:rPr>
              <a:t>Key – </a:t>
            </a:r>
            <a:r>
              <a:rPr lang="en-US" sz="1200" b="0" i="0" kern="1200" dirty="0" smtClean="0">
                <a:solidFill>
                  <a:schemeClr val="tx1"/>
                </a:solidFill>
                <a:effectLst/>
                <a:latin typeface="+mn-lt"/>
                <a:ea typeface="+mn-ea"/>
                <a:cs typeface="+mn-cs"/>
              </a:rPr>
              <a:t>It is the byte offset of the beginning of the line within the file (not whole file just one split), so it will be unique if combined with the file name.</a:t>
            </a:r>
          </a:p>
          <a:p>
            <a:pPr fontAlgn="base"/>
            <a:r>
              <a:rPr lang="en-US" sz="1200" b="1" i="0" kern="1200" dirty="0" smtClean="0">
                <a:solidFill>
                  <a:schemeClr val="tx1"/>
                </a:solidFill>
                <a:effectLst/>
                <a:latin typeface="+mn-lt"/>
                <a:ea typeface="+mn-ea"/>
                <a:cs typeface="+mn-cs"/>
              </a:rPr>
              <a:t>Value – </a:t>
            </a:r>
            <a:r>
              <a:rPr lang="en-US" sz="1200" b="0" i="0" kern="1200" dirty="0" smtClean="0">
                <a:solidFill>
                  <a:schemeClr val="tx1"/>
                </a:solidFill>
                <a:effectLst/>
                <a:latin typeface="+mn-lt"/>
                <a:ea typeface="+mn-ea"/>
                <a:cs typeface="+mn-cs"/>
              </a:rPr>
              <a:t>It is the contents of the line, excluding line terminators.</a:t>
            </a:r>
          </a:p>
          <a:p>
            <a:r>
              <a:rPr lang="en-US" dirty="0" smtClean="0"/>
              <a:t/>
            </a:r>
            <a:br>
              <a:rPr lang="en-US" dirty="0" smtClean="0"/>
            </a:br>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16</a:t>
            </a:fld>
            <a:endParaRPr lang="en-US"/>
          </a:p>
        </p:txBody>
      </p:sp>
    </p:spTree>
    <p:extLst>
      <p:ext uri="{BB962C8B-B14F-4D97-AF65-F5344CB8AC3E}">
        <p14:creationId xmlns:p14="http://schemas.microsoft.com/office/powerpoint/2010/main" val="40224094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Images source: https://data-flair.training/blogs/mapreduce-inputsplit-vs-block-hadoop/</a:t>
            </a:r>
          </a:p>
          <a:p>
            <a:endParaRPr lang="en-US" dirty="0" smtClean="0"/>
          </a:p>
          <a:p>
            <a:pPr fontAlgn="base"/>
            <a:r>
              <a:rPr lang="en-US" sz="1200" b="0" i="0" kern="1200" dirty="0" err="1" smtClean="0">
                <a:solidFill>
                  <a:schemeClr val="tx1"/>
                </a:solidFill>
                <a:effectLst/>
                <a:latin typeface="+mn-lt"/>
                <a:ea typeface="+mn-ea"/>
                <a:cs typeface="+mn-cs"/>
              </a:rPr>
              <a:t>InputSplit</a:t>
            </a:r>
            <a:r>
              <a:rPr lang="en-US" sz="1200" b="0" i="0" kern="1200" dirty="0" smtClean="0">
                <a:solidFill>
                  <a:schemeClr val="tx1"/>
                </a:solidFill>
                <a:effectLst/>
                <a:latin typeface="+mn-lt"/>
                <a:ea typeface="+mn-ea"/>
                <a:cs typeface="+mn-cs"/>
              </a:rPr>
              <a:t> is only </a:t>
            </a:r>
            <a:r>
              <a:rPr lang="en-US" sz="1200" b="1" i="0" kern="1200" dirty="0" smtClean="0">
                <a:solidFill>
                  <a:schemeClr val="tx1"/>
                </a:solidFill>
                <a:effectLst/>
                <a:latin typeface="+mn-lt"/>
                <a:ea typeface="+mn-ea"/>
                <a:cs typeface="+mn-cs"/>
              </a:rPr>
              <a:t>a logical chunk of data i.e. it has just the information about blocks address or location.</a:t>
            </a:r>
          </a:p>
          <a:p>
            <a:pPr fontAlgn="base"/>
            <a:r>
              <a:rPr lang="en-US" sz="1200" b="0" i="0" kern="1200" dirty="0" smtClean="0">
                <a:solidFill>
                  <a:schemeClr val="tx1"/>
                </a:solidFill>
                <a:effectLst/>
                <a:latin typeface="+mn-lt"/>
                <a:ea typeface="+mn-ea"/>
                <a:cs typeface="+mn-cs"/>
              </a:rPr>
              <a:t>During </a:t>
            </a:r>
            <a:r>
              <a:rPr lang="en-US" sz="1200" b="0" i="0" kern="1200" dirty="0" err="1" smtClean="0">
                <a:solidFill>
                  <a:schemeClr val="tx1"/>
                </a:solidFill>
                <a:effectLst/>
                <a:latin typeface="+mn-lt"/>
                <a:ea typeface="+mn-ea"/>
                <a:cs typeface="+mn-cs"/>
              </a:rPr>
              <a:t>MapReduce</a:t>
            </a:r>
            <a:r>
              <a:rPr lang="en-US" sz="1200" b="0" i="0" kern="1200" dirty="0" smtClean="0">
                <a:solidFill>
                  <a:schemeClr val="tx1"/>
                </a:solidFill>
                <a:effectLst/>
                <a:latin typeface="+mn-lt"/>
                <a:ea typeface="+mn-ea"/>
                <a:cs typeface="+mn-cs"/>
              </a:rPr>
              <a:t> execution, Hadoop scans through the blocks and create </a:t>
            </a:r>
            <a:r>
              <a:rPr lang="en-US" sz="1200" b="0" i="0" kern="1200" dirty="0" err="1" smtClean="0">
                <a:solidFill>
                  <a:schemeClr val="tx1"/>
                </a:solidFill>
                <a:effectLst/>
                <a:latin typeface="+mn-lt"/>
                <a:ea typeface="+mn-ea"/>
                <a:cs typeface="+mn-cs"/>
              </a:rPr>
              <a:t>InputSplits</a:t>
            </a:r>
            <a:r>
              <a:rPr lang="en-US" sz="1200" b="0" i="0" kern="1200" dirty="0" smtClean="0">
                <a:solidFill>
                  <a:schemeClr val="tx1"/>
                </a:solidFill>
                <a:effectLst/>
                <a:latin typeface="+mn-lt"/>
                <a:ea typeface="+mn-ea"/>
                <a:cs typeface="+mn-cs"/>
              </a:rPr>
              <a:t> and each </a:t>
            </a:r>
            <a:r>
              <a:rPr lang="en-US" sz="1200" b="0" i="0" kern="1200" dirty="0" err="1" smtClean="0">
                <a:solidFill>
                  <a:schemeClr val="tx1"/>
                </a:solidFill>
                <a:effectLst/>
                <a:latin typeface="+mn-lt"/>
                <a:ea typeface="+mn-ea"/>
                <a:cs typeface="+mn-cs"/>
              </a:rPr>
              <a:t>inputSplit</a:t>
            </a:r>
            <a:r>
              <a:rPr lang="en-US" sz="1200" b="0" i="0" kern="1200" dirty="0" smtClean="0">
                <a:solidFill>
                  <a:schemeClr val="tx1"/>
                </a:solidFill>
                <a:effectLst/>
                <a:latin typeface="+mn-lt"/>
                <a:ea typeface="+mn-ea"/>
                <a:cs typeface="+mn-cs"/>
              </a:rPr>
              <a:t> will be assigned to individual mappers for processing. Hence, Split act as a broker between block and mapper.</a:t>
            </a:r>
          </a:p>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17</a:t>
            </a:fld>
            <a:endParaRPr lang="en-US"/>
          </a:p>
        </p:txBody>
      </p:sp>
    </p:spTree>
    <p:extLst>
      <p:ext uri="{BB962C8B-B14F-4D97-AF65-F5344CB8AC3E}">
        <p14:creationId xmlns:p14="http://schemas.microsoft.com/office/powerpoint/2010/main" val="5846673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M (number of map tasks) and R (number of reduce tasks) should be much larger than the number of worker machines. Having each worker perform many different tasks improves dynamic load balancing, and also speeds up recovery when a worker fails: the many map tasks it has completed can be spread out across all the other worker machines.</a:t>
            </a:r>
          </a:p>
          <a:p>
            <a:endParaRPr lang="en-US" sz="1200" b="0" i="0" u="none" strike="noStrike" kern="1200" baseline="0" dirty="0" smtClean="0">
              <a:solidFill>
                <a:schemeClr val="tx1"/>
              </a:solidFill>
              <a:effectLst/>
              <a:latin typeface="+mn-lt"/>
              <a:ea typeface="+mn-ea"/>
              <a:cs typeface="+mn-cs"/>
            </a:endParaRPr>
          </a:p>
          <a:p>
            <a:endParaRPr lang="en-US" sz="1200" b="0" i="0" u="none" strike="noStrike" kern="1200" baseline="0" dirty="0" smtClean="0">
              <a:solidFill>
                <a:schemeClr val="tx1"/>
              </a:solidFill>
              <a:effectLst/>
              <a:latin typeface="+mn-lt"/>
              <a:ea typeface="+mn-ea"/>
              <a:cs typeface="+mn-cs"/>
            </a:endParaRPr>
          </a:p>
          <a:p>
            <a:pPr fontAlgn="base"/>
            <a:r>
              <a:rPr lang="en-US" sz="1200" b="1" i="0" kern="1200" dirty="0" smtClean="0">
                <a:solidFill>
                  <a:schemeClr val="tx1"/>
                </a:solidFill>
                <a:effectLst/>
                <a:latin typeface="+mn-lt"/>
                <a:ea typeface="+mn-ea"/>
                <a:cs typeface="+mn-cs"/>
              </a:rPr>
              <a:t>Map Phase</a:t>
            </a:r>
          </a:p>
          <a:p>
            <a:pPr rtl="0" fontAlgn="base"/>
            <a:r>
              <a:rPr lang="en-US" sz="1200" b="0" i="0" kern="1200" dirty="0" smtClean="0">
                <a:solidFill>
                  <a:schemeClr val="tx1"/>
                </a:solidFill>
                <a:effectLst/>
                <a:latin typeface="+mn-lt"/>
                <a:ea typeface="+mn-ea"/>
                <a:cs typeface="+mn-cs"/>
              </a:rPr>
              <a:t>The input dataset is divided into splits, each processed by a Map Task on the node storing the data (ensuring data locality). A </a:t>
            </a:r>
            <a:r>
              <a:rPr lang="en-US" sz="1200" b="0" i="0" kern="1200" dirty="0" err="1" smtClean="0">
                <a:solidFill>
                  <a:schemeClr val="tx1"/>
                </a:solidFill>
                <a:effectLst/>
                <a:latin typeface="+mn-lt"/>
                <a:ea typeface="+mn-ea"/>
                <a:cs typeface="+mn-cs"/>
              </a:rPr>
              <a:t>RecordReader</a:t>
            </a:r>
            <a:r>
              <a:rPr lang="en-US" sz="1200" b="0" i="0" kern="1200" dirty="0" smtClean="0">
                <a:solidFill>
                  <a:schemeClr val="tx1"/>
                </a:solidFill>
                <a:effectLst/>
                <a:latin typeface="+mn-lt"/>
                <a:ea typeface="+mn-ea"/>
                <a:cs typeface="+mn-cs"/>
              </a:rPr>
              <a:t> converts raw input into (key, value) pairs, which the Mapper transforms into intermediate results (e.g., "Hello Hadoop" → (Hello, 1), (Hadoop, 1)). The Map Phase generates but does not aggregate data.</a:t>
            </a:r>
          </a:p>
          <a:p>
            <a:endParaRPr lang="en-US" sz="1200" kern="1200" dirty="0" smtClean="0">
              <a:solidFill>
                <a:schemeClr val="tx1"/>
              </a:solidFill>
              <a:effectLst/>
              <a:latin typeface="+mn-lt"/>
              <a:ea typeface="+mn-ea"/>
              <a:cs typeface="+mn-cs"/>
            </a:endParaRPr>
          </a:p>
          <a:p>
            <a:pPr fontAlgn="base"/>
            <a:r>
              <a:rPr lang="en-US" sz="1200" b="1" i="0" kern="1200" dirty="0" smtClean="0">
                <a:solidFill>
                  <a:schemeClr val="tx1"/>
                </a:solidFill>
                <a:effectLst/>
                <a:latin typeface="+mn-lt"/>
                <a:ea typeface="+mn-ea"/>
                <a:cs typeface="+mn-cs"/>
              </a:rPr>
              <a:t>Reduce Phase</a:t>
            </a:r>
          </a:p>
          <a:p>
            <a:pPr rtl="0" fontAlgn="base"/>
            <a:r>
              <a:rPr lang="en-US" sz="1200" b="0" i="0" kern="1200" dirty="0" smtClean="0">
                <a:solidFill>
                  <a:schemeClr val="tx1"/>
                </a:solidFill>
                <a:effectLst/>
                <a:latin typeface="+mn-lt"/>
                <a:ea typeface="+mn-ea"/>
                <a:cs typeface="+mn-cs"/>
              </a:rPr>
              <a:t>Finally, reducers take the grouped keys and their associated values from the Shuffle &amp; Sort stage. The reduce() function aggregates or summarizes them to produce the final output. For example, (Hadoop, [1,1,1]) becomes (Hadoop, 3). The consolidated results are written back into HDFS at the client-specified output location.</a:t>
            </a: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B363088-F16C-4FAF-8BB4-7C6C9F3D1EC9}" type="slidenum">
              <a:rPr lang="en-US" smtClean="0"/>
              <a:t>18</a:t>
            </a:fld>
            <a:endParaRPr lang="en-US"/>
          </a:p>
        </p:txBody>
      </p:sp>
    </p:spTree>
    <p:extLst>
      <p:ext uri="{BB962C8B-B14F-4D97-AF65-F5344CB8AC3E}">
        <p14:creationId xmlns:p14="http://schemas.microsoft.com/office/powerpoint/2010/main" val="2985709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The </a:t>
            </a:r>
            <a:r>
              <a:rPr lang="en-US" sz="1200" b="0" i="1" u="none" strike="noStrike" kern="1200" baseline="0" dirty="0" smtClean="0">
                <a:solidFill>
                  <a:schemeClr val="tx1"/>
                </a:solidFill>
                <a:latin typeface="+mn-lt"/>
                <a:ea typeface="+mn-ea"/>
                <a:cs typeface="+mn-cs"/>
              </a:rPr>
              <a:t>Combiner </a:t>
            </a:r>
            <a:r>
              <a:rPr lang="en-US" sz="1200" b="0" i="0" u="none" strike="noStrike" kern="1200" baseline="0" dirty="0" smtClean="0">
                <a:solidFill>
                  <a:schemeClr val="tx1"/>
                </a:solidFill>
                <a:latin typeface="+mn-lt"/>
                <a:ea typeface="+mn-ea"/>
                <a:cs typeface="+mn-cs"/>
              </a:rPr>
              <a:t>function is </a:t>
            </a:r>
            <a:r>
              <a:rPr lang="en-US" sz="1200" b="1" i="0" u="none" strike="noStrike" kern="1200" baseline="0" dirty="0" smtClean="0">
                <a:solidFill>
                  <a:schemeClr val="tx1"/>
                </a:solidFill>
                <a:latin typeface="+mn-lt"/>
                <a:ea typeface="+mn-ea"/>
                <a:cs typeface="+mn-cs"/>
              </a:rPr>
              <a:t>executed on each machine that performs a map task</a:t>
            </a:r>
            <a:r>
              <a:rPr lang="en-US" sz="1200" b="0" i="0" u="none" strike="noStrike" kern="1200" baseline="0" dirty="0" smtClean="0">
                <a:solidFill>
                  <a:schemeClr val="tx1"/>
                </a:solidFill>
                <a:latin typeface="+mn-lt"/>
                <a:ea typeface="+mn-ea"/>
                <a:cs typeface="+mn-cs"/>
              </a:rPr>
              <a:t>. Typically the same code is used to implement both the combiner and the reduce functions. The only difference between a reduce function and a combiner function is how the </a:t>
            </a:r>
            <a:r>
              <a:rPr lang="en-US" sz="1200" b="0" i="0" u="none" strike="noStrike" kern="1200" baseline="0" dirty="0" err="1" smtClean="0">
                <a:solidFill>
                  <a:schemeClr val="tx1"/>
                </a:solidFill>
                <a:latin typeface="+mn-lt"/>
                <a:ea typeface="+mn-ea"/>
                <a:cs typeface="+mn-cs"/>
              </a:rPr>
              <a:t>MapReduce</a:t>
            </a:r>
            <a:r>
              <a:rPr lang="en-US" sz="1200" b="0" i="0" u="none" strike="noStrike" kern="1200" baseline="0" dirty="0" smtClean="0">
                <a:solidFill>
                  <a:schemeClr val="tx1"/>
                </a:solidFill>
                <a:latin typeface="+mn-lt"/>
                <a:ea typeface="+mn-ea"/>
                <a:cs typeface="+mn-cs"/>
              </a:rPr>
              <a:t> library handles the output of the function. </a:t>
            </a:r>
          </a:p>
          <a:p>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The output of a reduce function is written to the </a:t>
            </a:r>
            <a:r>
              <a:rPr lang="en-US" sz="1200" b="0" i="0" u="none" strike="noStrike" kern="1200" baseline="0" dirty="0" err="1" smtClean="0">
                <a:solidFill>
                  <a:schemeClr val="tx1"/>
                </a:solidFill>
                <a:latin typeface="+mn-lt"/>
                <a:ea typeface="+mn-ea"/>
                <a:cs typeface="+mn-cs"/>
              </a:rPr>
              <a:t>nal</a:t>
            </a:r>
            <a:r>
              <a:rPr lang="en-US" sz="1200" b="0" i="0" u="none" strike="noStrike" kern="1200" baseline="0" dirty="0" smtClean="0">
                <a:solidFill>
                  <a:schemeClr val="tx1"/>
                </a:solidFill>
                <a:latin typeface="+mn-lt"/>
                <a:ea typeface="+mn-ea"/>
                <a:cs typeface="+mn-cs"/>
              </a:rPr>
              <a:t> output le. The output of a combiner function is written to an intermediate le that will be sent to a reduce task. Partial combining </a:t>
            </a:r>
            <a:r>
              <a:rPr lang="en-US" sz="1200" b="0" i="0" u="none" strike="noStrike" kern="1200" baseline="0" dirty="0" err="1" smtClean="0">
                <a:solidFill>
                  <a:schemeClr val="tx1"/>
                </a:solidFill>
                <a:latin typeface="+mn-lt"/>
                <a:ea typeface="+mn-ea"/>
                <a:cs typeface="+mn-cs"/>
              </a:rPr>
              <a:t>signicantly</a:t>
            </a:r>
            <a:r>
              <a:rPr lang="en-US" sz="1200" b="0" i="0" u="none" strike="noStrike" kern="1200" baseline="0" dirty="0" smtClean="0">
                <a:solidFill>
                  <a:schemeClr val="tx1"/>
                </a:solidFill>
                <a:latin typeface="+mn-lt"/>
                <a:ea typeface="+mn-ea"/>
                <a:cs typeface="+mn-cs"/>
              </a:rPr>
              <a:t> speeds up certain classes of </a:t>
            </a:r>
            <a:r>
              <a:rPr lang="en-US" sz="1200" b="0" i="0" u="none" strike="noStrike" kern="1200" baseline="0" dirty="0" err="1" smtClean="0">
                <a:solidFill>
                  <a:schemeClr val="tx1"/>
                </a:solidFill>
                <a:latin typeface="+mn-lt"/>
                <a:ea typeface="+mn-ea"/>
                <a:cs typeface="+mn-cs"/>
              </a:rPr>
              <a:t>MapReduce</a:t>
            </a:r>
            <a:r>
              <a:rPr lang="en-US" sz="1200" b="0" i="0" u="none" strike="noStrike" kern="1200" baseline="0" dirty="0" smtClean="0">
                <a:solidFill>
                  <a:schemeClr val="tx1"/>
                </a:solidFill>
                <a:latin typeface="+mn-lt"/>
                <a:ea typeface="+mn-ea"/>
                <a:cs typeface="+mn-cs"/>
              </a:rPr>
              <a:t> operations.</a:t>
            </a:r>
          </a:p>
          <a:p>
            <a:endParaRPr lang="en-US" sz="1200" b="0" i="0" u="none" strike="noStrike" kern="1200" baseline="0" dirty="0" smtClean="0">
              <a:solidFill>
                <a:schemeClr val="tx1"/>
              </a:solidFill>
              <a:effectLst/>
              <a:latin typeface="+mn-lt"/>
              <a:ea typeface="+mn-ea"/>
              <a:cs typeface="+mn-cs"/>
            </a:endParaRPr>
          </a:p>
          <a:p>
            <a:r>
              <a:rPr lang="en-US" b="1" dirty="0" smtClean="0"/>
              <a:t>Combiners exist mainly to reduce shuffle cost</a:t>
            </a:r>
            <a:r>
              <a:rPr lang="en-US" dirty="0" smtClean="0"/>
              <a:t>, but with an important clarification.</a:t>
            </a:r>
          </a:p>
          <a:p>
            <a:r>
              <a:rPr lang="en-US" dirty="0" smtClean="0"/>
              <a:t>They reduce </a:t>
            </a:r>
            <a:r>
              <a:rPr lang="en-US" b="1" dirty="0" smtClean="0"/>
              <a:t>shuffle data size</a:t>
            </a:r>
            <a:r>
              <a:rPr lang="en-US" dirty="0" smtClean="0"/>
              <a:t>, which in turn reduces:</a:t>
            </a:r>
          </a:p>
          <a:p>
            <a:pPr lvl="1"/>
            <a:r>
              <a:rPr lang="en-US" dirty="0" smtClean="0"/>
              <a:t>Network transfer</a:t>
            </a:r>
          </a:p>
          <a:p>
            <a:pPr lvl="1"/>
            <a:r>
              <a:rPr lang="en-US" dirty="0" smtClean="0"/>
              <a:t>Disk I/O</a:t>
            </a:r>
          </a:p>
          <a:p>
            <a:pPr lvl="1"/>
            <a:r>
              <a:rPr lang="en-US" dirty="0" smtClean="0"/>
              <a:t>Sorting overhead</a:t>
            </a:r>
          </a:p>
          <a:p>
            <a:r>
              <a:rPr lang="en-US" dirty="0" smtClean="0"/>
              <a:t>So indirectly, they reduce </a:t>
            </a:r>
            <a:r>
              <a:rPr lang="en-US" b="1" dirty="0" smtClean="0"/>
              <a:t>shuffle time</a:t>
            </a:r>
            <a:r>
              <a:rPr lang="en-US" dirty="0" smtClean="0"/>
              <a:t>.</a:t>
            </a:r>
          </a:p>
          <a:p>
            <a:endParaRPr lang="en-US" sz="1200" kern="1200" dirty="0" smtClean="0">
              <a:solidFill>
                <a:schemeClr val="tx1"/>
              </a:solidFill>
              <a:effectLst/>
              <a:latin typeface="+mn-lt"/>
              <a:ea typeface="+mn-ea"/>
              <a:cs typeface="+mn-cs"/>
            </a:endParaRPr>
          </a:p>
          <a:p>
            <a:endParaRPr lang="en-US" sz="1200" kern="1200" dirty="0" smtClean="0">
              <a:solidFill>
                <a:schemeClr val="tx1"/>
              </a:solidFill>
              <a:effectLst/>
              <a:latin typeface="+mn-lt"/>
              <a:ea typeface="+mn-ea"/>
              <a:cs typeface="+mn-cs"/>
            </a:endParaRPr>
          </a:p>
          <a:p>
            <a:r>
              <a:rPr lang="en-US" dirty="0" smtClean="0"/>
              <a:t>Combiners work </a:t>
            </a:r>
            <a:r>
              <a:rPr lang="en-US" b="1" dirty="0" smtClean="0"/>
              <a:t>only when the reduce function is associative and commutative</a:t>
            </a:r>
            <a:r>
              <a:rPr lang="en-US" dirty="0" smtClean="0"/>
              <a:t>.</a:t>
            </a:r>
          </a:p>
          <a:p>
            <a:r>
              <a:rPr lang="en-US" b="1" dirty="0" smtClean="0"/>
              <a:t>Examples that work:</a:t>
            </a:r>
          </a:p>
          <a:p>
            <a:pPr marL="171450" indent="-171450">
              <a:buFont typeface="Arial" panose="020B0604020202020204" pitchFamily="34" charset="0"/>
              <a:buChar char="•"/>
            </a:pPr>
            <a:r>
              <a:rPr lang="en-US" dirty="0" smtClean="0"/>
              <a:t>Sum,</a:t>
            </a:r>
            <a:r>
              <a:rPr lang="en-US" baseline="0" dirty="0" smtClean="0"/>
              <a:t> </a:t>
            </a:r>
            <a:r>
              <a:rPr lang="en-US" dirty="0" smtClean="0"/>
              <a:t>Count,</a:t>
            </a:r>
            <a:r>
              <a:rPr lang="en-US" baseline="0" dirty="0" smtClean="0"/>
              <a:t> </a:t>
            </a:r>
            <a:r>
              <a:rPr lang="en-US" dirty="0" smtClean="0"/>
              <a:t>Min,</a:t>
            </a:r>
            <a:r>
              <a:rPr lang="en-US" baseline="0" dirty="0" smtClean="0"/>
              <a:t> </a:t>
            </a:r>
            <a:r>
              <a:rPr lang="en-US" dirty="0" smtClean="0"/>
              <a:t>Max</a:t>
            </a:r>
          </a:p>
          <a:p>
            <a:r>
              <a:rPr lang="en-US" b="1" dirty="0" smtClean="0"/>
              <a:t>Examples that don’t safely work:</a:t>
            </a:r>
          </a:p>
          <a:p>
            <a:r>
              <a:rPr lang="en-US" dirty="0" smtClean="0"/>
              <a:t>Average (unless carefully rewritten),</a:t>
            </a:r>
            <a:r>
              <a:rPr lang="en-US" baseline="0" dirty="0" smtClean="0"/>
              <a:t> </a:t>
            </a:r>
            <a:r>
              <a:rPr lang="en-US" dirty="0" smtClean="0"/>
              <a:t>Median,</a:t>
            </a:r>
            <a:r>
              <a:rPr lang="en-US" baseline="0" dirty="0" smtClean="0"/>
              <a:t> </a:t>
            </a:r>
            <a:r>
              <a:rPr lang="en-US" dirty="0" smtClean="0"/>
              <a:t>Order-dependent operations</a:t>
            </a:r>
          </a:p>
          <a:p>
            <a:endParaRPr lang="en-US" sz="1200" kern="1200" dirty="0" smtClean="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B363088-F16C-4FAF-8BB4-7C6C9F3D1EC9}" type="slidenum">
              <a:rPr lang="en-US" smtClean="0"/>
              <a:t>19</a:t>
            </a:fld>
            <a:endParaRPr lang="en-US"/>
          </a:p>
        </p:txBody>
      </p:sp>
    </p:spTree>
    <p:extLst>
      <p:ext uri="{BB962C8B-B14F-4D97-AF65-F5344CB8AC3E}">
        <p14:creationId xmlns:p14="http://schemas.microsoft.com/office/powerpoint/2010/main" val="32464262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 Same keys → same reducer</a:t>
            </a:r>
            <a:br>
              <a:rPr lang="en-US" dirty="0" smtClean="0"/>
            </a:br>
            <a:r>
              <a:rPr lang="en-US" dirty="0" smtClean="0"/>
              <a:t>• Different keys → possibly different reducers</a:t>
            </a:r>
          </a:p>
          <a:p>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Shuffle groups by key, but </a:t>
            </a:r>
            <a:r>
              <a:rPr lang="en-US" dirty="0" err="1" smtClean="0"/>
              <a:t>partitioner</a:t>
            </a:r>
            <a:r>
              <a:rPr lang="en-US" dirty="0" smtClean="0"/>
              <a:t> decides where that group goes.</a:t>
            </a:r>
          </a:p>
          <a:p>
            <a:pPr marL="0" indent="0">
              <a:lnSpc>
                <a:spcPct val="100000"/>
              </a:lnSpc>
              <a:spcBef>
                <a:spcPts val="0"/>
              </a:spcBef>
              <a:spcAft>
                <a:spcPts val="0"/>
              </a:spcAft>
              <a:buNone/>
            </a:pPr>
            <a:r>
              <a:rPr lang="en-US" sz="1200" b="1" dirty="0" smtClean="0"/>
              <a:t>Why Partitioner Matters</a:t>
            </a:r>
          </a:p>
          <a:p>
            <a:pPr>
              <a:lnSpc>
                <a:spcPct val="100000"/>
              </a:lnSpc>
              <a:spcBef>
                <a:spcPts val="0"/>
              </a:spcBef>
              <a:spcAft>
                <a:spcPts val="0"/>
              </a:spcAft>
            </a:pPr>
            <a:r>
              <a:rPr lang="en-US" sz="1200" dirty="0" smtClean="0"/>
              <a:t>Affects load balancing</a:t>
            </a:r>
          </a:p>
          <a:p>
            <a:pPr>
              <a:lnSpc>
                <a:spcPct val="100000"/>
              </a:lnSpc>
              <a:spcBef>
                <a:spcPts val="0"/>
              </a:spcBef>
              <a:spcAft>
                <a:spcPts val="0"/>
              </a:spcAft>
            </a:pPr>
            <a:r>
              <a:rPr lang="en-US" sz="1200" dirty="0" smtClean="0"/>
              <a:t>Impacts performance</a:t>
            </a:r>
          </a:p>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20</a:t>
            </a:fld>
            <a:endParaRPr lang="en-US"/>
          </a:p>
        </p:txBody>
      </p:sp>
    </p:spTree>
    <p:extLst>
      <p:ext uri="{BB962C8B-B14F-4D97-AF65-F5344CB8AC3E}">
        <p14:creationId xmlns:p14="http://schemas.microsoft.com/office/powerpoint/2010/main" val="42817017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21</a:t>
            </a:fld>
            <a:endParaRPr lang="en-US"/>
          </a:p>
        </p:txBody>
      </p:sp>
    </p:spTree>
    <p:extLst>
      <p:ext uri="{BB962C8B-B14F-4D97-AF65-F5344CB8AC3E}">
        <p14:creationId xmlns:p14="http://schemas.microsoft.com/office/powerpoint/2010/main" val="14858621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During shuffle:</a:t>
            </a:r>
          </a:p>
          <a:p>
            <a:pPr marL="171450" indent="-171450">
              <a:buFont typeface="Arial" panose="020B0604020202020204" pitchFamily="34" charset="0"/>
              <a:buChar char="•"/>
            </a:pPr>
            <a:r>
              <a:rPr lang="en-US" dirty="0" smtClean="0"/>
              <a:t>Every mapper sends intermediate data across the network</a:t>
            </a:r>
          </a:p>
          <a:p>
            <a:pPr marL="171450" indent="-171450">
              <a:buFont typeface="Arial" panose="020B0604020202020204" pitchFamily="34" charset="0"/>
              <a:buChar char="•"/>
            </a:pPr>
            <a:r>
              <a:rPr lang="en-US" dirty="0" smtClean="0"/>
              <a:t>Data must reach the correct reducer node</a:t>
            </a:r>
          </a:p>
          <a:p>
            <a:pPr marL="171450" indent="-171450">
              <a:buFont typeface="Arial" panose="020B0604020202020204" pitchFamily="34" charset="0"/>
              <a:buChar char="•"/>
            </a:pPr>
            <a:r>
              <a:rPr lang="en-US" dirty="0" smtClean="0"/>
              <a:t>This creates </a:t>
            </a:r>
            <a:r>
              <a:rPr lang="en-US" b="1" dirty="0" smtClean="0"/>
              <a:t>many-to-many communication</a:t>
            </a:r>
            <a:endParaRPr lang="en-US" dirty="0" smtClean="0"/>
          </a:p>
          <a:p>
            <a:r>
              <a:rPr lang="en-US" dirty="0" smtClean="0"/>
              <a:t>In large clusters:</a:t>
            </a:r>
          </a:p>
          <a:p>
            <a:pPr marL="171450" indent="-171450">
              <a:buFont typeface="Arial" panose="020B0604020202020204" pitchFamily="34" charset="0"/>
              <a:buChar char="•"/>
            </a:pPr>
            <a:r>
              <a:rPr lang="en-US" dirty="0" smtClean="0"/>
              <a:t>Hundreds of mappers</a:t>
            </a:r>
          </a:p>
          <a:p>
            <a:pPr marL="171450" indent="-171450">
              <a:buFont typeface="Arial" panose="020B0604020202020204" pitchFamily="34" charset="0"/>
              <a:buChar char="•"/>
            </a:pPr>
            <a:r>
              <a:rPr lang="en-US" dirty="0" smtClean="0"/>
              <a:t>Dozens of reducers</a:t>
            </a:r>
          </a:p>
          <a:p>
            <a:pPr marL="171450" indent="-171450">
              <a:buFont typeface="Arial" panose="020B0604020202020204" pitchFamily="34" charset="0"/>
              <a:buChar char="•"/>
            </a:pPr>
            <a:r>
              <a:rPr lang="en-US" dirty="0" smtClean="0"/>
              <a:t>Gigabytes or terabytes transferred</a:t>
            </a:r>
          </a:p>
          <a:p>
            <a:pPr marL="0" indent="0">
              <a:buFont typeface="Arial" panose="020B0604020202020204" pitchFamily="34" charset="0"/>
              <a:buNone/>
            </a:pPr>
            <a:endParaRPr lang="en-US" dirty="0" smtClean="0"/>
          </a:p>
          <a:p>
            <a:r>
              <a:rPr lang="en-US" dirty="0" smtClean="0"/>
              <a:t>👉 Network bandwidth is much slower than RAM and CPU</a:t>
            </a:r>
            <a:br>
              <a:rPr lang="en-US" dirty="0" smtClean="0"/>
            </a:br>
            <a:r>
              <a:rPr lang="en-US" dirty="0" smtClean="0"/>
              <a:t>👉 Network becomes the bottleneck</a:t>
            </a:r>
          </a:p>
          <a:p>
            <a:endParaRPr lang="en-US" dirty="0" smtClean="0"/>
          </a:p>
          <a:p>
            <a:r>
              <a:rPr lang="en-US" dirty="0" smtClean="0"/>
              <a:t>---------------------------------------------------------------------</a:t>
            </a:r>
          </a:p>
          <a:p>
            <a:r>
              <a:rPr lang="en-US" dirty="0" smtClean="0"/>
              <a:t>Shuffle involves multiple disk operations:</a:t>
            </a:r>
          </a:p>
          <a:p>
            <a:pPr marL="171450" indent="-171450">
              <a:buFont typeface="Arial" panose="020B0604020202020204" pitchFamily="34" charset="0"/>
              <a:buChar char="•"/>
            </a:pPr>
            <a:r>
              <a:rPr lang="en-US" dirty="0" smtClean="0"/>
              <a:t>Mapper writes intermediate output to local disk</a:t>
            </a:r>
          </a:p>
          <a:p>
            <a:pPr marL="171450" indent="-171450">
              <a:buFont typeface="Arial" panose="020B0604020202020204" pitchFamily="34" charset="0"/>
              <a:buChar char="•"/>
            </a:pPr>
            <a:r>
              <a:rPr lang="en-US" dirty="0" smtClean="0"/>
              <a:t>Data is read from disk for transfer</a:t>
            </a:r>
          </a:p>
          <a:p>
            <a:pPr marL="171450" indent="-171450">
              <a:buFont typeface="Arial" panose="020B0604020202020204" pitchFamily="34" charset="0"/>
              <a:buChar char="•"/>
            </a:pPr>
            <a:r>
              <a:rPr lang="en-US" dirty="0" smtClean="0"/>
              <a:t>Reducer writes received data to disk</a:t>
            </a:r>
          </a:p>
          <a:p>
            <a:pPr marL="171450" indent="-171450">
              <a:buFont typeface="Arial" panose="020B0604020202020204" pitchFamily="34" charset="0"/>
              <a:buChar char="•"/>
            </a:pPr>
            <a:r>
              <a:rPr lang="en-US" dirty="0" smtClean="0"/>
              <a:t>Data is read again for sorting/merging</a:t>
            </a:r>
          </a:p>
          <a:p>
            <a:r>
              <a:rPr lang="en-US" dirty="0" smtClean="0"/>
              <a:t>⚠ Disk I/O is slow compared to memory operations.</a:t>
            </a:r>
          </a:p>
          <a:p>
            <a:r>
              <a:rPr lang="en-US" dirty="0" smtClean="0"/>
              <a:t>So shuffle is not just network-heavy,</a:t>
            </a:r>
            <a:r>
              <a:rPr lang="en-US" baseline="0" dirty="0" smtClean="0"/>
              <a:t> </a:t>
            </a:r>
            <a:r>
              <a:rPr lang="en-US" dirty="0" smtClean="0"/>
              <a:t>it is also </a:t>
            </a:r>
            <a:r>
              <a:rPr lang="en-US" b="1" dirty="0" smtClean="0"/>
              <a:t>disk-heavy</a:t>
            </a:r>
            <a:r>
              <a:rPr lang="en-US" dirty="0" smtClean="0"/>
              <a:t>.</a:t>
            </a:r>
          </a:p>
          <a:p>
            <a:endParaRPr lang="en-US" dirty="0" smtClean="0"/>
          </a:p>
          <a:p>
            <a:endParaRPr lang="en-US" dirty="0" smtClean="0"/>
          </a:p>
          <a:p>
            <a:r>
              <a:rPr lang="en-US" dirty="0" smtClean="0"/>
              <a:t>In many real workloads:</a:t>
            </a:r>
          </a:p>
          <a:p>
            <a:r>
              <a:rPr lang="en-US" dirty="0" smtClean="0"/>
              <a:t>Shuffle can take </a:t>
            </a:r>
            <a:r>
              <a:rPr lang="en-US" b="1" dirty="0" smtClean="0"/>
              <a:t>50–80% of total job time</a:t>
            </a:r>
            <a:endParaRPr lang="en-US" dirty="0" smtClean="0"/>
          </a:p>
          <a:p>
            <a:endParaRPr lang="en-US" dirty="0" smtClean="0"/>
          </a:p>
          <a:p>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“Map is computation. Reduce is aggregation</a:t>
            </a:r>
            <a:r>
              <a:rPr lang="en-US" b="1" dirty="0" smtClean="0"/>
              <a:t>.</a:t>
            </a:r>
            <a:r>
              <a:rPr lang="en-US" b="1" dirty="0" smtClean="0"/>
              <a:t/>
            </a:r>
            <a:br>
              <a:rPr lang="en-US" b="1" dirty="0" smtClean="0"/>
            </a:br>
            <a:r>
              <a:rPr lang="en-US" b="1" dirty="0" smtClean="0"/>
              <a:t>Shuffle is distributed data movement — and movement is expensive</a:t>
            </a:r>
            <a:r>
              <a:rPr lang="en-US" b="1" dirty="0" smtClean="0"/>
              <a:t>.”</a:t>
            </a:r>
          </a:p>
          <a:p>
            <a:pPr marL="0" marR="0" indent="0" algn="l" defTabSz="914400" rtl="0" eaLnBrk="1" fontAlgn="auto" latinLnBrk="0" hangingPunct="1">
              <a:lnSpc>
                <a:spcPct val="100000"/>
              </a:lnSpc>
              <a:spcBef>
                <a:spcPts val="0"/>
              </a:spcBef>
              <a:spcAft>
                <a:spcPts val="0"/>
              </a:spcAft>
              <a:buClrTx/>
              <a:buSzTx/>
              <a:buFontTx/>
              <a:buNone/>
              <a:tabLst/>
              <a:defRPr/>
            </a:pPr>
            <a:endParaRPr lang="en-US" b="1"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it starts before all mappers finish. This is a form of </a:t>
            </a:r>
            <a:r>
              <a:rPr lang="en-US" b="1" dirty="0" smtClean="0"/>
              <a:t>Task Pipelining</a:t>
            </a:r>
            <a:r>
              <a:rPr lang="en-US" dirty="0" smtClean="0"/>
              <a:t>. As soon as a Mapper "spills" its first sorted segment to disk, a Reducer can begin copying that segment, even if the Mapper is still processing the rest of its split.</a:t>
            </a:r>
            <a:endParaRPr lang="en-US" b="1" dirty="0" smtClean="0"/>
          </a:p>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22</a:t>
            </a:fld>
            <a:endParaRPr lang="en-US"/>
          </a:p>
        </p:txBody>
      </p:sp>
    </p:spTree>
    <p:extLst>
      <p:ext uri="{BB962C8B-B14F-4D97-AF65-F5344CB8AC3E}">
        <p14:creationId xmlns:p14="http://schemas.microsoft.com/office/powerpoint/2010/main" val="12985955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shuffle and sort phases are the hidden engine that makes distributed aggregation possible.</a:t>
            </a:r>
          </a:p>
          <a:p>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Without shuffle → reducers would not receive grouped data.</a:t>
            </a:r>
            <a:br>
              <a:rPr lang="en-US" dirty="0" smtClean="0"/>
            </a:br>
            <a:r>
              <a:rPr lang="en-US" dirty="0" smtClean="0"/>
              <a:t>Without sort → reducers could not process grouped keys efficiently</a:t>
            </a:r>
            <a:r>
              <a:rPr lang="en-US" dirty="0" smtClean="0"/>
              <a:t>.</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r>
              <a:rPr lang="en-US" sz="1200" b="1" kern="1200" dirty="0" smtClean="0">
                <a:solidFill>
                  <a:schemeClr val="tx1"/>
                </a:solidFill>
                <a:effectLst/>
                <a:latin typeface="+mn-lt"/>
                <a:ea typeface="+mn-ea"/>
                <a:cs typeface="+mn-cs"/>
              </a:rPr>
              <a:t>Sorting</a:t>
            </a:r>
            <a:r>
              <a:rPr lang="en-US" sz="1200" kern="1200" dirty="0" smtClean="0">
                <a:solidFill>
                  <a:schemeClr val="tx1"/>
                </a:solidFill>
                <a:effectLst/>
                <a:latin typeface="+mn-lt"/>
                <a:ea typeface="+mn-ea"/>
                <a:cs typeface="+mn-cs"/>
              </a:rPr>
              <a:t> puts keys in order (A, A, B, C, C, C).</a:t>
            </a:r>
          </a:p>
          <a:p>
            <a:r>
              <a:rPr lang="en-US" sz="1200" b="1" kern="1200" dirty="0" smtClean="0">
                <a:solidFill>
                  <a:schemeClr val="tx1"/>
                </a:solidFill>
                <a:effectLst/>
                <a:latin typeface="+mn-lt"/>
                <a:ea typeface="+mn-ea"/>
                <a:cs typeface="+mn-cs"/>
              </a:rPr>
              <a:t>Grouping</a:t>
            </a:r>
            <a:r>
              <a:rPr lang="en-US" sz="1200" kern="1200" dirty="0" smtClean="0">
                <a:solidFill>
                  <a:schemeClr val="tx1"/>
                </a:solidFill>
                <a:effectLst/>
                <a:latin typeface="+mn-lt"/>
                <a:ea typeface="+mn-ea"/>
                <a:cs typeface="+mn-cs"/>
              </a:rPr>
              <a:t> ensures that the Reducer receives a single call for Key A with an </a:t>
            </a:r>
            <a:r>
              <a:rPr lang="en-US" sz="1200" i="1" kern="1200" dirty="0" smtClean="0">
                <a:solidFill>
                  <a:schemeClr val="tx1"/>
                </a:solidFill>
                <a:effectLst/>
                <a:latin typeface="+mn-lt"/>
                <a:ea typeface="+mn-ea"/>
                <a:cs typeface="+mn-cs"/>
              </a:rPr>
              <a:t>iterator</a:t>
            </a:r>
            <a:r>
              <a:rPr lang="en-US" sz="1200" kern="1200" dirty="0" smtClean="0">
                <a:solidFill>
                  <a:schemeClr val="tx1"/>
                </a:solidFill>
                <a:effectLst/>
                <a:latin typeface="+mn-lt"/>
                <a:ea typeface="+mn-ea"/>
                <a:cs typeface="+mn-cs"/>
              </a:rPr>
              <a:t> containing all its values.</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r>
              <a:rPr lang="en-US" dirty="0" smtClean="0"/>
              <a:t>The </a:t>
            </a:r>
            <a:r>
              <a:rPr lang="en-US" b="1" dirty="0" smtClean="0"/>
              <a:t>Sort</a:t>
            </a:r>
            <a:r>
              <a:rPr lang="en-US" dirty="0" smtClean="0"/>
              <a:t> actually begins on the </a:t>
            </a:r>
            <a:r>
              <a:rPr lang="en-US" b="1" dirty="0" smtClean="0"/>
              <a:t>Mapper node</a:t>
            </a:r>
            <a:r>
              <a:rPr lang="en-US" dirty="0" smtClean="0"/>
              <a:t> (in-memory buffer) to save time .</a:t>
            </a:r>
          </a:p>
          <a:p>
            <a:r>
              <a:rPr lang="en-US" dirty="0" smtClean="0"/>
              <a:t>The </a:t>
            </a:r>
            <a:r>
              <a:rPr lang="en-US" b="1" dirty="0" smtClean="0"/>
              <a:t>Merge</a:t>
            </a:r>
            <a:r>
              <a:rPr lang="en-US" dirty="0" smtClean="0"/>
              <a:t> (final sorting) happens on the </a:t>
            </a:r>
            <a:r>
              <a:rPr lang="en-US" b="1" dirty="0" smtClean="0"/>
              <a:t>Reducer node</a:t>
            </a:r>
            <a:r>
              <a:rPr lang="en-US" dirty="0" smtClean="0"/>
              <a:t> after it fetches the data.</a:t>
            </a:r>
          </a:p>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23</a:t>
            </a:fld>
            <a:endParaRPr lang="en-US"/>
          </a:p>
        </p:txBody>
      </p:sp>
    </p:spTree>
    <p:extLst>
      <p:ext uri="{BB962C8B-B14F-4D97-AF65-F5344CB8AC3E}">
        <p14:creationId xmlns:p14="http://schemas.microsoft.com/office/powerpoint/2010/main" val="6544758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M (number of map tasks) and R (number of reduce tasks) should be much larger than the number of worker machines. Having each worker perform many different tasks improves dynamic load balancing, and also speeds up recovery when a worker fails: the many map tasks it has completed can be spread out across all the other worker machines.</a:t>
            </a:r>
          </a:p>
          <a:p>
            <a:endParaRPr lang="en-US" sz="1200" b="0" i="0" u="none" strike="noStrike" kern="1200" baseline="0" dirty="0" smtClean="0">
              <a:solidFill>
                <a:schemeClr val="tx1"/>
              </a:solidFill>
              <a:effectLst/>
              <a:latin typeface="+mn-lt"/>
              <a:ea typeface="+mn-ea"/>
              <a:cs typeface="+mn-cs"/>
            </a:endParaRPr>
          </a:p>
          <a:p>
            <a:endParaRPr lang="en-US" sz="1200" b="0" i="0" u="none" strike="noStrike" kern="1200" baseline="0" dirty="0" smtClean="0">
              <a:solidFill>
                <a:schemeClr val="tx1"/>
              </a:solidFill>
              <a:effectLst/>
              <a:latin typeface="+mn-lt"/>
              <a:ea typeface="+mn-ea"/>
              <a:cs typeface="+mn-cs"/>
            </a:endParaRPr>
          </a:p>
          <a:p>
            <a:pPr fontAlgn="base"/>
            <a:r>
              <a:rPr lang="en-US" sz="1200" b="1" i="0" kern="1200" dirty="0" smtClean="0">
                <a:solidFill>
                  <a:schemeClr val="tx1"/>
                </a:solidFill>
                <a:effectLst/>
                <a:latin typeface="+mn-lt"/>
                <a:ea typeface="+mn-ea"/>
                <a:cs typeface="+mn-cs"/>
              </a:rPr>
              <a:t>Map Phase</a:t>
            </a:r>
          </a:p>
          <a:p>
            <a:pPr rtl="0" fontAlgn="base"/>
            <a:r>
              <a:rPr lang="en-US" sz="1200" b="0" i="0" kern="1200" dirty="0" smtClean="0">
                <a:solidFill>
                  <a:schemeClr val="tx1"/>
                </a:solidFill>
                <a:effectLst/>
                <a:latin typeface="+mn-lt"/>
                <a:ea typeface="+mn-ea"/>
                <a:cs typeface="+mn-cs"/>
              </a:rPr>
              <a:t>The input dataset is divided into splits, each processed by a Map Task on the node storing the data (ensuring data locality). A </a:t>
            </a:r>
            <a:r>
              <a:rPr lang="en-US" sz="1200" b="0" i="0" kern="1200" dirty="0" err="1" smtClean="0">
                <a:solidFill>
                  <a:schemeClr val="tx1"/>
                </a:solidFill>
                <a:effectLst/>
                <a:latin typeface="+mn-lt"/>
                <a:ea typeface="+mn-ea"/>
                <a:cs typeface="+mn-cs"/>
              </a:rPr>
              <a:t>RecordReader</a:t>
            </a:r>
            <a:r>
              <a:rPr lang="en-US" sz="1200" b="0" i="0" kern="1200" dirty="0" smtClean="0">
                <a:solidFill>
                  <a:schemeClr val="tx1"/>
                </a:solidFill>
                <a:effectLst/>
                <a:latin typeface="+mn-lt"/>
                <a:ea typeface="+mn-ea"/>
                <a:cs typeface="+mn-cs"/>
              </a:rPr>
              <a:t> converts raw input into (key, value) pairs, which the Mapper transforms into intermediate results (e.g., "Hello Hadoop" → (Hello, 1), (Hadoop, 1)). The Map Phase generates but does not aggregate data.</a:t>
            </a:r>
          </a:p>
          <a:p>
            <a:endParaRPr lang="en-US" sz="1200" kern="1200" dirty="0" smtClean="0">
              <a:solidFill>
                <a:schemeClr val="tx1"/>
              </a:solidFill>
              <a:effectLst/>
              <a:latin typeface="+mn-lt"/>
              <a:ea typeface="+mn-ea"/>
              <a:cs typeface="+mn-cs"/>
            </a:endParaRPr>
          </a:p>
          <a:p>
            <a:pPr fontAlgn="base"/>
            <a:r>
              <a:rPr lang="en-US" sz="1200" b="1" i="0" kern="1200" dirty="0" smtClean="0">
                <a:solidFill>
                  <a:schemeClr val="tx1"/>
                </a:solidFill>
                <a:effectLst/>
                <a:latin typeface="+mn-lt"/>
                <a:ea typeface="+mn-ea"/>
                <a:cs typeface="+mn-cs"/>
              </a:rPr>
              <a:t>Reduce Phase</a:t>
            </a:r>
          </a:p>
          <a:p>
            <a:pPr rtl="0" fontAlgn="base"/>
            <a:r>
              <a:rPr lang="en-US" sz="1200" b="0" i="0" kern="1200" dirty="0" smtClean="0">
                <a:solidFill>
                  <a:schemeClr val="tx1"/>
                </a:solidFill>
                <a:effectLst/>
                <a:latin typeface="+mn-lt"/>
                <a:ea typeface="+mn-ea"/>
                <a:cs typeface="+mn-cs"/>
              </a:rPr>
              <a:t>Finally, reducers take the grouped keys and their associated values from the Shuffle &amp; Sort stage. The reduce() function aggregates or summarizes them to produce the final output. For example, (Hadoop, [1,1,1]) becomes (Hadoop, 3). The consolidated results are written back into HDFS at the client-specified output location.</a:t>
            </a: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B363088-F16C-4FAF-8BB4-7C6C9F3D1EC9}" type="slidenum">
              <a:rPr lang="en-US" smtClean="0"/>
              <a:t>24</a:t>
            </a:fld>
            <a:endParaRPr lang="en-US"/>
          </a:p>
        </p:txBody>
      </p:sp>
    </p:spTree>
    <p:extLst>
      <p:ext uri="{BB962C8B-B14F-4D97-AF65-F5344CB8AC3E}">
        <p14:creationId xmlns:p14="http://schemas.microsoft.com/office/powerpoint/2010/main" val="2535930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The way these output key-value pairs are written in output files by </a:t>
            </a:r>
            <a:r>
              <a:rPr lang="en-US" sz="1200" b="0" i="0" kern="1200" dirty="0" err="1" smtClean="0">
                <a:solidFill>
                  <a:schemeClr val="tx1"/>
                </a:solidFill>
                <a:effectLst/>
                <a:latin typeface="+mn-lt"/>
                <a:ea typeface="+mn-ea"/>
                <a:cs typeface="+mn-cs"/>
              </a:rPr>
              <a:t>RecordWriter</a:t>
            </a:r>
            <a:r>
              <a:rPr lang="en-US" sz="1200" b="0" i="0" kern="1200" dirty="0" smtClean="0">
                <a:solidFill>
                  <a:schemeClr val="tx1"/>
                </a:solidFill>
                <a:effectLst/>
                <a:latin typeface="+mn-lt"/>
                <a:ea typeface="+mn-ea"/>
                <a:cs typeface="+mn-cs"/>
              </a:rPr>
              <a:t> is determined by the Output Format. The Output Format and</a:t>
            </a:r>
            <a:r>
              <a:rPr lang="en-US" sz="1200" b="1" i="0" u="sng" kern="1200" dirty="0" smtClean="0">
                <a:solidFill>
                  <a:schemeClr val="tx1"/>
                </a:solidFill>
                <a:effectLst/>
                <a:latin typeface="+mn-lt"/>
                <a:ea typeface="+mn-ea"/>
                <a:cs typeface="+mn-cs"/>
                <a:hlinkClick r:id="rId3"/>
              </a:rPr>
              <a:t> </a:t>
            </a:r>
            <a:r>
              <a:rPr lang="en-US" sz="1200" b="1" i="0" u="sng" kern="1200" dirty="0" err="1" smtClean="0">
                <a:solidFill>
                  <a:schemeClr val="tx1"/>
                </a:solidFill>
                <a:effectLst/>
                <a:latin typeface="+mn-lt"/>
                <a:ea typeface="+mn-ea"/>
                <a:cs typeface="+mn-cs"/>
                <a:hlinkClick r:id="rId3"/>
              </a:rPr>
              <a:t>InputFormat</a:t>
            </a:r>
            <a:r>
              <a:rPr lang="en-US" sz="1200" b="1" i="0" u="sng" kern="1200" dirty="0" smtClean="0">
                <a:solidFill>
                  <a:schemeClr val="tx1"/>
                </a:solidFill>
                <a:effectLst/>
                <a:latin typeface="+mn-lt"/>
                <a:ea typeface="+mn-ea"/>
                <a:cs typeface="+mn-cs"/>
                <a:hlinkClick r:id="rId3"/>
              </a:rPr>
              <a:t> </a:t>
            </a:r>
            <a:r>
              <a:rPr lang="en-US" sz="1200" b="0" i="0" kern="1200" dirty="0" smtClean="0">
                <a:solidFill>
                  <a:schemeClr val="tx1"/>
                </a:solidFill>
                <a:effectLst/>
                <a:latin typeface="+mn-lt"/>
                <a:ea typeface="+mn-ea"/>
                <a:cs typeface="+mn-cs"/>
              </a:rPr>
              <a:t>functions are alike. </a:t>
            </a:r>
            <a:r>
              <a:rPr lang="en-US" sz="1200" b="0" i="0" kern="1200" dirty="0" err="1" smtClean="0">
                <a:solidFill>
                  <a:schemeClr val="tx1"/>
                </a:solidFill>
                <a:effectLst/>
                <a:latin typeface="+mn-lt"/>
                <a:ea typeface="+mn-ea"/>
                <a:cs typeface="+mn-cs"/>
              </a:rPr>
              <a:t>OutputFormat</a:t>
            </a:r>
            <a:r>
              <a:rPr lang="en-US" sz="1200" b="0" i="0" kern="1200" dirty="0" smtClean="0">
                <a:solidFill>
                  <a:schemeClr val="tx1"/>
                </a:solidFill>
                <a:effectLst/>
                <a:latin typeface="+mn-lt"/>
                <a:ea typeface="+mn-ea"/>
                <a:cs typeface="+mn-cs"/>
              </a:rPr>
              <a:t> instances provided by Hadoop are used to write to files on the</a:t>
            </a:r>
            <a:r>
              <a:rPr lang="en-US" sz="1200" b="0" i="0" u="sng" kern="1200" dirty="0" smtClean="0">
                <a:solidFill>
                  <a:schemeClr val="tx1"/>
                </a:solidFill>
                <a:effectLst/>
                <a:latin typeface="+mn-lt"/>
                <a:ea typeface="+mn-ea"/>
                <a:cs typeface="+mn-cs"/>
                <a:hlinkClick r:id="rId4"/>
              </a:rPr>
              <a:t> </a:t>
            </a:r>
            <a:r>
              <a:rPr lang="en-US" sz="1200" b="1" i="0" u="sng" kern="1200" dirty="0" smtClean="0">
                <a:solidFill>
                  <a:schemeClr val="tx1"/>
                </a:solidFill>
                <a:effectLst/>
                <a:latin typeface="+mn-lt"/>
                <a:ea typeface="+mn-ea"/>
                <a:cs typeface="+mn-cs"/>
                <a:hlinkClick r:id="rId4"/>
              </a:rPr>
              <a:t>HDFS</a:t>
            </a:r>
            <a:r>
              <a:rPr lang="en-US" sz="1200" b="0" i="0" kern="1200" dirty="0" smtClean="0">
                <a:solidFill>
                  <a:schemeClr val="tx1"/>
                </a:solidFill>
                <a:effectLst/>
                <a:latin typeface="+mn-lt"/>
                <a:ea typeface="+mn-ea"/>
                <a:cs typeface="+mn-cs"/>
              </a:rPr>
              <a:t> or local disk. </a:t>
            </a:r>
            <a:r>
              <a:rPr lang="en-US" sz="1200" b="0" i="0" kern="1200" dirty="0" err="1" smtClean="0">
                <a:solidFill>
                  <a:schemeClr val="tx1"/>
                </a:solidFill>
                <a:effectLst/>
                <a:latin typeface="+mn-lt"/>
                <a:ea typeface="+mn-ea"/>
                <a:cs typeface="+mn-cs"/>
              </a:rPr>
              <a:t>OutputFormat</a:t>
            </a:r>
            <a:r>
              <a:rPr lang="en-US" sz="1200" b="0" i="0" kern="1200" dirty="0" smtClean="0">
                <a:solidFill>
                  <a:schemeClr val="tx1"/>
                </a:solidFill>
                <a:effectLst/>
                <a:latin typeface="+mn-lt"/>
                <a:ea typeface="+mn-ea"/>
                <a:cs typeface="+mn-cs"/>
              </a:rPr>
              <a:t> describes the output-specification for a</a:t>
            </a:r>
            <a:r>
              <a:rPr lang="en-US" sz="1200" b="1" i="0" u="sng" kern="1200" dirty="0" smtClean="0">
                <a:solidFill>
                  <a:schemeClr val="tx1"/>
                </a:solidFill>
                <a:effectLst/>
                <a:latin typeface="+mn-lt"/>
                <a:ea typeface="+mn-ea"/>
                <a:cs typeface="+mn-cs"/>
                <a:hlinkClick r:id="rId5"/>
              </a:rPr>
              <a:t> Map-Reduce job</a:t>
            </a:r>
            <a:r>
              <a:rPr lang="en-US" sz="1200" b="0" i="0" kern="1200" dirty="0" smtClean="0">
                <a:solidFill>
                  <a:schemeClr val="tx1"/>
                </a:solidFill>
                <a:effectLst/>
                <a:latin typeface="+mn-lt"/>
                <a:ea typeface="+mn-ea"/>
                <a:cs typeface="+mn-cs"/>
              </a:rPr>
              <a:t>.</a:t>
            </a:r>
          </a:p>
          <a:p>
            <a:endParaRPr lang="en-US" sz="1200" b="0" i="0" kern="1200" dirty="0" smtClean="0">
              <a:solidFill>
                <a:schemeClr val="tx1"/>
              </a:solidFill>
              <a:effectLst/>
              <a:latin typeface="+mn-lt"/>
              <a:ea typeface="+mn-ea"/>
              <a:cs typeface="+mn-cs"/>
            </a:endParaRPr>
          </a:p>
          <a:p>
            <a:pPr fontAlgn="base"/>
            <a:r>
              <a:rPr lang="en-US" sz="1200" b="1" i="0" kern="1200" dirty="0" err="1" smtClean="0">
                <a:solidFill>
                  <a:schemeClr val="tx1"/>
                </a:solidFill>
                <a:effectLst/>
                <a:latin typeface="+mn-lt"/>
                <a:ea typeface="+mn-ea"/>
                <a:cs typeface="+mn-cs"/>
              </a:rPr>
              <a:t>TextOutputFormat</a:t>
            </a:r>
            <a:r>
              <a:rPr lang="en-US" sz="1200" b="1" i="0" kern="1200" dirty="0" smtClean="0">
                <a:solidFill>
                  <a:schemeClr val="tx1"/>
                </a:solidFill>
                <a:effectLst/>
                <a:latin typeface="+mn-lt"/>
                <a:ea typeface="+mn-ea"/>
                <a:cs typeface="+mn-cs"/>
              </a:rPr>
              <a:t> (most</a:t>
            </a:r>
            <a:r>
              <a:rPr lang="en-US" sz="1200" b="1" i="0" kern="1200" baseline="0" dirty="0" smtClean="0">
                <a:solidFill>
                  <a:schemeClr val="tx1"/>
                </a:solidFill>
                <a:effectLst/>
                <a:latin typeface="+mn-lt"/>
                <a:ea typeface="+mn-ea"/>
                <a:cs typeface="+mn-cs"/>
              </a:rPr>
              <a:t> common output format)</a:t>
            </a:r>
            <a:endParaRPr lang="en-US" sz="1200" b="1" i="0" kern="1200" dirty="0" smtClean="0">
              <a:solidFill>
                <a:schemeClr val="tx1"/>
              </a:solidFill>
              <a:effectLst/>
              <a:latin typeface="+mn-lt"/>
              <a:ea typeface="+mn-ea"/>
              <a:cs typeface="+mn-cs"/>
            </a:endParaRPr>
          </a:p>
          <a:p>
            <a:pPr fontAlgn="base"/>
            <a:r>
              <a:rPr lang="en-US" sz="1200" b="0" i="0" kern="1200" dirty="0" err="1" smtClean="0">
                <a:solidFill>
                  <a:schemeClr val="tx1"/>
                </a:solidFill>
                <a:effectLst/>
                <a:latin typeface="+mn-lt"/>
                <a:ea typeface="+mn-ea"/>
                <a:cs typeface="+mn-cs"/>
              </a:rPr>
              <a:t>MapReduce</a:t>
            </a:r>
            <a:r>
              <a:rPr lang="en-US" sz="1200" b="0" i="0" kern="1200" dirty="0" smtClean="0">
                <a:solidFill>
                  <a:schemeClr val="tx1"/>
                </a:solidFill>
                <a:effectLst/>
                <a:latin typeface="+mn-lt"/>
                <a:ea typeface="+mn-ea"/>
                <a:cs typeface="+mn-cs"/>
              </a:rPr>
              <a:t> default Hadoop reducer Output Format is </a:t>
            </a:r>
            <a:r>
              <a:rPr lang="en-US" sz="1200" b="1" i="0" kern="1200" dirty="0" err="1" smtClean="0">
                <a:solidFill>
                  <a:schemeClr val="tx1"/>
                </a:solidFill>
                <a:effectLst/>
                <a:latin typeface="+mn-lt"/>
                <a:ea typeface="+mn-ea"/>
                <a:cs typeface="+mn-cs"/>
              </a:rPr>
              <a:t>TextOutputFormat</a:t>
            </a:r>
            <a:r>
              <a:rPr lang="en-US" sz="1200" b="0" i="0" kern="1200" dirty="0" smtClean="0">
                <a:solidFill>
                  <a:schemeClr val="tx1"/>
                </a:solidFill>
                <a:effectLst/>
                <a:latin typeface="+mn-lt"/>
                <a:ea typeface="+mn-ea"/>
                <a:cs typeface="+mn-cs"/>
              </a:rPr>
              <a:t>, which writes (key, value) pairs on individual lines of text files and its keys and values can be of any type since </a:t>
            </a:r>
            <a:r>
              <a:rPr lang="en-US" sz="1200" b="0" i="0" kern="1200" dirty="0" err="1" smtClean="0">
                <a:solidFill>
                  <a:schemeClr val="tx1"/>
                </a:solidFill>
                <a:effectLst/>
                <a:latin typeface="+mn-lt"/>
                <a:ea typeface="+mn-ea"/>
                <a:cs typeface="+mn-cs"/>
              </a:rPr>
              <a:t>TextOutputFormat</a:t>
            </a:r>
            <a:r>
              <a:rPr lang="en-US" sz="1200" b="0" i="0" kern="1200" dirty="0" smtClean="0">
                <a:solidFill>
                  <a:schemeClr val="tx1"/>
                </a:solidFill>
                <a:effectLst/>
                <a:latin typeface="+mn-lt"/>
                <a:ea typeface="+mn-ea"/>
                <a:cs typeface="+mn-cs"/>
              </a:rPr>
              <a:t> turns them to string by calling </a:t>
            </a:r>
            <a:r>
              <a:rPr lang="en-US" sz="1200" b="0" i="0" kern="1200" dirty="0" err="1" smtClean="0">
                <a:solidFill>
                  <a:schemeClr val="tx1"/>
                </a:solidFill>
                <a:effectLst/>
                <a:latin typeface="+mn-lt"/>
                <a:ea typeface="+mn-ea"/>
                <a:cs typeface="+mn-cs"/>
              </a:rPr>
              <a:t>toString</a:t>
            </a:r>
            <a:r>
              <a:rPr lang="en-US" sz="1200" b="0" i="0" kern="1200" dirty="0" smtClean="0">
                <a:solidFill>
                  <a:schemeClr val="tx1"/>
                </a:solidFill>
                <a:effectLst/>
                <a:latin typeface="+mn-lt"/>
                <a:ea typeface="+mn-ea"/>
                <a:cs typeface="+mn-cs"/>
              </a:rPr>
              <a:t>() on them. Each key-value pair is separated by a tab character,</a:t>
            </a:r>
          </a:p>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25</a:t>
            </a:fld>
            <a:endParaRPr lang="en-US"/>
          </a:p>
        </p:txBody>
      </p:sp>
    </p:spTree>
    <p:extLst>
      <p:ext uri="{BB962C8B-B14F-4D97-AF65-F5344CB8AC3E}">
        <p14:creationId xmlns:p14="http://schemas.microsoft.com/office/powerpoint/2010/main" val="28118494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Disk IO operation </a:t>
            </a:r>
          </a:p>
          <a:p>
            <a:r>
              <a:rPr lang="en-US" sz="1200" b="1" kern="1200" dirty="0" smtClean="0">
                <a:solidFill>
                  <a:schemeClr val="tx1"/>
                </a:solidFill>
                <a:effectLst/>
                <a:latin typeface="+mn-lt"/>
                <a:ea typeface="+mn-ea"/>
                <a:cs typeface="+mn-cs"/>
              </a:rPr>
              <a:t>Stage	Location	Action</a:t>
            </a:r>
          </a:p>
          <a:p>
            <a:r>
              <a:rPr lang="en-US" sz="1200" b="1" kern="1200" dirty="0" smtClean="0">
                <a:solidFill>
                  <a:schemeClr val="tx1"/>
                </a:solidFill>
                <a:effectLst/>
                <a:latin typeface="+mn-lt"/>
                <a:ea typeface="+mn-ea"/>
                <a:cs typeface="+mn-cs"/>
              </a:rPr>
              <a:t>Emit	</a:t>
            </a:r>
            <a:r>
              <a:rPr lang="en-US" sz="1200" kern="1200" dirty="0" smtClean="0">
                <a:solidFill>
                  <a:schemeClr val="tx1"/>
                </a:solidFill>
                <a:effectLst/>
                <a:latin typeface="+mn-lt"/>
                <a:ea typeface="+mn-ea"/>
                <a:cs typeface="+mn-cs"/>
              </a:rPr>
              <a:t>RAM (Buffer)	Data is partitioned.</a:t>
            </a:r>
          </a:p>
          <a:p>
            <a:r>
              <a:rPr lang="en-US" sz="1200" b="1" kern="1200" dirty="0" smtClean="0">
                <a:solidFill>
                  <a:schemeClr val="tx1"/>
                </a:solidFill>
                <a:effectLst/>
                <a:latin typeface="+mn-lt"/>
                <a:ea typeface="+mn-ea"/>
                <a:cs typeface="+mn-cs"/>
              </a:rPr>
              <a:t>Spill	</a:t>
            </a:r>
            <a:r>
              <a:rPr lang="en-US" sz="1200" kern="1200" dirty="0" smtClean="0">
                <a:solidFill>
                  <a:schemeClr val="tx1"/>
                </a:solidFill>
                <a:effectLst/>
                <a:latin typeface="+mn-lt"/>
                <a:ea typeface="+mn-ea"/>
                <a:cs typeface="+mn-cs"/>
              </a:rPr>
              <a:t>Local Disk	Data is sorted and written to a temporary file.</a:t>
            </a:r>
          </a:p>
          <a:p>
            <a:r>
              <a:rPr lang="en-US" sz="1200" b="1" kern="1200" dirty="0" smtClean="0">
                <a:solidFill>
                  <a:schemeClr val="tx1"/>
                </a:solidFill>
                <a:effectLst/>
                <a:latin typeface="+mn-lt"/>
                <a:ea typeface="+mn-ea"/>
                <a:cs typeface="+mn-cs"/>
              </a:rPr>
              <a:t>Merge	</a:t>
            </a:r>
            <a:r>
              <a:rPr lang="en-US" sz="1200" kern="1200" dirty="0" smtClean="0">
                <a:solidFill>
                  <a:schemeClr val="tx1"/>
                </a:solidFill>
                <a:effectLst/>
                <a:latin typeface="+mn-lt"/>
                <a:ea typeface="+mn-ea"/>
                <a:cs typeface="+mn-cs"/>
              </a:rPr>
              <a:t>Local Disk	All spills are combined into one indexed file.</a:t>
            </a:r>
          </a:p>
          <a:p>
            <a:r>
              <a:rPr lang="en-US" sz="1200" b="1" kern="1200" dirty="0" smtClean="0">
                <a:solidFill>
                  <a:schemeClr val="tx1"/>
                </a:solidFill>
                <a:effectLst/>
                <a:latin typeface="+mn-lt"/>
                <a:ea typeface="+mn-ea"/>
                <a:cs typeface="+mn-cs"/>
              </a:rPr>
              <a:t>Shuffle	Network	</a:t>
            </a:r>
            <a:r>
              <a:rPr lang="en-US" sz="1200" kern="1200" dirty="0" smtClean="0">
                <a:solidFill>
                  <a:schemeClr val="tx1"/>
                </a:solidFill>
                <a:effectLst/>
                <a:latin typeface="+mn-lt"/>
                <a:ea typeface="+mn-ea"/>
                <a:cs typeface="+mn-cs"/>
              </a:rPr>
              <a:t>Reducers "pull" their specific partitions over HTTP.</a:t>
            </a:r>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26</a:t>
            </a:fld>
            <a:endParaRPr lang="en-US"/>
          </a:p>
        </p:txBody>
      </p:sp>
    </p:spTree>
    <p:extLst>
      <p:ext uri="{BB962C8B-B14F-4D97-AF65-F5344CB8AC3E}">
        <p14:creationId xmlns:p14="http://schemas.microsoft.com/office/powerpoint/2010/main" val="589907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27</a:t>
            </a:fld>
            <a:endParaRPr lang="en-US"/>
          </a:p>
        </p:txBody>
      </p:sp>
    </p:spTree>
    <p:extLst>
      <p:ext uri="{BB962C8B-B14F-4D97-AF65-F5344CB8AC3E}">
        <p14:creationId xmlns:p14="http://schemas.microsoft.com/office/powerpoint/2010/main" val="13231194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Job trackers:</a:t>
            </a:r>
          </a:p>
          <a:p>
            <a:r>
              <a:rPr lang="en-US" dirty="0" smtClean="0"/>
              <a:t>1</a:t>
            </a:r>
            <a:r>
              <a:rPr lang="en-US" baseline="0" dirty="0" smtClean="0"/>
              <a:t> Master job tracker in the master node </a:t>
            </a:r>
          </a:p>
          <a:p>
            <a:r>
              <a:rPr lang="en-US" baseline="0" dirty="0" smtClean="0"/>
              <a:t>And one slave job tracker per worker node </a:t>
            </a:r>
          </a:p>
          <a:p>
            <a:endParaRPr lang="en-US" baseline="0" dirty="0" smtClean="0"/>
          </a:p>
          <a:p>
            <a:r>
              <a:rPr lang="en-US" dirty="0" smtClean="0"/>
              <a:t>The </a:t>
            </a:r>
            <a:r>
              <a:rPr lang="en-US" b="1" dirty="0" err="1" smtClean="0"/>
              <a:t>JobTracker</a:t>
            </a:r>
            <a:r>
              <a:rPr lang="en-US" dirty="0" smtClean="0"/>
              <a:t> was the master component in Hadoop </a:t>
            </a:r>
            <a:r>
              <a:rPr lang="en-US" dirty="0" err="1" smtClean="0"/>
              <a:t>MapReduce</a:t>
            </a:r>
            <a:r>
              <a:rPr lang="en-US" dirty="0" smtClean="0"/>
              <a:t> responsible for coordinating and managing job execution across the cluster. It scheduled map and reduce tasks to available </a:t>
            </a:r>
            <a:r>
              <a:rPr lang="en-US" dirty="0" err="1" smtClean="0"/>
              <a:t>TaskTrackers</a:t>
            </a:r>
            <a:r>
              <a:rPr lang="en-US" dirty="0" smtClean="0"/>
              <a:t>, monitored task progress and overall job status, managed cluster resources and job queues, and ensured fault tolerance by detecting node failures and reassigning unfinished tasks to maintain successful job completion.</a:t>
            </a:r>
          </a:p>
          <a:p>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The </a:t>
            </a:r>
            <a:r>
              <a:rPr lang="en-US" b="1" dirty="0" err="1" smtClean="0"/>
              <a:t>TaskTracker</a:t>
            </a:r>
            <a:r>
              <a:rPr lang="en-US" dirty="0" smtClean="0"/>
              <a:t> was the worker component in Hadoop </a:t>
            </a:r>
            <a:r>
              <a:rPr lang="en-US" dirty="0" err="1" smtClean="0"/>
              <a:t>MapReduce</a:t>
            </a:r>
            <a:r>
              <a:rPr lang="en-US" dirty="0" smtClean="0"/>
              <a:t> responsible for executing assigned map and reduce tasks on each cluster node. It ran tasks as instructed by the </a:t>
            </a:r>
            <a:r>
              <a:rPr lang="en-US" dirty="0" err="1" smtClean="0"/>
              <a:t>JobTracker</a:t>
            </a:r>
            <a:r>
              <a:rPr lang="en-US" dirty="0" smtClean="0"/>
              <a:t>, reported progress through regular heartbeats, managed local task slots and resources, handled task failures by retrying when possible, and performed cleanup after job completion.</a:t>
            </a:r>
          </a:p>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28</a:t>
            </a:fld>
            <a:endParaRPr lang="en-US"/>
          </a:p>
        </p:txBody>
      </p:sp>
    </p:spTree>
    <p:extLst>
      <p:ext uri="{BB962C8B-B14F-4D97-AF65-F5344CB8AC3E}">
        <p14:creationId xmlns:p14="http://schemas.microsoft.com/office/powerpoint/2010/main" val="38685395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29</a:t>
            </a:fld>
            <a:endParaRPr lang="en-US"/>
          </a:p>
        </p:txBody>
      </p:sp>
    </p:spTree>
    <p:extLst>
      <p:ext uri="{BB962C8B-B14F-4D97-AF65-F5344CB8AC3E}">
        <p14:creationId xmlns:p14="http://schemas.microsoft.com/office/powerpoint/2010/main" val="342739323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30</a:t>
            </a:fld>
            <a:endParaRPr lang="en-US"/>
          </a:p>
        </p:txBody>
      </p:sp>
    </p:spTree>
    <p:extLst>
      <p:ext uri="{BB962C8B-B14F-4D97-AF65-F5344CB8AC3E}">
        <p14:creationId xmlns:p14="http://schemas.microsoft.com/office/powerpoint/2010/main" val="273561426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Source: https://www.geeksforgeeks.org/software-engineering/mapreduce-architecture/</a:t>
            </a:r>
          </a:p>
          <a:p>
            <a:r>
              <a:rPr lang="en-US" dirty="0" smtClean="0"/>
              <a:t>How does a distributed system execute a job in parallel across a cluster?</a:t>
            </a:r>
          </a:p>
          <a:p>
            <a:r>
              <a:rPr lang="en-US" dirty="0" smtClean="0"/>
              <a:t>This diagram shows the </a:t>
            </a:r>
            <a:r>
              <a:rPr lang="en-US" b="1" dirty="0" smtClean="0"/>
              <a:t>control flow</a:t>
            </a:r>
            <a:r>
              <a:rPr lang="en-US" dirty="0" smtClean="0"/>
              <a:t> and </a:t>
            </a:r>
            <a:r>
              <a:rPr lang="en-US" b="1" dirty="0" smtClean="0"/>
              <a:t>data flow</a:t>
            </a:r>
            <a:r>
              <a:rPr lang="en-US" dirty="0" smtClean="0"/>
              <a:t> of a </a:t>
            </a:r>
            <a:r>
              <a:rPr lang="en-US" dirty="0" err="1" smtClean="0"/>
              <a:t>MapReduce</a:t>
            </a:r>
            <a:r>
              <a:rPr lang="en-US" dirty="0" smtClean="0"/>
              <a:t> job.</a:t>
            </a:r>
          </a:p>
          <a:p>
            <a:r>
              <a:rPr lang="en-US" b="1" dirty="0" smtClean="0"/>
              <a:t>Client → Job Submission</a:t>
            </a:r>
          </a:p>
          <a:p>
            <a:r>
              <a:rPr lang="en-US" b="1" dirty="0" smtClean="0"/>
              <a:t>🔹 </a:t>
            </a:r>
            <a:r>
              <a:rPr lang="en-US" b="1" dirty="0" smtClean="0"/>
              <a:t>Client</a:t>
            </a:r>
          </a:p>
          <a:p>
            <a:r>
              <a:rPr lang="en-US" dirty="0" smtClean="0"/>
              <a:t>The user (or application)</a:t>
            </a:r>
          </a:p>
          <a:p>
            <a:r>
              <a:rPr lang="en-US" dirty="0" smtClean="0"/>
              <a:t>Submits a </a:t>
            </a:r>
            <a:r>
              <a:rPr lang="en-US" dirty="0" err="1" smtClean="0"/>
              <a:t>MapReduce</a:t>
            </a:r>
            <a:r>
              <a:rPr lang="en-US" dirty="0" smtClean="0"/>
              <a:t> job</a:t>
            </a:r>
          </a:p>
          <a:p>
            <a:r>
              <a:rPr lang="en-US" dirty="0" smtClean="0"/>
              <a:t>Specifies:</a:t>
            </a:r>
          </a:p>
          <a:p>
            <a:pPr lvl="1"/>
            <a:r>
              <a:rPr lang="en-US" dirty="0" smtClean="0"/>
              <a:t>Input path</a:t>
            </a:r>
          </a:p>
          <a:p>
            <a:pPr lvl="1"/>
            <a:r>
              <a:rPr lang="en-US" dirty="0" smtClean="0"/>
              <a:t>Output path</a:t>
            </a:r>
          </a:p>
          <a:p>
            <a:pPr lvl="1"/>
            <a:r>
              <a:rPr lang="en-US" dirty="0" smtClean="0"/>
              <a:t>Mapper class</a:t>
            </a:r>
          </a:p>
          <a:p>
            <a:pPr lvl="1"/>
            <a:r>
              <a:rPr lang="en-US" dirty="0" smtClean="0"/>
              <a:t>Reducer class</a:t>
            </a:r>
          </a:p>
          <a:p>
            <a:pPr lvl="1"/>
            <a:r>
              <a:rPr lang="en-US" dirty="0" smtClean="0"/>
              <a:t>Number of reducers</a:t>
            </a:r>
          </a:p>
          <a:p>
            <a:r>
              <a:rPr lang="en-US" dirty="0" smtClean="0"/>
              <a:t>The client does NOT process data.</a:t>
            </a:r>
            <a:br>
              <a:rPr lang="en-US" dirty="0" smtClean="0"/>
            </a:br>
            <a:r>
              <a:rPr lang="en-US" dirty="0" smtClean="0"/>
              <a:t>It only </a:t>
            </a:r>
            <a:r>
              <a:rPr lang="en-US" b="1" dirty="0" smtClean="0"/>
              <a:t>submits the job</a:t>
            </a:r>
            <a:r>
              <a:rPr lang="en-US" dirty="0" smtClean="0"/>
              <a:t>.</a:t>
            </a:r>
          </a:p>
          <a:p>
            <a:endParaRPr lang="en-US" dirty="0" smtClean="0"/>
          </a:p>
          <a:p>
            <a:r>
              <a:rPr lang="en-US" b="1" dirty="0" smtClean="0"/>
              <a:t>3️⃣ Job Parts → Map Phase</a:t>
            </a:r>
          </a:p>
          <a:p>
            <a:r>
              <a:rPr lang="en-US" dirty="0" smtClean="0"/>
              <a:t>The master divides the job into:</a:t>
            </a:r>
          </a:p>
          <a:p>
            <a:pPr rtl="0"/>
            <a:r>
              <a:rPr lang="en-US" dirty="0" smtClean="0"/>
              <a:t>Job → Multiple Map Tasks</a:t>
            </a:r>
          </a:p>
          <a:p>
            <a:r>
              <a:rPr lang="en-US" dirty="0" smtClean="0"/>
              <a:t>Each Map task:</a:t>
            </a:r>
          </a:p>
          <a:p>
            <a:r>
              <a:rPr lang="en-US" dirty="0" smtClean="0"/>
              <a:t>Processes one </a:t>
            </a:r>
            <a:r>
              <a:rPr lang="en-US" dirty="0" err="1" smtClean="0"/>
              <a:t>InputSplit</a:t>
            </a:r>
            <a:endParaRPr lang="en-US" dirty="0" smtClean="0"/>
          </a:p>
          <a:p>
            <a:r>
              <a:rPr lang="en-US" dirty="0" smtClean="0"/>
              <a:t>Runs on a cluster node</a:t>
            </a:r>
          </a:p>
          <a:p>
            <a:r>
              <a:rPr lang="en-US" dirty="0" smtClean="0"/>
              <a:t>Produces intermediate key-value pairs</a:t>
            </a:r>
          </a:p>
          <a:p>
            <a:endParaRPr lang="en-US" dirty="0" smtClean="0"/>
          </a:p>
          <a:p>
            <a:r>
              <a:rPr lang="en-US" b="1" dirty="0" smtClean="0"/>
              <a:t>5️⃣ Reduce Phase</a:t>
            </a:r>
          </a:p>
          <a:p>
            <a:r>
              <a:rPr lang="en-US" dirty="0" smtClean="0"/>
              <a:t>Reducers:</a:t>
            </a:r>
          </a:p>
          <a:p>
            <a:r>
              <a:rPr lang="en-US" dirty="0" smtClean="0"/>
              <a:t>Receive grouped keys</a:t>
            </a:r>
          </a:p>
          <a:p>
            <a:r>
              <a:rPr lang="en-US" dirty="0" smtClean="0"/>
              <a:t>Process all values of a key together</a:t>
            </a:r>
          </a:p>
          <a:p>
            <a:r>
              <a:rPr lang="en-US" dirty="0" smtClean="0"/>
              <a:t>Produce final results</a:t>
            </a:r>
          </a:p>
          <a:p>
            <a:r>
              <a:rPr lang="en-US" dirty="0" smtClean="0"/>
              <a:t>Client</a:t>
            </a:r>
          </a:p>
          <a:p>
            <a:r>
              <a:rPr lang="en-US" dirty="0" smtClean="0"/>
              <a:t>   ↓</a:t>
            </a:r>
          </a:p>
          <a:p>
            <a:r>
              <a:rPr lang="en-US" dirty="0" smtClean="0"/>
              <a:t>Submit Job</a:t>
            </a:r>
          </a:p>
          <a:p>
            <a:r>
              <a:rPr lang="en-US" dirty="0" smtClean="0"/>
              <a:t>   ↓</a:t>
            </a:r>
          </a:p>
          <a:p>
            <a:r>
              <a:rPr lang="en-US" dirty="0" smtClean="0"/>
              <a:t>Master splits job</a:t>
            </a:r>
          </a:p>
          <a:p>
            <a:r>
              <a:rPr lang="en-US" dirty="0" smtClean="0"/>
              <a:t>   ↓</a:t>
            </a:r>
          </a:p>
          <a:p>
            <a:r>
              <a:rPr lang="en-US" dirty="0" smtClean="0"/>
              <a:t>Multiple Map tasks (parallel)</a:t>
            </a:r>
          </a:p>
          <a:p>
            <a:r>
              <a:rPr lang="en-US" dirty="0" smtClean="0"/>
              <a:t>   ↓</a:t>
            </a:r>
          </a:p>
          <a:p>
            <a:r>
              <a:rPr lang="en-US" dirty="0" smtClean="0"/>
              <a:t>Shuffle &amp; Sort</a:t>
            </a:r>
          </a:p>
          <a:p>
            <a:r>
              <a:rPr lang="en-US" dirty="0" smtClean="0"/>
              <a:t>   ↓</a:t>
            </a:r>
          </a:p>
          <a:p>
            <a:r>
              <a:rPr lang="en-US" dirty="0" smtClean="0"/>
              <a:t>Multiple Reduce tasks (parallel)</a:t>
            </a:r>
          </a:p>
          <a:p>
            <a:r>
              <a:rPr lang="en-US" dirty="0" smtClean="0"/>
              <a:t>   ↓</a:t>
            </a:r>
          </a:p>
          <a:p>
            <a:r>
              <a:rPr lang="en-US" dirty="0" smtClean="0"/>
              <a:t>Final Output in HDFS</a:t>
            </a:r>
          </a:p>
          <a:p>
            <a:endParaRPr lang="en-US" dirty="0" smtClean="0"/>
          </a:p>
          <a:p>
            <a:r>
              <a:rPr lang="en-US" b="1" dirty="0" smtClean="0"/>
              <a:t>Important Concepts to Emphasize</a:t>
            </a:r>
          </a:p>
          <a:p>
            <a:r>
              <a:rPr lang="en-US" b="1" dirty="0" smtClean="0"/>
              <a:t>🔹 Parallelism</a:t>
            </a:r>
          </a:p>
          <a:p>
            <a:r>
              <a:rPr lang="en-US" dirty="0" smtClean="0"/>
              <a:t>Maps run in parallel</a:t>
            </a:r>
          </a:p>
          <a:p>
            <a:r>
              <a:rPr lang="en-US" dirty="0" smtClean="0"/>
              <a:t>Reduces run in parallel</a:t>
            </a:r>
          </a:p>
          <a:p>
            <a:r>
              <a:rPr lang="en-US" dirty="0" smtClean="0"/>
              <a:t>Scales horizontally</a:t>
            </a:r>
          </a:p>
          <a:p>
            <a:r>
              <a:rPr lang="en-US" b="1" dirty="0" smtClean="0"/>
              <a:t>🔹 Data Locality</a:t>
            </a:r>
          </a:p>
          <a:p>
            <a:r>
              <a:rPr lang="en-US" dirty="0" smtClean="0"/>
              <a:t>Map tasks try to run:</a:t>
            </a:r>
          </a:p>
          <a:p>
            <a:r>
              <a:rPr lang="en-US" dirty="0" smtClean="0"/>
              <a:t>On the same machine where the data block resides</a:t>
            </a:r>
          </a:p>
          <a:p>
            <a:r>
              <a:rPr lang="en-US" dirty="0" smtClean="0"/>
              <a:t>Minimizes network cost.</a:t>
            </a:r>
          </a:p>
          <a:p>
            <a:r>
              <a:rPr lang="en-US" b="1" dirty="0" smtClean="0"/>
              <a:t>🔹 Fault Tolerance</a:t>
            </a:r>
          </a:p>
          <a:p>
            <a:r>
              <a:rPr lang="en-US" dirty="0" smtClean="0"/>
              <a:t>If:</a:t>
            </a:r>
          </a:p>
          <a:p>
            <a:r>
              <a:rPr lang="en-US" dirty="0" smtClean="0"/>
              <a:t>A mapper fails → re-executed</a:t>
            </a:r>
          </a:p>
          <a:p>
            <a:r>
              <a:rPr lang="en-US" dirty="0" smtClean="0"/>
              <a:t>A reducer fails → re-executed</a:t>
            </a:r>
          </a:p>
          <a:p>
            <a:r>
              <a:rPr lang="en-US" dirty="0" smtClean="0"/>
              <a:t>Because data is stored in HDFS.</a:t>
            </a:r>
          </a:p>
          <a:p>
            <a:endParaRPr lang="en-US" dirty="0" smtClean="0"/>
          </a:p>
          <a:p>
            <a:endParaRPr lang="en-US" dirty="0" smtClean="0"/>
          </a:p>
          <a:p>
            <a:pPr fontAlgn="base"/>
            <a:r>
              <a:rPr lang="en-US" sz="1200" b="1" i="0" kern="1200" dirty="0" smtClean="0">
                <a:solidFill>
                  <a:schemeClr val="tx1"/>
                </a:solidFill>
                <a:effectLst/>
                <a:latin typeface="+mn-lt"/>
                <a:ea typeface="+mn-ea"/>
                <a:cs typeface="+mn-cs"/>
              </a:rPr>
              <a:t>Execution Flow of </a:t>
            </a:r>
            <a:r>
              <a:rPr lang="en-US" sz="1200" b="1" i="0" kern="1200" dirty="0" err="1" smtClean="0">
                <a:solidFill>
                  <a:schemeClr val="tx1"/>
                </a:solidFill>
                <a:effectLst/>
                <a:latin typeface="+mn-lt"/>
                <a:ea typeface="+mn-ea"/>
                <a:cs typeface="+mn-cs"/>
              </a:rPr>
              <a:t>MapReduce</a:t>
            </a:r>
            <a:r>
              <a:rPr lang="en-US" sz="1200" b="1" i="0" kern="1200" dirty="0" smtClean="0">
                <a:solidFill>
                  <a:schemeClr val="tx1"/>
                </a:solidFill>
                <a:effectLst/>
                <a:latin typeface="+mn-lt"/>
                <a:ea typeface="+mn-ea"/>
                <a:cs typeface="+mn-cs"/>
              </a:rPr>
              <a:t> Architecture</a:t>
            </a:r>
          </a:p>
          <a:p>
            <a:pPr fontAlgn="base"/>
            <a:r>
              <a:rPr lang="en-US" sz="1200" b="0" i="0" kern="1200" dirty="0" smtClean="0">
                <a:solidFill>
                  <a:schemeClr val="tx1"/>
                </a:solidFill>
                <a:effectLst/>
                <a:latin typeface="+mn-lt"/>
                <a:ea typeface="+mn-ea"/>
                <a:cs typeface="+mn-cs"/>
              </a:rPr>
              <a:t>Client submits the job includes JAR file, Mapper &amp; Reducer logic, input path and output path.</a:t>
            </a:r>
          </a:p>
          <a:p>
            <a:pPr fontAlgn="base"/>
            <a:r>
              <a:rPr lang="en-US" sz="1200" b="0" i="0" kern="1200" dirty="0" smtClean="0">
                <a:solidFill>
                  <a:schemeClr val="tx1"/>
                </a:solidFill>
                <a:effectLst/>
                <a:latin typeface="+mn-lt"/>
                <a:ea typeface="+mn-ea"/>
                <a:cs typeface="+mn-cs"/>
              </a:rPr>
              <a:t>Job Tracker accepts the job, splits it into tasks and assigns them to Task Trackers based on data locality.</a:t>
            </a:r>
          </a:p>
          <a:p>
            <a:pPr fontAlgn="base"/>
            <a:r>
              <a:rPr lang="en-US" sz="1200" b="0" i="0" kern="1200" dirty="0" smtClean="0">
                <a:solidFill>
                  <a:schemeClr val="tx1"/>
                </a:solidFill>
                <a:effectLst/>
                <a:latin typeface="+mn-lt"/>
                <a:ea typeface="+mn-ea"/>
                <a:cs typeface="+mn-cs"/>
              </a:rPr>
              <a:t>Task Trackers execute Map Tasks on input splits stored locally.</a:t>
            </a:r>
          </a:p>
          <a:p>
            <a:pPr fontAlgn="base"/>
            <a:r>
              <a:rPr lang="en-US" sz="1200" b="0" i="0" kern="1200" dirty="0" smtClean="0">
                <a:solidFill>
                  <a:schemeClr val="tx1"/>
                </a:solidFill>
                <a:effectLst/>
                <a:latin typeface="+mn-lt"/>
                <a:ea typeface="+mn-ea"/>
                <a:cs typeface="+mn-cs"/>
              </a:rPr>
              <a:t>Intermediate results are shuffled and sorted.</a:t>
            </a:r>
          </a:p>
          <a:p>
            <a:pPr fontAlgn="base"/>
            <a:r>
              <a:rPr lang="en-US" sz="1200" b="0" i="0" kern="1200" dirty="0" smtClean="0">
                <a:solidFill>
                  <a:schemeClr val="tx1"/>
                </a:solidFill>
                <a:effectLst/>
                <a:latin typeface="+mn-lt"/>
                <a:ea typeface="+mn-ea"/>
                <a:cs typeface="+mn-cs"/>
              </a:rPr>
              <a:t>Reduce Tasks process grouped results and generate the final output.</a:t>
            </a:r>
          </a:p>
          <a:p>
            <a:pPr fontAlgn="base"/>
            <a:r>
              <a:rPr lang="en-US" sz="1200" b="0" i="0" kern="1200" dirty="0" smtClean="0">
                <a:solidFill>
                  <a:schemeClr val="tx1"/>
                </a:solidFill>
                <a:effectLst/>
                <a:latin typeface="+mn-lt"/>
                <a:ea typeface="+mn-ea"/>
                <a:cs typeface="+mn-cs"/>
              </a:rPr>
              <a:t>Final output is written back to HDFS.</a:t>
            </a:r>
          </a:p>
          <a:p>
            <a:endParaRPr lang="en-US" dirty="0" smtClean="0"/>
          </a:p>
          <a:p>
            <a:endParaRPr lang="en-US" dirty="0" smtClean="0"/>
          </a:p>
          <a:p>
            <a:pPr fontAlgn="base"/>
            <a:r>
              <a:rPr lang="en-US" sz="1200" b="1" i="0" kern="1200" dirty="0" smtClean="0">
                <a:solidFill>
                  <a:schemeClr val="tx1"/>
                </a:solidFill>
                <a:effectLst/>
                <a:latin typeface="+mn-lt"/>
                <a:ea typeface="+mn-ea"/>
                <a:cs typeface="+mn-cs"/>
              </a:rPr>
              <a:t>Hadoop </a:t>
            </a:r>
            <a:r>
              <a:rPr lang="en-US" sz="1200" b="1" i="0" kern="1200" dirty="0" err="1" smtClean="0">
                <a:solidFill>
                  <a:schemeClr val="tx1"/>
                </a:solidFill>
                <a:effectLst/>
                <a:latin typeface="+mn-lt"/>
                <a:ea typeface="+mn-ea"/>
                <a:cs typeface="+mn-cs"/>
              </a:rPr>
              <a:t>MapReduce</a:t>
            </a:r>
            <a:r>
              <a:rPr lang="en-US" sz="1200" b="1" i="0" kern="1200" dirty="0" smtClean="0">
                <a:solidFill>
                  <a:schemeClr val="tx1"/>
                </a:solidFill>
                <a:effectLst/>
                <a:latin typeface="+mn-lt"/>
                <a:ea typeface="+mn-ea"/>
                <a:cs typeface="+mn-cs"/>
              </a:rPr>
              <a:t> Master</a:t>
            </a:r>
          </a:p>
          <a:p>
            <a:pPr rtl="0" fontAlgn="base"/>
            <a:r>
              <a:rPr lang="en-US" sz="1200" b="0" i="0" kern="1200" dirty="0" smtClean="0">
                <a:solidFill>
                  <a:schemeClr val="tx1"/>
                </a:solidFill>
                <a:effectLst/>
                <a:latin typeface="+mn-lt"/>
                <a:ea typeface="+mn-ea"/>
                <a:cs typeface="+mn-cs"/>
              </a:rPr>
              <a:t>The Master Node coordinates job execution. It:</a:t>
            </a:r>
          </a:p>
          <a:p>
            <a:pPr fontAlgn="base"/>
            <a:r>
              <a:rPr lang="en-US" sz="1200" b="0" i="0" kern="1200" dirty="0" smtClean="0">
                <a:solidFill>
                  <a:schemeClr val="tx1"/>
                </a:solidFill>
                <a:effectLst/>
                <a:latin typeface="+mn-lt"/>
                <a:ea typeface="+mn-ea"/>
                <a:cs typeface="+mn-cs"/>
              </a:rPr>
              <a:t>Accepts jobs from the Client.</a:t>
            </a:r>
          </a:p>
          <a:p>
            <a:pPr fontAlgn="base"/>
            <a:r>
              <a:rPr lang="en-US" sz="1200" b="0" i="0" kern="1200" dirty="0" smtClean="0">
                <a:solidFill>
                  <a:schemeClr val="tx1"/>
                </a:solidFill>
                <a:effectLst/>
                <a:latin typeface="+mn-lt"/>
                <a:ea typeface="+mn-ea"/>
                <a:cs typeface="+mn-cs"/>
              </a:rPr>
              <a:t>Splits them into job parts.</a:t>
            </a:r>
          </a:p>
          <a:p>
            <a:pPr fontAlgn="base"/>
            <a:r>
              <a:rPr lang="en-US" sz="1200" b="0" i="0" kern="1200" dirty="0" smtClean="0">
                <a:solidFill>
                  <a:schemeClr val="tx1"/>
                </a:solidFill>
                <a:effectLst/>
                <a:latin typeface="+mn-lt"/>
                <a:ea typeface="+mn-ea"/>
                <a:cs typeface="+mn-cs"/>
              </a:rPr>
              <a:t>Assigns these parts to the Map and Reduce tasks.</a:t>
            </a:r>
          </a:p>
          <a:p>
            <a:pPr fontAlgn="base"/>
            <a:r>
              <a:rPr lang="en-US" sz="1200" b="0" i="0" kern="1200" dirty="0" smtClean="0">
                <a:solidFill>
                  <a:schemeClr val="tx1"/>
                </a:solidFill>
                <a:effectLst/>
                <a:latin typeface="+mn-lt"/>
                <a:ea typeface="+mn-ea"/>
                <a:cs typeface="+mn-cs"/>
              </a:rPr>
              <a:t>Tracks execution progress and reassigns failed tasks</a:t>
            </a:r>
            <a:r>
              <a:rPr lang="en-US" sz="1200" b="0" i="0" kern="1200" dirty="0" smtClean="0">
                <a:solidFill>
                  <a:schemeClr val="tx1"/>
                </a:solidFill>
                <a:effectLst/>
                <a:latin typeface="+mn-lt"/>
                <a:ea typeface="+mn-ea"/>
                <a:cs typeface="+mn-cs"/>
              </a:rPr>
              <a:t>.</a:t>
            </a:r>
            <a:endParaRPr lang="en-US" sz="12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B363088-F16C-4FAF-8BB4-7C6C9F3D1EC9}" type="slidenum">
              <a:rPr lang="en-US" smtClean="0"/>
              <a:t>31</a:t>
            </a:fld>
            <a:endParaRPr lang="en-US"/>
          </a:p>
        </p:txBody>
      </p:sp>
    </p:spTree>
    <p:extLst>
      <p:ext uri="{BB962C8B-B14F-4D97-AF65-F5344CB8AC3E}">
        <p14:creationId xmlns:p14="http://schemas.microsoft.com/office/powerpoint/2010/main" val="425103340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Splitting</a:t>
            </a:r>
            <a:r>
              <a:rPr lang="en-US" sz="1200" b="0" i="0" kern="1200" dirty="0" smtClean="0">
                <a:solidFill>
                  <a:schemeClr val="tx1"/>
                </a:solidFill>
                <a:effectLst/>
                <a:latin typeface="+mn-lt"/>
                <a:ea typeface="+mn-ea"/>
                <a:cs typeface="+mn-cs"/>
              </a:rPr>
              <a:t>: The parameter of splitter can be anything. By comma, space, by a new line or a semicolon.</a:t>
            </a:r>
          </a:p>
          <a:p>
            <a:r>
              <a:rPr lang="en-US" dirty="0" smtClean="0"/>
              <a:t/>
            </a:r>
            <a:br>
              <a:rPr lang="en-US" dirty="0" smtClean="0"/>
            </a:br>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33</a:t>
            </a:fld>
            <a:endParaRPr lang="en-US"/>
          </a:p>
        </p:txBody>
      </p:sp>
    </p:spTree>
    <p:extLst>
      <p:ext uri="{BB962C8B-B14F-4D97-AF65-F5344CB8AC3E}">
        <p14:creationId xmlns:p14="http://schemas.microsoft.com/office/powerpoint/2010/main" val="305179047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The </a:t>
            </a:r>
            <a:r>
              <a:rPr lang="en-US" sz="1200" b="0" i="0" kern="1200" dirty="0" err="1" smtClean="0">
                <a:solidFill>
                  <a:schemeClr val="tx1"/>
                </a:solidFill>
                <a:effectLst/>
                <a:latin typeface="+mn-lt"/>
                <a:ea typeface="+mn-ea"/>
                <a:cs typeface="+mn-cs"/>
              </a:rPr>
              <a:t>map_function</a:t>
            </a:r>
            <a:r>
              <a:rPr lang="en-US" sz="1200" b="0" i="0" kern="1200" dirty="0" smtClean="0">
                <a:solidFill>
                  <a:schemeClr val="tx1"/>
                </a:solidFill>
                <a:effectLst/>
                <a:latin typeface="+mn-lt"/>
                <a:ea typeface="+mn-ea"/>
                <a:cs typeface="+mn-cs"/>
              </a:rPr>
              <a:t>(line) signature means:</a:t>
            </a:r>
          </a:p>
          <a:p>
            <a:r>
              <a:rPr lang="en-US" sz="1200" b="1" i="0" kern="1200" dirty="0" smtClean="0">
                <a:solidFill>
                  <a:schemeClr val="tx1"/>
                </a:solidFill>
                <a:effectLst/>
                <a:latin typeface="+mn-lt"/>
                <a:ea typeface="+mn-ea"/>
                <a:cs typeface="+mn-cs"/>
              </a:rPr>
              <a:t>Input</a:t>
            </a:r>
            <a:r>
              <a:rPr lang="en-US" sz="1200" b="0" i="0" kern="1200" dirty="0" smtClean="0">
                <a:solidFill>
                  <a:schemeClr val="tx1"/>
                </a:solidFill>
                <a:effectLst/>
                <a:latin typeface="+mn-lt"/>
                <a:ea typeface="+mn-ea"/>
                <a:cs typeface="+mn-cs"/>
              </a:rPr>
              <a:t>: ONE line of text</a:t>
            </a:r>
          </a:p>
          <a:p>
            <a:r>
              <a:rPr lang="en-US" sz="1200" b="1" i="0" kern="1200" dirty="0" smtClean="0">
                <a:solidFill>
                  <a:schemeClr val="tx1"/>
                </a:solidFill>
                <a:effectLst/>
                <a:latin typeface="+mn-lt"/>
                <a:ea typeface="+mn-ea"/>
                <a:cs typeface="+mn-cs"/>
              </a:rPr>
              <a:t>Called</a:t>
            </a:r>
            <a:r>
              <a:rPr lang="en-US" sz="1200" b="0" i="0" kern="1200" dirty="0" smtClean="0">
                <a:solidFill>
                  <a:schemeClr val="tx1"/>
                </a:solidFill>
                <a:effectLst/>
                <a:latin typeface="+mn-lt"/>
                <a:ea typeface="+mn-ea"/>
                <a:cs typeface="+mn-cs"/>
              </a:rPr>
              <a:t>: Once for EVERY line in the input split</a:t>
            </a:r>
          </a:p>
          <a:p>
            <a:r>
              <a:rPr lang="en-US" sz="1200" b="1" i="0" kern="1200" dirty="0" smtClean="0">
                <a:solidFill>
                  <a:schemeClr val="tx1"/>
                </a:solidFill>
                <a:effectLst/>
                <a:latin typeface="+mn-lt"/>
                <a:ea typeface="+mn-ea"/>
                <a:cs typeface="+mn-cs"/>
              </a:rPr>
              <a:t>Total calls</a:t>
            </a:r>
            <a:r>
              <a:rPr lang="en-US" sz="1200" b="0" i="0" kern="1200" dirty="0" smtClean="0">
                <a:solidFill>
                  <a:schemeClr val="tx1"/>
                </a:solidFill>
                <a:effectLst/>
                <a:latin typeface="+mn-lt"/>
                <a:ea typeface="+mn-ea"/>
                <a:cs typeface="+mn-cs"/>
              </a:rPr>
              <a:t>: Number of lines in your entire dataset</a:t>
            </a:r>
          </a:p>
          <a:p>
            <a:r>
              <a:rPr lang="en-US" sz="1200" b="1" i="0" kern="1200" dirty="0" smtClean="0">
                <a:solidFill>
                  <a:schemeClr val="tx1"/>
                </a:solidFill>
                <a:effectLst/>
                <a:latin typeface="+mn-lt"/>
                <a:ea typeface="+mn-ea"/>
                <a:cs typeface="+mn-cs"/>
              </a:rPr>
              <a:t>Output</a:t>
            </a:r>
            <a:r>
              <a:rPr lang="en-US" sz="1200" b="0" i="0" kern="1200" dirty="0" smtClean="0">
                <a:solidFill>
                  <a:schemeClr val="tx1"/>
                </a:solidFill>
                <a:effectLst/>
                <a:latin typeface="+mn-lt"/>
                <a:ea typeface="+mn-ea"/>
                <a:cs typeface="+mn-cs"/>
              </a:rPr>
              <a:t>: Emits key-value pairs for that single line</a:t>
            </a:r>
          </a:p>
          <a:p>
            <a:r>
              <a:rPr lang="en-US" sz="1200" b="0" i="0" kern="1200" dirty="0" smtClean="0">
                <a:solidFill>
                  <a:schemeClr val="tx1"/>
                </a:solidFill>
                <a:effectLst/>
                <a:latin typeface="+mn-lt"/>
                <a:ea typeface="+mn-ea"/>
                <a:cs typeface="+mn-cs"/>
              </a:rPr>
              <a:t>The map function is designed this way to be </a:t>
            </a:r>
            <a:r>
              <a:rPr lang="en-US" sz="1200" b="1" i="0" kern="1200" dirty="0" smtClean="0">
                <a:solidFill>
                  <a:schemeClr val="tx1"/>
                </a:solidFill>
                <a:effectLst/>
                <a:latin typeface="+mn-lt"/>
                <a:ea typeface="+mn-ea"/>
                <a:cs typeface="+mn-cs"/>
              </a:rPr>
              <a:t>scalable</a:t>
            </a:r>
            <a:r>
              <a:rPr lang="en-US" sz="1200" b="0" i="0" kern="1200" dirty="0" smtClean="0">
                <a:solidFill>
                  <a:schemeClr val="tx1"/>
                </a:solidFill>
                <a:effectLst/>
                <a:latin typeface="+mn-lt"/>
                <a:ea typeface="+mn-ea"/>
                <a:cs typeface="+mn-cs"/>
              </a:rPr>
              <a:t>, </a:t>
            </a:r>
            <a:r>
              <a:rPr lang="en-US" sz="1200" b="1" i="0" kern="1200" dirty="0" smtClean="0">
                <a:solidFill>
                  <a:schemeClr val="tx1"/>
                </a:solidFill>
                <a:effectLst/>
                <a:latin typeface="+mn-lt"/>
                <a:ea typeface="+mn-ea"/>
                <a:cs typeface="+mn-cs"/>
              </a:rPr>
              <a:t>memory-efficient</a:t>
            </a:r>
            <a:r>
              <a:rPr lang="en-US" sz="1200" b="0" i="0" kern="1200" dirty="0" smtClean="0">
                <a:solidFill>
                  <a:schemeClr val="tx1"/>
                </a:solidFill>
                <a:effectLst/>
                <a:latin typeface="+mn-lt"/>
                <a:ea typeface="+mn-ea"/>
                <a:cs typeface="+mn-cs"/>
              </a:rPr>
              <a:t>, and </a:t>
            </a:r>
            <a:r>
              <a:rPr lang="en-US" sz="1200" b="1" i="0" kern="1200" dirty="0" smtClean="0">
                <a:solidFill>
                  <a:schemeClr val="tx1"/>
                </a:solidFill>
                <a:effectLst/>
                <a:latin typeface="+mn-lt"/>
                <a:ea typeface="+mn-ea"/>
                <a:cs typeface="+mn-cs"/>
              </a:rPr>
              <a:t>parallelizable</a:t>
            </a:r>
            <a:r>
              <a:rPr lang="en-US" sz="1200" b="0" i="0" kern="1200" dirty="0" smtClean="0">
                <a:solidFill>
                  <a:schemeClr val="tx1"/>
                </a:solidFill>
                <a:effectLst/>
                <a:latin typeface="+mn-lt"/>
                <a:ea typeface="+mn-ea"/>
                <a:cs typeface="+mn-cs"/>
              </a:rPr>
              <a:t> - it doesn't need to know about splits or HDFS, it just processes whatever line the framework gives it, one at a time!</a:t>
            </a:r>
          </a:p>
          <a:p>
            <a:r>
              <a:rPr lang="en-US" sz="1200" b="0" i="0" kern="1200" dirty="0" smtClean="0">
                <a:solidFill>
                  <a:schemeClr val="tx1"/>
                </a:solidFill>
                <a:effectLst/>
                <a:latin typeface="+mn-lt"/>
                <a:ea typeface="+mn-ea"/>
                <a:cs typeface="+mn-cs"/>
              </a:rPr>
              <a:t/>
            </a:r>
            <a:br>
              <a:rPr lang="en-US" sz="1200" b="0" i="0" kern="1200" dirty="0" smtClean="0">
                <a:solidFill>
                  <a:schemeClr val="tx1"/>
                </a:solidFill>
                <a:effectLst/>
                <a:latin typeface="+mn-lt"/>
                <a:ea typeface="+mn-ea"/>
                <a:cs typeface="+mn-cs"/>
              </a:rPr>
            </a:br>
            <a:r>
              <a:rPr lang="en-US" dirty="0" smtClean="0"/>
              <a:t>Regardless of the language you use, every "emit" statement must follow these rules to be valid in a </a:t>
            </a:r>
            <a:r>
              <a:rPr lang="en-US" dirty="0" err="1" smtClean="0"/>
              <a:t>MapReduce</a:t>
            </a:r>
            <a:r>
              <a:rPr lang="en-US" dirty="0" smtClean="0"/>
              <a:t> framework:</a:t>
            </a:r>
          </a:p>
          <a:p>
            <a:r>
              <a:rPr lang="en-US" b="1" dirty="0" smtClean="0"/>
              <a:t>1- The Key-Value Contract:</a:t>
            </a:r>
            <a:r>
              <a:rPr lang="en-US" dirty="0" smtClean="0"/>
              <a:t> You cannot just emit a single value. You must emit a </a:t>
            </a:r>
            <a:r>
              <a:rPr lang="en-US" b="1" dirty="0" smtClean="0"/>
              <a:t>Pair</a:t>
            </a:r>
            <a:r>
              <a:rPr lang="en-US" dirty="0" smtClean="0"/>
              <a:t> (even if the Key is "null"). The framework needs that Key to know where to send the data during the </a:t>
            </a:r>
            <a:r>
              <a:rPr lang="en-US" b="1" dirty="0" smtClean="0"/>
              <a:t>Shuffle</a:t>
            </a:r>
            <a:r>
              <a:rPr lang="en-US" dirty="0" smtClean="0"/>
              <a:t> phase.</a:t>
            </a:r>
          </a:p>
          <a:p>
            <a:r>
              <a:rPr lang="en-US" b="1" dirty="0" smtClean="0"/>
              <a:t>2- The "Tab" Convention (Streaming):</a:t>
            </a:r>
            <a:r>
              <a:rPr lang="en-US" dirty="0" smtClean="0"/>
              <a:t> If you are using </a:t>
            </a:r>
            <a:r>
              <a:rPr lang="en-US" dirty="0" err="1" smtClean="0"/>
              <a:t>stdin</a:t>
            </a:r>
            <a:r>
              <a:rPr lang="en-US" dirty="0" smtClean="0"/>
              <a:t>/</a:t>
            </a:r>
            <a:r>
              <a:rPr lang="en-US" dirty="0" err="1" smtClean="0"/>
              <a:t>stdout</a:t>
            </a:r>
            <a:r>
              <a:rPr lang="en-US" dirty="0" smtClean="0"/>
              <a:t> (Python/C++), you </a:t>
            </a:r>
            <a:r>
              <a:rPr lang="en-US" b="1" dirty="0" smtClean="0"/>
              <a:t>must</a:t>
            </a:r>
            <a:r>
              <a:rPr lang="en-US" dirty="0" smtClean="0"/>
              <a:t> separate the Key and Value with a </a:t>
            </a:r>
            <a:r>
              <a:rPr lang="en-US" b="1" dirty="0" smtClean="0"/>
              <a:t>Tab character (\t)</a:t>
            </a:r>
            <a:r>
              <a:rPr lang="en-US" dirty="0" smtClean="0"/>
              <a:t>. If you use a space or a comma, Hadoop might think the entire line is just a Key with an empty Value.</a:t>
            </a:r>
          </a:p>
          <a:p>
            <a:endParaRPr lang="en-US" dirty="0" smtClean="0"/>
          </a:p>
          <a:p>
            <a:r>
              <a:rPr lang="en-US" sz="1200" kern="1200" dirty="0" smtClean="0">
                <a:solidFill>
                  <a:schemeClr val="tx1"/>
                </a:solidFill>
                <a:effectLst/>
                <a:latin typeface="+mn-lt"/>
                <a:ea typeface="+mn-ea"/>
                <a:cs typeface="+mn-cs"/>
              </a:rPr>
              <a:t>"</a:t>
            </a:r>
            <a:r>
              <a:rPr lang="en-US" sz="1200" b="1" kern="1200" dirty="0" smtClean="0">
                <a:solidFill>
                  <a:schemeClr val="tx1"/>
                </a:solidFill>
                <a:effectLst/>
                <a:latin typeface="+mn-lt"/>
                <a:ea typeface="+mn-ea"/>
                <a:cs typeface="+mn-cs"/>
              </a:rPr>
              <a:t>Concept:</a:t>
            </a:r>
            <a:r>
              <a:rPr lang="en-US" sz="1200" kern="1200" dirty="0" smtClean="0">
                <a:solidFill>
                  <a:schemeClr val="tx1"/>
                </a:solidFill>
                <a:effectLst/>
                <a:latin typeface="+mn-lt"/>
                <a:ea typeface="+mn-ea"/>
                <a:cs typeface="+mn-cs"/>
              </a:rPr>
              <a:t> Emit (K, V)"</a:t>
            </a:r>
          </a:p>
          <a:p>
            <a:r>
              <a:rPr lang="en-US" sz="1200" kern="1200" dirty="0" smtClean="0">
                <a:solidFill>
                  <a:schemeClr val="tx1"/>
                </a:solidFill>
                <a:effectLst/>
                <a:latin typeface="+mn-lt"/>
                <a:ea typeface="+mn-ea"/>
                <a:cs typeface="+mn-cs"/>
              </a:rPr>
              <a:t>"</a:t>
            </a:r>
            <a:r>
              <a:rPr lang="en-US" sz="1200" b="1" kern="1200" dirty="0" smtClean="0">
                <a:solidFill>
                  <a:schemeClr val="tx1"/>
                </a:solidFill>
                <a:effectLst/>
                <a:latin typeface="+mn-lt"/>
                <a:ea typeface="+mn-ea"/>
                <a:cs typeface="+mn-cs"/>
              </a:rPr>
              <a:t>Implementation:</a:t>
            </a:r>
            <a:r>
              <a:rPr lang="en-US" sz="1200" kern="1200" dirty="0" smtClean="0">
                <a:solidFill>
                  <a:schemeClr val="tx1"/>
                </a:solidFill>
                <a:effectLst/>
                <a:latin typeface="+mn-lt"/>
                <a:ea typeface="+mn-ea"/>
                <a:cs typeface="+mn-cs"/>
              </a:rPr>
              <a:t>"</a:t>
            </a:r>
          </a:p>
          <a:p>
            <a:r>
              <a:rPr lang="en-US" sz="1200" b="1" kern="1200" dirty="0" smtClean="0">
                <a:solidFill>
                  <a:schemeClr val="tx1"/>
                </a:solidFill>
                <a:effectLst/>
                <a:latin typeface="+mn-lt"/>
                <a:ea typeface="+mn-ea"/>
                <a:cs typeface="+mn-cs"/>
              </a:rPr>
              <a:t>Java:</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context.write</a:t>
            </a:r>
            <a:r>
              <a:rPr lang="en-US" sz="1200" kern="1200" dirty="0" smtClean="0">
                <a:solidFill>
                  <a:schemeClr val="tx1"/>
                </a:solidFill>
                <a:effectLst/>
                <a:latin typeface="+mn-lt"/>
                <a:ea typeface="+mn-ea"/>
                <a:cs typeface="+mn-cs"/>
              </a:rPr>
              <a:t>(K, V)</a:t>
            </a:r>
          </a:p>
          <a:p>
            <a:r>
              <a:rPr lang="en-US" sz="1200" b="1" kern="1200" dirty="0" smtClean="0">
                <a:solidFill>
                  <a:schemeClr val="tx1"/>
                </a:solidFill>
                <a:effectLst/>
                <a:latin typeface="+mn-lt"/>
                <a:ea typeface="+mn-ea"/>
                <a:cs typeface="+mn-cs"/>
              </a:rPr>
              <a:t>Python:</a:t>
            </a:r>
            <a:r>
              <a:rPr lang="en-US" sz="1200" kern="1200" dirty="0" smtClean="0">
                <a:solidFill>
                  <a:schemeClr val="tx1"/>
                </a:solidFill>
                <a:effectLst/>
                <a:latin typeface="+mn-lt"/>
                <a:ea typeface="+mn-ea"/>
                <a:cs typeface="+mn-cs"/>
              </a:rPr>
              <a:t> print(K + "\t" + V + "\n")</a:t>
            </a:r>
          </a:p>
          <a:p>
            <a:r>
              <a:rPr lang="en-US" sz="1200" b="1" kern="1200" dirty="0" smtClean="0">
                <a:solidFill>
                  <a:schemeClr val="tx1"/>
                </a:solidFill>
                <a:effectLst/>
                <a:latin typeface="+mn-lt"/>
                <a:ea typeface="+mn-ea"/>
                <a:cs typeface="+mn-cs"/>
              </a:rPr>
              <a:t>Result:</a:t>
            </a:r>
            <a:r>
              <a:rPr lang="en-US" sz="1200" kern="1200" dirty="0" smtClean="0">
                <a:solidFill>
                  <a:schemeClr val="tx1"/>
                </a:solidFill>
                <a:effectLst/>
                <a:latin typeface="+mn-lt"/>
                <a:ea typeface="+mn-ea"/>
                <a:cs typeface="+mn-cs"/>
              </a:rPr>
              <a:t> The data is handed off to the Shuffle/Sort engine.</a:t>
            </a:r>
          </a:p>
          <a:p>
            <a:endParaRPr lang="en-US" dirty="0" smtClean="0"/>
          </a:p>
          <a:p>
            <a:r>
              <a:rPr lang="en-US" b="1" dirty="0" err="1" smtClean="0"/>
              <a:t>stdin</a:t>
            </a:r>
            <a:r>
              <a:rPr lang="en-US" dirty="0" smtClean="0"/>
              <a:t> (Standard Input) and </a:t>
            </a:r>
            <a:r>
              <a:rPr lang="en-US" b="1" dirty="0" err="1" smtClean="0"/>
              <a:t>stdout</a:t>
            </a:r>
            <a:r>
              <a:rPr lang="en-US" dirty="0" smtClean="0"/>
              <a:t> (Standard Output) are the "data pipes" that every program uses to talk to the outside world.</a:t>
            </a:r>
          </a:p>
          <a:p>
            <a:endParaRPr lang="en-US" dirty="0" smtClean="0"/>
          </a:p>
          <a:p>
            <a:r>
              <a:rPr lang="en-US" b="1" dirty="0" err="1" smtClean="0"/>
              <a:t>stdin</a:t>
            </a:r>
            <a:r>
              <a:rPr lang="en-US" dirty="0" smtClean="0"/>
              <a:t> and </a:t>
            </a:r>
            <a:r>
              <a:rPr lang="en-US" b="1" dirty="0" err="1" smtClean="0"/>
              <a:t>stdout</a:t>
            </a:r>
            <a:r>
              <a:rPr lang="en-US" dirty="0" smtClean="0"/>
              <a:t> act as the communication "pipes" between the Java-based Hadoop framework and your external script (like Python or C++). The framework reads data from an HDFS split and "pushes" it into your script's </a:t>
            </a:r>
            <a:r>
              <a:rPr lang="en-US" b="1" dirty="0" err="1" smtClean="0"/>
              <a:t>stdin</a:t>
            </a:r>
            <a:r>
              <a:rPr lang="en-US" dirty="0" smtClean="0"/>
              <a:t> line-by-line; your script then processes this data and "emits" results by printing them to </a:t>
            </a:r>
            <a:r>
              <a:rPr lang="en-US" b="1" dirty="0" err="1" smtClean="0"/>
              <a:t>stdout</a:t>
            </a:r>
            <a:r>
              <a:rPr lang="en-US" dirty="0" smtClean="0"/>
              <a:t> as tab-separated Key-Value pairs. Hadoop captures everything from your script's </a:t>
            </a:r>
            <a:r>
              <a:rPr lang="en-US" b="1" dirty="0" err="1" smtClean="0"/>
              <a:t>stdout</a:t>
            </a:r>
            <a:r>
              <a:rPr lang="en-US" dirty="0" smtClean="0"/>
              <a:t>, treats the text before the first tab as the </a:t>
            </a:r>
            <a:r>
              <a:rPr lang="en-US" b="1" dirty="0" smtClean="0"/>
              <a:t>Key</a:t>
            </a:r>
            <a:r>
              <a:rPr lang="en-US" dirty="0" smtClean="0"/>
              <a:t> and the rest as the </a:t>
            </a:r>
            <a:r>
              <a:rPr lang="en-US" b="1" dirty="0" smtClean="0"/>
              <a:t>Value</a:t>
            </a:r>
            <a:r>
              <a:rPr lang="en-US" dirty="0" smtClean="0"/>
              <a:t>, and then passes that data into the Shuffle and Sort phase. Because of this "piping" mechanism, any accidental print() or debug statement in your code will be misinterpreted by Hadoop as actual data, potentially corrupting your output or causing the job to fail.</a:t>
            </a:r>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34</a:t>
            </a:fld>
            <a:endParaRPr lang="en-US"/>
          </a:p>
        </p:txBody>
      </p:sp>
    </p:spTree>
    <p:extLst>
      <p:ext uri="{BB962C8B-B14F-4D97-AF65-F5344CB8AC3E}">
        <p14:creationId xmlns:p14="http://schemas.microsoft.com/office/powerpoint/2010/main" val="428200657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Image source: https://i.sstatic.net/lRpoU.jpg</a:t>
            </a:r>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38</a:t>
            </a:fld>
            <a:endParaRPr lang="en-US"/>
          </a:p>
        </p:txBody>
      </p:sp>
    </p:spTree>
    <p:extLst>
      <p:ext uri="{BB962C8B-B14F-4D97-AF65-F5344CB8AC3E}">
        <p14:creationId xmlns:p14="http://schemas.microsoft.com/office/powerpoint/2010/main" val="426927109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Inverted Index Used in:</a:t>
            </a:r>
          </a:p>
          <a:p>
            <a:r>
              <a:rPr lang="en-US" dirty="0" smtClean="0"/>
              <a:t>Search engines (Google)</a:t>
            </a:r>
          </a:p>
          <a:p>
            <a:r>
              <a:rPr lang="en-US" dirty="0" smtClean="0"/>
              <a:t>Document retrieval systems</a:t>
            </a:r>
          </a:p>
          <a:p>
            <a:r>
              <a:rPr lang="en-US" dirty="0" smtClean="0"/>
              <a:t>Information retrieval</a:t>
            </a:r>
          </a:p>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39</a:t>
            </a:fld>
            <a:endParaRPr lang="en-US"/>
          </a:p>
        </p:txBody>
      </p:sp>
    </p:spTree>
    <p:extLst>
      <p:ext uri="{BB962C8B-B14F-4D97-AF65-F5344CB8AC3E}">
        <p14:creationId xmlns:p14="http://schemas.microsoft.com/office/powerpoint/2010/main" val="226864667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a:r>
            <a:br>
              <a:rPr lang="en-US" dirty="0" smtClean="0"/>
            </a:br>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40</a:t>
            </a:fld>
            <a:endParaRPr lang="en-US"/>
          </a:p>
        </p:txBody>
      </p:sp>
    </p:spTree>
    <p:extLst>
      <p:ext uri="{BB962C8B-B14F-4D97-AF65-F5344CB8AC3E}">
        <p14:creationId xmlns:p14="http://schemas.microsoft.com/office/powerpoint/2010/main" val="283477004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Example source: https://</a:t>
            </a:r>
            <a:r>
              <a:rPr lang="en-US" dirty="0" smtClean="0"/>
              <a:t>web.stanford.edu/class/cs246/slides/01-intro.pdf</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r>
              <a:rPr lang="en-US" sz="1200" b="0" i="0" kern="1200" dirty="0" smtClean="0">
                <a:solidFill>
                  <a:schemeClr val="tx1"/>
                </a:solidFill>
                <a:effectLst/>
                <a:latin typeface="+mn-lt"/>
                <a:ea typeface="+mn-ea"/>
                <a:cs typeface="+mn-cs"/>
              </a:rPr>
              <a:t>This pattern is used for:</a:t>
            </a:r>
          </a:p>
          <a:p>
            <a:r>
              <a:rPr lang="en-US" sz="1200" b="1" i="0" kern="1200" dirty="0" smtClean="0">
                <a:solidFill>
                  <a:schemeClr val="tx1"/>
                </a:solidFill>
                <a:effectLst/>
                <a:latin typeface="+mn-lt"/>
                <a:ea typeface="+mn-ea"/>
                <a:cs typeface="+mn-cs"/>
              </a:rPr>
              <a:t>Language Models</a:t>
            </a:r>
            <a:r>
              <a:rPr lang="en-US" sz="1200" b="0" i="0" kern="1200" dirty="0" smtClean="0">
                <a:solidFill>
                  <a:schemeClr val="tx1"/>
                </a:solidFill>
                <a:effectLst/>
                <a:latin typeface="+mn-lt"/>
                <a:ea typeface="+mn-ea"/>
                <a:cs typeface="+mn-cs"/>
              </a:rPr>
              <a:t> - Predicting next words in text</a:t>
            </a:r>
          </a:p>
          <a:p>
            <a:r>
              <a:rPr lang="en-US" sz="1200" b="1" i="0" kern="1200" dirty="0" smtClean="0">
                <a:solidFill>
                  <a:schemeClr val="tx1"/>
                </a:solidFill>
                <a:effectLst/>
                <a:latin typeface="+mn-lt"/>
                <a:ea typeface="+mn-ea"/>
                <a:cs typeface="+mn-cs"/>
              </a:rPr>
              <a:t>Plagiarism Detection</a:t>
            </a:r>
            <a:r>
              <a:rPr lang="en-US" sz="1200" b="0" i="0" kern="1200" dirty="0" smtClean="0">
                <a:solidFill>
                  <a:schemeClr val="tx1"/>
                </a:solidFill>
                <a:effectLst/>
                <a:latin typeface="+mn-lt"/>
                <a:ea typeface="+mn-ea"/>
                <a:cs typeface="+mn-cs"/>
              </a:rPr>
              <a:t> - Finding copied text segments</a:t>
            </a:r>
          </a:p>
          <a:p>
            <a:r>
              <a:rPr lang="en-US" sz="1200" b="1" i="0" kern="1200" dirty="0" smtClean="0">
                <a:solidFill>
                  <a:schemeClr val="tx1"/>
                </a:solidFill>
                <a:effectLst/>
                <a:latin typeface="+mn-lt"/>
                <a:ea typeface="+mn-ea"/>
                <a:cs typeface="+mn-cs"/>
              </a:rPr>
              <a:t>Author Attribution</a:t>
            </a:r>
            <a:r>
              <a:rPr lang="en-US" sz="1200" b="0" i="0" kern="1200" dirty="0" smtClean="0">
                <a:solidFill>
                  <a:schemeClr val="tx1"/>
                </a:solidFill>
                <a:effectLst/>
                <a:latin typeface="+mn-lt"/>
                <a:ea typeface="+mn-ea"/>
                <a:cs typeface="+mn-cs"/>
              </a:rPr>
              <a:t> - Identifying writing style patterns</a:t>
            </a:r>
          </a:p>
          <a:p>
            <a:r>
              <a:rPr lang="en-US" sz="1200" b="1" i="0" kern="1200" dirty="0" smtClean="0">
                <a:solidFill>
                  <a:schemeClr val="tx1"/>
                </a:solidFill>
                <a:effectLst/>
                <a:latin typeface="+mn-lt"/>
                <a:ea typeface="+mn-ea"/>
                <a:cs typeface="+mn-cs"/>
              </a:rPr>
              <a:t>Machine Translation</a:t>
            </a:r>
            <a:r>
              <a:rPr lang="en-US" sz="1200" b="0" i="0" kern="1200" dirty="0" smtClean="0">
                <a:solidFill>
                  <a:schemeClr val="tx1"/>
                </a:solidFill>
                <a:effectLst/>
                <a:latin typeface="+mn-lt"/>
                <a:ea typeface="+mn-ea"/>
                <a:cs typeface="+mn-cs"/>
              </a:rPr>
              <a:t> - Building phrase tables</a:t>
            </a:r>
          </a:p>
          <a:p>
            <a:r>
              <a:rPr lang="en-US" sz="1200" b="1" i="0" kern="1200" dirty="0" smtClean="0">
                <a:solidFill>
                  <a:schemeClr val="tx1"/>
                </a:solidFill>
                <a:effectLst/>
                <a:latin typeface="+mn-lt"/>
                <a:ea typeface="+mn-ea"/>
                <a:cs typeface="+mn-cs"/>
              </a:rPr>
              <a:t>Search Engines</a:t>
            </a:r>
            <a:r>
              <a:rPr lang="en-US" sz="1200" b="0" i="0" kern="1200" dirty="0" smtClean="0">
                <a:solidFill>
                  <a:schemeClr val="tx1"/>
                </a:solidFill>
                <a:effectLst/>
                <a:latin typeface="+mn-lt"/>
                <a:ea typeface="+mn-ea"/>
                <a:cs typeface="+mn-cs"/>
              </a:rPr>
              <a:t> - Creating search suggestions</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44</a:t>
            </a:fld>
            <a:endParaRPr lang="en-US"/>
          </a:p>
        </p:txBody>
      </p:sp>
    </p:spTree>
    <p:extLst>
      <p:ext uri="{BB962C8B-B14F-4D97-AF65-F5344CB8AC3E}">
        <p14:creationId xmlns:p14="http://schemas.microsoft.com/office/powerpoint/2010/main" val="54020273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45</a:t>
            </a:fld>
            <a:endParaRPr lang="en-US"/>
          </a:p>
        </p:txBody>
      </p:sp>
    </p:spTree>
    <p:extLst>
      <p:ext uri="{BB962C8B-B14F-4D97-AF65-F5344CB8AC3E}">
        <p14:creationId xmlns:p14="http://schemas.microsoft.com/office/powerpoint/2010/main" val="286094035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Example source: https://web.stanford.edu/class/cs246/slides/01-intro.pdf</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p:txBody>
      </p:sp>
      <p:sp>
        <p:nvSpPr>
          <p:cNvPr id="4" name="Slide Number Placeholder 3"/>
          <p:cNvSpPr>
            <a:spLocks noGrp="1"/>
          </p:cNvSpPr>
          <p:nvPr>
            <p:ph type="sldNum" sz="quarter" idx="10"/>
          </p:nvPr>
        </p:nvSpPr>
        <p:spPr/>
        <p:txBody>
          <a:bodyPr/>
          <a:lstStyle/>
          <a:p>
            <a:fld id="{EB363088-F16C-4FAF-8BB4-7C6C9F3D1EC9}" type="slidenum">
              <a:rPr lang="en-US" smtClean="0"/>
              <a:t>46</a:t>
            </a:fld>
            <a:endParaRPr lang="en-US"/>
          </a:p>
        </p:txBody>
      </p:sp>
    </p:spTree>
    <p:extLst>
      <p:ext uri="{BB962C8B-B14F-4D97-AF65-F5344CB8AC3E}">
        <p14:creationId xmlns:p14="http://schemas.microsoft.com/office/powerpoint/2010/main" val="274532628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 2. Heartbeat Mechanism</a:t>
            </a:r>
          </a:p>
          <a:p>
            <a:r>
              <a:rPr lang="en-US" dirty="0" err="1" smtClean="0"/>
              <a:t>TaskTrackers</a:t>
            </a:r>
            <a:r>
              <a:rPr lang="en-US" dirty="0" smtClean="0"/>
              <a:t> send periodic heartbeats</a:t>
            </a:r>
          </a:p>
          <a:p>
            <a:r>
              <a:rPr lang="en-US" dirty="0" smtClean="0"/>
              <a:t>If heartbeat stops → node assumed failed</a:t>
            </a:r>
          </a:p>
          <a:p>
            <a:r>
              <a:rPr lang="en-US" dirty="0" smtClean="0"/>
              <a:t>All unfinished tasks are reassigned</a:t>
            </a:r>
          </a:p>
          <a:p>
            <a:r>
              <a:rPr lang="en-US" b="1" dirty="0" smtClean="0"/>
              <a:t>🔹 3. Deterministic Processing</a:t>
            </a:r>
          </a:p>
          <a:p>
            <a:r>
              <a:rPr lang="en-US" dirty="0" smtClean="0"/>
              <a:t>Map and Reduce functions are:</a:t>
            </a:r>
          </a:p>
          <a:p>
            <a:r>
              <a:rPr lang="en-US" dirty="0" smtClean="0"/>
              <a:t>Stateless</a:t>
            </a:r>
          </a:p>
          <a:p>
            <a:r>
              <a:rPr lang="en-US" dirty="0" smtClean="0"/>
              <a:t>Deterministic (same input → same output)</a:t>
            </a:r>
          </a:p>
          <a:p>
            <a:r>
              <a:rPr lang="en-US" dirty="0" smtClean="0"/>
              <a:t>This allows safe re-execution without inconsistencies.</a:t>
            </a:r>
          </a:p>
          <a:p>
            <a:r>
              <a:rPr lang="en-US" b="1" dirty="0" smtClean="0"/>
              <a:t>🔹 </a:t>
            </a:r>
          </a:p>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47</a:t>
            </a:fld>
            <a:endParaRPr lang="en-US"/>
          </a:p>
        </p:txBody>
      </p:sp>
    </p:spTree>
    <p:extLst>
      <p:ext uri="{BB962C8B-B14F-4D97-AF65-F5344CB8AC3E}">
        <p14:creationId xmlns:p14="http://schemas.microsoft.com/office/powerpoint/2010/main" val="138769754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 Strengths of </a:t>
            </a:r>
            <a:r>
              <a:rPr lang="en-US" b="1" dirty="0" err="1" smtClean="0"/>
              <a:t>MapReduce</a:t>
            </a:r>
            <a:endParaRPr lang="en-US" b="1" dirty="0" smtClean="0"/>
          </a:p>
          <a:p>
            <a:r>
              <a:rPr lang="en-US" dirty="0" smtClean="0"/>
              <a:t>✔ Massive horizontal scalability</a:t>
            </a:r>
            <a:br>
              <a:rPr lang="en-US" dirty="0" smtClean="0"/>
            </a:br>
            <a:r>
              <a:rPr lang="en-US" dirty="0" smtClean="0"/>
              <a:t>✔ Strong fault tolerance</a:t>
            </a:r>
            <a:br>
              <a:rPr lang="en-US" dirty="0" smtClean="0"/>
            </a:br>
            <a:r>
              <a:rPr lang="en-US" dirty="0" smtClean="0"/>
              <a:t>✔ Handles very large batch workloads</a:t>
            </a:r>
            <a:br>
              <a:rPr lang="en-US" dirty="0" smtClean="0"/>
            </a:br>
            <a:r>
              <a:rPr lang="en-US" dirty="0" smtClean="0"/>
              <a:t>✔ Excellent for simple aggregation jobs</a:t>
            </a:r>
          </a:p>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48</a:t>
            </a:fld>
            <a:endParaRPr lang="en-US"/>
          </a:p>
        </p:txBody>
      </p:sp>
    </p:spTree>
    <p:extLst>
      <p:ext uri="{BB962C8B-B14F-4D97-AF65-F5344CB8AC3E}">
        <p14:creationId xmlns:p14="http://schemas.microsoft.com/office/powerpoint/2010/main" val="427738221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1. Iterative Algorithms (Machine Learning &amp; Graph Processing)</a:t>
            </a:r>
          </a:p>
          <a:p>
            <a:r>
              <a:rPr lang="en-US" dirty="0" smtClean="0"/>
              <a:t>This is the most significant limitation. Many ML algorithms (like K-Means clustering or PageRank) require multiple passes over the same data.</a:t>
            </a:r>
          </a:p>
          <a:p>
            <a:r>
              <a:rPr lang="en-US" b="1" dirty="0" smtClean="0"/>
              <a:t>The Problem:</a:t>
            </a:r>
            <a:r>
              <a:rPr lang="en-US" dirty="0" smtClean="0"/>
              <a:t> </a:t>
            </a:r>
            <a:r>
              <a:rPr lang="en-US" dirty="0" err="1" smtClean="0"/>
              <a:t>MapReduce</a:t>
            </a:r>
            <a:r>
              <a:rPr lang="en-US" dirty="0" smtClean="0"/>
              <a:t> is stateless. To run a second iteration, it must write data to HDFS at the end of the first job and reload it for the second.</a:t>
            </a:r>
          </a:p>
          <a:p>
            <a:r>
              <a:rPr lang="en-US" b="1" dirty="0" smtClean="0"/>
              <a:t>The Result:</a:t>
            </a:r>
            <a:r>
              <a:rPr lang="en-US" dirty="0" smtClean="0"/>
              <a:t> Immense I/O overhead. This is why </a:t>
            </a:r>
            <a:r>
              <a:rPr lang="en-US" b="1" dirty="0" smtClean="0"/>
              <a:t>Apache Spark</a:t>
            </a:r>
            <a:r>
              <a:rPr lang="en-US" dirty="0" smtClean="0"/>
              <a:t> (which keeps data in memory) replaced </a:t>
            </a:r>
            <a:r>
              <a:rPr lang="en-US" dirty="0" err="1" smtClean="0"/>
              <a:t>MapReduce</a:t>
            </a:r>
            <a:r>
              <a:rPr lang="en-US" dirty="0" smtClean="0"/>
              <a:t> for these tasks.</a:t>
            </a:r>
          </a:p>
          <a:p>
            <a:r>
              <a:rPr lang="en-US" dirty="0" smtClean="0"/>
              <a:t>Better:</a:t>
            </a:r>
          </a:p>
          <a:p>
            <a:r>
              <a:rPr lang="en-US" dirty="0" smtClean="0"/>
              <a:t>Apache Spark (in-memory RDD caching)</a:t>
            </a:r>
          </a:p>
          <a:p>
            <a:endParaRPr lang="en-US" dirty="0" smtClean="0"/>
          </a:p>
          <a:p>
            <a:r>
              <a:rPr lang="en-US" b="1" dirty="0" smtClean="0"/>
              <a:t>2. Real-time or Low-Latency Processing</a:t>
            </a:r>
          </a:p>
          <a:p>
            <a:r>
              <a:rPr lang="en-US" dirty="0" err="1" smtClean="0"/>
              <a:t>MapReduce</a:t>
            </a:r>
            <a:r>
              <a:rPr lang="en-US" dirty="0" smtClean="0"/>
              <a:t> is a </a:t>
            </a:r>
            <a:r>
              <a:rPr lang="en-US" b="1" dirty="0" smtClean="0"/>
              <a:t>batch processing</a:t>
            </a:r>
            <a:r>
              <a:rPr lang="en-US" dirty="0" smtClean="0"/>
              <a:t> engine designed for high throughput, not high speed.</a:t>
            </a:r>
          </a:p>
          <a:p>
            <a:r>
              <a:rPr lang="en-US" b="1" dirty="0" smtClean="0"/>
              <a:t>The Problem:</a:t>
            </a:r>
            <a:r>
              <a:rPr lang="en-US" dirty="0" smtClean="0"/>
              <a:t> The overhead of starting a job, allocating containers (via YARN), and the mandatory "Shuffle" phase adds minutes of latency.</a:t>
            </a:r>
          </a:p>
          <a:p>
            <a:r>
              <a:rPr lang="en-US" b="1" dirty="0" smtClean="0"/>
              <a:t>The Result:</a:t>
            </a:r>
            <a:r>
              <a:rPr lang="en-US" dirty="0" smtClean="0"/>
              <a:t> It cannot be used for "streaming" data (like live credit card fraud detection or stock market ticks) where a sub-second response is required.</a:t>
            </a:r>
          </a:p>
          <a:p>
            <a:r>
              <a:rPr lang="en-US" dirty="0" smtClean="0"/>
              <a:t>Better tools:</a:t>
            </a:r>
          </a:p>
          <a:p>
            <a:r>
              <a:rPr lang="en-US" dirty="0" smtClean="0"/>
              <a:t>Apache Spark (Structured Streaming)</a:t>
            </a:r>
          </a:p>
          <a:p>
            <a:r>
              <a:rPr lang="en-US" dirty="0" smtClean="0"/>
              <a:t>Apache </a:t>
            </a:r>
            <a:r>
              <a:rPr lang="en-US" dirty="0" err="1" smtClean="0"/>
              <a:t>Flink</a:t>
            </a:r>
            <a:endParaRPr lang="en-US" dirty="0" smtClean="0"/>
          </a:p>
          <a:p>
            <a:r>
              <a:rPr lang="en-US" dirty="0" smtClean="0"/>
              <a:t>Apache Kafka</a:t>
            </a:r>
          </a:p>
          <a:p>
            <a:endParaRPr lang="en-US" dirty="0" smtClean="0"/>
          </a:p>
          <a:p>
            <a:endParaRPr lang="en-US" dirty="0" smtClean="0"/>
          </a:p>
          <a:p>
            <a:r>
              <a:rPr lang="en-US" b="1" dirty="0" smtClean="0"/>
              <a:t>Interactive Queries</a:t>
            </a:r>
          </a:p>
          <a:p>
            <a:r>
              <a:rPr lang="en-US" dirty="0" smtClean="0"/>
              <a:t>Users expect results in seconds.</a:t>
            </a:r>
          </a:p>
          <a:p>
            <a:r>
              <a:rPr lang="en-US" dirty="0" err="1" smtClean="0"/>
              <a:t>MapReduce</a:t>
            </a:r>
            <a:r>
              <a:rPr lang="en-US" dirty="0" smtClean="0"/>
              <a:t>:</a:t>
            </a:r>
          </a:p>
          <a:p>
            <a:r>
              <a:rPr lang="en-US" dirty="0" smtClean="0"/>
              <a:t>High job startup time</a:t>
            </a:r>
          </a:p>
          <a:p>
            <a:r>
              <a:rPr lang="en-US" dirty="0" smtClean="0"/>
              <a:t>Heavy disk writes</a:t>
            </a:r>
          </a:p>
          <a:p>
            <a:r>
              <a:rPr lang="en-US" dirty="0" smtClean="0"/>
              <a:t>❌ Not good for:</a:t>
            </a:r>
          </a:p>
          <a:p>
            <a:r>
              <a:rPr lang="en-US" dirty="0" smtClean="0"/>
              <a:t>SQL-style interactive queries</a:t>
            </a:r>
          </a:p>
          <a:p>
            <a:r>
              <a:rPr lang="en-US" dirty="0" smtClean="0"/>
              <a:t>BI dashboards</a:t>
            </a:r>
          </a:p>
          <a:p>
            <a:r>
              <a:rPr lang="en-US" dirty="0" smtClean="0"/>
              <a:t>Better:</a:t>
            </a:r>
          </a:p>
          <a:p>
            <a:r>
              <a:rPr lang="en-US" dirty="0" smtClean="0"/>
              <a:t>Apache Hive (on </a:t>
            </a:r>
            <a:r>
              <a:rPr lang="en-US" dirty="0" err="1" smtClean="0"/>
              <a:t>Tez</a:t>
            </a:r>
            <a:r>
              <a:rPr lang="en-US" dirty="0" smtClean="0"/>
              <a:t>/Spark)</a:t>
            </a:r>
          </a:p>
          <a:p>
            <a:r>
              <a:rPr lang="en-US" dirty="0" smtClean="0"/>
              <a:t>Presto</a:t>
            </a:r>
          </a:p>
          <a:p>
            <a:endParaRPr lang="en-US" dirty="0" smtClean="0"/>
          </a:p>
          <a:p>
            <a:r>
              <a:rPr lang="en-US" b="1" dirty="0" smtClean="0"/>
              <a:t>Highly Sequential / Dependent Tasks</a:t>
            </a:r>
          </a:p>
          <a:p>
            <a:r>
              <a:rPr lang="en-US" dirty="0" err="1" smtClean="0"/>
              <a:t>MapReduce</a:t>
            </a:r>
            <a:r>
              <a:rPr lang="en-US" dirty="0" smtClean="0"/>
              <a:t> assumes:</a:t>
            </a:r>
          </a:p>
          <a:p>
            <a:r>
              <a:rPr lang="en-US" dirty="0" smtClean="0"/>
              <a:t>Data can be split independently.</a:t>
            </a:r>
          </a:p>
          <a:p>
            <a:r>
              <a:rPr lang="en-US" dirty="0" smtClean="0"/>
              <a:t>Not suitable when:</a:t>
            </a:r>
          </a:p>
          <a:p>
            <a:r>
              <a:rPr lang="en-US" dirty="0" smtClean="0"/>
              <a:t>Step B depends tightly on Step A</a:t>
            </a:r>
          </a:p>
          <a:p>
            <a:r>
              <a:rPr lang="en-US" dirty="0" smtClean="0"/>
              <a:t>Strong ordering constraints</a:t>
            </a:r>
          </a:p>
          <a:p>
            <a:r>
              <a:rPr lang="en-US" dirty="0" smtClean="0"/>
              <a:t>Complex workflows with many dependencies</a:t>
            </a:r>
          </a:p>
          <a:p>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EB363088-F16C-4FAF-8BB4-7C6C9F3D1EC9}" type="slidenum">
              <a:rPr lang="en-US" smtClean="0"/>
              <a:t>49</a:t>
            </a:fld>
            <a:endParaRPr lang="en-US"/>
          </a:p>
        </p:txBody>
      </p:sp>
    </p:spTree>
    <p:extLst>
      <p:ext uri="{BB962C8B-B14F-4D97-AF65-F5344CB8AC3E}">
        <p14:creationId xmlns:p14="http://schemas.microsoft.com/office/powerpoint/2010/main" val="27406416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55797D48-18D6-46A1-BFDC-9D5A26102823}" type="datetimeFigureOut">
              <a:rPr lang="en-US" smtClean="0"/>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1C03CC-440E-473E-81B8-A9146396321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5652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5797D48-18D6-46A1-BFDC-9D5A26102823}" type="datetimeFigureOut">
              <a:rPr lang="en-US" smtClean="0"/>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1C03CC-440E-473E-81B8-A9146396321A}" type="slidenum">
              <a:rPr lang="en-US" smtClean="0"/>
              <a:t>‹#›</a:t>
            </a:fld>
            <a:endParaRPr lang="en-US"/>
          </a:p>
        </p:txBody>
      </p:sp>
    </p:spTree>
    <p:extLst>
      <p:ext uri="{BB962C8B-B14F-4D97-AF65-F5344CB8AC3E}">
        <p14:creationId xmlns:p14="http://schemas.microsoft.com/office/powerpoint/2010/main" val="24298464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smtClean="0"/>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5797D48-18D6-46A1-BFDC-9D5A26102823}" type="datetimeFigureOut">
              <a:rPr lang="en-US" smtClean="0"/>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1C03CC-440E-473E-81B8-A9146396321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41864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55797D48-18D6-46A1-BFDC-9D5A26102823}" type="datetimeFigureOut">
              <a:rPr lang="en-US" smtClean="0"/>
              <a:t>3/8/2026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01C03CC-440E-473E-81B8-A9146396321A}" type="slidenum">
              <a:rPr lang="en-US" smtClean="0"/>
              <a:t>‹#›</a:t>
            </a:fld>
            <a:endParaRPr lang="en-US"/>
          </a:p>
        </p:txBody>
      </p:sp>
    </p:spTree>
    <p:extLst>
      <p:ext uri="{BB962C8B-B14F-4D97-AF65-F5344CB8AC3E}">
        <p14:creationId xmlns:p14="http://schemas.microsoft.com/office/powerpoint/2010/main" val="13889828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smtClean="0"/>
              <a:t>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5797D48-18D6-46A1-BFDC-9D5A26102823}" type="datetimeFigureOut">
              <a:rPr lang="en-US" smtClean="0"/>
              <a:t>3/8/2026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01C03CC-440E-473E-81B8-A9146396321A}" type="slidenum">
              <a:rPr lang="en-US" smtClean="0"/>
              <a:t>‹#›</a:t>
            </a:fld>
            <a:endParaRPr lang="en-US"/>
          </a:p>
        </p:txBody>
      </p:sp>
    </p:spTree>
    <p:extLst>
      <p:ext uri="{BB962C8B-B14F-4D97-AF65-F5344CB8AC3E}">
        <p14:creationId xmlns:p14="http://schemas.microsoft.com/office/powerpoint/2010/main" val="27895447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55797D48-18D6-46A1-BFDC-9D5A26102823}" type="datetimeFigureOut">
              <a:rPr lang="en-US" smtClean="0"/>
              <a:t>3/8/2026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01C03CC-440E-473E-81B8-A9146396321A}" type="slidenum">
              <a:rPr lang="en-US" smtClean="0"/>
              <a:t>‹#›</a:t>
            </a:fld>
            <a:endParaRPr lang="en-US"/>
          </a:p>
        </p:txBody>
      </p:sp>
    </p:spTree>
    <p:extLst>
      <p:ext uri="{BB962C8B-B14F-4D97-AF65-F5344CB8AC3E}">
        <p14:creationId xmlns:p14="http://schemas.microsoft.com/office/powerpoint/2010/main" val="36403935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5797D48-18D6-46A1-BFDC-9D5A26102823}" type="datetimeFigureOut">
              <a:rPr lang="en-US" smtClean="0"/>
              <a:t>3/8/2026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01C03CC-440E-473E-81B8-A9146396321A}" type="slidenum">
              <a:rPr lang="en-US" smtClean="0"/>
              <a:t>‹#›</a:t>
            </a:fld>
            <a:endParaRPr lang="en-US"/>
          </a:p>
        </p:txBody>
      </p:sp>
    </p:spTree>
    <p:extLst>
      <p:ext uri="{BB962C8B-B14F-4D97-AF65-F5344CB8AC3E}">
        <p14:creationId xmlns:p14="http://schemas.microsoft.com/office/powerpoint/2010/main" val="18520619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smtClean="0"/>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55797D48-18D6-46A1-BFDC-9D5A26102823}" type="datetimeFigureOut">
              <a:rPr lang="en-US" smtClean="0"/>
              <a:t>3/8/2026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01C03CC-440E-473E-81B8-A9146396321A}" type="slidenum">
              <a:rPr lang="en-US" smtClean="0"/>
              <a:t>‹#›</a:t>
            </a:fld>
            <a:endParaRPr lang="en-US"/>
          </a:p>
        </p:txBody>
      </p:sp>
    </p:spTree>
    <p:extLst>
      <p:ext uri="{BB962C8B-B14F-4D97-AF65-F5344CB8AC3E}">
        <p14:creationId xmlns:p14="http://schemas.microsoft.com/office/powerpoint/2010/main" val="5509100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5797D48-18D6-46A1-BFDC-9D5A26102823}" type="datetimeFigureOut">
              <a:rPr lang="en-US" smtClean="0"/>
              <a:t>3/8/2026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01C03CC-440E-473E-81B8-A9146396321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78404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5797D48-18D6-46A1-BFDC-9D5A26102823}" type="datetimeFigureOut">
              <a:rPr lang="en-US" smtClean="0"/>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1C03CC-440E-473E-81B8-A9146396321A}" type="slidenum">
              <a:rPr lang="en-US" smtClean="0"/>
              <a:t>‹#›</a:t>
            </a:fld>
            <a:endParaRPr lang="en-US"/>
          </a:p>
        </p:txBody>
      </p:sp>
    </p:spTree>
    <p:extLst>
      <p:ext uri="{BB962C8B-B14F-4D97-AF65-F5344CB8AC3E}">
        <p14:creationId xmlns:p14="http://schemas.microsoft.com/office/powerpoint/2010/main" val="16686477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5797D48-18D6-46A1-BFDC-9D5A26102823}" type="datetimeFigureOut">
              <a:rPr lang="en-US" smtClean="0"/>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1C03CC-440E-473E-81B8-A9146396321A}"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4229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55797D48-18D6-46A1-BFDC-9D5A26102823}" type="datetimeFigureOut">
              <a:rPr lang="en-US" smtClean="0"/>
              <a:t>3/8/2026</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01C03CC-440E-473E-81B8-A9146396321A}" type="slidenum">
              <a:rPr lang="en-US" smtClean="0"/>
              <a:t>‹#›</a:t>
            </a:fld>
            <a:endParaRPr 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01736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4586588"/>
            <a:ext cx="8229600" cy="1463040"/>
          </a:xfrm>
        </p:spPr>
        <p:txBody>
          <a:bodyPr>
            <a:normAutofit/>
          </a:bodyPr>
          <a:lstStyle/>
          <a:p>
            <a:pPr algn="ctr"/>
            <a:r>
              <a:rPr lang="en-US" sz="4800" b="1" dirty="0" err="1" smtClean="0">
                <a:latin typeface="Times New Roman" panose="02020603050405020304" pitchFamily="18" charset="0"/>
                <a:cs typeface="Times New Roman" panose="02020603050405020304" pitchFamily="18" charset="0"/>
              </a:rPr>
              <a:t>Mapreduce</a:t>
            </a:r>
            <a:r>
              <a:rPr lang="en-US" sz="4800" b="1" dirty="0" smtClean="0">
                <a:latin typeface="Times New Roman" panose="02020603050405020304" pitchFamily="18" charset="0"/>
                <a:cs typeface="Times New Roman" panose="02020603050405020304" pitchFamily="18" charset="0"/>
              </a:rPr>
              <a:t> programming model </a:t>
            </a:r>
            <a:endParaRPr lang="en-US" sz="3600" b="1"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8326120" y="4472457"/>
            <a:ext cx="4109720" cy="1463040"/>
          </a:xfrm>
        </p:spPr>
        <p:txBody>
          <a:bodyPr>
            <a:normAutofit/>
          </a:bodyPr>
          <a:lstStyle/>
          <a:p>
            <a:pPr algn="ctr"/>
            <a:r>
              <a:rPr lang="en-US" sz="3200" b="1" dirty="0" smtClean="0">
                <a:latin typeface="Times New Roman" panose="02020603050405020304" pitchFamily="18" charset="0"/>
                <a:cs typeface="Times New Roman" panose="02020603050405020304" pitchFamily="18" charset="0"/>
              </a:rPr>
              <a:t>Spring 2026</a:t>
            </a:r>
          </a:p>
          <a:p>
            <a:r>
              <a:rPr lang="en-US" sz="3200" b="1" dirty="0" err="1" smtClean="0">
                <a:solidFill>
                  <a:srgbClr val="C00000"/>
                </a:solidFill>
                <a:latin typeface="Times New Roman" panose="02020603050405020304" pitchFamily="18" charset="0"/>
                <a:cs typeface="Times New Roman" panose="02020603050405020304" pitchFamily="18" charset="0"/>
              </a:rPr>
              <a:t>Dr</a:t>
            </a:r>
            <a:r>
              <a:rPr lang="en-US" sz="3200" b="1" dirty="0" smtClean="0">
                <a:solidFill>
                  <a:srgbClr val="C00000"/>
                </a:solidFill>
                <a:latin typeface="Times New Roman" panose="02020603050405020304" pitchFamily="18" charset="0"/>
                <a:cs typeface="Times New Roman" panose="02020603050405020304" pitchFamily="18" charset="0"/>
              </a:rPr>
              <a:t> </a:t>
            </a:r>
            <a:r>
              <a:rPr lang="en-US" sz="3200" b="1" dirty="0" err="1" smtClean="0">
                <a:solidFill>
                  <a:srgbClr val="C00000"/>
                </a:solidFill>
                <a:latin typeface="Times New Roman" panose="02020603050405020304" pitchFamily="18" charset="0"/>
                <a:cs typeface="Times New Roman" panose="02020603050405020304" pitchFamily="18" charset="0"/>
              </a:rPr>
              <a:t>Mayada</a:t>
            </a:r>
            <a:r>
              <a:rPr lang="en-US" sz="3200" b="1" dirty="0" smtClean="0">
                <a:solidFill>
                  <a:srgbClr val="C00000"/>
                </a:solidFill>
                <a:latin typeface="Times New Roman" panose="02020603050405020304" pitchFamily="18" charset="0"/>
                <a:cs typeface="Times New Roman" panose="02020603050405020304" pitchFamily="18" charset="0"/>
              </a:rPr>
              <a:t> </a:t>
            </a:r>
            <a:r>
              <a:rPr lang="en-US" sz="3200" b="1" dirty="0" err="1" smtClean="0">
                <a:solidFill>
                  <a:srgbClr val="C00000"/>
                </a:solidFill>
                <a:latin typeface="Times New Roman" panose="02020603050405020304" pitchFamily="18" charset="0"/>
                <a:cs typeface="Times New Roman" panose="02020603050405020304" pitchFamily="18" charset="0"/>
              </a:rPr>
              <a:t>Hadhoud</a:t>
            </a:r>
            <a:r>
              <a:rPr lang="en-US" sz="3200" b="1" dirty="0" smtClean="0">
                <a:solidFill>
                  <a:srgbClr val="C00000"/>
                </a:solidFill>
                <a:latin typeface="Times New Roman" panose="02020603050405020304" pitchFamily="18" charset="0"/>
                <a:cs typeface="Times New Roman" panose="02020603050405020304" pitchFamily="18" charset="0"/>
              </a:rPr>
              <a:t> </a:t>
            </a:r>
            <a:endParaRPr lang="en-US" sz="3200" b="1" dirty="0">
              <a:solidFill>
                <a:srgbClr val="C0000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0" y="6017091"/>
            <a:ext cx="3474976" cy="812172"/>
          </a:xfrm>
          <a:prstGeom prst="rect">
            <a:avLst/>
          </a:prstGeom>
        </p:spPr>
      </p:pic>
    </p:spTree>
    <p:extLst>
      <p:ext uri="{BB962C8B-B14F-4D97-AF65-F5344CB8AC3E}">
        <p14:creationId xmlns:p14="http://schemas.microsoft.com/office/powerpoint/2010/main" val="114666748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outline</a:t>
            </a:r>
            <a:endParaRPr lang="en-US" b="1" dirty="0"/>
          </a:p>
        </p:txBody>
      </p:sp>
      <p:sp>
        <p:nvSpPr>
          <p:cNvPr id="3" name="Content Placeholder 2"/>
          <p:cNvSpPr>
            <a:spLocks noGrp="1"/>
          </p:cNvSpPr>
          <p:nvPr>
            <p:ph idx="1"/>
          </p:nvPr>
        </p:nvSpPr>
        <p:spPr>
          <a:xfrm>
            <a:off x="1024128" y="1708879"/>
            <a:ext cx="10012840" cy="4868384"/>
          </a:xfrm>
        </p:spPr>
        <p:txBody>
          <a:bodyPr>
            <a:normAutofit/>
          </a:bodyPr>
          <a:lstStyle/>
          <a:p>
            <a:pPr>
              <a:buFont typeface="Wingdings" panose="05000000000000000000" pitchFamily="2" charset="2"/>
              <a:buChar char="q"/>
            </a:pPr>
            <a:r>
              <a:rPr lang="en-US" sz="2800" dirty="0" smtClean="0"/>
              <a:t>Parallel Programming Model</a:t>
            </a:r>
          </a:p>
          <a:p>
            <a:pPr>
              <a:buFont typeface="Wingdings" panose="05000000000000000000" pitchFamily="2" charset="2"/>
              <a:buChar char="q"/>
            </a:pPr>
            <a:r>
              <a:rPr lang="en-US" sz="2800" dirty="0" smtClean="0"/>
              <a:t>Types of Parallel Programming Models </a:t>
            </a:r>
          </a:p>
          <a:p>
            <a:pPr>
              <a:buFont typeface="Wingdings" panose="05000000000000000000" pitchFamily="2" charset="2"/>
              <a:buChar char="q"/>
            </a:pPr>
            <a:r>
              <a:rPr lang="en-US" sz="2800" dirty="0" smtClean="0"/>
              <a:t>Task Parallelism Vs. Data Parallelism</a:t>
            </a:r>
          </a:p>
          <a:p>
            <a:pPr>
              <a:buFont typeface="Wingdings" panose="05000000000000000000" pitchFamily="2" charset="2"/>
              <a:buChar char="q"/>
            </a:pPr>
            <a:r>
              <a:rPr lang="en-US" sz="2800" dirty="0" smtClean="0"/>
              <a:t>Map Reduce Programming Model Definition &amp; Motivation</a:t>
            </a:r>
          </a:p>
          <a:p>
            <a:pPr>
              <a:buFont typeface="Wingdings" panose="05000000000000000000" pitchFamily="2" charset="2"/>
              <a:buChar char="q"/>
            </a:pPr>
            <a:r>
              <a:rPr lang="en-US" sz="2800" dirty="0" smtClean="0"/>
              <a:t>Map Reduce Basic Idea </a:t>
            </a:r>
          </a:p>
          <a:p>
            <a:pPr>
              <a:buFont typeface="Wingdings" panose="05000000000000000000" pitchFamily="2" charset="2"/>
              <a:buChar char="q"/>
            </a:pPr>
            <a:r>
              <a:rPr lang="en-US" sz="2800" dirty="0" smtClean="0"/>
              <a:t>Map Reduce Functions</a:t>
            </a:r>
          </a:p>
          <a:p>
            <a:pPr>
              <a:buFont typeface="Wingdings" panose="05000000000000000000" pitchFamily="2" charset="2"/>
              <a:buChar char="q"/>
            </a:pPr>
            <a:r>
              <a:rPr lang="en-US" sz="2800" dirty="0" smtClean="0"/>
              <a:t>Map Reduce Examples</a:t>
            </a:r>
            <a:endParaRPr lang="en-US" sz="2800" dirty="0" smtClean="0"/>
          </a:p>
          <a:p>
            <a:pPr>
              <a:buFont typeface="Wingdings" panose="05000000000000000000" pitchFamily="2" charset="2"/>
              <a:buChar char="q"/>
            </a:pPr>
            <a:r>
              <a:rPr lang="en-US" sz="2800" dirty="0" smtClean="0"/>
              <a:t>Map Reduce </a:t>
            </a:r>
            <a:r>
              <a:rPr lang="en-US" sz="2800" dirty="0" smtClean="0"/>
              <a:t>is not suitable for what??</a:t>
            </a:r>
            <a:endParaRPr lang="en-US" sz="2800" dirty="0"/>
          </a:p>
        </p:txBody>
      </p:sp>
    </p:spTree>
    <p:extLst>
      <p:ext uri="{BB962C8B-B14F-4D97-AF65-F5344CB8AC3E}">
        <p14:creationId xmlns:p14="http://schemas.microsoft.com/office/powerpoint/2010/main" val="165180126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Parallel Programming model</a:t>
            </a:r>
            <a:endParaRPr lang="en-US" b="1" dirty="0"/>
          </a:p>
        </p:txBody>
      </p:sp>
      <p:sp>
        <p:nvSpPr>
          <p:cNvPr id="3" name="Content Placeholder 2"/>
          <p:cNvSpPr>
            <a:spLocks noGrp="1"/>
          </p:cNvSpPr>
          <p:nvPr>
            <p:ph idx="1"/>
          </p:nvPr>
        </p:nvSpPr>
        <p:spPr>
          <a:xfrm>
            <a:off x="646757" y="1920239"/>
            <a:ext cx="10906615" cy="4023360"/>
          </a:xfrm>
        </p:spPr>
        <p:txBody>
          <a:bodyPr>
            <a:noAutofit/>
          </a:bodyPr>
          <a:lstStyle/>
          <a:p>
            <a:pPr marL="0" lvl="0" indent="0" eaLnBrk="0" fontAlgn="base" hangingPunct="0">
              <a:lnSpc>
                <a:spcPct val="100000"/>
              </a:lnSpc>
              <a:spcBef>
                <a:spcPct val="0"/>
              </a:spcBef>
              <a:spcAft>
                <a:spcPct val="0"/>
              </a:spcAft>
              <a:buClrTx/>
              <a:buSzTx/>
              <a:buNone/>
            </a:pPr>
            <a:r>
              <a:rPr lang="en-US" altLang="en-US" sz="2800" dirty="0"/>
              <a:t>A </a:t>
            </a:r>
            <a:r>
              <a:rPr lang="en-US" altLang="en-US" sz="2800" b="1" dirty="0">
                <a:solidFill>
                  <a:srgbClr val="C00000"/>
                </a:solidFill>
              </a:rPr>
              <a:t>parallel programming model</a:t>
            </a:r>
            <a:r>
              <a:rPr lang="en-US" altLang="en-US" sz="2800" dirty="0"/>
              <a:t> is:</a:t>
            </a:r>
          </a:p>
          <a:p>
            <a:pPr marL="0" lvl="0" indent="0" eaLnBrk="0" fontAlgn="base" hangingPunct="0">
              <a:lnSpc>
                <a:spcPct val="100000"/>
              </a:lnSpc>
              <a:spcBef>
                <a:spcPct val="0"/>
              </a:spcBef>
              <a:spcAft>
                <a:spcPct val="0"/>
              </a:spcAft>
              <a:buClrTx/>
              <a:buSzTx/>
              <a:buNone/>
            </a:pPr>
            <a:r>
              <a:rPr lang="en-US" altLang="en-US" sz="2800" dirty="0"/>
              <a:t>A programming model designed to execute multiple computations simultaneously by dividing work across multiple processors or machines.</a:t>
            </a:r>
          </a:p>
          <a:p>
            <a:pPr marL="0" lvl="0" indent="0" eaLnBrk="0" fontAlgn="base" hangingPunct="0">
              <a:lnSpc>
                <a:spcPct val="100000"/>
              </a:lnSpc>
              <a:spcBef>
                <a:spcPct val="0"/>
              </a:spcBef>
              <a:spcAft>
                <a:spcPct val="0"/>
              </a:spcAft>
              <a:buClrTx/>
              <a:buSzTx/>
              <a:buNone/>
            </a:pPr>
            <a:r>
              <a:rPr lang="en-US" altLang="en-US" sz="2800" dirty="0"/>
              <a:t>It defines:</a:t>
            </a:r>
          </a:p>
          <a:p>
            <a:pPr lvl="0" eaLnBrk="0" fontAlgn="base" hangingPunct="0">
              <a:lnSpc>
                <a:spcPct val="100000"/>
              </a:lnSpc>
              <a:spcBef>
                <a:spcPct val="0"/>
              </a:spcBef>
              <a:spcAft>
                <a:spcPct val="0"/>
              </a:spcAft>
              <a:buClrTx/>
              <a:buSzTx/>
              <a:buFont typeface="Arial" panose="020B0604020202020204" pitchFamily="34" charset="0"/>
              <a:buChar char="•"/>
            </a:pPr>
            <a:r>
              <a:rPr lang="en-US" altLang="en-US" sz="2800" dirty="0" smtClean="0"/>
              <a:t>How </a:t>
            </a:r>
            <a:r>
              <a:rPr lang="en-US" altLang="en-US" sz="2800" dirty="0"/>
              <a:t>tasks are split</a:t>
            </a:r>
          </a:p>
          <a:p>
            <a:pPr lvl="0" eaLnBrk="0" fontAlgn="base" hangingPunct="0">
              <a:lnSpc>
                <a:spcPct val="100000"/>
              </a:lnSpc>
              <a:spcBef>
                <a:spcPct val="0"/>
              </a:spcBef>
              <a:spcAft>
                <a:spcPct val="0"/>
              </a:spcAft>
              <a:buClrTx/>
              <a:buSzTx/>
              <a:buFont typeface="Arial" panose="020B0604020202020204" pitchFamily="34" charset="0"/>
              <a:buChar char="•"/>
            </a:pPr>
            <a:r>
              <a:rPr lang="en-US" altLang="en-US" sz="2800" dirty="0" smtClean="0"/>
              <a:t>How </a:t>
            </a:r>
            <a:r>
              <a:rPr lang="en-US" altLang="en-US" sz="2800" dirty="0"/>
              <a:t>processors communicate</a:t>
            </a:r>
          </a:p>
          <a:p>
            <a:pPr lvl="0" eaLnBrk="0" fontAlgn="base" hangingPunct="0">
              <a:lnSpc>
                <a:spcPct val="100000"/>
              </a:lnSpc>
              <a:spcBef>
                <a:spcPct val="0"/>
              </a:spcBef>
              <a:spcAft>
                <a:spcPct val="0"/>
              </a:spcAft>
              <a:buClrTx/>
              <a:buSzTx/>
              <a:buFont typeface="Arial" panose="020B0604020202020204" pitchFamily="34" charset="0"/>
              <a:buChar char="•"/>
            </a:pPr>
            <a:r>
              <a:rPr lang="en-US" altLang="en-US" sz="2800" dirty="0" smtClean="0"/>
              <a:t>How </a:t>
            </a:r>
            <a:r>
              <a:rPr lang="en-US" altLang="en-US" sz="2800" dirty="0"/>
              <a:t>synchronization occurs</a:t>
            </a:r>
          </a:p>
          <a:p>
            <a:pPr lvl="0" eaLnBrk="0" fontAlgn="base" hangingPunct="0">
              <a:lnSpc>
                <a:spcPct val="100000"/>
              </a:lnSpc>
              <a:spcBef>
                <a:spcPct val="0"/>
              </a:spcBef>
              <a:spcAft>
                <a:spcPct val="0"/>
              </a:spcAft>
              <a:buClrTx/>
              <a:buSzTx/>
              <a:buFont typeface="Arial" panose="020B0604020202020204" pitchFamily="34" charset="0"/>
              <a:buChar char="•"/>
            </a:pPr>
            <a:r>
              <a:rPr lang="en-US" altLang="en-US" sz="2800" dirty="0" smtClean="0"/>
              <a:t>How </a:t>
            </a:r>
            <a:r>
              <a:rPr lang="en-US" altLang="en-US" sz="2800" dirty="0"/>
              <a:t>data is shared or distributed</a:t>
            </a:r>
          </a:p>
        </p:txBody>
      </p:sp>
    </p:spTree>
    <p:extLst>
      <p:ext uri="{BB962C8B-B14F-4D97-AF65-F5344CB8AC3E}">
        <p14:creationId xmlns:p14="http://schemas.microsoft.com/office/powerpoint/2010/main" val="2702485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additive="base">
                                        <p:cTn id="12"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 calcmode="lin" valueType="num">
                                      <p:cBhvr additive="base">
                                        <p:cTn id="18"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 calcmode="lin" valueType="num">
                                      <p:cBhvr additive="base">
                                        <p:cTn id="24"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par>
                          <p:cTn id="26" fill="hold">
                            <p:stCondLst>
                              <p:cond delay="500"/>
                            </p:stCondLst>
                            <p:childTnLst>
                              <p:par>
                                <p:cTn id="27" presetID="2" presetClass="entr" presetSubtype="4" fill="hold" nodeType="after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additive="base">
                                        <p:cTn id="2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par>
                          <p:cTn id="31" fill="hold">
                            <p:stCondLst>
                              <p:cond delay="1000"/>
                            </p:stCondLst>
                            <p:childTnLst>
                              <p:par>
                                <p:cTn id="32" presetID="2" presetClass="entr" presetSubtype="4" fill="hold" nodeType="after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 calcmode="lin" valueType="num">
                                      <p:cBhvr additive="base">
                                        <p:cTn id="34"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par>
                          <p:cTn id="36" fill="hold">
                            <p:stCondLst>
                              <p:cond delay="1500"/>
                            </p:stCondLst>
                            <p:childTnLst>
                              <p:par>
                                <p:cTn id="37" presetID="2" presetClass="entr" presetSubtype="4" fill="hold" nodeType="after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anim calcmode="lin" valueType="num">
                                      <p:cBhvr additive="base">
                                        <p:cTn id="3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Parallel Programming model types</a:t>
            </a:r>
            <a:endParaRPr lang="en-US" b="1" dirty="0"/>
          </a:p>
        </p:txBody>
      </p:sp>
      <p:sp>
        <p:nvSpPr>
          <p:cNvPr id="3" name="Content Placeholder 2"/>
          <p:cNvSpPr>
            <a:spLocks noGrp="1"/>
          </p:cNvSpPr>
          <p:nvPr>
            <p:ph idx="1"/>
          </p:nvPr>
        </p:nvSpPr>
        <p:spPr>
          <a:xfrm>
            <a:off x="646757" y="1920239"/>
            <a:ext cx="10906615" cy="4023360"/>
          </a:xfrm>
        </p:spPr>
        <p:txBody>
          <a:bodyPr>
            <a:noAutofit/>
          </a:bodyPr>
          <a:lstStyle/>
          <a:p>
            <a:pPr marL="0" lvl="0" indent="0" eaLnBrk="0" fontAlgn="base" hangingPunct="0">
              <a:lnSpc>
                <a:spcPct val="100000"/>
              </a:lnSpc>
              <a:spcBef>
                <a:spcPct val="0"/>
              </a:spcBef>
              <a:spcAft>
                <a:spcPct val="0"/>
              </a:spcAft>
              <a:buClrTx/>
              <a:buSzTx/>
              <a:buNone/>
            </a:pPr>
            <a:r>
              <a:rPr lang="en-US" altLang="en-US" sz="2800" b="1" dirty="0" smtClean="0">
                <a:solidFill>
                  <a:srgbClr val="C00000"/>
                </a:solidFill>
              </a:rPr>
              <a:t>Shared Memory Model </a:t>
            </a:r>
          </a:p>
          <a:p>
            <a:pPr marL="0" indent="0" eaLnBrk="0" fontAlgn="base" hangingPunct="0">
              <a:lnSpc>
                <a:spcPct val="100000"/>
              </a:lnSpc>
              <a:spcBef>
                <a:spcPct val="0"/>
              </a:spcBef>
              <a:spcAft>
                <a:spcPct val="0"/>
              </a:spcAft>
              <a:buClrTx/>
              <a:buSzTx/>
              <a:buNone/>
            </a:pPr>
            <a:r>
              <a:rPr lang="en-US" sz="2800" dirty="0"/>
              <a:t>Multiple threads/processors access a common global memory space. Synchronization mechanisms (locks, semaphores, barriers) are required to ensure data consistency.</a:t>
            </a:r>
          </a:p>
          <a:p>
            <a:r>
              <a:rPr lang="en-US" sz="2800" b="1" dirty="0"/>
              <a:t>Examples:</a:t>
            </a:r>
            <a:endParaRPr lang="en-US" sz="2800" dirty="0"/>
          </a:p>
          <a:p>
            <a:r>
              <a:rPr lang="en-US" sz="2800" dirty="0" err="1"/>
              <a:t>OpenMP</a:t>
            </a:r>
            <a:endParaRPr lang="en-US" sz="2800" dirty="0"/>
          </a:p>
          <a:p>
            <a:r>
              <a:rPr lang="en-US" sz="2800" dirty="0"/>
              <a:t>POSIX Threads (</a:t>
            </a:r>
            <a:r>
              <a:rPr lang="en-US" sz="2800" dirty="0" err="1"/>
              <a:t>Pthreads</a:t>
            </a:r>
            <a:r>
              <a:rPr lang="en-US" sz="2800" dirty="0"/>
              <a:t>)</a:t>
            </a:r>
          </a:p>
        </p:txBody>
      </p:sp>
    </p:spTree>
    <p:extLst>
      <p:ext uri="{BB962C8B-B14F-4D97-AF65-F5344CB8AC3E}">
        <p14:creationId xmlns:p14="http://schemas.microsoft.com/office/powerpoint/2010/main" val="3237513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additive="base">
                                        <p:cTn id="12"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 calcmode="lin" valueType="num">
                                      <p:cBhvr additive="base">
                                        <p:cTn id="18"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0" presetID="2" presetClass="entr" presetSubtype="4"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 calcmode="lin" valueType="num">
                                      <p:cBhvr additive="base">
                                        <p:cTn id="22"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4" presetID="2" presetClass="entr" presetSubtype="4" fill="hold" nodeType="with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 calcmode="lin" valueType="num">
                                      <p:cBhvr additive="base">
                                        <p:cTn id="26"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Parallel Programming model types</a:t>
            </a:r>
            <a:endParaRPr lang="en-US" b="1" dirty="0"/>
          </a:p>
        </p:txBody>
      </p:sp>
      <p:sp>
        <p:nvSpPr>
          <p:cNvPr id="3" name="Content Placeholder 2"/>
          <p:cNvSpPr>
            <a:spLocks noGrp="1"/>
          </p:cNvSpPr>
          <p:nvPr>
            <p:ph idx="1"/>
          </p:nvPr>
        </p:nvSpPr>
        <p:spPr>
          <a:xfrm>
            <a:off x="646757" y="1920239"/>
            <a:ext cx="10906615" cy="4023360"/>
          </a:xfrm>
        </p:spPr>
        <p:txBody>
          <a:bodyPr>
            <a:noAutofit/>
          </a:bodyPr>
          <a:lstStyle/>
          <a:p>
            <a:pPr marL="0" lvl="0" indent="0" eaLnBrk="0" fontAlgn="base" hangingPunct="0">
              <a:lnSpc>
                <a:spcPct val="100000"/>
              </a:lnSpc>
              <a:spcBef>
                <a:spcPts val="0"/>
              </a:spcBef>
              <a:spcAft>
                <a:spcPts val="0"/>
              </a:spcAft>
              <a:buClrTx/>
              <a:buSzTx/>
              <a:buNone/>
            </a:pPr>
            <a:r>
              <a:rPr lang="en-US" altLang="en-US" sz="2800" b="1" dirty="0" smtClean="0">
                <a:solidFill>
                  <a:srgbClr val="C00000"/>
                </a:solidFill>
              </a:rPr>
              <a:t>Message Passing Model </a:t>
            </a:r>
          </a:p>
          <a:p>
            <a:pPr>
              <a:lnSpc>
                <a:spcPct val="100000"/>
              </a:lnSpc>
              <a:spcBef>
                <a:spcPts val="0"/>
              </a:spcBef>
              <a:spcAft>
                <a:spcPts val="0"/>
              </a:spcAft>
            </a:pPr>
            <a:r>
              <a:rPr lang="en-US" sz="2800" dirty="0"/>
              <a:t>Each processor has private local memory. Communication occurs explicitly through message exchange (send/receive</a:t>
            </a:r>
            <a:r>
              <a:rPr lang="en-US" sz="2800" dirty="0" smtClean="0"/>
              <a:t>).</a:t>
            </a:r>
          </a:p>
          <a:p>
            <a:pPr>
              <a:lnSpc>
                <a:spcPct val="100000"/>
              </a:lnSpc>
              <a:spcBef>
                <a:spcPts val="0"/>
              </a:spcBef>
              <a:spcAft>
                <a:spcPts val="0"/>
              </a:spcAft>
            </a:pPr>
            <a:r>
              <a:rPr lang="en-US" sz="2800" b="1" dirty="0" smtClean="0"/>
              <a:t>No </a:t>
            </a:r>
            <a:r>
              <a:rPr lang="en-US" sz="2800" b="1" dirty="0"/>
              <a:t>shared </a:t>
            </a:r>
            <a:r>
              <a:rPr lang="en-US" sz="2800" b="1" dirty="0" smtClean="0"/>
              <a:t>memory</a:t>
            </a:r>
          </a:p>
          <a:p>
            <a:pPr>
              <a:lnSpc>
                <a:spcPct val="100000"/>
              </a:lnSpc>
              <a:spcBef>
                <a:spcPts val="0"/>
              </a:spcBef>
              <a:spcAft>
                <a:spcPts val="0"/>
              </a:spcAft>
            </a:pPr>
            <a:r>
              <a:rPr lang="en-US" sz="2800" b="1" dirty="0" smtClean="0"/>
              <a:t>Characteristics</a:t>
            </a:r>
            <a:endParaRPr lang="en-US" sz="2800" b="1" dirty="0"/>
          </a:p>
          <a:p>
            <a:pPr>
              <a:lnSpc>
                <a:spcPct val="100000"/>
              </a:lnSpc>
              <a:spcBef>
                <a:spcPts val="0"/>
              </a:spcBef>
              <a:spcAft>
                <a:spcPts val="0"/>
              </a:spcAft>
            </a:pPr>
            <a:r>
              <a:rPr lang="en-US" sz="2800" dirty="0"/>
              <a:t>- High scalability</a:t>
            </a:r>
            <a:br>
              <a:rPr lang="en-US" sz="2800" dirty="0"/>
            </a:br>
            <a:r>
              <a:rPr lang="en-US" sz="2800" dirty="0"/>
              <a:t>- Works across machines</a:t>
            </a:r>
            <a:br>
              <a:rPr lang="en-US" sz="2800" dirty="0"/>
            </a:br>
            <a:r>
              <a:rPr lang="en-US" sz="2800" dirty="0"/>
              <a:t>- Complex to program</a:t>
            </a:r>
            <a:br>
              <a:rPr lang="en-US" sz="2800" dirty="0"/>
            </a:br>
            <a:r>
              <a:rPr lang="en-US" sz="2800" dirty="0"/>
              <a:t>- Programmer manages </a:t>
            </a:r>
            <a:r>
              <a:rPr lang="en-US" sz="2800" dirty="0" smtClean="0"/>
              <a:t>communication</a:t>
            </a:r>
            <a:endParaRPr lang="en-US" sz="2800" dirty="0"/>
          </a:p>
          <a:p>
            <a:pPr>
              <a:lnSpc>
                <a:spcPct val="100000"/>
              </a:lnSpc>
              <a:spcBef>
                <a:spcPts val="0"/>
              </a:spcBef>
              <a:spcAft>
                <a:spcPts val="0"/>
              </a:spcAft>
            </a:pPr>
            <a:r>
              <a:rPr lang="en-US" sz="2800" b="1" dirty="0" smtClean="0"/>
              <a:t>Examples</a:t>
            </a:r>
            <a:r>
              <a:rPr lang="en-US" sz="2800" b="1" dirty="0"/>
              <a:t>:</a:t>
            </a:r>
            <a:endParaRPr lang="en-US" sz="2800" dirty="0"/>
          </a:p>
          <a:p>
            <a:pPr>
              <a:lnSpc>
                <a:spcPct val="100000"/>
              </a:lnSpc>
              <a:spcBef>
                <a:spcPts val="0"/>
              </a:spcBef>
              <a:spcAft>
                <a:spcPts val="0"/>
              </a:spcAft>
            </a:pPr>
            <a:r>
              <a:rPr lang="en-US" sz="2800" dirty="0" smtClean="0"/>
              <a:t>MPI</a:t>
            </a:r>
            <a:endParaRPr lang="en-US" sz="2800" dirty="0"/>
          </a:p>
        </p:txBody>
      </p:sp>
    </p:spTree>
    <p:extLst>
      <p:ext uri="{BB962C8B-B14F-4D97-AF65-F5344CB8AC3E}">
        <p14:creationId xmlns:p14="http://schemas.microsoft.com/office/powerpoint/2010/main" val="1509065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additive="base">
                                        <p:cTn id="12"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nodeType="after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 calcmode="lin" valueType="num">
                                      <p:cBhvr additive="base">
                                        <p:cTn id="22"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nodeType="after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par>
                          <p:cTn id="29" fill="hold">
                            <p:stCondLst>
                              <p:cond delay="2500"/>
                            </p:stCondLst>
                            <p:childTnLst>
                              <p:par>
                                <p:cTn id="30" presetID="2" presetClass="entr" presetSubtype="4" fill="hold" nodeType="after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 calcmode="lin" valueType="num">
                                      <p:cBhvr additive="base">
                                        <p:cTn id="32"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par>
                          <p:cTn id="34" fill="hold">
                            <p:stCondLst>
                              <p:cond delay="3000"/>
                            </p:stCondLst>
                            <p:childTnLst>
                              <p:par>
                                <p:cTn id="35" presetID="2" presetClass="entr" presetSubtype="4" fill="hold" nodeType="after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Parallel Programming model types</a:t>
            </a:r>
            <a:endParaRPr lang="en-US" b="1" dirty="0"/>
          </a:p>
        </p:txBody>
      </p:sp>
      <p:sp>
        <p:nvSpPr>
          <p:cNvPr id="3" name="Content Placeholder 2"/>
          <p:cNvSpPr>
            <a:spLocks noGrp="1"/>
          </p:cNvSpPr>
          <p:nvPr>
            <p:ph idx="1"/>
          </p:nvPr>
        </p:nvSpPr>
        <p:spPr>
          <a:xfrm>
            <a:off x="646757" y="1920239"/>
            <a:ext cx="10906615" cy="4023360"/>
          </a:xfrm>
        </p:spPr>
        <p:txBody>
          <a:bodyPr>
            <a:noAutofit/>
          </a:bodyPr>
          <a:lstStyle/>
          <a:p>
            <a:pPr marL="0" lvl="0" indent="0" eaLnBrk="0" fontAlgn="base" hangingPunct="0">
              <a:lnSpc>
                <a:spcPct val="100000"/>
              </a:lnSpc>
              <a:spcBef>
                <a:spcPct val="0"/>
              </a:spcBef>
              <a:spcAft>
                <a:spcPct val="0"/>
              </a:spcAft>
              <a:buClrTx/>
              <a:buSzTx/>
              <a:buNone/>
            </a:pPr>
            <a:r>
              <a:rPr lang="en-US" altLang="en-US" sz="2800" b="1" dirty="0" smtClean="0">
                <a:solidFill>
                  <a:srgbClr val="C00000"/>
                </a:solidFill>
              </a:rPr>
              <a:t>Data Parallel Model </a:t>
            </a:r>
          </a:p>
          <a:p>
            <a:r>
              <a:rPr lang="en-US" sz="2800" dirty="0"/>
              <a:t>The same operation is applied concurrently to different partitions of a dataset. Focus is on data decomposition rather than task decomposition</a:t>
            </a:r>
            <a:r>
              <a:rPr lang="en-US" sz="2800" dirty="0" smtClean="0"/>
              <a:t>.</a:t>
            </a:r>
          </a:p>
          <a:p>
            <a:r>
              <a:rPr lang="en-US" sz="2800" b="1" dirty="0" smtClean="0"/>
              <a:t>Examples:</a:t>
            </a:r>
            <a:endParaRPr lang="en-US" sz="2800" dirty="0" smtClean="0"/>
          </a:p>
          <a:p>
            <a:r>
              <a:rPr lang="en-US" sz="2800" b="1" dirty="0" smtClean="0">
                <a:solidFill>
                  <a:srgbClr val="C00000"/>
                </a:solidFill>
              </a:rPr>
              <a:t>Map-Reduce Model</a:t>
            </a:r>
            <a:endParaRPr lang="en-US" sz="2800" b="1" dirty="0">
              <a:solidFill>
                <a:srgbClr val="C00000"/>
              </a:solidFill>
            </a:endParaRPr>
          </a:p>
        </p:txBody>
      </p:sp>
    </p:spTree>
    <p:extLst>
      <p:ext uri="{BB962C8B-B14F-4D97-AF65-F5344CB8AC3E}">
        <p14:creationId xmlns:p14="http://schemas.microsoft.com/office/powerpoint/2010/main" val="2311688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additive="base">
                                        <p:cTn id="12"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nodeType="after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 calcmode="lin" valueType="num">
                                      <p:cBhvr additive="base">
                                        <p:cTn id="22"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3"/>
          <a:srcRect l="3935" t="10175" r="-392" b="24601"/>
          <a:stretch/>
        </p:blipFill>
        <p:spPr>
          <a:xfrm>
            <a:off x="87088" y="537026"/>
            <a:ext cx="11959022" cy="5515431"/>
          </a:xfrm>
          <a:prstGeom prst="rect">
            <a:avLst/>
          </a:prstGeom>
        </p:spPr>
      </p:pic>
    </p:spTree>
    <p:extLst>
      <p:ext uri="{BB962C8B-B14F-4D97-AF65-F5344CB8AC3E}">
        <p14:creationId xmlns:p14="http://schemas.microsoft.com/office/powerpoint/2010/main" val="393401917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10384101" cy="1499616"/>
          </a:xfrm>
        </p:spPr>
        <p:txBody>
          <a:bodyPr/>
          <a:lstStyle/>
          <a:p>
            <a:r>
              <a:rPr lang="en-US" b="1" dirty="0" smtClean="0"/>
              <a:t>Task parallelism vs data parallelism </a:t>
            </a:r>
            <a:endParaRPr lang="en-US" b="1" dirty="0"/>
          </a:p>
        </p:txBody>
      </p:sp>
      <p:sp>
        <p:nvSpPr>
          <p:cNvPr id="3" name="Content Placeholder 2"/>
          <p:cNvSpPr>
            <a:spLocks noGrp="1"/>
          </p:cNvSpPr>
          <p:nvPr>
            <p:ph idx="1"/>
          </p:nvPr>
        </p:nvSpPr>
        <p:spPr/>
        <p:txBody>
          <a:bodyPr>
            <a:normAutofit/>
          </a:bodyPr>
          <a:lstStyle/>
          <a:p>
            <a:r>
              <a:rPr lang="en-US" sz="2600" b="1" dirty="0">
                <a:solidFill>
                  <a:srgbClr val="C00000"/>
                </a:solidFill>
              </a:rPr>
              <a:t>Data parallelism</a:t>
            </a:r>
            <a:r>
              <a:rPr lang="en-US" sz="2600" dirty="0"/>
              <a:t> is a parallel computing model where the same operation is performed simultaneously on different partitions of a large dataset.</a:t>
            </a:r>
          </a:p>
          <a:p>
            <a:r>
              <a:rPr lang="en-US" sz="2600" dirty="0"/>
              <a:t>All processors execute the </a:t>
            </a:r>
            <a:r>
              <a:rPr lang="en-US" sz="2600" b="1" dirty="0"/>
              <a:t>same code</a:t>
            </a:r>
            <a:r>
              <a:rPr lang="en-US" sz="2600" dirty="0"/>
              <a:t>, but on </a:t>
            </a:r>
            <a:r>
              <a:rPr lang="en-US" sz="2600" b="1" dirty="0"/>
              <a:t>different data chunks</a:t>
            </a:r>
            <a:r>
              <a:rPr lang="en-US" sz="2600" dirty="0" smtClean="0"/>
              <a:t>.</a:t>
            </a:r>
          </a:p>
          <a:p>
            <a:r>
              <a:rPr lang="en-US" sz="2600" b="1" dirty="0" smtClean="0"/>
              <a:t>How </a:t>
            </a:r>
            <a:r>
              <a:rPr lang="en-US" sz="2600" b="1" dirty="0"/>
              <a:t>It Works</a:t>
            </a:r>
          </a:p>
          <a:p>
            <a:pPr lvl="0">
              <a:buFont typeface="Arial" panose="020B0604020202020204" pitchFamily="34" charset="0"/>
              <a:buChar char="•"/>
            </a:pPr>
            <a:r>
              <a:rPr lang="en-US" sz="2600" dirty="0"/>
              <a:t>Split data into partitions</a:t>
            </a:r>
          </a:p>
          <a:p>
            <a:pPr lvl="0">
              <a:buFont typeface="Arial" panose="020B0604020202020204" pitchFamily="34" charset="0"/>
              <a:buChar char="•"/>
            </a:pPr>
            <a:r>
              <a:rPr lang="en-US" sz="2600" dirty="0"/>
              <a:t>Apply identical function to each partition</a:t>
            </a:r>
          </a:p>
          <a:p>
            <a:pPr lvl="0">
              <a:buFont typeface="Arial" panose="020B0604020202020204" pitchFamily="34" charset="0"/>
              <a:buChar char="•"/>
            </a:pPr>
            <a:r>
              <a:rPr lang="en-US" sz="2600" dirty="0"/>
              <a:t>Combine results</a:t>
            </a:r>
          </a:p>
          <a:p>
            <a:endParaRPr lang="en-US" sz="2600" dirty="0"/>
          </a:p>
        </p:txBody>
      </p:sp>
    </p:spTree>
    <p:extLst>
      <p:ext uri="{BB962C8B-B14F-4D97-AF65-F5344CB8AC3E}">
        <p14:creationId xmlns:p14="http://schemas.microsoft.com/office/powerpoint/2010/main" val="1261709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10384101" cy="1499616"/>
          </a:xfrm>
        </p:spPr>
        <p:txBody>
          <a:bodyPr/>
          <a:lstStyle/>
          <a:p>
            <a:r>
              <a:rPr lang="en-US" b="1" dirty="0" smtClean="0"/>
              <a:t>Task parallelism vs data parallelism </a:t>
            </a:r>
            <a:endParaRPr lang="en-US" b="1" dirty="0"/>
          </a:p>
        </p:txBody>
      </p:sp>
      <p:sp>
        <p:nvSpPr>
          <p:cNvPr id="3" name="Content Placeholder 2"/>
          <p:cNvSpPr>
            <a:spLocks noGrp="1"/>
          </p:cNvSpPr>
          <p:nvPr>
            <p:ph idx="1"/>
          </p:nvPr>
        </p:nvSpPr>
        <p:spPr/>
        <p:txBody>
          <a:bodyPr>
            <a:normAutofit/>
          </a:bodyPr>
          <a:lstStyle/>
          <a:p>
            <a:r>
              <a:rPr lang="en-US" sz="2600" b="1" dirty="0">
                <a:solidFill>
                  <a:srgbClr val="C00000"/>
                </a:solidFill>
              </a:rPr>
              <a:t>Task parallelism</a:t>
            </a:r>
            <a:r>
              <a:rPr lang="en-US" sz="2600" dirty="0"/>
              <a:t> is a parallel computing model where different tasks or functions are executed simultaneously.</a:t>
            </a:r>
          </a:p>
          <a:p>
            <a:r>
              <a:rPr lang="en-US" sz="2600" dirty="0"/>
              <a:t>Each processor may execute </a:t>
            </a:r>
            <a:r>
              <a:rPr lang="en-US" sz="2600" b="1" dirty="0"/>
              <a:t>different code</a:t>
            </a:r>
            <a:r>
              <a:rPr lang="en-US" sz="2600" dirty="0" smtClean="0"/>
              <a:t>.</a:t>
            </a:r>
          </a:p>
          <a:p>
            <a:r>
              <a:rPr lang="en-US" sz="2600" b="1" dirty="0" smtClean="0"/>
              <a:t>How </a:t>
            </a:r>
            <a:r>
              <a:rPr lang="en-US" sz="2600" b="1" dirty="0"/>
              <a:t>It Works</a:t>
            </a:r>
          </a:p>
          <a:p>
            <a:pPr lvl="0">
              <a:buFont typeface="Arial" panose="020B0604020202020204" pitchFamily="34" charset="0"/>
              <a:buChar char="•"/>
            </a:pPr>
            <a:r>
              <a:rPr lang="en-US" sz="2600" dirty="0"/>
              <a:t>Divide program into independent tasks</a:t>
            </a:r>
          </a:p>
          <a:p>
            <a:pPr lvl="0">
              <a:buFont typeface="Arial" panose="020B0604020202020204" pitchFamily="34" charset="0"/>
              <a:buChar char="•"/>
            </a:pPr>
            <a:r>
              <a:rPr lang="en-US" sz="2600" dirty="0"/>
              <a:t>Assign each task to a processor/thread</a:t>
            </a:r>
          </a:p>
          <a:p>
            <a:pPr lvl="0">
              <a:buFont typeface="Arial" panose="020B0604020202020204" pitchFamily="34" charset="0"/>
              <a:buChar char="•"/>
            </a:pPr>
            <a:r>
              <a:rPr lang="en-US" sz="2600" dirty="0"/>
              <a:t>Tasks may operate on same or different data</a:t>
            </a:r>
          </a:p>
          <a:p>
            <a:endParaRPr lang="en-US" sz="2600" dirty="0"/>
          </a:p>
        </p:txBody>
      </p:sp>
    </p:spTree>
    <p:extLst>
      <p:ext uri="{BB962C8B-B14F-4D97-AF65-F5344CB8AC3E}">
        <p14:creationId xmlns:p14="http://schemas.microsoft.com/office/powerpoint/2010/main" val="3856166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10209929" cy="1499616"/>
          </a:xfrm>
        </p:spPr>
        <p:txBody>
          <a:bodyPr/>
          <a:lstStyle/>
          <a:p>
            <a:r>
              <a:rPr lang="en-US" b="1" dirty="0"/>
              <a:t>Task parallelism vs data parallelism </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4061551207"/>
              </p:ext>
            </p:extLst>
          </p:nvPr>
        </p:nvGraphicFramePr>
        <p:xfrm>
          <a:off x="566057" y="2212733"/>
          <a:ext cx="11030856" cy="4377036"/>
        </p:xfrm>
        <a:graphic>
          <a:graphicData uri="http://schemas.openxmlformats.org/drawingml/2006/table">
            <a:tbl>
              <a:tblPr firstRow="1" firstCol="1" bandRow="1">
                <a:tableStyleId>{D7AC3CCA-C797-4891-BE02-D94E43425B78}</a:tableStyleId>
              </a:tblPr>
              <a:tblGrid>
                <a:gridCol w="3676952">
                  <a:extLst>
                    <a:ext uri="{9D8B030D-6E8A-4147-A177-3AD203B41FA5}">
                      <a16:colId xmlns:a16="http://schemas.microsoft.com/office/drawing/2014/main" val="2806846919"/>
                    </a:ext>
                  </a:extLst>
                </a:gridCol>
                <a:gridCol w="3676952">
                  <a:extLst>
                    <a:ext uri="{9D8B030D-6E8A-4147-A177-3AD203B41FA5}">
                      <a16:colId xmlns:a16="http://schemas.microsoft.com/office/drawing/2014/main" val="3408615456"/>
                    </a:ext>
                  </a:extLst>
                </a:gridCol>
                <a:gridCol w="3676952">
                  <a:extLst>
                    <a:ext uri="{9D8B030D-6E8A-4147-A177-3AD203B41FA5}">
                      <a16:colId xmlns:a16="http://schemas.microsoft.com/office/drawing/2014/main" val="1345336583"/>
                    </a:ext>
                  </a:extLst>
                </a:gridCol>
              </a:tblGrid>
              <a:tr h="577238">
                <a:tc>
                  <a:txBody>
                    <a:bodyPr/>
                    <a:lstStyle/>
                    <a:p>
                      <a:pPr marL="0" marR="0" algn="ctr">
                        <a:lnSpc>
                          <a:spcPct val="107000"/>
                        </a:lnSpc>
                        <a:spcBef>
                          <a:spcPts val="0"/>
                        </a:spcBef>
                        <a:spcAft>
                          <a:spcPts val="800"/>
                        </a:spcAft>
                      </a:pPr>
                      <a:r>
                        <a:rPr lang="en-US" sz="2800">
                          <a:effectLst/>
                        </a:rPr>
                        <a:t>Aspect</a:t>
                      </a:r>
                      <a:endParaRPr lang="en-US" sz="2800">
                        <a:effectLst/>
                        <a:latin typeface="Calibri" panose="020F0502020204030204" pitchFamily="34" charset="0"/>
                        <a:ea typeface="Yu Mincho" panose="02020400000000000000" pitchFamily="18" charset="-128"/>
                        <a:cs typeface="Arial" panose="020B0604020202020204" pitchFamily="34" charset="0"/>
                      </a:endParaRPr>
                    </a:p>
                  </a:txBody>
                  <a:tcPr marL="9525" marR="9525" marT="9525" marB="9525" anchor="ctr"/>
                </a:tc>
                <a:tc>
                  <a:txBody>
                    <a:bodyPr/>
                    <a:lstStyle/>
                    <a:p>
                      <a:pPr marL="0" marR="0" algn="ctr">
                        <a:lnSpc>
                          <a:spcPct val="107000"/>
                        </a:lnSpc>
                        <a:spcBef>
                          <a:spcPts val="0"/>
                        </a:spcBef>
                        <a:spcAft>
                          <a:spcPts val="800"/>
                        </a:spcAft>
                      </a:pPr>
                      <a:r>
                        <a:rPr lang="en-US" sz="2800">
                          <a:effectLst/>
                        </a:rPr>
                        <a:t>Data Parallelism</a:t>
                      </a:r>
                      <a:endParaRPr lang="en-US" sz="2800">
                        <a:effectLst/>
                        <a:latin typeface="Calibri" panose="020F0502020204030204" pitchFamily="34" charset="0"/>
                        <a:ea typeface="Yu Mincho" panose="02020400000000000000" pitchFamily="18" charset="-128"/>
                        <a:cs typeface="Arial" panose="020B0604020202020204" pitchFamily="34" charset="0"/>
                      </a:endParaRPr>
                    </a:p>
                  </a:txBody>
                  <a:tcPr marL="9525" marR="9525" marT="9525" marB="9525" anchor="ctr"/>
                </a:tc>
                <a:tc>
                  <a:txBody>
                    <a:bodyPr/>
                    <a:lstStyle/>
                    <a:p>
                      <a:pPr marL="0" marR="0" algn="ctr">
                        <a:lnSpc>
                          <a:spcPct val="107000"/>
                        </a:lnSpc>
                        <a:spcBef>
                          <a:spcPts val="0"/>
                        </a:spcBef>
                        <a:spcAft>
                          <a:spcPts val="800"/>
                        </a:spcAft>
                      </a:pPr>
                      <a:r>
                        <a:rPr lang="en-US" sz="2800">
                          <a:effectLst/>
                        </a:rPr>
                        <a:t>Task Parallelism</a:t>
                      </a:r>
                      <a:endParaRPr lang="en-US" sz="2800">
                        <a:effectLst/>
                        <a:latin typeface="Calibri" panose="020F0502020204030204" pitchFamily="34" charset="0"/>
                        <a:ea typeface="Yu Mincho" panose="02020400000000000000" pitchFamily="18" charset="-128"/>
                        <a:cs typeface="Arial" panose="020B0604020202020204" pitchFamily="34" charset="0"/>
                      </a:endParaRPr>
                    </a:p>
                  </a:txBody>
                  <a:tcPr marL="9525" marR="9525" marT="9525" marB="9525" anchor="ctr"/>
                </a:tc>
                <a:extLst>
                  <a:ext uri="{0D108BD9-81ED-4DB2-BD59-A6C34878D82A}">
                    <a16:rowId xmlns:a16="http://schemas.microsoft.com/office/drawing/2014/main" val="1210970600"/>
                  </a:ext>
                </a:extLst>
              </a:tr>
              <a:tr h="577238">
                <a:tc>
                  <a:txBody>
                    <a:bodyPr/>
                    <a:lstStyle/>
                    <a:p>
                      <a:pPr marL="0" marR="0" algn="ctr">
                        <a:lnSpc>
                          <a:spcPct val="107000"/>
                        </a:lnSpc>
                        <a:spcBef>
                          <a:spcPts val="0"/>
                        </a:spcBef>
                        <a:spcAft>
                          <a:spcPts val="800"/>
                        </a:spcAft>
                      </a:pPr>
                      <a:r>
                        <a:rPr lang="en-US" sz="2800">
                          <a:effectLst/>
                        </a:rPr>
                        <a:t>Code executed</a:t>
                      </a:r>
                      <a:endParaRPr lang="en-US" sz="2800">
                        <a:effectLst/>
                        <a:latin typeface="Calibri" panose="020F0502020204030204" pitchFamily="34" charset="0"/>
                        <a:ea typeface="Yu Mincho" panose="02020400000000000000" pitchFamily="18" charset="-128"/>
                        <a:cs typeface="Arial" panose="020B0604020202020204" pitchFamily="34" charset="0"/>
                      </a:endParaRPr>
                    </a:p>
                  </a:txBody>
                  <a:tcPr marL="9525" marR="9525" marT="9525" marB="9525" anchor="ctr"/>
                </a:tc>
                <a:tc>
                  <a:txBody>
                    <a:bodyPr/>
                    <a:lstStyle/>
                    <a:p>
                      <a:pPr marL="0" marR="0" algn="ctr">
                        <a:lnSpc>
                          <a:spcPct val="107000"/>
                        </a:lnSpc>
                        <a:spcBef>
                          <a:spcPts val="0"/>
                        </a:spcBef>
                        <a:spcAft>
                          <a:spcPts val="800"/>
                        </a:spcAft>
                      </a:pPr>
                      <a:r>
                        <a:rPr lang="en-US" sz="2800">
                          <a:effectLst/>
                        </a:rPr>
                        <a:t>Same</a:t>
                      </a:r>
                      <a:endParaRPr lang="en-US" sz="2800">
                        <a:effectLst/>
                        <a:latin typeface="Calibri" panose="020F0502020204030204" pitchFamily="34" charset="0"/>
                        <a:ea typeface="Yu Mincho" panose="02020400000000000000" pitchFamily="18" charset="-128"/>
                        <a:cs typeface="Arial" panose="020B0604020202020204" pitchFamily="34" charset="0"/>
                      </a:endParaRPr>
                    </a:p>
                  </a:txBody>
                  <a:tcPr marL="9525" marR="9525" marT="9525" marB="9525" anchor="ctr"/>
                </a:tc>
                <a:tc>
                  <a:txBody>
                    <a:bodyPr/>
                    <a:lstStyle/>
                    <a:p>
                      <a:pPr marL="0" marR="0" algn="ctr">
                        <a:lnSpc>
                          <a:spcPct val="107000"/>
                        </a:lnSpc>
                        <a:spcBef>
                          <a:spcPts val="0"/>
                        </a:spcBef>
                        <a:spcAft>
                          <a:spcPts val="800"/>
                        </a:spcAft>
                      </a:pPr>
                      <a:r>
                        <a:rPr lang="en-US" sz="2800">
                          <a:effectLst/>
                        </a:rPr>
                        <a:t>Different</a:t>
                      </a:r>
                      <a:endParaRPr lang="en-US" sz="2800">
                        <a:effectLst/>
                        <a:latin typeface="Calibri" panose="020F0502020204030204" pitchFamily="34" charset="0"/>
                        <a:ea typeface="Yu Mincho" panose="02020400000000000000" pitchFamily="18" charset="-128"/>
                        <a:cs typeface="Arial" panose="020B0604020202020204" pitchFamily="34" charset="0"/>
                      </a:endParaRPr>
                    </a:p>
                  </a:txBody>
                  <a:tcPr marL="9525" marR="9525" marT="9525" marB="9525" anchor="ctr"/>
                </a:tc>
                <a:extLst>
                  <a:ext uri="{0D108BD9-81ED-4DB2-BD59-A6C34878D82A}">
                    <a16:rowId xmlns:a16="http://schemas.microsoft.com/office/drawing/2014/main" val="412704146"/>
                  </a:ext>
                </a:extLst>
              </a:tr>
              <a:tr h="577238">
                <a:tc>
                  <a:txBody>
                    <a:bodyPr/>
                    <a:lstStyle/>
                    <a:p>
                      <a:pPr marL="0" marR="0" algn="ctr">
                        <a:lnSpc>
                          <a:spcPct val="107000"/>
                        </a:lnSpc>
                        <a:spcBef>
                          <a:spcPts val="0"/>
                        </a:spcBef>
                        <a:spcAft>
                          <a:spcPts val="800"/>
                        </a:spcAft>
                      </a:pPr>
                      <a:r>
                        <a:rPr lang="en-US" sz="2800">
                          <a:effectLst/>
                        </a:rPr>
                        <a:t>Data</a:t>
                      </a:r>
                      <a:endParaRPr lang="en-US" sz="2800">
                        <a:effectLst/>
                        <a:latin typeface="Calibri" panose="020F0502020204030204" pitchFamily="34" charset="0"/>
                        <a:ea typeface="Yu Mincho" panose="02020400000000000000" pitchFamily="18" charset="-128"/>
                        <a:cs typeface="Arial" panose="020B0604020202020204" pitchFamily="34" charset="0"/>
                      </a:endParaRPr>
                    </a:p>
                  </a:txBody>
                  <a:tcPr marL="9525" marR="9525" marT="9525" marB="9525" anchor="ctr"/>
                </a:tc>
                <a:tc>
                  <a:txBody>
                    <a:bodyPr/>
                    <a:lstStyle/>
                    <a:p>
                      <a:pPr marL="0" marR="0" algn="ctr">
                        <a:lnSpc>
                          <a:spcPct val="107000"/>
                        </a:lnSpc>
                        <a:spcBef>
                          <a:spcPts val="0"/>
                        </a:spcBef>
                        <a:spcAft>
                          <a:spcPts val="800"/>
                        </a:spcAft>
                      </a:pPr>
                      <a:r>
                        <a:rPr lang="en-US" sz="2800">
                          <a:effectLst/>
                        </a:rPr>
                        <a:t>Different partitions</a:t>
                      </a:r>
                      <a:endParaRPr lang="en-US" sz="2800">
                        <a:effectLst/>
                        <a:latin typeface="Calibri" panose="020F0502020204030204" pitchFamily="34" charset="0"/>
                        <a:ea typeface="Yu Mincho" panose="02020400000000000000" pitchFamily="18" charset="-128"/>
                        <a:cs typeface="Arial" panose="020B0604020202020204" pitchFamily="34" charset="0"/>
                      </a:endParaRPr>
                    </a:p>
                  </a:txBody>
                  <a:tcPr marL="9525" marR="9525" marT="9525" marB="9525" anchor="ctr"/>
                </a:tc>
                <a:tc>
                  <a:txBody>
                    <a:bodyPr/>
                    <a:lstStyle/>
                    <a:p>
                      <a:pPr marL="0" marR="0" algn="ctr">
                        <a:lnSpc>
                          <a:spcPct val="107000"/>
                        </a:lnSpc>
                        <a:spcBef>
                          <a:spcPts val="0"/>
                        </a:spcBef>
                        <a:spcAft>
                          <a:spcPts val="800"/>
                        </a:spcAft>
                      </a:pPr>
                      <a:r>
                        <a:rPr lang="en-US" sz="2800">
                          <a:effectLst/>
                        </a:rPr>
                        <a:t>Same or different</a:t>
                      </a:r>
                      <a:endParaRPr lang="en-US" sz="2800">
                        <a:effectLst/>
                        <a:latin typeface="Calibri" panose="020F0502020204030204" pitchFamily="34" charset="0"/>
                        <a:ea typeface="Yu Mincho" panose="02020400000000000000" pitchFamily="18" charset="-128"/>
                        <a:cs typeface="Arial" panose="020B0604020202020204" pitchFamily="34" charset="0"/>
                      </a:endParaRPr>
                    </a:p>
                  </a:txBody>
                  <a:tcPr marL="9525" marR="9525" marT="9525" marB="9525" anchor="ctr"/>
                </a:tc>
                <a:extLst>
                  <a:ext uri="{0D108BD9-81ED-4DB2-BD59-A6C34878D82A}">
                    <a16:rowId xmlns:a16="http://schemas.microsoft.com/office/drawing/2014/main" val="2533697218"/>
                  </a:ext>
                </a:extLst>
              </a:tr>
              <a:tr h="577238">
                <a:tc>
                  <a:txBody>
                    <a:bodyPr/>
                    <a:lstStyle/>
                    <a:p>
                      <a:pPr marL="0" marR="0" algn="ctr">
                        <a:lnSpc>
                          <a:spcPct val="107000"/>
                        </a:lnSpc>
                        <a:spcBef>
                          <a:spcPts val="0"/>
                        </a:spcBef>
                        <a:spcAft>
                          <a:spcPts val="800"/>
                        </a:spcAft>
                      </a:pPr>
                      <a:r>
                        <a:rPr lang="en-US" sz="2800">
                          <a:effectLst/>
                        </a:rPr>
                        <a:t>Best for</a:t>
                      </a:r>
                      <a:endParaRPr lang="en-US" sz="2800">
                        <a:effectLst/>
                        <a:latin typeface="Calibri" panose="020F0502020204030204" pitchFamily="34" charset="0"/>
                        <a:ea typeface="Yu Mincho" panose="02020400000000000000" pitchFamily="18" charset="-128"/>
                        <a:cs typeface="Arial" panose="020B0604020202020204" pitchFamily="34" charset="0"/>
                      </a:endParaRPr>
                    </a:p>
                  </a:txBody>
                  <a:tcPr marL="9525" marR="9525" marT="9525" marB="9525" anchor="ctr"/>
                </a:tc>
                <a:tc>
                  <a:txBody>
                    <a:bodyPr/>
                    <a:lstStyle/>
                    <a:p>
                      <a:pPr marL="0" marR="0" algn="ctr">
                        <a:lnSpc>
                          <a:spcPct val="107000"/>
                        </a:lnSpc>
                        <a:spcBef>
                          <a:spcPts val="0"/>
                        </a:spcBef>
                        <a:spcAft>
                          <a:spcPts val="800"/>
                        </a:spcAft>
                      </a:pPr>
                      <a:r>
                        <a:rPr lang="en-US" sz="2800">
                          <a:effectLst/>
                        </a:rPr>
                        <a:t>Large datasets</a:t>
                      </a:r>
                      <a:endParaRPr lang="en-US" sz="2800">
                        <a:effectLst/>
                        <a:latin typeface="Calibri" panose="020F0502020204030204" pitchFamily="34" charset="0"/>
                        <a:ea typeface="Yu Mincho" panose="02020400000000000000" pitchFamily="18" charset="-128"/>
                        <a:cs typeface="Arial" panose="020B0604020202020204" pitchFamily="34" charset="0"/>
                      </a:endParaRPr>
                    </a:p>
                  </a:txBody>
                  <a:tcPr marL="9525" marR="9525" marT="9525" marB="9525" anchor="ctr"/>
                </a:tc>
                <a:tc>
                  <a:txBody>
                    <a:bodyPr/>
                    <a:lstStyle/>
                    <a:p>
                      <a:pPr marL="0" marR="0" algn="ctr">
                        <a:lnSpc>
                          <a:spcPct val="107000"/>
                        </a:lnSpc>
                        <a:spcBef>
                          <a:spcPts val="0"/>
                        </a:spcBef>
                        <a:spcAft>
                          <a:spcPts val="800"/>
                        </a:spcAft>
                      </a:pPr>
                      <a:r>
                        <a:rPr lang="en-US" sz="2800">
                          <a:effectLst/>
                        </a:rPr>
                        <a:t>Complex workflows</a:t>
                      </a:r>
                      <a:endParaRPr lang="en-US" sz="2800">
                        <a:effectLst/>
                        <a:latin typeface="Calibri" panose="020F0502020204030204" pitchFamily="34" charset="0"/>
                        <a:ea typeface="Yu Mincho" panose="02020400000000000000" pitchFamily="18" charset="-128"/>
                        <a:cs typeface="Arial" panose="020B0604020202020204" pitchFamily="34" charset="0"/>
                      </a:endParaRPr>
                    </a:p>
                  </a:txBody>
                  <a:tcPr marL="9525" marR="9525" marT="9525" marB="9525" anchor="ctr"/>
                </a:tc>
                <a:extLst>
                  <a:ext uri="{0D108BD9-81ED-4DB2-BD59-A6C34878D82A}">
                    <a16:rowId xmlns:a16="http://schemas.microsoft.com/office/drawing/2014/main" val="2994337089"/>
                  </a:ext>
                </a:extLst>
              </a:tr>
              <a:tr h="577238">
                <a:tc>
                  <a:txBody>
                    <a:bodyPr/>
                    <a:lstStyle/>
                    <a:p>
                      <a:pPr marL="0" marR="0" algn="ctr">
                        <a:lnSpc>
                          <a:spcPct val="107000"/>
                        </a:lnSpc>
                        <a:spcBef>
                          <a:spcPts val="0"/>
                        </a:spcBef>
                        <a:spcAft>
                          <a:spcPts val="800"/>
                        </a:spcAft>
                      </a:pPr>
                      <a:r>
                        <a:rPr lang="en-US" sz="2800">
                          <a:effectLst/>
                        </a:rPr>
                        <a:t>Used in</a:t>
                      </a:r>
                      <a:endParaRPr lang="en-US" sz="2800">
                        <a:effectLst/>
                        <a:latin typeface="Calibri" panose="020F0502020204030204" pitchFamily="34" charset="0"/>
                        <a:ea typeface="Yu Mincho" panose="02020400000000000000" pitchFamily="18" charset="-128"/>
                        <a:cs typeface="Arial" panose="020B0604020202020204" pitchFamily="34" charset="0"/>
                      </a:endParaRPr>
                    </a:p>
                  </a:txBody>
                  <a:tcPr marL="9525" marR="9525" marT="9525" marB="9525" anchor="ctr"/>
                </a:tc>
                <a:tc>
                  <a:txBody>
                    <a:bodyPr/>
                    <a:lstStyle/>
                    <a:p>
                      <a:pPr marL="0" marR="0" algn="ctr">
                        <a:lnSpc>
                          <a:spcPct val="107000"/>
                        </a:lnSpc>
                        <a:spcBef>
                          <a:spcPts val="0"/>
                        </a:spcBef>
                        <a:spcAft>
                          <a:spcPts val="800"/>
                        </a:spcAft>
                      </a:pPr>
                      <a:r>
                        <a:rPr lang="en-US" sz="2800">
                          <a:effectLst/>
                        </a:rPr>
                        <a:t>Hadoop, Spark</a:t>
                      </a:r>
                      <a:endParaRPr lang="en-US" sz="2800">
                        <a:effectLst/>
                        <a:latin typeface="Calibri" panose="020F0502020204030204" pitchFamily="34" charset="0"/>
                        <a:ea typeface="Yu Mincho" panose="02020400000000000000" pitchFamily="18" charset="-128"/>
                        <a:cs typeface="Arial" panose="020B0604020202020204" pitchFamily="34" charset="0"/>
                      </a:endParaRPr>
                    </a:p>
                  </a:txBody>
                  <a:tcPr marL="9525" marR="9525" marT="9525" marB="9525" anchor="ctr"/>
                </a:tc>
                <a:tc>
                  <a:txBody>
                    <a:bodyPr/>
                    <a:lstStyle/>
                    <a:p>
                      <a:pPr marL="0" marR="0" algn="ctr">
                        <a:lnSpc>
                          <a:spcPct val="107000"/>
                        </a:lnSpc>
                        <a:spcBef>
                          <a:spcPts val="0"/>
                        </a:spcBef>
                        <a:spcAft>
                          <a:spcPts val="800"/>
                        </a:spcAft>
                      </a:pPr>
                      <a:r>
                        <a:rPr lang="en-US" sz="2800" dirty="0" smtClean="0">
                          <a:effectLst/>
                        </a:rPr>
                        <a:t>Spark, Threads</a:t>
                      </a:r>
                      <a:r>
                        <a:rPr lang="en-US" sz="2800" dirty="0">
                          <a:effectLst/>
                        </a:rPr>
                        <a:t>, </a:t>
                      </a:r>
                      <a:r>
                        <a:rPr lang="en-US" sz="2800" dirty="0" err="1">
                          <a:effectLst/>
                        </a:rPr>
                        <a:t>microservices</a:t>
                      </a:r>
                      <a:endParaRPr lang="en-US" sz="2800" dirty="0">
                        <a:effectLst/>
                        <a:latin typeface="Calibri" panose="020F0502020204030204" pitchFamily="34" charset="0"/>
                        <a:ea typeface="Yu Mincho" panose="02020400000000000000" pitchFamily="18" charset="-128"/>
                        <a:cs typeface="Arial" panose="020B0604020202020204" pitchFamily="34" charset="0"/>
                      </a:endParaRPr>
                    </a:p>
                  </a:txBody>
                  <a:tcPr marL="9525" marR="9525" marT="9525" marB="9525" anchor="ctr"/>
                </a:tc>
                <a:extLst>
                  <a:ext uri="{0D108BD9-81ED-4DB2-BD59-A6C34878D82A}">
                    <a16:rowId xmlns:a16="http://schemas.microsoft.com/office/drawing/2014/main" val="3682738913"/>
                  </a:ext>
                </a:extLst>
              </a:tr>
              <a:tr h="1156732">
                <a:tc>
                  <a:txBody>
                    <a:bodyPr/>
                    <a:lstStyle/>
                    <a:p>
                      <a:pPr marL="0" marR="0" algn="ctr">
                        <a:lnSpc>
                          <a:spcPct val="107000"/>
                        </a:lnSpc>
                        <a:spcBef>
                          <a:spcPts val="0"/>
                        </a:spcBef>
                        <a:spcAft>
                          <a:spcPts val="800"/>
                        </a:spcAft>
                      </a:pPr>
                      <a:r>
                        <a:rPr lang="en-US" sz="2800" dirty="0">
                          <a:effectLst/>
                        </a:rPr>
                        <a:t>Scalability</a:t>
                      </a:r>
                      <a:endParaRPr lang="en-US" sz="2800" dirty="0">
                        <a:effectLst/>
                        <a:latin typeface="Calibri" panose="020F0502020204030204" pitchFamily="34" charset="0"/>
                        <a:ea typeface="Yu Mincho" panose="02020400000000000000" pitchFamily="18" charset="-128"/>
                        <a:cs typeface="Arial" panose="020B0604020202020204" pitchFamily="34" charset="0"/>
                      </a:endParaRPr>
                    </a:p>
                  </a:txBody>
                  <a:tcPr marL="9525" marR="9525" marT="9525" marB="9525" anchor="ctr"/>
                </a:tc>
                <a:tc>
                  <a:txBody>
                    <a:bodyPr/>
                    <a:lstStyle/>
                    <a:p>
                      <a:pPr marL="0" marR="0" algn="ctr">
                        <a:lnSpc>
                          <a:spcPct val="107000"/>
                        </a:lnSpc>
                        <a:spcBef>
                          <a:spcPts val="0"/>
                        </a:spcBef>
                        <a:spcAft>
                          <a:spcPts val="800"/>
                        </a:spcAft>
                      </a:pPr>
                      <a:r>
                        <a:rPr lang="en-US" sz="2800">
                          <a:effectLst/>
                        </a:rPr>
                        <a:t>Very high for Big Data</a:t>
                      </a:r>
                      <a:endParaRPr lang="en-US" sz="2800">
                        <a:effectLst/>
                        <a:latin typeface="Calibri" panose="020F0502020204030204" pitchFamily="34" charset="0"/>
                        <a:ea typeface="Yu Mincho" panose="02020400000000000000" pitchFamily="18" charset="-128"/>
                        <a:cs typeface="Arial" panose="020B0604020202020204" pitchFamily="34" charset="0"/>
                      </a:endParaRPr>
                    </a:p>
                  </a:txBody>
                  <a:tcPr marL="9525" marR="9525" marT="9525" marB="9525" anchor="ctr"/>
                </a:tc>
                <a:tc>
                  <a:txBody>
                    <a:bodyPr/>
                    <a:lstStyle/>
                    <a:p>
                      <a:pPr marL="0" marR="0" algn="ctr">
                        <a:lnSpc>
                          <a:spcPct val="107000"/>
                        </a:lnSpc>
                        <a:spcBef>
                          <a:spcPts val="0"/>
                        </a:spcBef>
                        <a:spcAft>
                          <a:spcPts val="800"/>
                        </a:spcAft>
                      </a:pPr>
                      <a:r>
                        <a:rPr lang="en-US" sz="2800" dirty="0">
                          <a:effectLst/>
                        </a:rPr>
                        <a:t>Depends on task independence</a:t>
                      </a:r>
                      <a:endParaRPr lang="en-US" sz="2800" dirty="0">
                        <a:effectLst/>
                        <a:latin typeface="Calibri" panose="020F0502020204030204" pitchFamily="34" charset="0"/>
                        <a:ea typeface="Yu Mincho" panose="02020400000000000000" pitchFamily="18" charset="-128"/>
                        <a:cs typeface="Arial" panose="020B0604020202020204" pitchFamily="34" charset="0"/>
                      </a:endParaRPr>
                    </a:p>
                  </a:txBody>
                  <a:tcPr marL="9525" marR="9525" marT="9525" marB="9525" anchor="ctr"/>
                </a:tc>
                <a:extLst>
                  <a:ext uri="{0D108BD9-81ED-4DB2-BD59-A6C34878D82A}">
                    <a16:rowId xmlns:a16="http://schemas.microsoft.com/office/drawing/2014/main" val="1524416527"/>
                  </a:ext>
                </a:extLst>
              </a:tr>
            </a:tbl>
          </a:graphicData>
        </a:graphic>
      </p:graphicFrame>
    </p:spTree>
    <p:extLst>
      <p:ext uri="{BB962C8B-B14F-4D97-AF65-F5344CB8AC3E}">
        <p14:creationId xmlns:p14="http://schemas.microsoft.com/office/powerpoint/2010/main" val="362335343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Data locality </a:t>
            </a:r>
            <a:endParaRPr lang="en-US" b="1" dirty="0"/>
          </a:p>
        </p:txBody>
      </p:sp>
      <p:sp>
        <p:nvSpPr>
          <p:cNvPr id="3" name="Content Placeholder 2"/>
          <p:cNvSpPr>
            <a:spLocks noGrp="1"/>
          </p:cNvSpPr>
          <p:nvPr>
            <p:ph idx="1"/>
          </p:nvPr>
        </p:nvSpPr>
        <p:spPr>
          <a:xfrm>
            <a:off x="508000" y="1952172"/>
            <a:ext cx="11350171" cy="4023360"/>
          </a:xfrm>
        </p:spPr>
        <p:txBody>
          <a:bodyPr>
            <a:noAutofit/>
          </a:bodyPr>
          <a:lstStyle/>
          <a:p>
            <a:pPr>
              <a:lnSpc>
                <a:spcPct val="100000"/>
              </a:lnSpc>
              <a:spcBef>
                <a:spcPts val="0"/>
              </a:spcBef>
              <a:spcAft>
                <a:spcPts val="0"/>
              </a:spcAft>
            </a:pPr>
            <a:r>
              <a:rPr lang="en-US" sz="2600" b="1" dirty="0">
                <a:solidFill>
                  <a:srgbClr val="C00000"/>
                </a:solidFill>
              </a:rPr>
              <a:t>Data locality</a:t>
            </a:r>
            <a:r>
              <a:rPr lang="en-US" sz="2600" dirty="0"/>
              <a:t> means </a:t>
            </a:r>
            <a:r>
              <a:rPr lang="en-US" sz="2600" b="1" dirty="0"/>
              <a:t>moving computation to where the data is stored</a:t>
            </a:r>
            <a:r>
              <a:rPr lang="en-US" sz="2600" dirty="0"/>
              <a:t>, instead of moving large amounts of data across the network</a:t>
            </a:r>
            <a:r>
              <a:rPr lang="en-US" sz="2600" dirty="0" smtClean="0"/>
              <a:t>.</a:t>
            </a:r>
          </a:p>
          <a:p>
            <a:pPr>
              <a:lnSpc>
                <a:spcPct val="100000"/>
              </a:lnSpc>
              <a:spcBef>
                <a:spcPts val="0"/>
              </a:spcBef>
              <a:spcAft>
                <a:spcPts val="0"/>
              </a:spcAft>
            </a:pPr>
            <a:r>
              <a:rPr lang="en-US" sz="2600" b="1" dirty="0"/>
              <a:t>Why it matters:</a:t>
            </a:r>
            <a:r>
              <a:rPr lang="en-US" sz="2600" dirty="0"/>
              <a:t> Moving computation is cheaper than moving large datasets over the network</a:t>
            </a:r>
            <a:r>
              <a:rPr lang="en-US" sz="2600" dirty="0" smtClean="0"/>
              <a:t>.</a:t>
            </a:r>
          </a:p>
          <a:p>
            <a:pPr>
              <a:lnSpc>
                <a:spcPct val="100000"/>
              </a:lnSpc>
              <a:spcBef>
                <a:spcPts val="0"/>
              </a:spcBef>
              <a:spcAft>
                <a:spcPts val="0"/>
              </a:spcAft>
              <a:buFont typeface="Wingdings" panose="05000000000000000000" pitchFamily="2" charset="2"/>
              <a:buChar char="§"/>
            </a:pPr>
            <a:r>
              <a:rPr lang="en-US" sz="2600" dirty="0"/>
              <a:t>Network is often the </a:t>
            </a:r>
            <a:r>
              <a:rPr lang="en-US" sz="2600" b="1" dirty="0"/>
              <a:t>slowest resource</a:t>
            </a:r>
            <a:r>
              <a:rPr lang="en-US" sz="2600" dirty="0"/>
              <a:t> in a cluster</a:t>
            </a:r>
          </a:p>
          <a:p>
            <a:pPr>
              <a:lnSpc>
                <a:spcPct val="100000"/>
              </a:lnSpc>
              <a:spcBef>
                <a:spcPts val="0"/>
              </a:spcBef>
              <a:spcAft>
                <a:spcPts val="0"/>
              </a:spcAft>
              <a:buFont typeface="Wingdings" panose="05000000000000000000" pitchFamily="2" charset="2"/>
              <a:buChar char="§"/>
            </a:pPr>
            <a:r>
              <a:rPr lang="en-US" sz="2600" dirty="0"/>
              <a:t>Reading data locally can be </a:t>
            </a:r>
            <a:r>
              <a:rPr lang="en-US" sz="2600" b="1" dirty="0"/>
              <a:t>10× faster</a:t>
            </a:r>
            <a:r>
              <a:rPr lang="en-US" sz="2600" dirty="0"/>
              <a:t> than remote </a:t>
            </a:r>
            <a:r>
              <a:rPr lang="en-US" sz="2600" dirty="0" smtClean="0"/>
              <a:t>reads</a:t>
            </a:r>
            <a:endParaRPr lang="en-US" sz="2600" dirty="0"/>
          </a:p>
          <a:p>
            <a:pPr>
              <a:lnSpc>
                <a:spcPct val="100000"/>
              </a:lnSpc>
              <a:spcBef>
                <a:spcPts val="0"/>
              </a:spcBef>
              <a:spcAft>
                <a:spcPts val="0"/>
              </a:spcAft>
            </a:pPr>
            <a:r>
              <a:rPr lang="en-US" sz="2600" b="1" dirty="0">
                <a:solidFill>
                  <a:srgbClr val="C00000"/>
                </a:solidFill>
              </a:rPr>
              <a:t>How it works:</a:t>
            </a:r>
            <a:r>
              <a:rPr lang="en-US" sz="2600" dirty="0"/>
              <a:t> Job schedulers </a:t>
            </a:r>
            <a:r>
              <a:rPr lang="en-US" sz="2600" dirty="0" smtClean="0"/>
              <a:t>try to place </a:t>
            </a:r>
            <a:r>
              <a:rPr lang="en-US" sz="2600" dirty="0"/>
              <a:t>tasks on </a:t>
            </a:r>
            <a:r>
              <a:rPr lang="en-US" sz="2600" dirty="0" err="1"/>
              <a:t>DataNodes</a:t>
            </a:r>
            <a:r>
              <a:rPr lang="en-US" sz="2600" dirty="0"/>
              <a:t> holding the required </a:t>
            </a:r>
            <a:r>
              <a:rPr lang="en-US" sz="2600" dirty="0" smtClean="0"/>
              <a:t>data </a:t>
            </a:r>
            <a:r>
              <a:rPr lang="en-US" sz="2600" dirty="0"/>
              <a:t>blocks</a:t>
            </a:r>
            <a:r>
              <a:rPr lang="en-US" sz="2600" dirty="0" smtClean="0"/>
              <a:t>.</a:t>
            </a:r>
          </a:p>
          <a:p>
            <a:pPr>
              <a:lnSpc>
                <a:spcPct val="100000"/>
              </a:lnSpc>
              <a:spcBef>
                <a:spcPts val="0"/>
              </a:spcBef>
              <a:spcAft>
                <a:spcPts val="0"/>
              </a:spcAft>
            </a:pPr>
            <a:r>
              <a:rPr lang="en-US" sz="2600" b="1" dirty="0">
                <a:solidFill>
                  <a:srgbClr val="C00000"/>
                </a:solidFill>
              </a:rPr>
              <a:t>Benefits</a:t>
            </a:r>
            <a:r>
              <a:rPr lang="en-US" sz="2600" b="1" dirty="0"/>
              <a:t>:</a:t>
            </a:r>
            <a:r>
              <a:rPr lang="en-US" sz="2600" dirty="0"/>
              <a:t> Faster job execution, reduced network traffic, and better cluster utilization</a:t>
            </a:r>
            <a:r>
              <a:rPr lang="en-US" sz="2600" dirty="0" smtClean="0"/>
              <a:t>.</a:t>
            </a:r>
            <a:endParaRPr lang="en-US" sz="2600" dirty="0"/>
          </a:p>
        </p:txBody>
      </p:sp>
      <p:sp>
        <p:nvSpPr>
          <p:cNvPr id="4" name="Rectangle 3"/>
          <p:cNvSpPr/>
          <p:nvPr/>
        </p:nvSpPr>
        <p:spPr>
          <a:xfrm>
            <a:off x="936171" y="5754078"/>
            <a:ext cx="10493828" cy="954107"/>
          </a:xfrm>
          <a:prstGeom prst="rect">
            <a:avLst/>
          </a:prstGeom>
        </p:spPr>
        <p:txBody>
          <a:bodyPr wrap="square">
            <a:spAutoFit/>
          </a:bodyPr>
          <a:lstStyle/>
          <a:p>
            <a:pPr algn="ctr"/>
            <a:r>
              <a:rPr lang="en-US" sz="2800" b="1" dirty="0">
                <a:solidFill>
                  <a:srgbClr val="C00000"/>
                </a:solidFill>
              </a:rPr>
              <a:t>Data locality is a core optimization in Big Data systems that brings computation to the data to achieve high performance at scale.</a:t>
            </a:r>
            <a:endParaRPr lang="en-US" sz="2800" dirty="0">
              <a:solidFill>
                <a:srgbClr val="C00000"/>
              </a:solidFill>
            </a:endParaRPr>
          </a:p>
        </p:txBody>
      </p:sp>
    </p:spTree>
    <p:extLst>
      <p:ext uri="{BB962C8B-B14F-4D97-AF65-F5344CB8AC3E}">
        <p14:creationId xmlns:p14="http://schemas.microsoft.com/office/powerpoint/2010/main" val="2514524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par>
                          <p:cTn id="33" fill="hold">
                            <p:stCondLst>
                              <p:cond delay="500"/>
                            </p:stCondLst>
                            <p:childTnLst>
                              <p:par>
                                <p:cTn id="34" presetID="2" presetClass="entr" presetSubtype="4" fill="hold" grpId="0" nodeType="afterEffect">
                                  <p:stCondLst>
                                    <p:cond delay="0"/>
                                  </p:stCondLst>
                                  <p:childTnLst>
                                    <p:set>
                                      <p:cBhvr>
                                        <p:cTn id="35" dur="1" fill="hold">
                                          <p:stCondLst>
                                            <p:cond delay="0"/>
                                          </p:stCondLst>
                                        </p:cTn>
                                        <p:tgtEl>
                                          <p:spTgt spid="4"/>
                                        </p:tgtEl>
                                        <p:attrNameLst>
                                          <p:attrName>style.visibility</p:attrName>
                                        </p:attrNameLst>
                                      </p:cBhvr>
                                      <p:to>
                                        <p:strVal val="visible"/>
                                      </p:to>
                                    </p:set>
                                    <p:anim calcmode="lin" valueType="num">
                                      <p:cBhvr additive="base">
                                        <p:cTn id="36" dur="500" fill="hold"/>
                                        <p:tgtEl>
                                          <p:spTgt spid="4"/>
                                        </p:tgtEl>
                                        <p:attrNameLst>
                                          <p:attrName>ppt_x</p:attrName>
                                        </p:attrNameLst>
                                      </p:cBhvr>
                                      <p:tavLst>
                                        <p:tav tm="0">
                                          <p:val>
                                            <p:strVal val="#ppt_x"/>
                                          </p:val>
                                        </p:tav>
                                        <p:tav tm="100000">
                                          <p:val>
                                            <p:strVal val="#ppt_x"/>
                                          </p:val>
                                        </p:tav>
                                      </p:tavLst>
                                    </p:anim>
                                    <p:anim calcmode="lin" valueType="num">
                                      <p:cBhvr additive="base">
                                        <p:cTn id="37"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Map reduce programming model </a:t>
            </a:r>
            <a:endParaRPr lang="en-US" b="1" dirty="0"/>
          </a:p>
        </p:txBody>
      </p:sp>
      <p:sp>
        <p:nvSpPr>
          <p:cNvPr id="3" name="Content Placeholder 2"/>
          <p:cNvSpPr>
            <a:spLocks noGrp="1"/>
          </p:cNvSpPr>
          <p:nvPr>
            <p:ph idx="1"/>
          </p:nvPr>
        </p:nvSpPr>
        <p:spPr>
          <a:xfrm>
            <a:off x="748356" y="1915886"/>
            <a:ext cx="10572787" cy="3425371"/>
          </a:xfrm>
        </p:spPr>
        <p:txBody>
          <a:bodyPr>
            <a:noAutofit/>
          </a:bodyPr>
          <a:lstStyle/>
          <a:p>
            <a:pPr lvl="0">
              <a:lnSpc>
                <a:spcPct val="100000"/>
              </a:lnSpc>
              <a:spcBef>
                <a:spcPts val="0"/>
              </a:spcBef>
              <a:spcAft>
                <a:spcPts val="0"/>
              </a:spcAft>
            </a:pPr>
            <a:r>
              <a:rPr lang="en-US" sz="2600" b="1" dirty="0" smtClean="0">
                <a:solidFill>
                  <a:srgbClr val="C00000"/>
                </a:solidFill>
              </a:rPr>
              <a:t>Map-Reduce</a:t>
            </a:r>
            <a:r>
              <a:rPr lang="en-US" sz="2600" dirty="0" smtClean="0"/>
              <a:t> </a:t>
            </a:r>
            <a:r>
              <a:rPr lang="en-US" sz="2600" dirty="0"/>
              <a:t>is a </a:t>
            </a:r>
            <a:r>
              <a:rPr lang="en-US" sz="2600" b="1" i="1" dirty="0" smtClean="0"/>
              <a:t>data parallel programming </a:t>
            </a:r>
            <a:r>
              <a:rPr lang="en-US" sz="2600" b="1" i="1" dirty="0"/>
              <a:t>model</a:t>
            </a:r>
            <a:r>
              <a:rPr lang="en-US" sz="2600" dirty="0"/>
              <a:t> and an associated implementation designed for processing </a:t>
            </a:r>
            <a:r>
              <a:rPr lang="en-US" sz="2600" dirty="0" smtClean="0"/>
              <a:t>large </a:t>
            </a:r>
            <a:r>
              <a:rPr lang="en-US" sz="2600" dirty="0"/>
              <a:t>data sets. It allows users to express computations as a </a:t>
            </a:r>
            <a:r>
              <a:rPr lang="en-US" sz="2600" b="1" dirty="0"/>
              <a:t>Map</a:t>
            </a:r>
            <a:r>
              <a:rPr lang="en-US" sz="2600" dirty="0"/>
              <a:t> function and a </a:t>
            </a:r>
            <a:r>
              <a:rPr lang="en-US" sz="2600" b="1" dirty="0"/>
              <a:t>Reduce</a:t>
            </a:r>
            <a:r>
              <a:rPr lang="en-US" sz="2600" dirty="0"/>
              <a:t> function.</a:t>
            </a:r>
          </a:p>
          <a:p>
            <a:pPr lvl="0">
              <a:lnSpc>
                <a:spcPct val="100000"/>
              </a:lnSpc>
              <a:spcBef>
                <a:spcPts val="0"/>
              </a:spcBef>
              <a:spcAft>
                <a:spcPts val="0"/>
              </a:spcAft>
            </a:pPr>
            <a:endParaRPr lang="en-US" sz="2600" dirty="0" smtClean="0"/>
          </a:p>
          <a:p>
            <a:pPr lvl="0">
              <a:lnSpc>
                <a:spcPct val="100000"/>
              </a:lnSpc>
              <a:spcBef>
                <a:spcPts val="0"/>
              </a:spcBef>
              <a:spcAft>
                <a:spcPts val="0"/>
              </a:spcAft>
            </a:pPr>
            <a:r>
              <a:rPr lang="en-US" sz="2600" dirty="0" smtClean="0"/>
              <a:t>The </a:t>
            </a:r>
            <a:r>
              <a:rPr lang="en-US" sz="2600" dirty="0"/>
              <a:t>model </a:t>
            </a:r>
            <a:r>
              <a:rPr lang="en-US" sz="2600" dirty="0" smtClean="0"/>
              <a:t>aims </a:t>
            </a:r>
            <a:r>
              <a:rPr lang="en-US" sz="2600" dirty="0"/>
              <a:t>to </a:t>
            </a:r>
            <a:r>
              <a:rPr lang="en-US" sz="2600" b="1" dirty="0"/>
              <a:t>provide a simple abstraction that hides the "messy details" of parallelization, fault tolerance, data distribution, and load balancing in a library</a:t>
            </a:r>
            <a:r>
              <a:rPr lang="en-US" sz="2600" dirty="0"/>
              <a:t>. </a:t>
            </a:r>
            <a:r>
              <a:rPr lang="en-US" sz="2600" dirty="0" smtClean="0"/>
              <a:t>This </a:t>
            </a:r>
            <a:r>
              <a:rPr lang="en-US" sz="2600" dirty="0"/>
              <a:t>allows programmers without experience in parallel systems to easily utilize large-scale distributed </a:t>
            </a:r>
            <a:r>
              <a:rPr lang="en-US" sz="2600" dirty="0" smtClean="0"/>
              <a:t>resources</a:t>
            </a:r>
          </a:p>
          <a:p>
            <a:pPr lvl="0">
              <a:lnSpc>
                <a:spcPct val="100000"/>
              </a:lnSpc>
              <a:spcBef>
                <a:spcPts val="0"/>
              </a:spcBef>
              <a:spcAft>
                <a:spcPts val="0"/>
              </a:spcAft>
            </a:pPr>
            <a:endParaRPr lang="en-US" sz="2600" b="1" dirty="0">
              <a:solidFill>
                <a:srgbClr val="C00000"/>
              </a:solidFill>
            </a:endParaRPr>
          </a:p>
          <a:p>
            <a:pPr lvl="0">
              <a:lnSpc>
                <a:spcPct val="100000"/>
              </a:lnSpc>
              <a:spcBef>
                <a:spcPts val="0"/>
              </a:spcBef>
              <a:spcAft>
                <a:spcPts val="0"/>
              </a:spcAft>
            </a:pPr>
            <a:r>
              <a:rPr lang="en-US" sz="2600" b="1" dirty="0" smtClean="0">
                <a:solidFill>
                  <a:srgbClr val="C00000"/>
                </a:solidFill>
              </a:rPr>
              <a:t>Developed by Google in 2008</a:t>
            </a:r>
            <a:endParaRPr lang="en-US" sz="2600" b="1" dirty="0">
              <a:solidFill>
                <a:srgbClr val="C00000"/>
              </a:solidFill>
            </a:endParaRPr>
          </a:p>
        </p:txBody>
      </p:sp>
    </p:spTree>
    <p:extLst>
      <p:ext uri="{BB962C8B-B14F-4D97-AF65-F5344CB8AC3E}">
        <p14:creationId xmlns:p14="http://schemas.microsoft.com/office/powerpoint/2010/main" val="48828717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Map reduce basic idea </a:t>
            </a:r>
            <a:endParaRPr lang="en-US" b="1" dirty="0"/>
          </a:p>
        </p:txBody>
      </p:sp>
      <p:sp>
        <p:nvSpPr>
          <p:cNvPr id="3" name="Content Placeholder 2"/>
          <p:cNvSpPr>
            <a:spLocks noGrp="1"/>
          </p:cNvSpPr>
          <p:nvPr>
            <p:ph idx="1"/>
          </p:nvPr>
        </p:nvSpPr>
        <p:spPr>
          <a:xfrm>
            <a:off x="1024128" y="1995715"/>
            <a:ext cx="9720073" cy="1705429"/>
          </a:xfrm>
        </p:spPr>
        <p:txBody>
          <a:bodyPr>
            <a:noAutofit/>
          </a:bodyPr>
          <a:lstStyle/>
          <a:p>
            <a:r>
              <a:rPr lang="en-US" sz="2600" b="1" dirty="0"/>
              <a:t>The core idea</a:t>
            </a:r>
            <a:r>
              <a:rPr lang="en-US" sz="2600" dirty="0"/>
              <a:t> is to </a:t>
            </a:r>
            <a:r>
              <a:rPr lang="en-US" sz="2600" b="1" dirty="0">
                <a:solidFill>
                  <a:srgbClr val="C00000"/>
                </a:solidFill>
              </a:rPr>
              <a:t>move the burden of managing distributed systems from the developer to the library</a:t>
            </a:r>
            <a:r>
              <a:rPr lang="en-US" sz="2600" dirty="0"/>
              <a:t>.</a:t>
            </a:r>
          </a:p>
          <a:p>
            <a:r>
              <a:rPr lang="en-US" sz="2600" b="1" dirty="0"/>
              <a:t>The basic idea</a:t>
            </a:r>
            <a:r>
              <a:rPr lang="en-US" sz="2600" dirty="0"/>
              <a:t> is: Express computation as two functions (</a:t>
            </a:r>
            <a:r>
              <a:rPr lang="en-US" sz="2600" i="1" dirty="0"/>
              <a:t>Map and Reduce</a:t>
            </a:r>
            <a:r>
              <a:rPr lang="en-US" sz="2600" dirty="0"/>
              <a:t>), and let the framework handle everything else. </a:t>
            </a:r>
          </a:p>
        </p:txBody>
      </p:sp>
      <p:graphicFrame>
        <p:nvGraphicFramePr>
          <p:cNvPr id="4" name="Table 3"/>
          <p:cNvGraphicFramePr>
            <a:graphicFrameLocks noGrp="1"/>
          </p:cNvGraphicFramePr>
          <p:nvPr>
            <p:extLst>
              <p:ext uri="{D42A27DB-BD31-4B8C-83A1-F6EECF244321}">
                <p14:modId xmlns:p14="http://schemas.microsoft.com/office/powerpoint/2010/main" val="3557915224"/>
              </p:ext>
            </p:extLst>
          </p:nvPr>
        </p:nvGraphicFramePr>
        <p:xfrm>
          <a:off x="1132114" y="3885320"/>
          <a:ext cx="9612086" cy="2462406"/>
        </p:xfrm>
        <a:graphic>
          <a:graphicData uri="http://schemas.openxmlformats.org/drawingml/2006/table">
            <a:tbl>
              <a:tblPr firstRow="1" firstCol="1" bandRow="1">
                <a:tableStyleId>{BC89EF96-8CEA-46FF-86C4-4CE0E7609802}</a:tableStyleId>
              </a:tblPr>
              <a:tblGrid>
                <a:gridCol w="4806043">
                  <a:extLst>
                    <a:ext uri="{9D8B030D-6E8A-4147-A177-3AD203B41FA5}">
                      <a16:colId xmlns:a16="http://schemas.microsoft.com/office/drawing/2014/main" val="2163546432"/>
                    </a:ext>
                  </a:extLst>
                </a:gridCol>
                <a:gridCol w="4806043">
                  <a:extLst>
                    <a:ext uri="{9D8B030D-6E8A-4147-A177-3AD203B41FA5}">
                      <a16:colId xmlns:a16="http://schemas.microsoft.com/office/drawing/2014/main" val="4102804951"/>
                    </a:ext>
                  </a:extLst>
                </a:gridCol>
              </a:tblGrid>
              <a:tr h="402313">
                <a:tc>
                  <a:txBody>
                    <a:bodyPr/>
                    <a:lstStyle/>
                    <a:p>
                      <a:pPr marL="0" marR="0" algn="ctr">
                        <a:lnSpc>
                          <a:spcPct val="107000"/>
                        </a:lnSpc>
                        <a:spcBef>
                          <a:spcPts val="0"/>
                        </a:spcBef>
                        <a:spcAft>
                          <a:spcPts val="0"/>
                        </a:spcAft>
                      </a:pPr>
                      <a:r>
                        <a:rPr lang="en-US" sz="2400">
                          <a:effectLst/>
                        </a:rPr>
                        <a:t>Programmer Responsibility</a:t>
                      </a:r>
                      <a:endParaRPr lang="en-US" sz="2400">
                        <a:effectLst/>
                        <a:latin typeface="Calibri" panose="020F0502020204030204" pitchFamily="34" charset="0"/>
                        <a:ea typeface="Yu Mincho" panose="02020400000000000000" pitchFamily="18" charset="-128"/>
                        <a:cs typeface="Arial" panose="020B0604020202020204" pitchFamily="34" charset="0"/>
                      </a:endParaRPr>
                    </a:p>
                  </a:txBody>
                  <a:tcPr marL="9525" marR="9525" marT="9525" marB="9525" anchor="ctr"/>
                </a:tc>
                <a:tc>
                  <a:txBody>
                    <a:bodyPr/>
                    <a:lstStyle/>
                    <a:p>
                      <a:pPr marL="0" marR="0" algn="ctr">
                        <a:lnSpc>
                          <a:spcPct val="107000"/>
                        </a:lnSpc>
                        <a:spcBef>
                          <a:spcPts val="0"/>
                        </a:spcBef>
                        <a:spcAft>
                          <a:spcPts val="0"/>
                        </a:spcAft>
                      </a:pPr>
                      <a:r>
                        <a:rPr lang="en-US" sz="2400" dirty="0">
                          <a:effectLst/>
                        </a:rPr>
                        <a:t>Framework Responsibility</a:t>
                      </a:r>
                      <a:endParaRPr lang="en-US" sz="2400" dirty="0">
                        <a:effectLst/>
                        <a:latin typeface="Calibri" panose="020F0502020204030204" pitchFamily="34" charset="0"/>
                        <a:ea typeface="Yu Mincho" panose="02020400000000000000" pitchFamily="18" charset="-128"/>
                        <a:cs typeface="Arial" panose="020B0604020202020204" pitchFamily="34" charset="0"/>
                      </a:endParaRPr>
                    </a:p>
                  </a:txBody>
                  <a:tcPr marL="9525" marR="9525" marT="9525" marB="9525" anchor="ctr"/>
                </a:tc>
                <a:extLst>
                  <a:ext uri="{0D108BD9-81ED-4DB2-BD59-A6C34878D82A}">
                    <a16:rowId xmlns:a16="http://schemas.microsoft.com/office/drawing/2014/main" val="3440187106"/>
                  </a:ext>
                </a:extLst>
              </a:tr>
              <a:tr h="402313">
                <a:tc>
                  <a:txBody>
                    <a:bodyPr/>
                    <a:lstStyle/>
                    <a:p>
                      <a:pPr marL="0" marR="0" algn="ctr">
                        <a:lnSpc>
                          <a:spcPct val="107000"/>
                        </a:lnSpc>
                        <a:spcBef>
                          <a:spcPts val="0"/>
                        </a:spcBef>
                        <a:spcAft>
                          <a:spcPts val="0"/>
                        </a:spcAft>
                      </a:pPr>
                      <a:r>
                        <a:rPr lang="en-US" sz="2400" dirty="0">
                          <a:effectLst/>
                        </a:rPr>
                        <a:t>Map logic</a:t>
                      </a:r>
                      <a:endParaRPr lang="en-US" sz="2400" dirty="0">
                        <a:effectLst/>
                        <a:latin typeface="Calibri" panose="020F0502020204030204" pitchFamily="34" charset="0"/>
                        <a:ea typeface="Yu Mincho" panose="02020400000000000000" pitchFamily="18" charset="-128"/>
                        <a:cs typeface="Arial" panose="020B0604020202020204" pitchFamily="34" charset="0"/>
                      </a:endParaRPr>
                    </a:p>
                  </a:txBody>
                  <a:tcPr marL="9525" marR="9525" marT="9525" marB="9525" anchor="ctr"/>
                </a:tc>
                <a:tc>
                  <a:txBody>
                    <a:bodyPr/>
                    <a:lstStyle/>
                    <a:p>
                      <a:pPr marL="0" marR="0" algn="ctr">
                        <a:lnSpc>
                          <a:spcPct val="107000"/>
                        </a:lnSpc>
                        <a:spcBef>
                          <a:spcPts val="0"/>
                        </a:spcBef>
                        <a:spcAft>
                          <a:spcPts val="0"/>
                        </a:spcAft>
                      </a:pPr>
                      <a:r>
                        <a:rPr lang="en-US" sz="2400">
                          <a:effectLst/>
                        </a:rPr>
                        <a:t>Parallel execution</a:t>
                      </a:r>
                      <a:endParaRPr lang="en-US" sz="2400">
                        <a:effectLst/>
                        <a:latin typeface="Calibri" panose="020F0502020204030204" pitchFamily="34" charset="0"/>
                        <a:ea typeface="Yu Mincho" panose="02020400000000000000" pitchFamily="18" charset="-128"/>
                        <a:cs typeface="Arial" panose="020B0604020202020204" pitchFamily="34" charset="0"/>
                      </a:endParaRPr>
                    </a:p>
                  </a:txBody>
                  <a:tcPr marL="9525" marR="9525" marT="9525" marB="9525" anchor="ctr"/>
                </a:tc>
                <a:extLst>
                  <a:ext uri="{0D108BD9-81ED-4DB2-BD59-A6C34878D82A}">
                    <a16:rowId xmlns:a16="http://schemas.microsoft.com/office/drawing/2014/main" val="959971150"/>
                  </a:ext>
                </a:extLst>
              </a:tr>
              <a:tr h="402313">
                <a:tc>
                  <a:txBody>
                    <a:bodyPr/>
                    <a:lstStyle/>
                    <a:p>
                      <a:pPr marL="0" marR="0" algn="ctr">
                        <a:lnSpc>
                          <a:spcPct val="107000"/>
                        </a:lnSpc>
                        <a:spcBef>
                          <a:spcPts val="0"/>
                        </a:spcBef>
                        <a:spcAft>
                          <a:spcPts val="0"/>
                        </a:spcAft>
                      </a:pPr>
                      <a:r>
                        <a:rPr lang="en-US" sz="2400" dirty="0">
                          <a:effectLst/>
                        </a:rPr>
                        <a:t>Reduce logic</a:t>
                      </a:r>
                      <a:endParaRPr lang="en-US" sz="2400" dirty="0">
                        <a:effectLst/>
                        <a:latin typeface="Calibri" panose="020F0502020204030204" pitchFamily="34" charset="0"/>
                        <a:ea typeface="Yu Mincho" panose="02020400000000000000" pitchFamily="18" charset="-128"/>
                        <a:cs typeface="Arial" panose="020B0604020202020204" pitchFamily="34" charset="0"/>
                      </a:endParaRPr>
                    </a:p>
                  </a:txBody>
                  <a:tcPr marL="9525" marR="9525" marT="9525" marB="9525" anchor="ctr"/>
                </a:tc>
                <a:tc>
                  <a:txBody>
                    <a:bodyPr/>
                    <a:lstStyle/>
                    <a:p>
                      <a:pPr marL="0" marR="0" algn="ctr">
                        <a:lnSpc>
                          <a:spcPct val="107000"/>
                        </a:lnSpc>
                        <a:spcBef>
                          <a:spcPts val="0"/>
                        </a:spcBef>
                        <a:spcAft>
                          <a:spcPts val="0"/>
                        </a:spcAft>
                      </a:pPr>
                      <a:r>
                        <a:rPr lang="en-US" sz="2400">
                          <a:effectLst/>
                        </a:rPr>
                        <a:t>Data partitioning</a:t>
                      </a:r>
                      <a:endParaRPr lang="en-US" sz="2400">
                        <a:effectLst/>
                        <a:latin typeface="Calibri" panose="020F0502020204030204" pitchFamily="34" charset="0"/>
                        <a:ea typeface="Yu Mincho" panose="02020400000000000000" pitchFamily="18" charset="-128"/>
                        <a:cs typeface="Arial" panose="020B0604020202020204" pitchFamily="34" charset="0"/>
                      </a:endParaRPr>
                    </a:p>
                  </a:txBody>
                  <a:tcPr marL="9525" marR="9525" marT="9525" marB="9525" anchor="ctr"/>
                </a:tc>
                <a:extLst>
                  <a:ext uri="{0D108BD9-81ED-4DB2-BD59-A6C34878D82A}">
                    <a16:rowId xmlns:a16="http://schemas.microsoft.com/office/drawing/2014/main" val="346891922"/>
                  </a:ext>
                </a:extLst>
              </a:tr>
              <a:tr h="239248">
                <a:tc>
                  <a:txBody>
                    <a:bodyPr/>
                    <a:lstStyle/>
                    <a:p>
                      <a:pPr marL="0" marR="0" algn="ctr">
                        <a:lnSpc>
                          <a:spcPct val="107000"/>
                        </a:lnSpc>
                        <a:spcBef>
                          <a:spcPts val="0"/>
                        </a:spcBef>
                        <a:spcAft>
                          <a:spcPts val="0"/>
                        </a:spcAft>
                      </a:pPr>
                      <a:r>
                        <a:rPr lang="en-US" sz="2400" dirty="0">
                          <a:effectLst/>
                        </a:rPr>
                        <a:t>Combiner (optional)</a:t>
                      </a:r>
                      <a:endParaRPr lang="en-US" sz="2400" dirty="0">
                        <a:effectLst/>
                        <a:latin typeface="Calibri" panose="020F0502020204030204" pitchFamily="34" charset="0"/>
                        <a:ea typeface="Yu Mincho" panose="02020400000000000000" pitchFamily="18" charset="-128"/>
                        <a:cs typeface="Arial" panose="020B0604020202020204" pitchFamily="34" charset="0"/>
                      </a:endParaRPr>
                    </a:p>
                  </a:txBody>
                  <a:tcPr marL="9525" marR="9525" marT="9525" marB="9525" anchor="ctr"/>
                </a:tc>
                <a:tc>
                  <a:txBody>
                    <a:bodyPr/>
                    <a:lstStyle/>
                    <a:p>
                      <a:pPr marL="0" marR="0" algn="ctr">
                        <a:lnSpc>
                          <a:spcPct val="107000"/>
                        </a:lnSpc>
                        <a:spcBef>
                          <a:spcPts val="0"/>
                        </a:spcBef>
                        <a:spcAft>
                          <a:spcPts val="0"/>
                        </a:spcAft>
                      </a:pPr>
                      <a:r>
                        <a:rPr lang="en-US" sz="2400" b="1" dirty="0">
                          <a:effectLst/>
                        </a:rPr>
                        <a:t>Shuffle &amp; sort</a:t>
                      </a:r>
                      <a:endParaRPr lang="en-US" sz="2400" b="1" dirty="0">
                        <a:effectLst/>
                        <a:latin typeface="Calibri" panose="020F0502020204030204" pitchFamily="34" charset="0"/>
                        <a:ea typeface="Yu Mincho" panose="02020400000000000000" pitchFamily="18" charset="-128"/>
                        <a:cs typeface="Arial" panose="020B0604020202020204" pitchFamily="34" charset="0"/>
                      </a:endParaRPr>
                    </a:p>
                  </a:txBody>
                  <a:tcPr marL="9525" marR="9525" marT="9525" marB="9525" anchor="ctr"/>
                </a:tc>
                <a:extLst>
                  <a:ext uri="{0D108BD9-81ED-4DB2-BD59-A6C34878D82A}">
                    <a16:rowId xmlns:a16="http://schemas.microsoft.com/office/drawing/2014/main" val="1819037139"/>
                  </a:ext>
                </a:extLst>
              </a:tr>
              <a:tr h="402313">
                <a:tc>
                  <a:txBody>
                    <a:bodyPr/>
                    <a:lstStyle/>
                    <a:p>
                      <a:pPr marL="0" marR="0" algn="ctr">
                        <a:lnSpc>
                          <a:spcPct val="107000"/>
                        </a:lnSpc>
                        <a:spcBef>
                          <a:spcPts val="0"/>
                        </a:spcBef>
                        <a:spcAft>
                          <a:spcPts val="0"/>
                        </a:spcAft>
                      </a:pPr>
                      <a:r>
                        <a:rPr lang="en-US" sz="2400" dirty="0">
                          <a:effectLst/>
                        </a:rPr>
                        <a:t>—</a:t>
                      </a:r>
                      <a:endParaRPr lang="en-US" sz="2400" dirty="0">
                        <a:effectLst/>
                        <a:latin typeface="Calibri" panose="020F0502020204030204" pitchFamily="34" charset="0"/>
                        <a:ea typeface="Yu Mincho" panose="02020400000000000000" pitchFamily="18" charset="-128"/>
                        <a:cs typeface="Arial" panose="020B0604020202020204" pitchFamily="34" charset="0"/>
                      </a:endParaRPr>
                    </a:p>
                  </a:txBody>
                  <a:tcPr marL="9525" marR="9525" marT="9525" marB="9525" anchor="ctr"/>
                </a:tc>
                <a:tc>
                  <a:txBody>
                    <a:bodyPr/>
                    <a:lstStyle/>
                    <a:p>
                      <a:pPr marL="0" marR="0" algn="ctr">
                        <a:lnSpc>
                          <a:spcPct val="107000"/>
                        </a:lnSpc>
                        <a:spcBef>
                          <a:spcPts val="0"/>
                        </a:spcBef>
                        <a:spcAft>
                          <a:spcPts val="0"/>
                        </a:spcAft>
                      </a:pPr>
                      <a:r>
                        <a:rPr lang="en-US" sz="2400">
                          <a:effectLst/>
                        </a:rPr>
                        <a:t>Fault tolerance</a:t>
                      </a:r>
                      <a:endParaRPr lang="en-US" sz="2400">
                        <a:effectLst/>
                        <a:latin typeface="Calibri" panose="020F0502020204030204" pitchFamily="34" charset="0"/>
                        <a:ea typeface="Yu Mincho" panose="02020400000000000000" pitchFamily="18" charset="-128"/>
                        <a:cs typeface="Arial" panose="020B0604020202020204" pitchFamily="34" charset="0"/>
                      </a:endParaRPr>
                    </a:p>
                  </a:txBody>
                  <a:tcPr marL="9525" marR="9525" marT="9525" marB="9525" anchor="ctr"/>
                </a:tc>
                <a:extLst>
                  <a:ext uri="{0D108BD9-81ED-4DB2-BD59-A6C34878D82A}">
                    <a16:rowId xmlns:a16="http://schemas.microsoft.com/office/drawing/2014/main" val="2884982278"/>
                  </a:ext>
                </a:extLst>
              </a:tr>
              <a:tr h="402313">
                <a:tc>
                  <a:txBody>
                    <a:bodyPr/>
                    <a:lstStyle/>
                    <a:p>
                      <a:pPr marL="0" marR="0" algn="ctr">
                        <a:lnSpc>
                          <a:spcPct val="107000"/>
                        </a:lnSpc>
                        <a:spcBef>
                          <a:spcPts val="0"/>
                        </a:spcBef>
                        <a:spcAft>
                          <a:spcPts val="0"/>
                        </a:spcAft>
                      </a:pPr>
                      <a:r>
                        <a:rPr lang="en-US" sz="2400" dirty="0">
                          <a:effectLst/>
                        </a:rPr>
                        <a:t>—</a:t>
                      </a:r>
                      <a:endParaRPr lang="en-US" sz="2400" dirty="0">
                        <a:effectLst/>
                        <a:latin typeface="Calibri" panose="020F0502020204030204" pitchFamily="34" charset="0"/>
                        <a:ea typeface="Yu Mincho" panose="02020400000000000000" pitchFamily="18" charset="-128"/>
                        <a:cs typeface="Arial" panose="020B0604020202020204" pitchFamily="34" charset="0"/>
                      </a:endParaRPr>
                    </a:p>
                  </a:txBody>
                  <a:tcPr marL="9525" marR="9525" marT="9525" marB="9525" anchor="ctr"/>
                </a:tc>
                <a:tc>
                  <a:txBody>
                    <a:bodyPr/>
                    <a:lstStyle/>
                    <a:p>
                      <a:pPr marL="0" marR="0" algn="ctr">
                        <a:lnSpc>
                          <a:spcPct val="107000"/>
                        </a:lnSpc>
                        <a:spcBef>
                          <a:spcPts val="0"/>
                        </a:spcBef>
                        <a:spcAft>
                          <a:spcPts val="0"/>
                        </a:spcAft>
                      </a:pPr>
                      <a:r>
                        <a:rPr lang="en-US" sz="2400" dirty="0">
                          <a:effectLst/>
                        </a:rPr>
                        <a:t>Worker coordination</a:t>
                      </a:r>
                      <a:endParaRPr lang="en-US" sz="2400" dirty="0">
                        <a:effectLst/>
                        <a:latin typeface="Calibri" panose="020F0502020204030204" pitchFamily="34" charset="0"/>
                        <a:ea typeface="Yu Mincho" panose="02020400000000000000" pitchFamily="18" charset="-128"/>
                        <a:cs typeface="Arial" panose="020B0604020202020204" pitchFamily="34" charset="0"/>
                      </a:endParaRPr>
                    </a:p>
                  </a:txBody>
                  <a:tcPr marL="9525" marR="9525" marT="9525" marB="9525" anchor="ctr"/>
                </a:tc>
                <a:extLst>
                  <a:ext uri="{0D108BD9-81ED-4DB2-BD59-A6C34878D82A}">
                    <a16:rowId xmlns:a16="http://schemas.microsoft.com/office/drawing/2014/main" val="1949825498"/>
                  </a:ext>
                </a:extLst>
              </a:tr>
            </a:tbl>
          </a:graphicData>
        </a:graphic>
      </p:graphicFrame>
    </p:spTree>
    <p:extLst>
      <p:ext uri="{BB962C8B-B14F-4D97-AF65-F5344CB8AC3E}">
        <p14:creationId xmlns:p14="http://schemas.microsoft.com/office/powerpoint/2010/main" val="311178333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Mapreduce</a:t>
            </a:r>
            <a:r>
              <a:rPr lang="en-US" b="1" dirty="0" smtClean="0"/>
              <a:t> framework</a:t>
            </a:r>
            <a:endParaRPr lang="en-US" b="1" dirty="0"/>
          </a:p>
        </p:txBody>
      </p:sp>
      <p:sp>
        <p:nvSpPr>
          <p:cNvPr id="3" name="Content Placeholder 2"/>
          <p:cNvSpPr>
            <a:spLocks noGrp="1"/>
          </p:cNvSpPr>
          <p:nvPr>
            <p:ph idx="1"/>
          </p:nvPr>
        </p:nvSpPr>
        <p:spPr>
          <a:xfrm>
            <a:off x="632242" y="2010228"/>
            <a:ext cx="10572787" cy="4023360"/>
          </a:xfrm>
        </p:spPr>
        <p:txBody>
          <a:bodyPr>
            <a:noAutofit/>
          </a:bodyPr>
          <a:lstStyle/>
          <a:p>
            <a:pPr>
              <a:lnSpc>
                <a:spcPct val="100000"/>
              </a:lnSpc>
              <a:spcBef>
                <a:spcPts val="0"/>
              </a:spcBef>
              <a:spcAft>
                <a:spcPts val="0"/>
              </a:spcAft>
            </a:pPr>
            <a:r>
              <a:rPr lang="en-US" sz="2600" b="1" dirty="0" err="1">
                <a:solidFill>
                  <a:srgbClr val="C00000"/>
                </a:solidFill>
              </a:rPr>
              <a:t>MapReduce</a:t>
            </a:r>
            <a:r>
              <a:rPr lang="en-US" sz="2600" dirty="0"/>
              <a:t> follows the </a:t>
            </a:r>
            <a:r>
              <a:rPr lang="en-US" sz="2600" b="1" dirty="0"/>
              <a:t>Divide &amp; Conquer</a:t>
            </a:r>
            <a:r>
              <a:rPr lang="en-US" sz="2600" dirty="0"/>
              <a:t> </a:t>
            </a:r>
            <a:r>
              <a:rPr lang="en-US" sz="2600" dirty="0" smtClean="0"/>
              <a:t>principle, large </a:t>
            </a:r>
            <a:r>
              <a:rPr lang="en-US" sz="2600" dirty="0"/>
              <a:t>dataset is </a:t>
            </a:r>
            <a:r>
              <a:rPr lang="en-US" sz="2600" b="1" dirty="0"/>
              <a:t>split into smaller </a:t>
            </a:r>
            <a:r>
              <a:rPr lang="en-US" sz="2600" b="1" dirty="0" smtClean="0"/>
              <a:t>chunks</a:t>
            </a:r>
            <a:r>
              <a:rPr lang="en-US" sz="2600" dirty="0" smtClean="0"/>
              <a:t>. Chunks </a:t>
            </a:r>
            <a:r>
              <a:rPr lang="en-US" sz="2600" dirty="0"/>
              <a:t>are processed </a:t>
            </a:r>
            <a:r>
              <a:rPr lang="en-US" sz="2600" b="1" dirty="0"/>
              <a:t>in parallel across cluster nodes</a:t>
            </a:r>
            <a:endParaRPr lang="en-US" sz="2600" dirty="0"/>
          </a:p>
          <a:p>
            <a:pPr>
              <a:lnSpc>
                <a:spcPct val="100000"/>
              </a:lnSpc>
              <a:spcBef>
                <a:spcPts val="0"/>
              </a:spcBef>
              <a:spcAft>
                <a:spcPts val="0"/>
              </a:spcAft>
            </a:pPr>
            <a:r>
              <a:rPr lang="en-US" sz="2600" b="1" dirty="0"/>
              <a:t>Processing occurs in two main phases:</a:t>
            </a:r>
          </a:p>
          <a:p>
            <a:pPr lvl="1">
              <a:lnSpc>
                <a:spcPct val="100000"/>
              </a:lnSpc>
              <a:spcBef>
                <a:spcPts val="0"/>
              </a:spcBef>
              <a:spcAft>
                <a:spcPts val="0"/>
              </a:spcAft>
            </a:pPr>
            <a:r>
              <a:rPr lang="en-US" sz="2600" b="1" dirty="0" smtClean="0"/>
              <a:t>Map </a:t>
            </a:r>
            <a:r>
              <a:rPr lang="en-US" sz="2600" dirty="0"/>
              <a:t>(key1​,value1​)→list(key2​,value2​)</a:t>
            </a:r>
            <a:endParaRPr lang="en-US" sz="2600" b="1" dirty="0" smtClean="0"/>
          </a:p>
          <a:p>
            <a:pPr lvl="1">
              <a:lnSpc>
                <a:spcPct val="100000"/>
              </a:lnSpc>
              <a:spcBef>
                <a:spcPts val="0"/>
              </a:spcBef>
              <a:spcAft>
                <a:spcPts val="0"/>
              </a:spcAft>
              <a:buFont typeface="Courier New" panose="02070309020205020404" pitchFamily="49" charset="0"/>
              <a:buChar char="o"/>
            </a:pPr>
            <a:r>
              <a:rPr lang="en-US" sz="2400" dirty="0"/>
              <a:t>Transforms raw input records</a:t>
            </a:r>
          </a:p>
          <a:p>
            <a:pPr lvl="1">
              <a:lnSpc>
                <a:spcPct val="100000"/>
              </a:lnSpc>
              <a:spcBef>
                <a:spcPts val="0"/>
              </a:spcBef>
              <a:spcAft>
                <a:spcPts val="0"/>
              </a:spcAft>
              <a:buFont typeface="Courier New" panose="02070309020205020404" pitchFamily="49" charset="0"/>
              <a:buChar char="o"/>
            </a:pPr>
            <a:r>
              <a:rPr lang="en-US" sz="2400" dirty="0"/>
              <a:t>Produces intermediate key–value </a:t>
            </a:r>
            <a:r>
              <a:rPr lang="en-US" sz="2400" dirty="0" smtClean="0"/>
              <a:t>pairs </a:t>
            </a:r>
            <a:endParaRPr lang="en-US" sz="2400" dirty="0"/>
          </a:p>
          <a:p>
            <a:pPr lvl="1">
              <a:lnSpc>
                <a:spcPct val="100000"/>
              </a:lnSpc>
              <a:spcBef>
                <a:spcPts val="0"/>
              </a:spcBef>
              <a:spcAft>
                <a:spcPts val="0"/>
              </a:spcAft>
            </a:pPr>
            <a:r>
              <a:rPr lang="en-US" sz="2600" b="1" dirty="0" smtClean="0"/>
              <a:t>Reduce   </a:t>
            </a:r>
            <a:r>
              <a:rPr lang="en-US" sz="2600" dirty="0"/>
              <a:t>(key2​,list(value2​))→list(value3​) </a:t>
            </a:r>
            <a:endParaRPr lang="en-US" sz="2600" b="1" dirty="0" smtClean="0"/>
          </a:p>
          <a:p>
            <a:pPr lvl="1">
              <a:lnSpc>
                <a:spcPct val="100000"/>
              </a:lnSpc>
              <a:spcBef>
                <a:spcPts val="0"/>
              </a:spcBef>
              <a:spcAft>
                <a:spcPts val="0"/>
              </a:spcAft>
              <a:buFont typeface="Courier New" panose="02070309020205020404" pitchFamily="49" charset="0"/>
              <a:buChar char="o"/>
            </a:pPr>
            <a:r>
              <a:rPr lang="en-US" sz="2400" dirty="0"/>
              <a:t>Receives grouped values per key</a:t>
            </a:r>
          </a:p>
          <a:p>
            <a:pPr lvl="1">
              <a:lnSpc>
                <a:spcPct val="100000"/>
              </a:lnSpc>
              <a:spcBef>
                <a:spcPts val="0"/>
              </a:spcBef>
              <a:spcAft>
                <a:spcPts val="0"/>
              </a:spcAft>
              <a:buFont typeface="Courier New" panose="02070309020205020404" pitchFamily="49" charset="0"/>
              <a:buChar char="o"/>
            </a:pPr>
            <a:r>
              <a:rPr lang="en-US" sz="2400" dirty="0"/>
              <a:t>Aggregates or summarizes them</a:t>
            </a:r>
          </a:p>
          <a:p>
            <a:pPr lvl="1">
              <a:lnSpc>
                <a:spcPct val="100000"/>
              </a:lnSpc>
              <a:spcBef>
                <a:spcPts val="0"/>
              </a:spcBef>
              <a:spcAft>
                <a:spcPts val="0"/>
              </a:spcAft>
              <a:buFont typeface="Courier New" panose="02070309020205020404" pitchFamily="49" charset="0"/>
              <a:buChar char="o"/>
            </a:pPr>
            <a:r>
              <a:rPr lang="en-US" sz="2400" dirty="0"/>
              <a:t>Produces final output</a:t>
            </a:r>
          </a:p>
          <a:p>
            <a:pPr lvl="1">
              <a:lnSpc>
                <a:spcPct val="100000"/>
              </a:lnSpc>
              <a:spcBef>
                <a:spcPts val="0"/>
              </a:spcBef>
              <a:spcAft>
                <a:spcPts val="0"/>
              </a:spcAft>
            </a:pPr>
            <a:endParaRPr lang="en-US" sz="2600" dirty="0"/>
          </a:p>
        </p:txBody>
      </p:sp>
      <p:pic>
        <p:nvPicPr>
          <p:cNvPr id="4" name="Picture 3"/>
          <p:cNvPicPr>
            <a:picLocks noChangeAspect="1"/>
          </p:cNvPicPr>
          <p:nvPr/>
        </p:nvPicPr>
        <p:blipFill>
          <a:blip r:embed="rId3"/>
          <a:stretch>
            <a:fillRect/>
          </a:stretch>
        </p:blipFill>
        <p:spPr>
          <a:xfrm>
            <a:off x="5158450" y="4948657"/>
            <a:ext cx="7019036" cy="1853898"/>
          </a:xfrm>
          <a:prstGeom prst="rect">
            <a:avLst/>
          </a:prstGeom>
        </p:spPr>
      </p:pic>
    </p:spTree>
    <p:extLst>
      <p:ext uri="{BB962C8B-B14F-4D97-AF65-F5344CB8AC3E}">
        <p14:creationId xmlns:p14="http://schemas.microsoft.com/office/powerpoint/2010/main" val="2732647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 calcmode="lin" valueType="num">
                                      <p:cBhvr additive="base">
                                        <p:cTn id="4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par>
                          <p:cTn id="43" fill="hold">
                            <p:stCondLst>
                              <p:cond delay="500"/>
                            </p:stCondLst>
                            <p:childTnLst>
                              <p:par>
                                <p:cTn id="44" presetID="2" presetClass="entr" presetSubtype="4" fill="hold" nodeType="afterEffect">
                                  <p:stCondLst>
                                    <p:cond delay="0"/>
                                  </p:stCondLst>
                                  <p:childTnLst>
                                    <p:set>
                                      <p:cBhvr>
                                        <p:cTn id="45" dur="1" fill="hold">
                                          <p:stCondLst>
                                            <p:cond delay="0"/>
                                          </p:stCondLst>
                                        </p:cTn>
                                        <p:tgtEl>
                                          <p:spTgt spid="4"/>
                                        </p:tgtEl>
                                        <p:attrNameLst>
                                          <p:attrName>style.visibility</p:attrName>
                                        </p:attrNameLst>
                                      </p:cBhvr>
                                      <p:to>
                                        <p:strVal val="visible"/>
                                      </p:to>
                                    </p:set>
                                    <p:anim calcmode="lin" valueType="num">
                                      <p:cBhvr additive="base">
                                        <p:cTn id="46" dur="500" fill="hold"/>
                                        <p:tgtEl>
                                          <p:spTgt spid="4"/>
                                        </p:tgtEl>
                                        <p:attrNameLst>
                                          <p:attrName>ppt_x</p:attrName>
                                        </p:attrNameLst>
                                      </p:cBhvr>
                                      <p:tavLst>
                                        <p:tav tm="0">
                                          <p:val>
                                            <p:strVal val="#ppt_x"/>
                                          </p:val>
                                        </p:tav>
                                        <p:tav tm="100000">
                                          <p:val>
                                            <p:strVal val="#ppt_x"/>
                                          </p:val>
                                        </p:tav>
                                      </p:tavLst>
                                    </p:anim>
                                    <p:anim calcmode="lin" valueType="num">
                                      <p:cBhvr additive="base">
                                        <p:cTn id="47"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10369586" cy="1499616"/>
          </a:xfrm>
        </p:spPr>
        <p:txBody>
          <a:bodyPr/>
          <a:lstStyle/>
          <a:p>
            <a:r>
              <a:rPr lang="en-US" b="1" dirty="0" smtClean="0"/>
              <a:t>Detailed architecture and workflow</a:t>
            </a:r>
            <a:endParaRPr lang="en-US" b="1" dirty="0"/>
          </a:p>
        </p:txBody>
      </p:sp>
      <p:sp>
        <p:nvSpPr>
          <p:cNvPr id="3" name="Content Placeholder 2"/>
          <p:cNvSpPr>
            <a:spLocks noGrp="1"/>
          </p:cNvSpPr>
          <p:nvPr>
            <p:ph idx="1"/>
          </p:nvPr>
        </p:nvSpPr>
        <p:spPr>
          <a:xfrm>
            <a:off x="1140243" y="5239658"/>
            <a:ext cx="9670144" cy="914400"/>
          </a:xfrm>
        </p:spPr>
        <p:txBody>
          <a:bodyPr>
            <a:normAutofit/>
          </a:bodyPr>
          <a:lstStyle/>
          <a:p>
            <a:r>
              <a:rPr lang="en-US" sz="2600" b="1" dirty="0"/>
              <a:t>Input Files</a:t>
            </a:r>
            <a:r>
              <a:rPr lang="en-US" sz="2600" dirty="0"/>
              <a:t>: The data for a Map Reduce task is stored in input files and these input files are generally stored in HDFS</a:t>
            </a:r>
            <a:r>
              <a:rPr lang="en-US" sz="2600" dirty="0" smtClean="0"/>
              <a:t>.</a:t>
            </a:r>
            <a:endParaRPr lang="en-US" sz="2600" dirty="0"/>
          </a:p>
        </p:txBody>
      </p:sp>
      <p:pic>
        <p:nvPicPr>
          <p:cNvPr id="1026" name="Picture 2" descr="https://miro.medium.com/v2/resize:fit:1050/1*F4xoKbzFKFEStLXMb5mZa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1974" y="2084832"/>
            <a:ext cx="11063968" cy="28064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491926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1839777" y="1285809"/>
            <a:ext cx="7638052" cy="2778185"/>
          </a:xfrm>
          <a:prstGeom prst="rect">
            <a:avLst/>
          </a:prstGeom>
        </p:spPr>
      </p:pic>
      <p:sp>
        <p:nvSpPr>
          <p:cNvPr id="5" name="Rectangle 1"/>
          <p:cNvSpPr>
            <a:spLocks noChangeArrowheads="1"/>
          </p:cNvSpPr>
          <p:nvPr/>
        </p:nvSpPr>
        <p:spPr bwMode="auto">
          <a:xfrm>
            <a:off x="433659" y="4052496"/>
            <a:ext cx="5167087"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2400" b="1" dirty="0" smtClean="0">
                <a:solidFill>
                  <a:srgbClr val="C00000"/>
                </a:solidFill>
              </a:rPr>
              <a:t>1- </a:t>
            </a:r>
            <a:r>
              <a:rPr kumimoji="0" lang="en-US" altLang="en-US" sz="2400" b="1" i="0" u="none" strike="noStrike" cap="none" normalizeH="0" baseline="0" dirty="0" err="1" smtClean="0">
                <a:ln>
                  <a:noFill/>
                </a:ln>
                <a:solidFill>
                  <a:srgbClr val="C00000"/>
                </a:solidFill>
                <a:effectLst/>
              </a:rPr>
              <a:t>InputSplit</a:t>
            </a:r>
            <a:endParaRPr kumimoji="0" lang="en-US" altLang="en-US" sz="2400" b="1" i="0" u="none" strike="noStrike" cap="none" normalizeH="0" baseline="0" dirty="0" smtClean="0">
              <a:ln>
                <a:noFill/>
              </a:ln>
              <a:solidFill>
                <a:srgbClr val="C00000"/>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rPr>
              <a:t>Logical division</a:t>
            </a:r>
            <a:r>
              <a:rPr kumimoji="0" lang="en-US" altLang="en-US" sz="2400" b="0" i="0" u="none" strike="noStrike" cap="none" normalizeH="0" baseline="0" dirty="0" smtClean="0">
                <a:ln>
                  <a:noFill/>
                </a:ln>
                <a:solidFill>
                  <a:schemeClr val="tx1"/>
                </a:solidFill>
                <a:effectLst/>
              </a:rPr>
              <a:t> of input data</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rPr>
              <a:t>Defines </a:t>
            </a:r>
            <a:r>
              <a:rPr kumimoji="0" lang="en-US" altLang="en-US" sz="2400" b="1" i="0" u="none" strike="noStrike" cap="none" normalizeH="0" baseline="0" dirty="0" smtClean="0">
                <a:ln>
                  <a:noFill/>
                </a:ln>
                <a:solidFill>
                  <a:schemeClr val="tx1"/>
                </a:solidFill>
                <a:effectLst/>
              </a:rPr>
              <a:t>which portion of data each map task processes</a:t>
            </a:r>
            <a:endParaRPr kumimoji="0" lang="en-US" altLang="en-US" sz="2400" b="0"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rPr>
              <a:t>Does NOT physically split the file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rPr>
              <a:t>One </a:t>
            </a:r>
            <a:r>
              <a:rPr kumimoji="0" lang="en-US" altLang="en-US" sz="2400" b="1" i="0" u="none" strike="noStrike" cap="none" normalizeH="0" baseline="0" dirty="0" err="1" smtClean="0">
                <a:ln>
                  <a:noFill/>
                </a:ln>
                <a:solidFill>
                  <a:schemeClr val="tx1"/>
                </a:solidFill>
                <a:effectLst/>
              </a:rPr>
              <a:t>InputSplit</a:t>
            </a:r>
            <a:r>
              <a:rPr kumimoji="0" lang="en-US" altLang="en-US" sz="2400" b="1" i="0" u="none" strike="noStrike" cap="none" normalizeH="0" baseline="0" dirty="0" smtClean="0">
                <a:ln>
                  <a:noFill/>
                </a:ln>
                <a:solidFill>
                  <a:schemeClr val="tx1"/>
                </a:solidFill>
                <a:effectLst/>
              </a:rPr>
              <a:t> → One map task</a:t>
            </a:r>
          </a:p>
        </p:txBody>
      </p:sp>
      <p:sp>
        <p:nvSpPr>
          <p:cNvPr id="7" name="Rectangle 3"/>
          <p:cNvSpPr>
            <a:spLocks noChangeArrowheads="1"/>
          </p:cNvSpPr>
          <p:nvPr/>
        </p:nvSpPr>
        <p:spPr bwMode="auto">
          <a:xfrm>
            <a:off x="5600746" y="4237162"/>
            <a:ext cx="6108746"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2400" b="1" dirty="0" smtClean="0">
                <a:solidFill>
                  <a:srgbClr val="C00000"/>
                </a:solidFill>
              </a:rPr>
              <a:t>2- </a:t>
            </a:r>
            <a:r>
              <a:rPr lang="en-US" altLang="en-US" sz="2400" b="1" dirty="0" err="1" smtClean="0">
                <a:solidFill>
                  <a:srgbClr val="C00000"/>
                </a:solidFill>
              </a:rPr>
              <a:t>RecordReader</a:t>
            </a:r>
            <a:endParaRPr lang="en-US" altLang="en-US" sz="2400" b="1" dirty="0">
              <a:solidFill>
                <a:srgbClr val="C00000"/>
              </a:solidFill>
            </a:endParaRPr>
          </a:p>
          <a:p>
            <a:pPr marL="342900" indent="-342900" eaLnBrk="0" fontAlgn="base" hangingPunct="0">
              <a:spcBef>
                <a:spcPct val="0"/>
              </a:spcBef>
              <a:spcAft>
                <a:spcPct val="0"/>
              </a:spcAft>
              <a:buFont typeface="Arial" panose="020B0604020202020204" pitchFamily="34" charset="0"/>
              <a:buChar char="•"/>
            </a:pPr>
            <a:r>
              <a:rPr lang="en-US" altLang="en-US" sz="2400" dirty="0"/>
              <a:t>Works with the </a:t>
            </a:r>
            <a:r>
              <a:rPr lang="en-US" altLang="en-US" sz="2400" dirty="0" err="1"/>
              <a:t>InputSplit</a:t>
            </a:r>
            <a:endParaRPr lang="en-US" altLang="en-US" sz="2400" dirty="0"/>
          </a:p>
          <a:p>
            <a:pPr marL="342900" indent="-342900" eaLnBrk="0" fontAlgn="base" hangingPunct="0">
              <a:spcBef>
                <a:spcPct val="0"/>
              </a:spcBef>
              <a:spcAft>
                <a:spcPct val="0"/>
              </a:spcAft>
              <a:buFont typeface="Arial" panose="020B0604020202020204" pitchFamily="34" charset="0"/>
              <a:buChar char="•"/>
            </a:pPr>
            <a:r>
              <a:rPr lang="en-US" altLang="en-US" sz="2400" dirty="0"/>
              <a:t>Converts raw data into key–value records</a:t>
            </a:r>
          </a:p>
          <a:p>
            <a:pPr marL="342900" indent="-342900" eaLnBrk="0" fontAlgn="base" hangingPunct="0">
              <a:spcBef>
                <a:spcPct val="0"/>
              </a:spcBef>
              <a:spcAft>
                <a:spcPct val="0"/>
              </a:spcAft>
              <a:buFont typeface="Arial" panose="020B0604020202020204" pitchFamily="34" charset="0"/>
              <a:buChar char="•"/>
            </a:pPr>
            <a:r>
              <a:rPr lang="en-US" altLang="en-US" sz="2400" dirty="0"/>
              <a:t>Feeds them to the Mapper</a:t>
            </a:r>
          </a:p>
          <a:p>
            <a:pPr eaLnBrk="0" fontAlgn="base" hangingPunct="0">
              <a:spcBef>
                <a:spcPct val="0"/>
              </a:spcBef>
              <a:spcAft>
                <a:spcPct val="0"/>
              </a:spcAft>
            </a:pPr>
            <a:r>
              <a:rPr lang="en-US" altLang="en-US" sz="2400" b="1" dirty="0" smtClean="0"/>
              <a:t>Typically:</a:t>
            </a:r>
            <a:endParaRPr lang="en-US" altLang="en-US" sz="2400" b="1" i="1" u="sng" dirty="0" smtClean="0"/>
          </a:p>
          <a:p>
            <a:pPr eaLnBrk="0" fontAlgn="base" hangingPunct="0">
              <a:spcBef>
                <a:spcPct val="0"/>
              </a:spcBef>
              <a:spcAft>
                <a:spcPct val="0"/>
              </a:spcAft>
            </a:pPr>
            <a:r>
              <a:rPr lang="en-US" altLang="en-US" sz="2400" b="1" i="1" u="sng" dirty="0">
                <a:solidFill>
                  <a:srgbClr val="C00000"/>
                </a:solidFill>
              </a:rPr>
              <a:t>Key   = Byte </a:t>
            </a:r>
            <a:r>
              <a:rPr lang="en-US" altLang="en-US" sz="2400" b="1" i="1" u="sng" dirty="0" smtClean="0">
                <a:solidFill>
                  <a:srgbClr val="C00000"/>
                </a:solidFill>
              </a:rPr>
              <a:t>offset, Value </a:t>
            </a:r>
            <a:r>
              <a:rPr lang="en-US" altLang="en-US" sz="2400" b="1" i="1" u="sng" dirty="0">
                <a:solidFill>
                  <a:srgbClr val="C00000"/>
                </a:solidFill>
              </a:rPr>
              <a:t>= Line </a:t>
            </a:r>
            <a:r>
              <a:rPr lang="en-US" altLang="en-US" sz="2400" b="1" i="1" u="sng" dirty="0" smtClean="0">
                <a:solidFill>
                  <a:srgbClr val="C00000"/>
                </a:solidFill>
              </a:rPr>
              <a:t>content</a:t>
            </a:r>
            <a:endParaRPr lang="en-US" altLang="en-US" sz="2400" b="1" i="1" u="sng" dirty="0">
              <a:solidFill>
                <a:srgbClr val="C00000"/>
              </a:solidFill>
            </a:endParaRPr>
          </a:p>
        </p:txBody>
      </p:sp>
      <p:sp>
        <p:nvSpPr>
          <p:cNvPr id="8" name="Rectangle 7"/>
          <p:cNvSpPr/>
          <p:nvPr/>
        </p:nvSpPr>
        <p:spPr>
          <a:xfrm>
            <a:off x="525029" y="393544"/>
            <a:ext cx="11188000" cy="707886"/>
          </a:xfrm>
          <a:prstGeom prst="rect">
            <a:avLst/>
          </a:prstGeom>
        </p:spPr>
        <p:txBody>
          <a:bodyPr wrap="square">
            <a:spAutoFit/>
          </a:bodyPr>
          <a:lstStyle/>
          <a:p>
            <a:pPr lvl="0" eaLnBrk="0" fontAlgn="base" hangingPunct="0">
              <a:spcBef>
                <a:spcPct val="0"/>
              </a:spcBef>
              <a:spcAft>
                <a:spcPct val="0"/>
              </a:spcAft>
            </a:pPr>
            <a:r>
              <a:rPr lang="en-US" altLang="en-US" sz="4000" b="1" dirty="0"/>
              <a:t>How Key–Value Pairs Are </a:t>
            </a:r>
            <a:r>
              <a:rPr lang="en-US" altLang="en-US" sz="4000" b="1" dirty="0" smtClean="0"/>
              <a:t>Generated for </a:t>
            </a:r>
            <a:r>
              <a:rPr lang="en-US" altLang="en-US" sz="4000" b="1" dirty="0" smtClean="0">
                <a:solidFill>
                  <a:srgbClr val="C00000"/>
                </a:solidFill>
              </a:rPr>
              <a:t>Map</a:t>
            </a:r>
            <a:r>
              <a:rPr lang="en-US" altLang="en-US" sz="4000" b="1" dirty="0" smtClean="0"/>
              <a:t> Tasks</a:t>
            </a:r>
            <a:endParaRPr lang="en-US" altLang="en-US" sz="4000" b="1" dirty="0"/>
          </a:p>
        </p:txBody>
      </p:sp>
    </p:spTree>
    <p:extLst>
      <p:ext uri="{BB962C8B-B14F-4D97-AF65-F5344CB8AC3E}">
        <p14:creationId xmlns:p14="http://schemas.microsoft.com/office/powerpoint/2010/main" val="3304737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inputSplit</a:t>
            </a:r>
            <a:r>
              <a:rPr lang="en-US" b="1" dirty="0" smtClean="0"/>
              <a:t> vs block </a:t>
            </a:r>
            <a:endParaRPr lang="en-US" b="1" dirty="0"/>
          </a:p>
        </p:txBody>
      </p:sp>
      <p:pic>
        <p:nvPicPr>
          <p:cNvPr id="1026" name="Picture 2" descr="block-example-1.png (1263×18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005" y="1824721"/>
            <a:ext cx="12030075" cy="180022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block-eample-2.png (1635×19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3739" y="3425935"/>
            <a:ext cx="12036425" cy="146498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block-eample-3.png (1777×29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1602" y="4862903"/>
            <a:ext cx="12104915" cy="19509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599010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Map phase - </a:t>
            </a:r>
            <a:r>
              <a:rPr lang="en-US" b="1" dirty="0" smtClean="0">
                <a:solidFill>
                  <a:srgbClr val="C00000"/>
                </a:solidFill>
              </a:rPr>
              <a:t>mapper</a:t>
            </a:r>
            <a:endParaRPr lang="en-US" b="1" dirty="0">
              <a:solidFill>
                <a:srgbClr val="C00000"/>
              </a:solidFill>
            </a:endParaRPr>
          </a:p>
        </p:txBody>
      </p:sp>
      <p:sp>
        <p:nvSpPr>
          <p:cNvPr id="3" name="Content Placeholder 2"/>
          <p:cNvSpPr>
            <a:spLocks noGrp="1"/>
          </p:cNvSpPr>
          <p:nvPr>
            <p:ph idx="1"/>
          </p:nvPr>
        </p:nvSpPr>
        <p:spPr>
          <a:xfrm>
            <a:off x="951554" y="2084832"/>
            <a:ext cx="9948674" cy="4023360"/>
          </a:xfrm>
        </p:spPr>
        <p:txBody>
          <a:bodyPr>
            <a:noAutofit/>
          </a:bodyPr>
          <a:lstStyle/>
          <a:p>
            <a:pPr lvl="0">
              <a:lnSpc>
                <a:spcPct val="100000"/>
              </a:lnSpc>
              <a:spcBef>
                <a:spcPts val="0"/>
              </a:spcBef>
              <a:spcAft>
                <a:spcPts val="0"/>
              </a:spcAft>
            </a:pPr>
            <a:r>
              <a:rPr lang="en-US" sz="2800" b="1" dirty="0">
                <a:solidFill>
                  <a:srgbClr val="C00000"/>
                </a:solidFill>
              </a:rPr>
              <a:t>Map</a:t>
            </a:r>
            <a:r>
              <a:rPr lang="en-US" sz="2800" b="1" dirty="0"/>
              <a:t>:</a:t>
            </a:r>
            <a:r>
              <a:rPr lang="en-US" sz="2800" dirty="0"/>
              <a:t> A </a:t>
            </a:r>
            <a:r>
              <a:rPr lang="en-US" sz="2800" b="1" dirty="0"/>
              <a:t>user-defined function</a:t>
            </a:r>
            <a:r>
              <a:rPr lang="en-US" sz="2800" dirty="0"/>
              <a:t> that takes an input key/value pair and produces a set of </a:t>
            </a:r>
            <a:r>
              <a:rPr lang="en-US" sz="2800" b="1" dirty="0"/>
              <a:t>intermediate</a:t>
            </a:r>
            <a:r>
              <a:rPr lang="en-US" sz="2800" dirty="0"/>
              <a:t> key/value pairs</a:t>
            </a:r>
            <a:r>
              <a:rPr lang="en-US" sz="2800" dirty="0" smtClean="0"/>
              <a:t>.</a:t>
            </a:r>
          </a:p>
          <a:p>
            <a:pPr>
              <a:lnSpc>
                <a:spcPct val="100000"/>
              </a:lnSpc>
              <a:spcBef>
                <a:spcPts val="0"/>
              </a:spcBef>
              <a:spcAft>
                <a:spcPts val="0"/>
              </a:spcAft>
              <a:buFont typeface="Arial" panose="020B0604020202020204" pitchFamily="34" charset="0"/>
              <a:buChar char="•"/>
            </a:pPr>
            <a:r>
              <a:rPr lang="en-US" sz="2800" i="1" dirty="0" smtClean="0"/>
              <a:t> </a:t>
            </a:r>
            <a:r>
              <a:rPr lang="en-US" sz="2800" b="1" i="1" u="sng" dirty="0" smtClean="0"/>
              <a:t>Input</a:t>
            </a:r>
            <a:r>
              <a:rPr lang="en-US" sz="2800" dirty="0"/>
              <a:t>: </a:t>
            </a:r>
            <a:r>
              <a:rPr lang="en-US" sz="2800" b="1" dirty="0"/>
              <a:t>input key‐value pair </a:t>
            </a:r>
            <a:r>
              <a:rPr lang="en-US" sz="2800" dirty="0"/>
              <a:t>= input </a:t>
            </a:r>
            <a:r>
              <a:rPr lang="en-US" sz="2800" dirty="0" smtClean="0"/>
              <a:t>record</a:t>
            </a:r>
          </a:p>
          <a:p>
            <a:pPr>
              <a:lnSpc>
                <a:spcPct val="100000"/>
              </a:lnSpc>
              <a:spcBef>
                <a:spcPts val="0"/>
              </a:spcBef>
              <a:spcAft>
                <a:spcPts val="0"/>
              </a:spcAft>
              <a:buFont typeface="Arial" panose="020B0604020202020204" pitchFamily="34" charset="0"/>
              <a:buChar char="•"/>
            </a:pPr>
            <a:r>
              <a:rPr lang="en-US" sz="2800" i="1" dirty="0"/>
              <a:t> </a:t>
            </a:r>
            <a:r>
              <a:rPr lang="en-US" sz="2800" b="1" i="1" u="sng" dirty="0" smtClean="0"/>
              <a:t>Output</a:t>
            </a:r>
            <a:r>
              <a:rPr lang="en-US" sz="2800" dirty="0"/>
              <a:t>: </a:t>
            </a:r>
            <a:r>
              <a:rPr lang="en-US" sz="2800" b="1" dirty="0"/>
              <a:t>list of intermediate key‐value pairs</a:t>
            </a:r>
          </a:p>
          <a:p>
            <a:pPr lvl="1">
              <a:lnSpc>
                <a:spcPct val="100000"/>
              </a:lnSpc>
              <a:spcBef>
                <a:spcPts val="0"/>
              </a:spcBef>
              <a:spcAft>
                <a:spcPts val="0"/>
              </a:spcAft>
              <a:buFont typeface="Arial" panose="020B0604020202020204" pitchFamily="34" charset="0"/>
              <a:buChar char="•"/>
            </a:pPr>
            <a:r>
              <a:rPr lang="en-US" sz="2800" dirty="0" smtClean="0"/>
              <a:t>Keys </a:t>
            </a:r>
            <a:r>
              <a:rPr lang="en-US" sz="2800" dirty="0"/>
              <a:t>do not have to be unique</a:t>
            </a:r>
          </a:p>
          <a:p>
            <a:pPr lvl="1">
              <a:lnSpc>
                <a:spcPct val="100000"/>
              </a:lnSpc>
              <a:spcBef>
                <a:spcPts val="0"/>
              </a:spcBef>
              <a:spcAft>
                <a:spcPts val="0"/>
              </a:spcAft>
              <a:buFont typeface="Arial" panose="020B0604020202020204" pitchFamily="34" charset="0"/>
              <a:buChar char="•"/>
            </a:pPr>
            <a:r>
              <a:rPr lang="en-US" sz="2800" dirty="0"/>
              <a:t>Duplicate pairs are </a:t>
            </a:r>
            <a:r>
              <a:rPr lang="en-US" sz="2800" dirty="0" smtClean="0"/>
              <a:t>permitted</a:t>
            </a:r>
          </a:p>
          <a:p>
            <a:pPr lvl="1">
              <a:lnSpc>
                <a:spcPct val="100000"/>
              </a:lnSpc>
              <a:spcBef>
                <a:spcPts val="0"/>
              </a:spcBef>
              <a:spcAft>
                <a:spcPts val="0"/>
              </a:spcAft>
              <a:buFont typeface="Arial" panose="020B0604020202020204" pitchFamily="34" charset="0"/>
              <a:buChar char="•"/>
            </a:pPr>
            <a:endParaRPr lang="en-US" sz="2800" dirty="0"/>
          </a:p>
        </p:txBody>
      </p:sp>
    </p:spTree>
    <p:extLst>
      <p:ext uri="{BB962C8B-B14F-4D97-AF65-F5344CB8AC3E}">
        <p14:creationId xmlns:p14="http://schemas.microsoft.com/office/powerpoint/2010/main" val="10476725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Map phase - </a:t>
            </a:r>
            <a:r>
              <a:rPr lang="en-US" b="1" dirty="0" smtClean="0">
                <a:solidFill>
                  <a:srgbClr val="C00000"/>
                </a:solidFill>
              </a:rPr>
              <a:t>Combiner</a:t>
            </a:r>
            <a:endParaRPr lang="en-US" b="1" dirty="0"/>
          </a:p>
        </p:txBody>
      </p:sp>
      <p:sp>
        <p:nvSpPr>
          <p:cNvPr id="3" name="Content Placeholder 2"/>
          <p:cNvSpPr>
            <a:spLocks noGrp="1"/>
          </p:cNvSpPr>
          <p:nvPr>
            <p:ph idx="1"/>
          </p:nvPr>
        </p:nvSpPr>
        <p:spPr>
          <a:xfrm>
            <a:off x="458070" y="1937658"/>
            <a:ext cx="9948672" cy="4023360"/>
          </a:xfrm>
        </p:spPr>
        <p:txBody>
          <a:bodyPr>
            <a:noAutofit/>
          </a:bodyPr>
          <a:lstStyle/>
          <a:p>
            <a:pPr lvl="0">
              <a:lnSpc>
                <a:spcPct val="100000"/>
              </a:lnSpc>
              <a:spcBef>
                <a:spcPts val="0"/>
              </a:spcBef>
              <a:spcAft>
                <a:spcPts val="0"/>
              </a:spcAft>
            </a:pPr>
            <a:r>
              <a:rPr lang="en-US" sz="2600" b="1" dirty="0"/>
              <a:t>Combiner </a:t>
            </a:r>
            <a:r>
              <a:rPr lang="en-US" sz="2600" b="1" dirty="0" smtClean="0"/>
              <a:t>(Mini-Reducer - Optional</a:t>
            </a:r>
            <a:r>
              <a:rPr lang="en-US" sz="2600" b="1" dirty="0"/>
              <a:t>):</a:t>
            </a:r>
            <a:r>
              <a:rPr lang="en-US" sz="2600" dirty="0"/>
              <a:t> A function that performs "partial merging" of intermediate data on the map machine before it is sent over the network. </a:t>
            </a:r>
            <a:r>
              <a:rPr lang="en-US" sz="2600" u="sng" dirty="0"/>
              <a:t>It is used when there is significant repetition in intermediate keys and the Reduce function is commutative and associative</a:t>
            </a:r>
            <a:r>
              <a:rPr lang="en-US" sz="2600" dirty="0"/>
              <a:t>. </a:t>
            </a:r>
            <a:r>
              <a:rPr lang="en-US" sz="2600" b="1" i="1" dirty="0"/>
              <a:t>It helps save network bandwidth</a:t>
            </a:r>
            <a:r>
              <a:rPr lang="en-US" sz="2600" b="1" i="1" dirty="0" smtClean="0"/>
              <a:t>.</a:t>
            </a:r>
          </a:p>
          <a:p>
            <a:pPr>
              <a:lnSpc>
                <a:spcPct val="100000"/>
              </a:lnSpc>
              <a:spcBef>
                <a:spcPts val="0"/>
              </a:spcBef>
              <a:spcAft>
                <a:spcPts val="0"/>
              </a:spcAft>
            </a:pPr>
            <a:r>
              <a:rPr lang="en-US" sz="2600" b="1" dirty="0"/>
              <a:t>Why Combiner?</a:t>
            </a:r>
          </a:p>
          <a:p>
            <a:pPr>
              <a:lnSpc>
                <a:spcPct val="100000"/>
              </a:lnSpc>
              <a:spcBef>
                <a:spcPts val="0"/>
              </a:spcBef>
              <a:spcAft>
                <a:spcPts val="0"/>
              </a:spcAft>
            </a:pPr>
            <a:r>
              <a:rPr lang="en-US" sz="2600" dirty="0"/>
              <a:t>To reduce network traffic during shuffle.</a:t>
            </a:r>
          </a:p>
          <a:p>
            <a:pPr>
              <a:lnSpc>
                <a:spcPct val="100000"/>
              </a:lnSpc>
              <a:spcBef>
                <a:spcPts val="0"/>
              </a:spcBef>
              <a:spcAft>
                <a:spcPts val="0"/>
              </a:spcAft>
            </a:pPr>
            <a:r>
              <a:rPr lang="en-US" sz="2600" dirty="0"/>
              <a:t>·  </a:t>
            </a:r>
            <a:r>
              <a:rPr lang="en-US" sz="2600" i="1" dirty="0"/>
              <a:t>Combiner must use the same logic as reduce</a:t>
            </a:r>
          </a:p>
          <a:p>
            <a:pPr>
              <a:lnSpc>
                <a:spcPct val="100000"/>
              </a:lnSpc>
              <a:spcBef>
                <a:spcPts val="0"/>
              </a:spcBef>
              <a:spcAft>
                <a:spcPts val="0"/>
              </a:spcAft>
            </a:pPr>
            <a:r>
              <a:rPr lang="en-US" sz="2600" i="1" dirty="0"/>
              <a:t>·  It runs locally on mapper output</a:t>
            </a:r>
          </a:p>
          <a:p>
            <a:pPr>
              <a:lnSpc>
                <a:spcPct val="100000"/>
              </a:lnSpc>
              <a:spcBef>
                <a:spcPts val="0"/>
              </a:spcBef>
              <a:spcAft>
                <a:spcPts val="0"/>
              </a:spcAft>
            </a:pPr>
            <a:r>
              <a:rPr lang="en-US" sz="2600" b="1" i="1" dirty="0">
                <a:solidFill>
                  <a:srgbClr val="C00000"/>
                </a:solidFill>
              </a:rPr>
              <a:t>·  It is an optimization, not required for correctness </a:t>
            </a:r>
          </a:p>
          <a:p>
            <a:pPr lvl="0">
              <a:lnSpc>
                <a:spcPct val="100000"/>
              </a:lnSpc>
              <a:spcBef>
                <a:spcPts val="0"/>
              </a:spcBef>
              <a:spcAft>
                <a:spcPts val="0"/>
              </a:spcAft>
            </a:pPr>
            <a:endParaRPr lang="en-US" sz="2600" b="1" dirty="0">
              <a:solidFill>
                <a:srgbClr val="C00000"/>
              </a:solidFill>
            </a:endParaRPr>
          </a:p>
        </p:txBody>
      </p:sp>
      <p:sp>
        <p:nvSpPr>
          <p:cNvPr id="5" name="Rectangle 4"/>
          <p:cNvSpPr/>
          <p:nvPr/>
        </p:nvSpPr>
        <p:spPr>
          <a:xfrm>
            <a:off x="7344228" y="3615794"/>
            <a:ext cx="4354285" cy="3477875"/>
          </a:xfrm>
          <a:prstGeom prst="rect">
            <a:avLst/>
          </a:prstGeom>
        </p:spPr>
        <p:txBody>
          <a:bodyPr wrap="square">
            <a:spAutoFit/>
          </a:bodyPr>
          <a:lstStyle/>
          <a:p>
            <a:r>
              <a:rPr lang="en-US" sz="2200" dirty="0">
                <a:solidFill>
                  <a:srgbClr val="C00000"/>
                </a:solidFill>
              </a:rPr>
              <a:t>Combiners work </a:t>
            </a:r>
            <a:r>
              <a:rPr lang="en-US" sz="2200" b="1" dirty="0">
                <a:solidFill>
                  <a:srgbClr val="C00000"/>
                </a:solidFill>
              </a:rPr>
              <a:t>only when the reduce function is </a:t>
            </a:r>
            <a:r>
              <a:rPr lang="en-US" sz="2200" b="1" u="sng" dirty="0">
                <a:solidFill>
                  <a:srgbClr val="C00000"/>
                </a:solidFill>
              </a:rPr>
              <a:t>associative and commutative</a:t>
            </a:r>
            <a:r>
              <a:rPr lang="en-US" sz="2200" u="sng" dirty="0">
                <a:solidFill>
                  <a:srgbClr val="C00000"/>
                </a:solidFill>
              </a:rPr>
              <a:t>.</a:t>
            </a:r>
          </a:p>
          <a:p>
            <a:r>
              <a:rPr lang="en-US" sz="2200" b="1" dirty="0">
                <a:solidFill>
                  <a:srgbClr val="C00000"/>
                </a:solidFill>
              </a:rPr>
              <a:t>Examples that work:</a:t>
            </a:r>
          </a:p>
          <a:p>
            <a:pPr marL="171450" indent="-171450">
              <a:buFont typeface="Arial" panose="020B0604020202020204" pitchFamily="34" charset="0"/>
              <a:buChar char="•"/>
            </a:pPr>
            <a:r>
              <a:rPr lang="en-US" sz="2200" dirty="0">
                <a:solidFill>
                  <a:srgbClr val="C00000"/>
                </a:solidFill>
              </a:rPr>
              <a:t>Sum, Count, Min, Max</a:t>
            </a:r>
          </a:p>
          <a:p>
            <a:r>
              <a:rPr lang="en-US" sz="2200" b="1" dirty="0">
                <a:solidFill>
                  <a:srgbClr val="C00000"/>
                </a:solidFill>
              </a:rPr>
              <a:t>Examples that don’t safely work:</a:t>
            </a:r>
          </a:p>
          <a:p>
            <a:r>
              <a:rPr lang="en-US" sz="2200" dirty="0">
                <a:solidFill>
                  <a:srgbClr val="C00000"/>
                </a:solidFill>
              </a:rPr>
              <a:t>Average (unless carefully rewritten), Median, Order-dependent operations</a:t>
            </a:r>
          </a:p>
          <a:p>
            <a:endParaRPr lang="en-US" sz="2200" dirty="0">
              <a:solidFill>
                <a:srgbClr val="C00000"/>
              </a:solidFill>
            </a:endParaRPr>
          </a:p>
        </p:txBody>
      </p:sp>
    </p:spTree>
    <p:extLst>
      <p:ext uri="{BB962C8B-B14F-4D97-AF65-F5344CB8AC3E}">
        <p14:creationId xmlns:p14="http://schemas.microsoft.com/office/powerpoint/2010/main" val="3117264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 calcmode="lin" valueType="num">
                                      <p:cBhvr additive="base">
                                        <p:cTn id="2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anim calcmode="lin" valueType="num">
                                      <p:cBhvr additive="base">
                                        <p:cTn id="29" dur="500" fill="hold"/>
                                        <p:tgtEl>
                                          <p:spTgt spid="5"/>
                                        </p:tgtEl>
                                        <p:attrNameLst>
                                          <p:attrName>ppt_x</p:attrName>
                                        </p:attrNameLst>
                                      </p:cBhvr>
                                      <p:tavLst>
                                        <p:tav tm="0">
                                          <p:val>
                                            <p:strVal val="#ppt_x"/>
                                          </p:val>
                                        </p:tav>
                                        <p:tav tm="100000">
                                          <p:val>
                                            <p:strVal val="#ppt_x"/>
                                          </p:val>
                                        </p:tav>
                                      </p:tavLst>
                                    </p:anim>
                                    <p:anim calcmode="lin" valueType="num">
                                      <p:cBhvr additive="base">
                                        <p:cTn id="3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Map phase - </a:t>
            </a:r>
            <a:r>
              <a:rPr lang="en-US" b="1" dirty="0" err="1">
                <a:solidFill>
                  <a:srgbClr val="C00000"/>
                </a:solidFill>
              </a:rPr>
              <a:t>Partitioner</a:t>
            </a:r>
            <a:endParaRPr lang="en-US" b="1" dirty="0">
              <a:solidFill>
                <a:srgbClr val="C00000"/>
              </a:solidFill>
            </a:endParaRPr>
          </a:p>
        </p:txBody>
      </p:sp>
      <p:sp>
        <p:nvSpPr>
          <p:cNvPr id="3" name="Content Placeholder 2"/>
          <p:cNvSpPr>
            <a:spLocks noGrp="1"/>
          </p:cNvSpPr>
          <p:nvPr>
            <p:ph idx="1"/>
          </p:nvPr>
        </p:nvSpPr>
        <p:spPr>
          <a:xfrm>
            <a:off x="1024129" y="1836059"/>
            <a:ext cx="10442158" cy="4023360"/>
          </a:xfrm>
        </p:spPr>
        <p:txBody>
          <a:bodyPr>
            <a:noAutofit/>
          </a:bodyPr>
          <a:lstStyle/>
          <a:p>
            <a:pPr marL="0" indent="0">
              <a:lnSpc>
                <a:spcPct val="100000"/>
              </a:lnSpc>
              <a:spcBef>
                <a:spcPts val="0"/>
              </a:spcBef>
              <a:spcAft>
                <a:spcPts val="0"/>
              </a:spcAft>
              <a:buNone/>
            </a:pPr>
            <a:r>
              <a:rPr lang="en-US" sz="2600" dirty="0"/>
              <a:t>After the Map phase, the Partitioner determines</a:t>
            </a:r>
            <a:r>
              <a:rPr lang="en-US" sz="2600" dirty="0" smtClean="0"/>
              <a:t>: </a:t>
            </a:r>
            <a:r>
              <a:rPr lang="en-US" sz="2600" b="1" dirty="0" smtClean="0">
                <a:solidFill>
                  <a:srgbClr val="C00000"/>
                </a:solidFill>
              </a:rPr>
              <a:t>Which </a:t>
            </a:r>
            <a:r>
              <a:rPr lang="en-US" sz="2600" b="1" dirty="0">
                <a:solidFill>
                  <a:srgbClr val="C00000"/>
                </a:solidFill>
              </a:rPr>
              <a:t>reducer will receive each key</a:t>
            </a:r>
            <a:r>
              <a:rPr lang="en-US" sz="2600" b="1" dirty="0" smtClean="0">
                <a:solidFill>
                  <a:srgbClr val="C00000"/>
                </a:solidFill>
              </a:rPr>
              <a:t>.</a:t>
            </a:r>
          </a:p>
          <a:p>
            <a:pPr>
              <a:lnSpc>
                <a:spcPct val="100000"/>
              </a:lnSpc>
              <a:spcBef>
                <a:spcPts val="0"/>
              </a:spcBef>
              <a:spcAft>
                <a:spcPts val="0"/>
              </a:spcAft>
            </a:pPr>
            <a:r>
              <a:rPr lang="en-US" sz="2600" b="1" u="sng" dirty="0" smtClean="0"/>
              <a:t>Default behavior (</a:t>
            </a:r>
            <a:r>
              <a:rPr lang="en-US" sz="2600" b="1" i="1" dirty="0"/>
              <a:t>H</a:t>
            </a:r>
            <a:r>
              <a:rPr lang="en-US" sz="2600" b="1" i="1" dirty="0" smtClean="0"/>
              <a:t>ash </a:t>
            </a:r>
            <a:r>
              <a:rPr lang="en-US" sz="2600" b="1" i="1" dirty="0" err="1" smtClean="0"/>
              <a:t>partitioner</a:t>
            </a:r>
            <a:r>
              <a:rPr lang="en-US" sz="2600" b="1" u="sng" dirty="0" smtClean="0"/>
              <a:t>):</a:t>
            </a:r>
          </a:p>
          <a:p>
            <a:pPr marL="128016" lvl="1" indent="0">
              <a:lnSpc>
                <a:spcPct val="100000"/>
              </a:lnSpc>
              <a:spcBef>
                <a:spcPts val="0"/>
              </a:spcBef>
              <a:spcAft>
                <a:spcPts val="0"/>
              </a:spcAft>
              <a:buNone/>
            </a:pPr>
            <a:r>
              <a:rPr lang="en-US" sz="2200" b="1" i="1" dirty="0" smtClean="0"/>
              <a:t>			</a:t>
            </a:r>
            <a:r>
              <a:rPr lang="en-US" sz="2600" b="1" i="1" dirty="0" smtClean="0">
                <a:solidFill>
                  <a:srgbClr val="C00000"/>
                </a:solidFill>
              </a:rPr>
              <a:t>hash(key</a:t>
            </a:r>
            <a:r>
              <a:rPr lang="en-US" sz="2600" b="1" i="1" dirty="0">
                <a:solidFill>
                  <a:srgbClr val="C00000"/>
                </a:solidFill>
              </a:rPr>
              <a:t>) % </a:t>
            </a:r>
            <a:r>
              <a:rPr lang="en-US" sz="2600" b="1" i="1" dirty="0" err="1" smtClean="0">
                <a:solidFill>
                  <a:srgbClr val="C00000"/>
                </a:solidFill>
              </a:rPr>
              <a:t>number_of_reducers</a:t>
            </a:r>
            <a:endParaRPr lang="en-US" sz="2600" b="1" i="1" dirty="0" smtClean="0">
              <a:solidFill>
                <a:srgbClr val="C00000"/>
              </a:solidFill>
            </a:endParaRPr>
          </a:p>
          <a:p>
            <a:pPr marL="128016" lvl="1" indent="0">
              <a:lnSpc>
                <a:spcPct val="100000"/>
              </a:lnSpc>
              <a:spcBef>
                <a:spcPts val="0"/>
              </a:spcBef>
              <a:spcAft>
                <a:spcPts val="0"/>
              </a:spcAft>
              <a:buNone/>
            </a:pPr>
            <a:endParaRPr lang="en-US" sz="2600" b="1" i="1" dirty="0" smtClean="0">
              <a:solidFill>
                <a:srgbClr val="C00000"/>
              </a:solidFill>
            </a:endParaRPr>
          </a:p>
          <a:p>
            <a:pPr marL="0" indent="0">
              <a:lnSpc>
                <a:spcPct val="100000"/>
              </a:lnSpc>
              <a:spcBef>
                <a:spcPts val="0"/>
              </a:spcBef>
              <a:spcAft>
                <a:spcPts val="0"/>
              </a:spcAft>
              <a:buNone/>
            </a:pPr>
            <a:r>
              <a:rPr lang="en-US" sz="2600" b="1" dirty="0" err="1"/>
              <a:t>Partitioner</a:t>
            </a:r>
            <a:r>
              <a:rPr lang="en-US" sz="2600" b="1" dirty="0"/>
              <a:t> </a:t>
            </a:r>
            <a:r>
              <a:rPr lang="en-US" sz="2600" b="1" dirty="0" smtClean="0"/>
              <a:t>is used </a:t>
            </a:r>
            <a:r>
              <a:rPr lang="en-US" sz="2600" b="1" u="sng" dirty="0"/>
              <a:t>if we are working on more than one </a:t>
            </a:r>
            <a:r>
              <a:rPr lang="en-US" sz="2600" b="1" u="sng" dirty="0" smtClean="0"/>
              <a:t>reducer</a:t>
            </a:r>
            <a:r>
              <a:rPr lang="en-US" sz="2600" b="1" dirty="0" smtClean="0"/>
              <a:t> to ensure load balancing between reducers.</a:t>
            </a:r>
          </a:p>
          <a:p>
            <a:pPr marL="0" indent="0">
              <a:lnSpc>
                <a:spcPct val="100000"/>
              </a:lnSpc>
              <a:spcBef>
                <a:spcPts val="0"/>
              </a:spcBef>
              <a:spcAft>
                <a:spcPts val="0"/>
              </a:spcAft>
              <a:buNone/>
            </a:pPr>
            <a:r>
              <a:rPr lang="en-US" sz="2600" b="1" u="sng" dirty="0" smtClean="0"/>
              <a:t>Data </a:t>
            </a:r>
            <a:r>
              <a:rPr lang="en-US" sz="2600" b="1" u="sng" dirty="0"/>
              <a:t>Skew Problem</a:t>
            </a:r>
          </a:p>
          <a:p>
            <a:pPr>
              <a:lnSpc>
                <a:spcPct val="100000"/>
              </a:lnSpc>
              <a:spcBef>
                <a:spcPts val="0"/>
              </a:spcBef>
              <a:spcAft>
                <a:spcPts val="0"/>
              </a:spcAft>
            </a:pPr>
            <a:r>
              <a:rPr lang="en-US" sz="2600" dirty="0"/>
              <a:t>If one key appears very frequently:</a:t>
            </a:r>
          </a:p>
          <a:p>
            <a:pPr>
              <a:lnSpc>
                <a:spcPct val="100000"/>
              </a:lnSpc>
              <a:spcBef>
                <a:spcPts val="0"/>
              </a:spcBef>
              <a:spcAft>
                <a:spcPts val="0"/>
              </a:spcAft>
            </a:pPr>
            <a:r>
              <a:rPr lang="en-US" sz="2600" dirty="0"/>
              <a:t>→ One reducer becomes overloaded</a:t>
            </a:r>
            <a:br>
              <a:rPr lang="en-US" sz="2600" dirty="0"/>
            </a:br>
            <a:r>
              <a:rPr lang="en-US" sz="2600" dirty="0"/>
              <a:t>→ Job becomes slow</a:t>
            </a:r>
          </a:p>
          <a:p>
            <a:pPr>
              <a:lnSpc>
                <a:spcPct val="100000"/>
              </a:lnSpc>
              <a:spcBef>
                <a:spcPts val="0"/>
              </a:spcBef>
              <a:spcAft>
                <a:spcPts val="0"/>
              </a:spcAft>
            </a:pPr>
            <a:r>
              <a:rPr lang="en-US" sz="2600" b="1" dirty="0" smtClean="0">
                <a:solidFill>
                  <a:srgbClr val="C00000"/>
                </a:solidFill>
              </a:rPr>
              <a:t>Custom </a:t>
            </a:r>
            <a:r>
              <a:rPr lang="en-US" sz="2600" b="1" dirty="0">
                <a:solidFill>
                  <a:srgbClr val="C00000"/>
                </a:solidFill>
              </a:rPr>
              <a:t>partitioning strategies help mitigate skew.</a:t>
            </a:r>
          </a:p>
          <a:p>
            <a:pPr>
              <a:lnSpc>
                <a:spcPct val="100000"/>
              </a:lnSpc>
              <a:spcBef>
                <a:spcPts val="0"/>
              </a:spcBef>
              <a:spcAft>
                <a:spcPts val="0"/>
              </a:spcAft>
            </a:pPr>
            <a:endParaRPr lang="en-US" sz="2600" dirty="0"/>
          </a:p>
        </p:txBody>
      </p:sp>
    </p:spTree>
    <p:extLst>
      <p:ext uri="{BB962C8B-B14F-4D97-AF65-F5344CB8AC3E}">
        <p14:creationId xmlns:p14="http://schemas.microsoft.com/office/powerpoint/2010/main" val="3375470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 calcmode="lin" valueType="num">
                                      <p:cBhvr additive="base">
                                        <p:cTn id="1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 calcmode="lin" valueType="num">
                                      <p:cBhvr additive="base">
                                        <p:cTn id="2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 calcmode="lin" valueType="num">
                                      <p:cBhvr additive="base">
                                        <p:cTn id="2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 calcmode="lin" valueType="num">
                                      <p:cBhvr additive="base">
                                        <p:cTn id="3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5400" b="1" dirty="0">
                <a:solidFill>
                  <a:schemeClr val="tx1"/>
                </a:solidFill>
              </a:rPr>
              <a:t>partitioning strategies</a:t>
            </a:r>
            <a:endParaRPr lang="en-US" b="1" dirty="0">
              <a:solidFill>
                <a:schemeClr val="tx1"/>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2088124811"/>
              </p:ext>
            </p:extLst>
          </p:nvPr>
        </p:nvGraphicFramePr>
        <p:xfrm>
          <a:off x="914401" y="2223272"/>
          <a:ext cx="10062028" cy="2194560"/>
        </p:xfrm>
        <a:graphic>
          <a:graphicData uri="http://schemas.openxmlformats.org/drawingml/2006/table">
            <a:tbl>
              <a:tblPr>
                <a:tableStyleId>{8799B23B-EC83-4686-B30A-512413B5E67A}</a:tableStyleId>
              </a:tblPr>
              <a:tblGrid>
                <a:gridCol w="2515507">
                  <a:extLst>
                    <a:ext uri="{9D8B030D-6E8A-4147-A177-3AD203B41FA5}">
                      <a16:colId xmlns:a16="http://schemas.microsoft.com/office/drawing/2014/main" val="361586246"/>
                    </a:ext>
                  </a:extLst>
                </a:gridCol>
                <a:gridCol w="3116036">
                  <a:extLst>
                    <a:ext uri="{9D8B030D-6E8A-4147-A177-3AD203B41FA5}">
                      <a16:colId xmlns:a16="http://schemas.microsoft.com/office/drawing/2014/main" val="1848567500"/>
                    </a:ext>
                  </a:extLst>
                </a:gridCol>
                <a:gridCol w="1914978">
                  <a:extLst>
                    <a:ext uri="{9D8B030D-6E8A-4147-A177-3AD203B41FA5}">
                      <a16:colId xmlns:a16="http://schemas.microsoft.com/office/drawing/2014/main" val="2738980452"/>
                    </a:ext>
                  </a:extLst>
                </a:gridCol>
                <a:gridCol w="2515507">
                  <a:extLst>
                    <a:ext uri="{9D8B030D-6E8A-4147-A177-3AD203B41FA5}">
                      <a16:colId xmlns:a16="http://schemas.microsoft.com/office/drawing/2014/main" val="2395747555"/>
                    </a:ext>
                  </a:extLst>
                </a:gridCol>
              </a:tblGrid>
              <a:tr h="365760">
                <a:tc>
                  <a:txBody>
                    <a:bodyPr/>
                    <a:lstStyle/>
                    <a:p>
                      <a:pPr algn="ctr"/>
                      <a:r>
                        <a:rPr lang="en-US" sz="2400" b="1" dirty="0"/>
                        <a:t>Strategy</a:t>
                      </a:r>
                    </a:p>
                  </a:txBody>
                  <a:tcPr anchor="ctr"/>
                </a:tc>
                <a:tc>
                  <a:txBody>
                    <a:bodyPr/>
                    <a:lstStyle/>
                    <a:p>
                      <a:pPr algn="ctr"/>
                      <a:r>
                        <a:rPr lang="en-US" sz="2400" b="1" dirty="0"/>
                        <a:t>Idea</a:t>
                      </a:r>
                    </a:p>
                  </a:txBody>
                  <a:tcPr anchor="ctr"/>
                </a:tc>
                <a:tc>
                  <a:txBody>
                    <a:bodyPr/>
                    <a:lstStyle/>
                    <a:p>
                      <a:pPr algn="ctr"/>
                      <a:r>
                        <a:rPr lang="en-US" sz="2400" b="1" dirty="0"/>
                        <a:t>Complexity</a:t>
                      </a:r>
                    </a:p>
                  </a:txBody>
                  <a:tcPr anchor="ctr"/>
                </a:tc>
                <a:tc>
                  <a:txBody>
                    <a:bodyPr/>
                    <a:lstStyle/>
                    <a:p>
                      <a:pPr algn="ctr"/>
                      <a:r>
                        <a:rPr lang="en-US" sz="2400" b="1" dirty="0"/>
                        <a:t>Use Case</a:t>
                      </a:r>
                    </a:p>
                  </a:txBody>
                  <a:tcPr anchor="ctr"/>
                </a:tc>
                <a:extLst>
                  <a:ext uri="{0D108BD9-81ED-4DB2-BD59-A6C34878D82A}">
                    <a16:rowId xmlns:a16="http://schemas.microsoft.com/office/drawing/2014/main" val="3339236551"/>
                  </a:ext>
                </a:extLst>
              </a:tr>
              <a:tr h="365760">
                <a:tc>
                  <a:txBody>
                    <a:bodyPr/>
                    <a:lstStyle/>
                    <a:p>
                      <a:r>
                        <a:rPr lang="en-US" sz="2400" b="1" dirty="0"/>
                        <a:t>Key Salting</a:t>
                      </a:r>
                    </a:p>
                  </a:txBody>
                  <a:tcPr anchor="ctr"/>
                </a:tc>
                <a:tc>
                  <a:txBody>
                    <a:bodyPr/>
                    <a:lstStyle/>
                    <a:p>
                      <a:r>
                        <a:rPr lang="en-US" sz="2400"/>
                        <a:t>Split heavy keys</a:t>
                      </a:r>
                    </a:p>
                  </a:txBody>
                  <a:tcPr anchor="ctr"/>
                </a:tc>
                <a:tc>
                  <a:txBody>
                    <a:bodyPr/>
                    <a:lstStyle/>
                    <a:p>
                      <a:r>
                        <a:rPr lang="en-US" sz="2400"/>
                        <a:t>Low</a:t>
                      </a:r>
                    </a:p>
                  </a:txBody>
                  <a:tcPr anchor="ctr"/>
                </a:tc>
                <a:tc>
                  <a:txBody>
                    <a:bodyPr/>
                    <a:lstStyle/>
                    <a:p>
                      <a:r>
                        <a:rPr lang="en-US" sz="2400" dirty="0" err="1"/>
                        <a:t>WordCount</a:t>
                      </a:r>
                      <a:r>
                        <a:rPr lang="en-US" sz="2400" dirty="0"/>
                        <a:t> skew</a:t>
                      </a:r>
                    </a:p>
                  </a:txBody>
                  <a:tcPr anchor="ctr"/>
                </a:tc>
                <a:extLst>
                  <a:ext uri="{0D108BD9-81ED-4DB2-BD59-A6C34878D82A}">
                    <a16:rowId xmlns:a16="http://schemas.microsoft.com/office/drawing/2014/main" val="3723672164"/>
                  </a:ext>
                </a:extLst>
              </a:tr>
              <a:tr h="365760">
                <a:tc>
                  <a:txBody>
                    <a:bodyPr/>
                    <a:lstStyle/>
                    <a:p>
                      <a:r>
                        <a:rPr lang="en-US" sz="2400" b="1" dirty="0"/>
                        <a:t>Range Partition</a:t>
                      </a:r>
                    </a:p>
                  </a:txBody>
                  <a:tcPr anchor="ctr"/>
                </a:tc>
                <a:tc>
                  <a:txBody>
                    <a:bodyPr/>
                    <a:lstStyle/>
                    <a:p>
                      <a:r>
                        <a:rPr lang="en-US" sz="2400"/>
                        <a:t>Partition by key range</a:t>
                      </a:r>
                    </a:p>
                  </a:txBody>
                  <a:tcPr anchor="ctr"/>
                </a:tc>
                <a:tc>
                  <a:txBody>
                    <a:bodyPr/>
                    <a:lstStyle/>
                    <a:p>
                      <a:r>
                        <a:rPr lang="en-US" sz="2400"/>
                        <a:t>Medium</a:t>
                      </a:r>
                    </a:p>
                  </a:txBody>
                  <a:tcPr anchor="ctr"/>
                </a:tc>
                <a:tc>
                  <a:txBody>
                    <a:bodyPr/>
                    <a:lstStyle/>
                    <a:p>
                      <a:r>
                        <a:rPr lang="en-US" sz="2400" dirty="0"/>
                        <a:t>Ordered data</a:t>
                      </a:r>
                    </a:p>
                  </a:txBody>
                  <a:tcPr anchor="ctr"/>
                </a:tc>
                <a:extLst>
                  <a:ext uri="{0D108BD9-81ED-4DB2-BD59-A6C34878D82A}">
                    <a16:rowId xmlns:a16="http://schemas.microsoft.com/office/drawing/2014/main" val="4088400000"/>
                  </a:ext>
                </a:extLst>
              </a:tr>
              <a:tr h="640080">
                <a:tc>
                  <a:txBody>
                    <a:bodyPr/>
                    <a:lstStyle/>
                    <a:p>
                      <a:r>
                        <a:rPr lang="en-US" sz="2400" b="1" dirty="0"/>
                        <a:t>Frequency-Aware</a:t>
                      </a:r>
                    </a:p>
                  </a:txBody>
                  <a:tcPr anchor="ctr"/>
                </a:tc>
                <a:tc>
                  <a:txBody>
                    <a:bodyPr/>
                    <a:lstStyle/>
                    <a:p>
                      <a:r>
                        <a:rPr lang="en-US" sz="2400"/>
                        <a:t>Assign heavy keys manually</a:t>
                      </a:r>
                    </a:p>
                  </a:txBody>
                  <a:tcPr anchor="ctr"/>
                </a:tc>
                <a:tc>
                  <a:txBody>
                    <a:bodyPr/>
                    <a:lstStyle/>
                    <a:p>
                      <a:r>
                        <a:rPr lang="en-US" sz="2400" dirty="0"/>
                        <a:t>High</a:t>
                      </a:r>
                    </a:p>
                  </a:txBody>
                  <a:tcPr anchor="ctr"/>
                </a:tc>
                <a:tc>
                  <a:txBody>
                    <a:bodyPr/>
                    <a:lstStyle/>
                    <a:p>
                      <a:r>
                        <a:rPr lang="en-US" sz="2400" dirty="0"/>
                        <a:t>Production systems</a:t>
                      </a:r>
                    </a:p>
                  </a:txBody>
                  <a:tcPr anchor="ctr"/>
                </a:tc>
                <a:extLst>
                  <a:ext uri="{0D108BD9-81ED-4DB2-BD59-A6C34878D82A}">
                    <a16:rowId xmlns:a16="http://schemas.microsoft.com/office/drawing/2014/main" val="2835732088"/>
                  </a:ext>
                </a:extLst>
              </a:tr>
            </a:tbl>
          </a:graphicData>
        </a:graphic>
      </p:graphicFrame>
    </p:spTree>
    <p:extLst>
      <p:ext uri="{BB962C8B-B14F-4D97-AF65-F5344CB8AC3E}">
        <p14:creationId xmlns:p14="http://schemas.microsoft.com/office/powerpoint/2010/main" val="387129471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Shuffling &amp; sorting</a:t>
            </a:r>
            <a:endParaRPr lang="en-US" b="1" dirty="0"/>
          </a:p>
        </p:txBody>
      </p:sp>
      <p:sp>
        <p:nvSpPr>
          <p:cNvPr id="3" name="Content Placeholder 2"/>
          <p:cNvSpPr>
            <a:spLocks noGrp="1"/>
          </p:cNvSpPr>
          <p:nvPr>
            <p:ph idx="1"/>
          </p:nvPr>
        </p:nvSpPr>
        <p:spPr>
          <a:xfrm>
            <a:off x="1024128" y="2024740"/>
            <a:ext cx="10427643" cy="4023360"/>
          </a:xfrm>
        </p:spPr>
        <p:txBody>
          <a:bodyPr>
            <a:noAutofit/>
          </a:bodyPr>
          <a:lstStyle/>
          <a:p>
            <a:pPr>
              <a:lnSpc>
                <a:spcPct val="100000"/>
              </a:lnSpc>
              <a:spcBef>
                <a:spcPts val="0"/>
              </a:spcBef>
              <a:spcAft>
                <a:spcPts val="0"/>
              </a:spcAft>
            </a:pPr>
            <a:r>
              <a:rPr lang="en-US" sz="2600" b="1" dirty="0">
                <a:solidFill>
                  <a:srgbClr val="C00000"/>
                </a:solidFill>
              </a:rPr>
              <a:t>Shuffle Phase (Data Transfer &amp; Grouping)</a:t>
            </a:r>
          </a:p>
          <a:p>
            <a:pPr>
              <a:lnSpc>
                <a:spcPct val="100000"/>
              </a:lnSpc>
              <a:spcBef>
                <a:spcPts val="0"/>
              </a:spcBef>
              <a:spcAft>
                <a:spcPts val="0"/>
              </a:spcAft>
              <a:buFont typeface="Wingdings" panose="05000000000000000000" pitchFamily="2" charset="2"/>
              <a:buChar char="§"/>
            </a:pPr>
            <a:r>
              <a:rPr lang="en-US" sz="2600" dirty="0" smtClean="0"/>
              <a:t>Transfers </a:t>
            </a:r>
            <a:r>
              <a:rPr lang="en-US" sz="2600" dirty="0"/>
              <a:t>intermediate </a:t>
            </a:r>
            <a:r>
              <a:rPr lang="en-US" sz="2600" i="1" dirty="0"/>
              <a:t>(key, value)</a:t>
            </a:r>
            <a:r>
              <a:rPr lang="en-US" sz="2600" dirty="0"/>
              <a:t> pairs from </a:t>
            </a:r>
            <a:r>
              <a:rPr lang="en-US" sz="2600" b="1" dirty="0"/>
              <a:t>Mappers → Reducers</a:t>
            </a:r>
            <a:endParaRPr lang="en-US" sz="2600" dirty="0"/>
          </a:p>
          <a:p>
            <a:pPr>
              <a:lnSpc>
                <a:spcPct val="100000"/>
              </a:lnSpc>
              <a:spcBef>
                <a:spcPts val="0"/>
              </a:spcBef>
              <a:spcAft>
                <a:spcPts val="0"/>
              </a:spcAft>
              <a:buFont typeface="Wingdings" panose="05000000000000000000" pitchFamily="2" charset="2"/>
              <a:buChar char="§"/>
            </a:pPr>
            <a:r>
              <a:rPr lang="en-US" sz="2600" dirty="0"/>
              <a:t>Groups records by key</a:t>
            </a:r>
          </a:p>
          <a:p>
            <a:pPr>
              <a:lnSpc>
                <a:spcPct val="100000"/>
              </a:lnSpc>
              <a:spcBef>
                <a:spcPts val="0"/>
              </a:spcBef>
              <a:spcAft>
                <a:spcPts val="0"/>
              </a:spcAft>
              <a:buFont typeface="Wingdings" panose="05000000000000000000" pitchFamily="2" charset="2"/>
              <a:buChar char="§"/>
            </a:pPr>
            <a:r>
              <a:rPr lang="en-US" sz="2600" dirty="0" smtClean="0"/>
              <a:t>Ensure </a:t>
            </a:r>
            <a:r>
              <a:rPr lang="en-US" sz="2600" dirty="0"/>
              <a:t>that </a:t>
            </a:r>
            <a:r>
              <a:rPr lang="en-US" sz="2600" b="1" dirty="0"/>
              <a:t>all values of the same key go to the same </a:t>
            </a:r>
            <a:r>
              <a:rPr lang="en-US" sz="2600" b="1" dirty="0" smtClean="0"/>
              <a:t>reducer</a:t>
            </a:r>
          </a:p>
          <a:p>
            <a:pPr marL="0" indent="0">
              <a:lnSpc>
                <a:spcPct val="100000"/>
              </a:lnSpc>
              <a:spcBef>
                <a:spcPts val="0"/>
              </a:spcBef>
              <a:spcAft>
                <a:spcPts val="0"/>
              </a:spcAft>
              <a:buNone/>
            </a:pPr>
            <a:r>
              <a:rPr lang="en-US" sz="2600" b="1" i="1" dirty="0" smtClean="0">
                <a:solidFill>
                  <a:srgbClr val="C00000"/>
                </a:solidFill>
              </a:rPr>
              <a:t>It is the </a:t>
            </a:r>
            <a:r>
              <a:rPr lang="en-US" sz="2600" b="1" i="1" dirty="0">
                <a:solidFill>
                  <a:srgbClr val="C00000"/>
                </a:solidFill>
              </a:rPr>
              <a:t>physical movement of the data which is done over the network</a:t>
            </a:r>
            <a:r>
              <a:rPr lang="en-US" sz="2600" b="1" i="1" dirty="0" smtClean="0">
                <a:solidFill>
                  <a:srgbClr val="C00000"/>
                </a:solidFill>
              </a:rPr>
              <a:t>.</a:t>
            </a:r>
          </a:p>
          <a:p>
            <a:pPr marL="0" indent="0">
              <a:lnSpc>
                <a:spcPct val="100000"/>
              </a:lnSpc>
              <a:spcBef>
                <a:spcPts val="0"/>
              </a:spcBef>
              <a:spcAft>
                <a:spcPts val="0"/>
              </a:spcAft>
              <a:buNone/>
            </a:pPr>
            <a:r>
              <a:rPr lang="en-US" sz="2600" b="1" u="sng" dirty="0" smtClean="0"/>
              <a:t>Important </a:t>
            </a:r>
            <a:r>
              <a:rPr lang="en-US" sz="2600" b="1" u="sng" dirty="0"/>
              <a:t>characteristics:</a:t>
            </a:r>
            <a:endParaRPr lang="en-US" sz="2600" u="sng" dirty="0"/>
          </a:p>
          <a:p>
            <a:pPr>
              <a:lnSpc>
                <a:spcPct val="100000"/>
              </a:lnSpc>
              <a:spcBef>
                <a:spcPts val="0"/>
              </a:spcBef>
              <a:spcAft>
                <a:spcPts val="0"/>
              </a:spcAft>
              <a:buFont typeface="Wingdings" panose="05000000000000000000" pitchFamily="2" charset="2"/>
              <a:buChar char="§"/>
            </a:pPr>
            <a:r>
              <a:rPr lang="en-US" sz="2600" dirty="0"/>
              <a:t>Starts </a:t>
            </a:r>
            <a:r>
              <a:rPr lang="en-US" sz="2600" b="1" dirty="0"/>
              <a:t>before all mappers finish</a:t>
            </a:r>
            <a:r>
              <a:rPr lang="en-US" sz="2600" dirty="0"/>
              <a:t> (overlapping execution improves performance)</a:t>
            </a:r>
          </a:p>
          <a:p>
            <a:pPr>
              <a:lnSpc>
                <a:spcPct val="100000"/>
              </a:lnSpc>
              <a:spcBef>
                <a:spcPts val="0"/>
              </a:spcBef>
              <a:spcAft>
                <a:spcPts val="0"/>
              </a:spcAft>
              <a:buFont typeface="Wingdings" panose="05000000000000000000" pitchFamily="2" charset="2"/>
              <a:buChar char="§"/>
            </a:pPr>
            <a:r>
              <a:rPr lang="en-US" sz="2600" dirty="0"/>
              <a:t>Involves </a:t>
            </a:r>
            <a:r>
              <a:rPr lang="en-US" sz="2600" b="1" dirty="0"/>
              <a:t>network communication</a:t>
            </a:r>
            <a:endParaRPr lang="en-US" sz="2600" dirty="0"/>
          </a:p>
          <a:p>
            <a:pPr>
              <a:lnSpc>
                <a:spcPct val="100000"/>
              </a:lnSpc>
              <a:spcBef>
                <a:spcPts val="0"/>
              </a:spcBef>
              <a:spcAft>
                <a:spcPts val="0"/>
              </a:spcAft>
              <a:buFont typeface="Wingdings" panose="05000000000000000000" pitchFamily="2" charset="2"/>
              <a:buChar char="§"/>
            </a:pPr>
            <a:r>
              <a:rPr lang="en-US" sz="2600" dirty="0"/>
              <a:t>Often the </a:t>
            </a:r>
            <a:r>
              <a:rPr lang="en-US" sz="2600" b="1" dirty="0"/>
              <a:t>most expensive phase</a:t>
            </a:r>
            <a:r>
              <a:rPr lang="en-US" sz="2600" dirty="0"/>
              <a:t> </a:t>
            </a:r>
            <a:r>
              <a:rPr lang="en-US" sz="2600" dirty="0" smtClean="0"/>
              <a:t>(network </a:t>
            </a:r>
            <a:r>
              <a:rPr lang="en-US" sz="2600" dirty="0"/>
              <a:t>+ disk operations</a:t>
            </a:r>
            <a:r>
              <a:rPr lang="en-US" sz="2600" dirty="0" smtClean="0"/>
              <a:t>)</a:t>
            </a:r>
            <a:endParaRPr lang="en-US" sz="2600" dirty="0"/>
          </a:p>
        </p:txBody>
      </p:sp>
    </p:spTree>
    <p:extLst>
      <p:ext uri="{BB962C8B-B14F-4D97-AF65-F5344CB8AC3E}">
        <p14:creationId xmlns:p14="http://schemas.microsoft.com/office/powerpoint/2010/main" val="3340544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par>
                          <p:cTn id="25" fill="hold">
                            <p:stCondLst>
                              <p:cond delay="500"/>
                            </p:stCondLst>
                            <p:childTnLst>
                              <p:par>
                                <p:cTn id="26" presetID="2" presetClass="entr" presetSubtype="4" fill="hold" nodeType="after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 calcmode="lin" valueType="num">
                                      <p:cBhvr additive="base">
                                        <p:cTn id="28"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par>
                          <p:cTn id="30" fill="hold">
                            <p:stCondLst>
                              <p:cond delay="1000"/>
                            </p:stCondLst>
                            <p:childTnLst>
                              <p:par>
                                <p:cTn id="31" presetID="2" presetClass="entr" presetSubtype="4" fill="hold" nodeType="after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par>
                          <p:cTn id="35" fill="hold">
                            <p:stCondLst>
                              <p:cond delay="1500"/>
                            </p:stCondLst>
                            <p:childTnLst>
                              <p:par>
                                <p:cTn id="36" presetID="2" presetClass="entr" presetSubtype="4" fill="hold" nodeType="after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 calcmode="lin" valueType="num">
                                      <p:cBhvr additive="base">
                                        <p:cTn id="38"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par>
                          <p:cTn id="40" fill="hold">
                            <p:stCondLst>
                              <p:cond delay="2000"/>
                            </p:stCondLst>
                            <p:childTnLst>
                              <p:par>
                                <p:cTn id="41" presetID="2" presetClass="entr" presetSubtype="4" fill="hold" nodeType="after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 calcmode="lin" valueType="num">
                                      <p:cBhvr additive="base">
                                        <p:cTn id="4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Shuffling &amp; sorting</a:t>
            </a:r>
          </a:p>
        </p:txBody>
      </p:sp>
      <p:sp>
        <p:nvSpPr>
          <p:cNvPr id="3" name="Content Placeholder 2"/>
          <p:cNvSpPr>
            <a:spLocks noGrp="1"/>
          </p:cNvSpPr>
          <p:nvPr>
            <p:ph idx="1"/>
          </p:nvPr>
        </p:nvSpPr>
        <p:spPr>
          <a:xfrm>
            <a:off x="1024128" y="1894114"/>
            <a:ext cx="10863072" cy="4023360"/>
          </a:xfrm>
        </p:spPr>
        <p:txBody>
          <a:bodyPr>
            <a:noAutofit/>
          </a:bodyPr>
          <a:lstStyle/>
          <a:p>
            <a:pPr>
              <a:lnSpc>
                <a:spcPct val="100000"/>
              </a:lnSpc>
              <a:spcBef>
                <a:spcPts val="0"/>
              </a:spcBef>
              <a:spcAft>
                <a:spcPts val="0"/>
              </a:spcAft>
            </a:pPr>
            <a:r>
              <a:rPr lang="en-US" sz="2600" b="1" dirty="0">
                <a:solidFill>
                  <a:srgbClr val="C00000"/>
                </a:solidFill>
              </a:rPr>
              <a:t>Sort Phase (Automatic Key Ordering)</a:t>
            </a:r>
          </a:p>
          <a:p>
            <a:pPr>
              <a:lnSpc>
                <a:spcPct val="100000"/>
              </a:lnSpc>
              <a:spcBef>
                <a:spcPts val="0"/>
              </a:spcBef>
              <a:spcAft>
                <a:spcPts val="0"/>
              </a:spcAft>
              <a:buFont typeface="Wingdings" panose="05000000000000000000" pitchFamily="2" charset="2"/>
              <a:buChar char="§"/>
            </a:pPr>
            <a:r>
              <a:rPr lang="en-US" sz="2600" dirty="0" smtClean="0"/>
              <a:t>Sorts </a:t>
            </a:r>
            <a:r>
              <a:rPr lang="en-US" sz="2600" dirty="0"/>
              <a:t>intermediate keys before they reach the </a:t>
            </a:r>
            <a:r>
              <a:rPr lang="en-US" sz="2600" dirty="0" smtClean="0"/>
              <a:t>reducer</a:t>
            </a:r>
            <a:r>
              <a:rPr lang="en-US" sz="2600" dirty="0"/>
              <a:t>, Combines multiple sorted </a:t>
            </a:r>
            <a:r>
              <a:rPr lang="en-US" sz="2600" dirty="0" smtClean="0"/>
              <a:t>lists </a:t>
            </a:r>
            <a:r>
              <a:rPr lang="en-US" sz="2600" dirty="0"/>
              <a:t>from Mappers into a single globally sorted stream for each Reducer</a:t>
            </a:r>
            <a:endParaRPr lang="en-US" sz="2600" dirty="0"/>
          </a:p>
          <a:p>
            <a:pPr>
              <a:lnSpc>
                <a:spcPct val="100000"/>
              </a:lnSpc>
              <a:spcBef>
                <a:spcPts val="0"/>
              </a:spcBef>
              <a:spcAft>
                <a:spcPts val="0"/>
              </a:spcAft>
              <a:buFont typeface="Wingdings" panose="05000000000000000000" pitchFamily="2" charset="2"/>
              <a:buChar char="§"/>
            </a:pPr>
            <a:r>
              <a:rPr lang="en-US" sz="2600" dirty="0"/>
              <a:t>Ensures reducer receives data in </a:t>
            </a:r>
            <a:r>
              <a:rPr lang="en-US" sz="2600" b="1" dirty="0"/>
              <a:t>sorted key order</a:t>
            </a:r>
            <a:endParaRPr lang="en-US" sz="2600" dirty="0"/>
          </a:p>
          <a:p>
            <a:pPr>
              <a:lnSpc>
                <a:spcPct val="100000"/>
              </a:lnSpc>
              <a:spcBef>
                <a:spcPts val="0"/>
              </a:spcBef>
              <a:spcAft>
                <a:spcPts val="0"/>
              </a:spcAft>
              <a:buFont typeface="Wingdings" panose="05000000000000000000" pitchFamily="2" charset="2"/>
              <a:buChar char="§"/>
            </a:pPr>
            <a:r>
              <a:rPr lang="en-US" sz="2600" dirty="0"/>
              <a:t>Groups identical keys together: Consolidates all values for a unique key into a single list: </a:t>
            </a:r>
            <a:r>
              <a:rPr lang="en-US" sz="2600" dirty="0" smtClean="0"/>
              <a:t>K</a:t>
            </a:r>
            <a:r>
              <a:rPr lang="en-US" sz="2600" dirty="0" smtClean="0">
                <a:sym typeface="Wingdings" panose="05000000000000000000" pitchFamily="2" charset="2"/>
              </a:rPr>
              <a:t></a:t>
            </a:r>
            <a:r>
              <a:rPr lang="en-US" sz="2600" dirty="0" smtClean="0"/>
              <a:t>[V_1</a:t>
            </a:r>
            <a:r>
              <a:rPr lang="en-US" sz="2600" dirty="0"/>
              <a:t>, V_2, V_3, </a:t>
            </a:r>
            <a:r>
              <a:rPr lang="en-US" sz="2600" dirty="0" smtClean="0"/>
              <a:t>...].</a:t>
            </a:r>
            <a:endParaRPr lang="en-US" sz="2600" b="1" dirty="0" smtClean="0"/>
          </a:p>
          <a:p>
            <a:pPr marL="0" indent="0">
              <a:lnSpc>
                <a:spcPct val="100000"/>
              </a:lnSpc>
              <a:spcBef>
                <a:spcPts val="0"/>
              </a:spcBef>
              <a:spcAft>
                <a:spcPts val="0"/>
              </a:spcAft>
              <a:buNone/>
            </a:pPr>
            <a:r>
              <a:rPr lang="en-US" sz="2600" b="1" dirty="0" smtClean="0"/>
              <a:t>Why </a:t>
            </a:r>
            <a:r>
              <a:rPr lang="en-US" sz="2600" b="1" dirty="0"/>
              <a:t>important?</a:t>
            </a:r>
            <a:endParaRPr lang="en-US" sz="2600" dirty="0"/>
          </a:p>
          <a:p>
            <a:pPr>
              <a:lnSpc>
                <a:spcPct val="100000"/>
              </a:lnSpc>
              <a:spcBef>
                <a:spcPts val="0"/>
              </a:spcBef>
              <a:spcAft>
                <a:spcPts val="0"/>
              </a:spcAft>
              <a:buFont typeface="Wingdings" panose="05000000000000000000" pitchFamily="2" charset="2"/>
              <a:buChar char="§"/>
            </a:pPr>
            <a:r>
              <a:rPr lang="en-US" sz="2600" dirty="0"/>
              <a:t>Enables efficient </a:t>
            </a:r>
            <a:r>
              <a:rPr lang="en-US" sz="2600" dirty="0" smtClean="0"/>
              <a:t>aggregation</a:t>
            </a:r>
            <a:endParaRPr lang="en-US" dirty="0" smtClean="0"/>
          </a:p>
          <a:p>
            <a:pPr marL="0" indent="0">
              <a:lnSpc>
                <a:spcPct val="100000"/>
              </a:lnSpc>
              <a:spcBef>
                <a:spcPts val="0"/>
              </a:spcBef>
              <a:spcAft>
                <a:spcPts val="0"/>
              </a:spcAft>
              <a:buNone/>
            </a:pPr>
            <a:r>
              <a:rPr lang="en-US" dirty="0"/>
              <a:t>Because the data is sorted, the Reducer doesn't have to search the whole dataset to find all </a:t>
            </a:r>
            <a:r>
              <a:rPr lang="en-US" dirty="0" smtClean="0"/>
              <a:t>certain key. </a:t>
            </a:r>
            <a:r>
              <a:rPr lang="en-US" dirty="0"/>
              <a:t>They are all right next to each other in the stream.</a:t>
            </a:r>
            <a:endParaRPr lang="en-US" dirty="0"/>
          </a:p>
          <a:p>
            <a:pPr>
              <a:lnSpc>
                <a:spcPct val="100000"/>
              </a:lnSpc>
              <a:spcBef>
                <a:spcPts val="0"/>
              </a:spcBef>
              <a:spcAft>
                <a:spcPts val="0"/>
              </a:spcAft>
              <a:buFont typeface="Wingdings" panose="05000000000000000000" pitchFamily="2" charset="2"/>
              <a:buChar char="§"/>
            </a:pPr>
            <a:r>
              <a:rPr lang="en-US" sz="2600" dirty="0"/>
              <a:t>Ensures deterministic processing</a:t>
            </a:r>
          </a:p>
          <a:p>
            <a:pPr>
              <a:lnSpc>
                <a:spcPct val="100000"/>
              </a:lnSpc>
              <a:spcBef>
                <a:spcPts val="0"/>
              </a:spcBef>
              <a:spcAft>
                <a:spcPts val="0"/>
              </a:spcAft>
              <a:buFont typeface="Wingdings" panose="05000000000000000000" pitchFamily="2" charset="2"/>
              <a:buChar char="§"/>
            </a:pPr>
            <a:r>
              <a:rPr lang="en-US" sz="2600" dirty="0"/>
              <a:t>Makes reducers simpler </a:t>
            </a:r>
            <a:r>
              <a:rPr lang="en-US" sz="2600" dirty="0" smtClean="0"/>
              <a:t>(</a:t>
            </a:r>
            <a:r>
              <a:rPr lang="en-US" sz="2600" i="1" dirty="0" smtClean="0"/>
              <a:t>reducer logic complexity reduction</a:t>
            </a:r>
            <a:r>
              <a:rPr lang="en-US" sz="2600" dirty="0" smtClean="0"/>
              <a:t>)</a:t>
            </a:r>
            <a:endParaRPr lang="en-US" sz="2600" dirty="0"/>
          </a:p>
        </p:txBody>
      </p:sp>
    </p:spTree>
    <p:extLst>
      <p:ext uri="{BB962C8B-B14F-4D97-AF65-F5344CB8AC3E}">
        <p14:creationId xmlns:p14="http://schemas.microsoft.com/office/powerpoint/2010/main" val="2566943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 calcmode="lin" valueType="num">
                                      <p:cBhvr additive="base">
                                        <p:cTn id="4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reduce phase </a:t>
            </a:r>
            <a:endParaRPr lang="en-US" b="1" dirty="0"/>
          </a:p>
        </p:txBody>
      </p:sp>
      <p:sp>
        <p:nvSpPr>
          <p:cNvPr id="4" name="Content Placeholder 2"/>
          <p:cNvSpPr txBox="1">
            <a:spLocks/>
          </p:cNvSpPr>
          <p:nvPr/>
        </p:nvSpPr>
        <p:spPr>
          <a:xfrm>
            <a:off x="1024128" y="2295287"/>
            <a:ext cx="10151872" cy="4337742"/>
          </a:xfrm>
          <a:prstGeom prst="rect">
            <a:avLst/>
          </a:prstGeom>
        </p:spPr>
        <p:txBody>
          <a:bodyPr vert="horz" lIns="45720" tIns="45720" rIns="4572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sz="2600" b="1" dirty="0" smtClean="0">
                <a:solidFill>
                  <a:srgbClr val="C00000"/>
                </a:solidFill>
              </a:rPr>
              <a:t>Reduce</a:t>
            </a:r>
            <a:r>
              <a:rPr lang="en-US" sz="2600" b="1" dirty="0" smtClean="0"/>
              <a:t>:</a:t>
            </a:r>
            <a:r>
              <a:rPr lang="en-US" sz="2600" dirty="0" smtClean="0"/>
              <a:t> A </a:t>
            </a:r>
            <a:r>
              <a:rPr lang="en-US" sz="2600" b="1" dirty="0" smtClean="0"/>
              <a:t>user-defined function</a:t>
            </a:r>
            <a:r>
              <a:rPr lang="en-US" sz="2600" dirty="0" smtClean="0"/>
              <a:t> that accepts an intermediate key and a set of values for that key. It merges these values to form a possibly smaller set of values.</a:t>
            </a:r>
          </a:p>
          <a:p>
            <a:pPr>
              <a:lnSpc>
                <a:spcPct val="100000"/>
              </a:lnSpc>
              <a:spcBef>
                <a:spcPts val="0"/>
              </a:spcBef>
              <a:spcAft>
                <a:spcPts val="0"/>
              </a:spcAft>
              <a:buFont typeface="Arial" panose="020B0604020202020204" pitchFamily="34" charset="0"/>
              <a:buChar char="•"/>
            </a:pPr>
            <a:r>
              <a:rPr lang="en-US" i="1" dirty="0" smtClean="0"/>
              <a:t> </a:t>
            </a:r>
            <a:r>
              <a:rPr lang="en-US" sz="2400" i="1" dirty="0" smtClean="0"/>
              <a:t>Input</a:t>
            </a:r>
            <a:r>
              <a:rPr lang="en-US" sz="2400" dirty="0"/>
              <a:t>: </a:t>
            </a:r>
            <a:r>
              <a:rPr lang="en-US" sz="2400" b="1" dirty="0"/>
              <a:t>intermediate key + list of (all) values </a:t>
            </a:r>
            <a:r>
              <a:rPr lang="en-US" sz="2400" dirty="0"/>
              <a:t>for this </a:t>
            </a:r>
            <a:r>
              <a:rPr lang="en-US" sz="2400" dirty="0" smtClean="0"/>
              <a:t>key</a:t>
            </a:r>
          </a:p>
          <a:p>
            <a:pPr>
              <a:lnSpc>
                <a:spcPct val="100000"/>
              </a:lnSpc>
              <a:spcBef>
                <a:spcPts val="0"/>
              </a:spcBef>
              <a:spcAft>
                <a:spcPts val="0"/>
              </a:spcAft>
              <a:buFont typeface="Arial" panose="020B0604020202020204" pitchFamily="34" charset="0"/>
              <a:buChar char="•"/>
            </a:pPr>
            <a:r>
              <a:rPr lang="en-US" sz="2400" i="1" dirty="0"/>
              <a:t> </a:t>
            </a:r>
            <a:r>
              <a:rPr lang="en-US" sz="2400" i="1" dirty="0" smtClean="0"/>
              <a:t>Output</a:t>
            </a:r>
            <a:r>
              <a:rPr lang="en-US" sz="2400" dirty="0"/>
              <a:t>: </a:t>
            </a:r>
            <a:r>
              <a:rPr lang="en-US" sz="2400" b="1" dirty="0"/>
              <a:t>possibly smaller list of values </a:t>
            </a:r>
            <a:r>
              <a:rPr lang="en-US" sz="2400" dirty="0"/>
              <a:t>for this </a:t>
            </a:r>
            <a:r>
              <a:rPr lang="en-US" sz="2400" dirty="0" smtClean="0"/>
              <a:t>key</a:t>
            </a:r>
          </a:p>
          <a:p>
            <a:pPr>
              <a:lnSpc>
                <a:spcPct val="100000"/>
              </a:lnSpc>
              <a:spcBef>
                <a:spcPts val="0"/>
              </a:spcBef>
              <a:spcAft>
                <a:spcPts val="0"/>
              </a:spcAft>
              <a:buFont typeface="Arial" panose="020B0604020202020204" pitchFamily="34" charset="0"/>
              <a:buChar char="•"/>
            </a:pPr>
            <a:endParaRPr lang="en-US" sz="2600" dirty="0"/>
          </a:p>
          <a:p>
            <a:pPr marL="0" indent="0">
              <a:lnSpc>
                <a:spcPct val="100000"/>
              </a:lnSpc>
              <a:spcBef>
                <a:spcPts val="0"/>
              </a:spcBef>
              <a:spcAft>
                <a:spcPts val="0"/>
              </a:spcAft>
              <a:buNone/>
            </a:pPr>
            <a:r>
              <a:rPr lang="en-US" sz="2600" dirty="0"/>
              <a:t>Reducers run in parallel as they are independent of one another. </a:t>
            </a:r>
            <a:r>
              <a:rPr lang="en-US" sz="2600" b="1" dirty="0"/>
              <a:t>The user decides the number of reducers.</a:t>
            </a:r>
            <a:r>
              <a:rPr lang="en-US" sz="2600" dirty="0"/>
              <a:t> By default, the number of reducers is 1.</a:t>
            </a:r>
          </a:p>
        </p:txBody>
      </p:sp>
    </p:spTree>
    <p:extLst>
      <p:ext uri="{BB962C8B-B14F-4D97-AF65-F5344CB8AC3E}">
        <p14:creationId xmlns:p14="http://schemas.microsoft.com/office/powerpoint/2010/main" val="807960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anim calcmode="lin" valueType="num">
                                      <p:cBhvr additive="base">
                                        <p:cTn id="7"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Record writer</a:t>
            </a:r>
            <a:endParaRPr lang="en-US" b="1" dirty="0"/>
          </a:p>
        </p:txBody>
      </p:sp>
      <p:sp>
        <p:nvSpPr>
          <p:cNvPr id="3" name="Content Placeholder 2"/>
          <p:cNvSpPr>
            <a:spLocks noGrp="1"/>
          </p:cNvSpPr>
          <p:nvPr>
            <p:ph idx="1"/>
          </p:nvPr>
        </p:nvSpPr>
        <p:spPr/>
        <p:txBody>
          <a:bodyPr>
            <a:normAutofit/>
          </a:bodyPr>
          <a:lstStyle/>
          <a:p>
            <a:r>
              <a:rPr lang="en-US" sz="2600" dirty="0" smtClean="0"/>
              <a:t>It writes the </a:t>
            </a:r>
            <a:r>
              <a:rPr lang="en-US" sz="2600" dirty="0"/>
              <a:t>output key-value pair from the Reducer phase to the output files. </a:t>
            </a:r>
            <a:endParaRPr lang="en-US" sz="2600" dirty="0" smtClean="0"/>
          </a:p>
          <a:p>
            <a:r>
              <a:rPr lang="en-US" sz="2600" dirty="0" smtClean="0"/>
              <a:t>The </a:t>
            </a:r>
            <a:r>
              <a:rPr lang="en-US" sz="2600" dirty="0"/>
              <a:t>final output of reducer is written on HDFS by Output Format. Output Files are stored in a File System.</a:t>
            </a:r>
          </a:p>
        </p:txBody>
      </p:sp>
    </p:spTree>
    <p:extLst>
      <p:ext uri="{BB962C8B-B14F-4D97-AF65-F5344CB8AC3E}">
        <p14:creationId xmlns:p14="http://schemas.microsoft.com/office/powerpoint/2010/main" val="266730010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268815" y="275771"/>
            <a:ext cx="11567656" cy="6342743"/>
          </a:xfrm>
          <a:prstGeom prst="rect">
            <a:avLst/>
          </a:prstGeom>
        </p:spPr>
      </p:pic>
    </p:spTree>
    <p:extLst>
      <p:ext uri="{BB962C8B-B14F-4D97-AF65-F5344CB8AC3E}">
        <p14:creationId xmlns:p14="http://schemas.microsoft.com/office/powerpoint/2010/main" val="277200108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Mapreduce</a:t>
            </a:r>
            <a:r>
              <a:rPr lang="en-US" b="1" dirty="0" smtClean="0"/>
              <a:t> job execution workflow</a:t>
            </a:r>
            <a:endParaRPr lang="en-US" b="1" dirty="0"/>
          </a:p>
        </p:txBody>
      </p:sp>
      <p:sp>
        <p:nvSpPr>
          <p:cNvPr id="3" name="Content Placeholder 2"/>
          <p:cNvSpPr>
            <a:spLocks noGrp="1"/>
          </p:cNvSpPr>
          <p:nvPr>
            <p:ph idx="1"/>
          </p:nvPr>
        </p:nvSpPr>
        <p:spPr>
          <a:xfrm>
            <a:off x="1024128" y="2286000"/>
            <a:ext cx="4679986" cy="4023360"/>
          </a:xfrm>
        </p:spPr>
        <p:style>
          <a:lnRef idx="2">
            <a:schemeClr val="dk1"/>
          </a:lnRef>
          <a:fillRef idx="1">
            <a:schemeClr val="lt1"/>
          </a:fillRef>
          <a:effectRef idx="0">
            <a:schemeClr val="dk1"/>
          </a:effectRef>
          <a:fontRef idx="minor">
            <a:schemeClr val="dk1"/>
          </a:fontRef>
        </p:style>
        <p:txBody>
          <a:bodyPr>
            <a:noAutofit/>
          </a:bodyPr>
          <a:lstStyle/>
          <a:p>
            <a:pPr>
              <a:lnSpc>
                <a:spcPct val="100000"/>
              </a:lnSpc>
              <a:spcBef>
                <a:spcPts val="0"/>
              </a:spcBef>
              <a:spcAft>
                <a:spcPts val="0"/>
              </a:spcAft>
            </a:pPr>
            <a:r>
              <a:rPr lang="en-US" sz="2600" b="1" dirty="0" smtClean="0"/>
              <a:t>1. Job </a:t>
            </a:r>
            <a:r>
              <a:rPr lang="en-US" sz="2600" b="1" dirty="0"/>
              <a:t>Submission (Client Layer)</a:t>
            </a:r>
          </a:p>
          <a:p>
            <a:pPr>
              <a:lnSpc>
                <a:spcPct val="100000"/>
              </a:lnSpc>
              <a:spcBef>
                <a:spcPts val="0"/>
              </a:spcBef>
              <a:spcAft>
                <a:spcPts val="0"/>
              </a:spcAft>
            </a:pPr>
            <a:r>
              <a:rPr lang="en-US" sz="2600" dirty="0"/>
              <a:t>Client submits a </a:t>
            </a:r>
            <a:r>
              <a:rPr lang="en-US" sz="2600" dirty="0" err="1"/>
              <a:t>MapReduce</a:t>
            </a:r>
            <a:r>
              <a:rPr lang="en-US" sz="2600" dirty="0"/>
              <a:t> job to the cluster</a:t>
            </a:r>
          </a:p>
          <a:p>
            <a:pPr>
              <a:lnSpc>
                <a:spcPct val="100000"/>
              </a:lnSpc>
              <a:spcBef>
                <a:spcPts val="0"/>
              </a:spcBef>
              <a:spcAft>
                <a:spcPts val="0"/>
              </a:spcAft>
            </a:pPr>
            <a:r>
              <a:rPr lang="en-US" sz="2600" b="1" dirty="0"/>
              <a:t>Job includes:</a:t>
            </a:r>
          </a:p>
          <a:p>
            <a:pPr lvl="1">
              <a:lnSpc>
                <a:spcPct val="100000"/>
              </a:lnSpc>
              <a:spcBef>
                <a:spcPts val="0"/>
              </a:spcBef>
              <a:spcAft>
                <a:spcPts val="0"/>
              </a:spcAft>
            </a:pPr>
            <a:r>
              <a:rPr lang="en-US" sz="2600" dirty="0" smtClean="0"/>
              <a:t>Mapper </a:t>
            </a:r>
            <a:r>
              <a:rPr lang="en-US" sz="2600" dirty="0"/>
              <a:t>class</a:t>
            </a:r>
          </a:p>
          <a:p>
            <a:pPr lvl="1">
              <a:lnSpc>
                <a:spcPct val="100000"/>
              </a:lnSpc>
              <a:spcBef>
                <a:spcPts val="0"/>
              </a:spcBef>
              <a:spcAft>
                <a:spcPts val="0"/>
              </a:spcAft>
            </a:pPr>
            <a:r>
              <a:rPr lang="en-US" sz="2600" dirty="0"/>
              <a:t>Reducer class</a:t>
            </a:r>
          </a:p>
          <a:p>
            <a:pPr lvl="1">
              <a:lnSpc>
                <a:spcPct val="100000"/>
              </a:lnSpc>
              <a:spcBef>
                <a:spcPts val="0"/>
              </a:spcBef>
              <a:spcAft>
                <a:spcPts val="0"/>
              </a:spcAft>
            </a:pPr>
            <a:r>
              <a:rPr lang="en-US" sz="2600" dirty="0"/>
              <a:t>Input path (HDFS)</a:t>
            </a:r>
          </a:p>
          <a:p>
            <a:pPr lvl="1">
              <a:lnSpc>
                <a:spcPct val="100000"/>
              </a:lnSpc>
              <a:spcBef>
                <a:spcPts val="0"/>
              </a:spcBef>
              <a:spcAft>
                <a:spcPts val="0"/>
              </a:spcAft>
            </a:pPr>
            <a:r>
              <a:rPr lang="en-US" sz="2600" dirty="0"/>
              <a:t>Output path (HDFS)</a:t>
            </a:r>
          </a:p>
          <a:p>
            <a:pPr lvl="1">
              <a:lnSpc>
                <a:spcPct val="100000"/>
              </a:lnSpc>
              <a:spcBef>
                <a:spcPts val="0"/>
              </a:spcBef>
              <a:spcAft>
                <a:spcPts val="0"/>
              </a:spcAft>
            </a:pPr>
            <a:r>
              <a:rPr lang="en-US" sz="2600" dirty="0"/>
              <a:t>Job configuration </a:t>
            </a:r>
            <a:r>
              <a:rPr lang="en-US" sz="2600" dirty="0" smtClean="0"/>
              <a:t>parameters</a:t>
            </a:r>
            <a:endParaRPr lang="en-US" sz="2600" dirty="0"/>
          </a:p>
        </p:txBody>
      </p:sp>
      <p:sp>
        <p:nvSpPr>
          <p:cNvPr id="5" name="Content Placeholder 2"/>
          <p:cNvSpPr txBox="1">
            <a:spLocks/>
          </p:cNvSpPr>
          <p:nvPr/>
        </p:nvSpPr>
        <p:spPr>
          <a:xfrm>
            <a:off x="6299200" y="2285999"/>
            <a:ext cx="4949371" cy="4463143"/>
          </a:xfrm>
          <a:prstGeom prst="rect">
            <a:avLst/>
          </a:prstGeom>
        </p:spPr>
        <p:style>
          <a:lnRef idx="2">
            <a:schemeClr val="dk1"/>
          </a:lnRef>
          <a:fillRef idx="1">
            <a:schemeClr val="lt1"/>
          </a:fillRef>
          <a:effectRef idx="0">
            <a:schemeClr val="dk1"/>
          </a:effectRef>
          <a:fontRef idx="minor">
            <a:schemeClr val="dk1"/>
          </a:fontRef>
        </p:style>
        <p:txBody>
          <a:bodyPr vert="horz" lIns="45720" tIns="45720" rIns="4572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dk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dk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dk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dk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dk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dk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dk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dk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dk1"/>
                </a:solidFill>
                <a:latin typeface="+mn-lt"/>
                <a:ea typeface="+mn-ea"/>
                <a:cs typeface="+mn-cs"/>
              </a:defRPr>
            </a:lvl9pPr>
          </a:lstStyle>
          <a:p>
            <a:pPr>
              <a:lnSpc>
                <a:spcPct val="100000"/>
              </a:lnSpc>
              <a:spcBef>
                <a:spcPts val="0"/>
              </a:spcBef>
              <a:spcAft>
                <a:spcPts val="0"/>
              </a:spcAft>
            </a:pPr>
            <a:r>
              <a:rPr lang="en-US" sz="2600" b="1" dirty="0" smtClean="0"/>
              <a:t>2. Job </a:t>
            </a:r>
            <a:r>
              <a:rPr lang="en-US" sz="2600" b="1" dirty="0"/>
              <a:t>Coordination (Master Layer</a:t>
            </a:r>
            <a:r>
              <a:rPr lang="en-US" sz="2600" b="1" dirty="0" smtClean="0"/>
              <a:t>)</a:t>
            </a:r>
          </a:p>
          <a:p>
            <a:pPr>
              <a:lnSpc>
                <a:spcPct val="100000"/>
              </a:lnSpc>
              <a:spcBef>
                <a:spcPts val="0"/>
              </a:spcBef>
              <a:spcAft>
                <a:spcPts val="0"/>
              </a:spcAft>
              <a:buFont typeface="Arial" panose="020B0604020202020204" pitchFamily="34" charset="0"/>
              <a:buChar char="•"/>
            </a:pPr>
            <a:r>
              <a:rPr lang="en-US" sz="2600" b="1" dirty="0" err="1" smtClean="0">
                <a:solidFill>
                  <a:srgbClr val="C00000"/>
                </a:solidFill>
              </a:rPr>
              <a:t>JobTracker</a:t>
            </a:r>
            <a:r>
              <a:rPr lang="en-US" sz="2600" dirty="0" smtClean="0"/>
              <a:t> </a:t>
            </a:r>
            <a:r>
              <a:rPr lang="en-US" sz="2600" dirty="0"/>
              <a:t>(</a:t>
            </a:r>
            <a:r>
              <a:rPr lang="en-US" sz="2600" b="1" i="1" dirty="0">
                <a:solidFill>
                  <a:srgbClr val="C00000"/>
                </a:solidFill>
              </a:rPr>
              <a:t>MRv1</a:t>
            </a:r>
            <a:r>
              <a:rPr lang="en-US" sz="2600" dirty="0"/>
              <a:t>) receives the </a:t>
            </a:r>
            <a:r>
              <a:rPr lang="en-US" sz="2600" dirty="0" smtClean="0"/>
              <a:t>job</a:t>
            </a:r>
          </a:p>
          <a:p>
            <a:pPr>
              <a:lnSpc>
                <a:spcPct val="100000"/>
              </a:lnSpc>
              <a:spcBef>
                <a:spcPts val="0"/>
              </a:spcBef>
              <a:spcAft>
                <a:spcPts val="0"/>
              </a:spcAft>
              <a:buFont typeface="Arial" panose="020B0604020202020204" pitchFamily="34" charset="0"/>
              <a:buChar char="•"/>
            </a:pPr>
            <a:r>
              <a:rPr lang="en-US" sz="2600" dirty="0" smtClean="0"/>
              <a:t>Splits </a:t>
            </a:r>
            <a:r>
              <a:rPr lang="en-US" sz="2600" dirty="0"/>
              <a:t>job into</a:t>
            </a:r>
            <a:r>
              <a:rPr lang="en-US" sz="2600" dirty="0" smtClean="0"/>
              <a:t>:</a:t>
            </a:r>
          </a:p>
          <a:p>
            <a:pPr lvl="1">
              <a:lnSpc>
                <a:spcPct val="100000"/>
              </a:lnSpc>
              <a:spcBef>
                <a:spcPts val="0"/>
              </a:spcBef>
              <a:spcAft>
                <a:spcPts val="0"/>
              </a:spcAft>
              <a:buFont typeface="Arial" panose="020B0604020202020204" pitchFamily="34" charset="0"/>
              <a:buChar char="•"/>
            </a:pPr>
            <a:r>
              <a:rPr lang="en-US" sz="2600" dirty="0" smtClean="0"/>
              <a:t>Multiple </a:t>
            </a:r>
            <a:r>
              <a:rPr lang="en-US" sz="2600" dirty="0"/>
              <a:t>Map </a:t>
            </a:r>
            <a:r>
              <a:rPr lang="en-US" sz="2600" dirty="0" smtClean="0"/>
              <a:t>Tasks</a:t>
            </a:r>
          </a:p>
          <a:p>
            <a:pPr lvl="1">
              <a:lnSpc>
                <a:spcPct val="100000"/>
              </a:lnSpc>
              <a:spcBef>
                <a:spcPts val="0"/>
              </a:spcBef>
              <a:spcAft>
                <a:spcPts val="0"/>
              </a:spcAft>
              <a:buFont typeface="Arial" panose="020B0604020202020204" pitchFamily="34" charset="0"/>
              <a:buChar char="•"/>
            </a:pPr>
            <a:r>
              <a:rPr lang="en-US" sz="2600" dirty="0" smtClean="0"/>
              <a:t>Multiple </a:t>
            </a:r>
            <a:r>
              <a:rPr lang="en-US" sz="2600" dirty="0"/>
              <a:t>Reduce </a:t>
            </a:r>
            <a:r>
              <a:rPr lang="en-US" sz="2600" dirty="0" smtClean="0"/>
              <a:t>Tasks</a:t>
            </a:r>
          </a:p>
          <a:p>
            <a:pPr>
              <a:lnSpc>
                <a:spcPct val="100000"/>
              </a:lnSpc>
              <a:spcBef>
                <a:spcPts val="0"/>
              </a:spcBef>
              <a:spcAft>
                <a:spcPts val="0"/>
              </a:spcAft>
              <a:buFont typeface="Arial" panose="020B0604020202020204" pitchFamily="34" charset="0"/>
              <a:buChar char="•"/>
            </a:pPr>
            <a:r>
              <a:rPr lang="en-US" sz="2600" dirty="0" smtClean="0"/>
              <a:t>Schedules </a:t>
            </a:r>
            <a:r>
              <a:rPr lang="en-US" sz="2600" dirty="0"/>
              <a:t>tasks on </a:t>
            </a:r>
            <a:r>
              <a:rPr lang="en-US" sz="2600" b="1" dirty="0" err="1" smtClean="0">
                <a:solidFill>
                  <a:srgbClr val="C00000"/>
                </a:solidFill>
              </a:rPr>
              <a:t>TaskTrackers</a:t>
            </a:r>
            <a:endParaRPr lang="en-US" sz="2600" b="1" dirty="0" smtClean="0">
              <a:solidFill>
                <a:srgbClr val="C00000"/>
              </a:solidFill>
            </a:endParaRPr>
          </a:p>
          <a:p>
            <a:pPr>
              <a:lnSpc>
                <a:spcPct val="100000"/>
              </a:lnSpc>
              <a:spcBef>
                <a:spcPts val="0"/>
              </a:spcBef>
              <a:spcAft>
                <a:spcPts val="0"/>
              </a:spcAft>
              <a:buFont typeface="Arial" panose="020B0604020202020204" pitchFamily="34" charset="0"/>
              <a:buChar char="•"/>
            </a:pPr>
            <a:r>
              <a:rPr lang="en-US" sz="2600" dirty="0" smtClean="0"/>
              <a:t>Uses </a:t>
            </a:r>
            <a:r>
              <a:rPr lang="en-US" sz="2600" dirty="0"/>
              <a:t>data locality to assign Map tasks near the data </a:t>
            </a:r>
            <a:r>
              <a:rPr lang="en-US" sz="2600" dirty="0" smtClean="0"/>
              <a:t>blocks</a:t>
            </a:r>
          </a:p>
          <a:p>
            <a:pPr marL="0" indent="0">
              <a:lnSpc>
                <a:spcPct val="100000"/>
              </a:lnSpc>
              <a:spcBef>
                <a:spcPts val="0"/>
              </a:spcBef>
              <a:spcAft>
                <a:spcPts val="0"/>
              </a:spcAft>
              <a:buNone/>
            </a:pPr>
            <a:r>
              <a:rPr lang="en-US" sz="2400" b="1" i="1" dirty="0" err="1" smtClean="0">
                <a:solidFill>
                  <a:srgbClr val="C00000"/>
                </a:solidFill>
              </a:rPr>
              <a:t>JobTracker</a:t>
            </a:r>
            <a:r>
              <a:rPr lang="en-US" sz="2400" b="1" i="1" dirty="0" smtClean="0">
                <a:solidFill>
                  <a:srgbClr val="C00000"/>
                </a:solidFill>
              </a:rPr>
              <a:t> resides in the master node, while </a:t>
            </a:r>
            <a:r>
              <a:rPr lang="en-US" sz="2400" b="1" i="1" dirty="0" err="1" smtClean="0">
                <a:solidFill>
                  <a:srgbClr val="C00000"/>
                </a:solidFill>
              </a:rPr>
              <a:t>TaskTrackers</a:t>
            </a:r>
            <a:r>
              <a:rPr lang="en-US" sz="2400" b="1" i="1" dirty="0" smtClean="0">
                <a:solidFill>
                  <a:srgbClr val="C00000"/>
                </a:solidFill>
              </a:rPr>
              <a:t> reside in the </a:t>
            </a:r>
            <a:r>
              <a:rPr lang="en-US" sz="2400" b="1" i="1" dirty="0" err="1" smtClean="0">
                <a:solidFill>
                  <a:srgbClr val="C00000"/>
                </a:solidFill>
              </a:rPr>
              <a:t>DataNodes</a:t>
            </a:r>
            <a:endParaRPr lang="en-US" sz="2400" b="1" i="1" dirty="0">
              <a:solidFill>
                <a:srgbClr val="C00000"/>
              </a:solidFill>
            </a:endParaRPr>
          </a:p>
        </p:txBody>
      </p:sp>
    </p:spTree>
    <p:extLst>
      <p:ext uri="{BB962C8B-B14F-4D97-AF65-F5344CB8AC3E}">
        <p14:creationId xmlns:p14="http://schemas.microsoft.com/office/powerpoint/2010/main" val="3579999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
                                            <p:bg/>
                                          </p:spTgt>
                                        </p:tgtEl>
                                        <p:attrNameLst>
                                          <p:attrName>style.visibility</p:attrName>
                                        </p:attrNameLst>
                                      </p:cBhvr>
                                      <p:to>
                                        <p:strVal val="visible"/>
                                      </p:to>
                                    </p:set>
                                    <p:anim calcmode="lin" valueType="num">
                                      <p:cBhvr additive="base">
                                        <p:cTn id="7" dur="500" fill="hold"/>
                                        <p:tgtEl>
                                          <p:spTgt spid="3">
                                            <p:bg/>
                                          </p:spTgt>
                                        </p:tgtEl>
                                        <p:attrNameLst>
                                          <p:attrName>ppt_x</p:attrName>
                                        </p:attrNameLst>
                                      </p:cBhvr>
                                      <p:tavLst>
                                        <p:tav tm="0">
                                          <p:val>
                                            <p:strVal val="#ppt_x"/>
                                          </p:val>
                                        </p:tav>
                                        <p:tav tm="100000">
                                          <p:val>
                                            <p:strVal val="#ppt_x"/>
                                          </p:val>
                                        </p:tav>
                                      </p:tavLst>
                                    </p:anim>
                                    <p:anim calcmode="lin" valueType="num">
                                      <p:cBhvr additive="base">
                                        <p:cTn id="8" dur="500" fill="hold"/>
                                        <p:tgtEl>
                                          <p:spTgt spid="3">
                                            <p:bg/>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 calcmode="lin" valueType="num">
                                      <p:cBhvr additive="base">
                                        <p:cTn id="22"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 calcmode="lin" valueType="num">
                                      <p:cBhvr additive="base">
                                        <p:cTn id="2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par>
                          <p:cTn id="29" fill="hold">
                            <p:stCondLst>
                              <p:cond delay="2500"/>
                            </p:stCondLst>
                            <p:childTnLst>
                              <p:par>
                                <p:cTn id="30" presetID="2" presetClass="entr" presetSubtype="4" fill="hold" grpId="0" nodeType="after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 calcmode="lin" valueType="num">
                                      <p:cBhvr additive="base">
                                        <p:cTn id="32"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par>
                          <p:cTn id="34" fill="hold">
                            <p:stCondLst>
                              <p:cond delay="3000"/>
                            </p:stCondLst>
                            <p:childTnLst>
                              <p:par>
                                <p:cTn id="35" presetID="2" presetClass="entr" presetSubtype="4" fill="hold" grpId="0" nodeType="after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par>
                          <p:cTn id="39" fill="hold">
                            <p:stCondLst>
                              <p:cond delay="3500"/>
                            </p:stCondLst>
                            <p:childTnLst>
                              <p:par>
                                <p:cTn id="40" presetID="2" presetClass="entr" presetSubtype="4" fill="hold" grpId="0" nodeType="after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 calcmode="lin" valueType="num">
                                      <p:cBhvr additive="base">
                                        <p:cTn id="42"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par>
                          <p:cTn id="44" fill="hold">
                            <p:stCondLst>
                              <p:cond delay="4000"/>
                            </p:stCondLst>
                            <p:childTnLst>
                              <p:par>
                                <p:cTn id="45" presetID="2" presetClass="entr" presetSubtype="4" fill="hold" grpId="0" nodeType="after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 calcmode="lin" valueType="num">
                                      <p:cBhvr additive="base">
                                        <p:cTn id="4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5"/>
                                        </p:tgtEl>
                                        <p:attrNameLst>
                                          <p:attrName>style.visibility</p:attrName>
                                        </p:attrNameLst>
                                      </p:cBhvr>
                                      <p:to>
                                        <p:strVal val="visible"/>
                                      </p:to>
                                    </p:set>
                                    <p:anim calcmode="lin" valueType="num">
                                      <p:cBhvr additive="base">
                                        <p:cTn id="53" dur="500" fill="hold"/>
                                        <p:tgtEl>
                                          <p:spTgt spid="5"/>
                                        </p:tgtEl>
                                        <p:attrNameLst>
                                          <p:attrName>ppt_x</p:attrName>
                                        </p:attrNameLst>
                                      </p:cBhvr>
                                      <p:tavLst>
                                        <p:tav tm="0">
                                          <p:val>
                                            <p:strVal val="#ppt_x"/>
                                          </p:val>
                                        </p:tav>
                                        <p:tav tm="100000">
                                          <p:val>
                                            <p:strVal val="#ppt_x"/>
                                          </p:val>
                                        </p:tav>
                                      </p:tavLst>
                                    </p:anim>
                                    <p:anim calcmode="lin" valueType="num">
                                      <p:cBhvr additive="base">
                                        <p:cTn id="5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Mapreduce</a:t>
            </a:r>
            <a:r>
              <a:rPr lang="en-US" b="1" dirty="0" smtClean="0"/>
              <a:t> process </a:t>
            </a:r>
            <a:endParaRPr lang="en-US" b="1" dirty="0"/>
          </a:p>
        </p:txBody>
      </p:sp>
      <p:pic>
        <p:nvPicPr>
          <p:cNvPr id="4" name="Picture 3"/>
          <p:cNvPicPr>
            <a:picLocks noChangeAspect="1"/>
          </p:cNvPicPr>
          <p:nvPr/>
        </p:nvPicPr>
        <p:blipFill>
          <a:blip r:embed="rId3"/>
          <a:stretch>
            <a:fillRect/>
          </a:stretch>
        </p:blipFill>
        <p:spPr>
          <a:xfrm>
            <a:off x="733843" y="1611085"/>
            <a:ext cx="10755505" cy="5116807"/>
          </a:xfrm>
          <a:prstGeom prst="rect">
            <a:avLst/>
          </a:prstGeom>
        </p:spPr>
      </p:pic>
    </p:spTree>
    <p:extLst>
      <p:ext uri="{BB962C8B-B14F-4D97-AF65-F5344CB8AC3E}">
        <p14:creationId xmlns:p14="http://schemas.microsoft.com/office/powerpoint/2010/main" val="126654734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Mapreduce</a:t>
            </a:r>
            <a:r>
              <a:rPr lang="en-US" b="1" dirty="0" smtClean="0"/>
              <a:t> job execution workflow</a:t>
            </a:r>
            <a:endParaRPr lang="en-US" b="1" dirty="0"/>
          </a:p>
        </p:txBody>
      </p:sp>
      <p:sp>
        <p:nvSpPr>
          <p:cNvPr id="3" name="Content Placeholder 2"/>
          <p:cNvSpPr>
            <a:spLocks noGrp="1"/>
          </p:cNvSpPr>
          <p:nvPr>
            <p:ph idx="1"/>
          </p:nvPr>
        </p:nvSpPr>
        <p:spPr>
          <a:xfrm>
            <a:off x="1024128" y="2286000"/>
            <a:ext cx="4679986" cy="4023360"/>
          </a:xfrm>
        </p:spPr>
        <p:style>
          <a:lnRef idx="2">
            <a:schemeClr val="dk1"/>
          </a:lnRef>
          <a:fillRef idx="1">
            <a:schemeClr val="lt1"/>
          </a:fillRef>
          <a:effectRef idx="0">
            <a:schemeClr val="dk1"/>
          </a:effectRef>
          <a:fontRef idx="minor">
            <a:schemeClr val="dk1"/>
          </a:fontRef>
        </p:style>
        <p:txBody>
          <a:bodyPr>
            <a:noAutofit/>
          </a:bodyPr>
          <a:lstStyle/>
          <a:p>
            <a:pPr>
              <a:lnSpc>
                <a:spcPct val="100000"/>
              </a:lnSpc>
              <a:spcBef>
                <a:spcPts val="0"/>
              </a:spcBef>
              <a:spcAft>
                <a:spcPts val="0"/>
              </a:spcAft>
            </a:pPr>
            <a:r>
              <a:rPr lang="en-US" sz="2600" b="1" dirty="0" smtClean="0"/>
              <a:t>3. Map </a:t>
            </a:r>
            <a:r>
              <a:rPr lang="en-US" sz="2600" b="1" dirty="0"/>
              <a:t>Phase (Parallel Processing</a:t>
            </a:r>
            <a:r>
              <a:rPr lang="en-US" sz="2600" b="1" dirty="0" smtClean="0"/>
              <a:t>)</a:t>
            </a:r>
          </a:p>
          <a:p>
            <a:pPr>
              <a:lnSpc>
                <a:spcPct val="100000"/>
              </a:lnSpc>
              <a:spcBef>
                <a:spcPts val="0"/>
              </a:spcBef>
              <a:spcAft>
                <a:spcPts val="0"/>
              </a:spcAft>
            </a:pPr>
            <a:r>
              <a:rPr lang="en-US" sz="2600" b="1" dirty="0" err="1" smtClean="0">
                <a:solidFill>
                  <a:srgbClr val="C00000"/>
                </a:solidFill>
              </a:rPr>
              <a:t>TaskTrackers</a:t>
            </a:r>
            <a:r>
              <a:rPr lang="en-US" sz="2600" dirty="0" smtClean="0"/>
              <a:t> </a:t>
            </a:r>
            <a:r>
              <a:rPr lang="en-US" sz="2600" dirty="0"/>
              <a:t>execute Map tasks on local </a:t>
            </a:r>
            <a:r>
              <a:rPr lang="en-US" sz="2600" dirty="0" err="1" smtClean="0"/>
              <a:t>InputSplits</a:t>
            </a:r>
            <a:endParaRPr lang="en-US" sz="2600" dirty="0" smtClean="0"/>
          </a:p>
          <a:p>
            <a:pPr>
              <a:lnSpc>
                <a:spcPct val="100000"/>
              </a:lnSpc>
              <a:spcBef>
                <a:spcPts val="0"/>
              </a:spcBef>
              <a:spcAft>
                <a:spcPts val="0"/>
              </a:spcAft>
            </a:pPr>
            <a:r>
              <a:rPr lang="en-US" sz="2600" b="1" dirty="0" smtClean="0"/>
              <a:t>Each </a:t>
            </a:r>
            <a:r>
              <a:rPr lang="en-US" sz="2600" b="1" dirty="0"/>
              <a:t>Map task</a:t>
            </a:r>
            <a:r>
              <a:rPr lang="en-US" sz="2600" b="1" dirty="0" smtClean="0"/>
              <a:t>:</a:t>
            </a:r>
          </a:p>
          <a:p>
            <a:pPr>
              <a:lnSpc>
                <a:spcPct val="100000"/>
              </a:lnSpc>
              <a:spcBef>
                <a:spcPts val="0"/>
              </a:spcBef>
              <a:spcAft>
                <a:spcPts val="0"/>
              </a:spcAft>
              <a:buFont typeface="Arial" panose="020B0604020202020204" pitchFamily="34" charset="0"/>
              <a:buChar char="•"/>
            </a:pPr>
            <a:r>
              <a:rPr lang="en-US" sz="2600" dirty="0" smtClean="0"/>
              <a:t>Reads </a:t>
            </a:r>
            <a:r>
              <a:rPr lang="en-US" sz="2600" dirty="0"/>
              <a:t>input </a:t>
            </a:r>
            <a:r>
              <a:rPr lang="en-US" sz="2600" dirty="0" smtClean="0"/>
              <a:t>data</a:t>
            </a:r>
          </a:p>
          <a:p>
            <a:pPr>
              <a:lnSpc>
                <a:spcPct val="100000"/>
              </a:lnSpc>
              <a:spcBef>
                <a:spcPts val="0"/>
              </a:spcBef>
              <a:spcAft>
                <a:spcPts val="0"/>
              </a:spcAft>
              <a:buFont typeface="Arial" panose="020B0604020202020204" pitchFamily="34" charset="0"/>
              <a:buChar char="•"/>
            </a:pPr>
            <a:r>
              <a:rPr lang="en-US" sz="2600" dirty="0" smtClean="0"/>
              <a:t>Processes records</a:t>
            </a:r>
          </a:p>
          <a:p>
            <a:pPr>
              <a:lnSpc>
                <a:spcPct val="100000"/>
              </a:lnSpc>
              <a:spcBef>
                <a:spcPts val="0"/>
              </a:spcBef>
              <a:spcAft>
                <a:spcPts val="0"/>
              </a:spcAft>
              <a:buFont typeface="Arial" panose="020B0604020202020204" pitchFamily="34" charset="0"/>
              <a:buChar char="•"/>
            </a:pPr>
            <a:r>
              <a:rPr lang="en-US" sz="2600" dirty="0" smtClean="0"/>
              <a:t>Produces </a:t>
            </a:r>
            <a:r>
              <a:rPr lang="en-US" sz="2600" dirty="0"/>
              <a:t>intermediate (key, value) pairs</a:t>
            </a:r>
          </a:p>
        </p:txBody>
      </p:sp>
      <p:sp>
        <p:nvSpPr>
          <p:cNvPr id="5" name="Content Placeholder 2"/>
          <p:cNvSpPr txBox="1">
            <a:spLocks/>
          </p:cNvSpPr>
          <p:nvPr/>
        </p:nvSpPr>
        <p:spPr>
          <a:xfrm>
            <a:off x="6300071" y="2285999"/>
            <a:ext cx="4948500" cy="4023361"/>
          </a:xfrm>
          <a:prstGeom prst="rect">
            <a:avLst/>
          </a:prstGeom>
        </p:spPr>
        <p:style>
          <a:lnRef idx="2">
            <a:schemeClr val="dk1"/>
          </a:lnRef>
          <a:fillRef idx="1">
            <a:schemeClr val="lt1"/>
          </a:fillRef>
          <a:effectRef idx="0">
            <a:schemeClr val="dk1"/>
          </a:effectRef>
          <a:fontRef idx="minor">
            <a:schemeClr val="dk1"/>
          </a:fontRef>
        </p:style>
        <p:txBody>
          <a:bodyPr vert="horz" lIns="45720" tIns="45720" rIns="4572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dk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dk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dk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dk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dk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dk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dk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dk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dk1"/>
                </a:solidFill>
                <a:latin typeface="+mn-lt"/>
                <a:ea typeface="+mn-ea"/>
                <a:cs typeface="+mn-cs"/>
              </a:defRPr>
            </a:lvl9pPr>
          </a:lstStyle>
          <a:p>
            <a:pPr>
              <a:lnSpc>
                <a:spcPct val="100000"/>
              </a:lnSpc>
              <a:spcBef>
                <a:spcPts val="0"/>
              </a:spcBef>
              <a:spcAft>
                <a:spcPts val="0"/>
              </a:spcAft>
            </a:pPr>
            <a:r>
              <a:rPr lang="en-US" sz="2600" b="1" dirty="0" smtClean="0"/>
              <a:t>4. Shuffle </a:t>
            </a:r>
            <a:r>
              <a:rPr lang="en-US" sz="2600" b="1" dirty="0"/>
              <a:t>&amp; Sort Phase (Data Redistribution</a:t>
            </a:r>
            <a:r>
              <a:rPr lang="en-US" sz="2600" b="1" dirty="0" smtClean="0"/>
              <a:t>)</a:t>
            </a:r>
          </a:p>
          <a:p>
            <a:pPr>
              <a:lnSpc>
                <a:spcPct val="100000"/>
              </a:lnSpc>
              <a:spcBef>
                <a:spcPts val="0"/>
              </a:spcBef>
              <a:spcAft>
                <a:spcPts val="0"/>
              </a:spcAft>
            </a:pPr>
            <a:r>
              <a:rPr lang="en-US" sz="2600" b="1" dirty="0" smtClean="0"/>
              <a:t>Intermediate </a:t>
            </a:r>
            <a:r>
              <a:rPr lang="en-US" sz="2600" b="1" dirty="0"/>
              <a:t>data is</a:t>
            </a:r>
            <a:r>
              <a:rPr lang="en-US" sz="2600" b="1" dirty="0" smtClean="0"/>
              <a:t>:</a:t>
            </a:r>
          </a:p>
          <a:p>
            <a:pPr>
              <a:lnSpc>
                <a:spcPct val="100000"/>
              </a:lnSpc>
              <a:spcBef>
                <a:spcPts val="0"/>
              </a:spcBef>
              <a:spcAft>
                <a:spcPts val="0"/>
              </a:spcAft>
              <a:buFont typeface="Arial" panose="020B0604020202020204" pitchFamily="34" charset="0"/>
              <a:buChar char="•"/>
            </a:pPr>
            <a:r>
              <a:rPr lang="en-US" sz="2600" dirty="0" smtClean="0"/>
              <a:t>Partitioned </a:t>
            </a:r>
            <a:r>
              <a:rPr lang="en-US" sz="2600" dirty="0"/>
              <a:t>by </a:t>
            </a:r>
            <a:r>
              <a:rPr lang="en-US" sz="2600" dirty="0" smtClean="0"/>
              <a:t>key</a:t>
            </a:r>
          </a:p>
          <a:p>
            <a:pPr>
              <a:lnSpc>
                <a:spcPct val="100000"/>
              </a:lnSpc>
              <a:spcBef>
                <a:spcPts val="0"/>
              </a:spcBef>
              <a:spcAft>
                <a:spcPts val="0"/>
              </a:spcAft>
              <a:buFont typeface="Arial" panose="020B0604020202020204" pitchFamily="34" charset="0"/>
              <a:buChar char="•"/>
            </a:pPr>
            <a:r>
              <a:rPr lang="en-US" sz="2600" dirty="0" smtClean="0"/>
              <a:t>Transferred </a:t>
            </a:r>
            <a:r>
              <a:rPr lang="en-US" sz="2600" dirty="0"/>
              <a:t>across the </a:t>
            </a:r>
            <a:r>
              <a:rPr lang="en-US" sz="2600" dirty="0" smtClean="0"/>
              <a:t>network</a:t>
            </a:r>
          </a:p>
          <a:p>
            <a:pPr>
              <a:lnSpc>
                <a:spcPct val="100000"/>
              </a:lnSpc>
              <a:spcBef>
                <a:spcPts val="0"/>
              </a:spcBef>
              <a:spcAft>
                <a:spcPts val="0"/>
              </a:spcAft>
              <a:buFont typeface="Arial" panose="020B0604020202020204" pitchFamily="34" charset="0"/>
              <a:buChar char="•"/>
            </a:pPr>
            <a:r>
              <a:rPr lang="en-US" sz="2600" dirty="0" smtClean="0"/>
              <a:t>Grouped </a:t>
            </a:r>
            <a:r>
              <a:rPr lang="en-US" sz="2600" dirty="0"/>
              <a:t>by identical </a:t>
            </a:r>
            <a:r>
              <a:rPr lang="en-US" sz="2600" dirty="0" smtClean="0"/>
              <a:t>keys</a:t>
            </a:r>
          </a:p>
          <a:p>
            <a:pPr>
              <a:lnSpc>
                <a:spcPct val="100000"/>
              </a:lnSpc>
              <a:spcBef>
                <a:spcPts val="0"/>
              </a:spcBef>
              <a:spcAft>
                <a:spcPts val="0"/>
              </a:spcAft>
              <a:buFont typeface="Arial" panose="020B0604020202020204" pitchFamily="34" charset="0"/>
              <a:buChar char="•"/>
            </a:pPr>
            <a:r>
              <a:rPr lang="en-US" sz="2600" dirty="0" smtClean="0"/>
              <a:t>Sorted </a:t>
            </a:r>
            <a:r>
              <a:rPr lang="en-US" sz="2600" dirty="0"/>
              <a:t>before being sent to reducers</a:t>
            </a:r>
            <a:endParaRPr lang="en-US" sz="2400" i="1" dirty="0">
              <a:solidFill>
                <a:srgbClr val="C00000"/>
              </a:solidFill>
            </a:endParaRPr>
          </a:p>
        </p:txBody>
      </p:sp>
    </p:spTree>
    <p:extLst>
      <p:ext uri="{BB962C8B-B14F-4D97-AF65-F5344CB8AC3E}">
        <p14:creationId xmlns:p14="http://schemas.microsoft.com/office/powerpoint/2010/main" val="284611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
                                            <p:bg/>
                                          </p:spTgt>
                                        </p:tgtEl>
                                        <p:attrNameLst>
                                          <p:attrName>style.visibility</p:attrName>
                                        </p:attrNameLst>
                                      </p:cBhvr>
                                      <p:to>
                                        <p:strVal val="visible"/>
                                      </p:to>
                                    </p:set>
                                    <p:anim calcmode="lin" valueType="num">
                                      <p:cBhvr additive="base">
                                        <p:cTn id="7" dur="500" fill="hold"/>
                                        <p:tgtEl>
                                          <p:spTgt spid="3">
                                            <p:bg/>
                                          </p:spTgt>
                                        </p:tgtEl>
                                        <p:attrNameLst>
                                          <p:attrName>ppt_x</p:attrName>
                                        </p:attrNameLst>
                                      </p:cBhvr>
                                      <p:tavLst>
                                        <p:tav tm="0">
                                          <p:val>
                                            <p:strVal val="#ppt_x"/>
                                          </p:val>
                                        </p:tav>
                                        <p:tav tm="100000">
                                          <p:val>
                                            <p:strVal val="#ppt_x"/>
                                          </p:val>
                                        </p:tav>
                                      </p:tavLst>
                                    </p:anim>
                                    <p:anim calcmode="lin" valueType="num">
                                      <p:cBhvr additive="base">
                                        <p:cTn id="8" dur="500" fill="hold"/>
                                        <p:tgtEl>
                                          <p:spTgt spid="3">
                                            <p:bg/>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 calcmode="lin" valueType="num">
                                      <p:cBhvr additive="base">
                                        <p:cTn id="22"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 calcmode="lin" valueType="num">
                                      <p:cBhvr additive="base">
                                        <p:cTn id="2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par>
                          <p:cTn id="29" fill="hold">
                            <p:stCondLst>
                              <p:cond delay="2500"/>
                            </p:stCondLst>
                            <p:childTnLst>
                              <p:par>
                                <p:cTn id="30" presetID="2" presetClass="entr" presetSubtype="4" fill="hold" grpId="0" nodeType="after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 calcmode="lin" valueType="num">
                                      <p:cBhvr additive="base">
                                        <p:cTn id="32"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par>
                          <p:cTn id="34" fill="hold">
                            <p:stCondLst>
                              <p:cond delay="3000"/>
                            </p:stCondLst>
                            <p:childTnLst>
                              <p:par>
                                <p:cTn id="35" presetID="2" presetClass="entr" presetSubtype="4" fill="hold" grpId="0" nodeType="after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5"/>
                                        </p:tgtEl>
                                        <p:attrNameLst>
                                          <p:attrName>style.visibility</p:attrName>
                                        </p:attrNameLst>
                                      </p:cBhvr>
                                      <p:to>
                                        <p:strVal val="visible"/>
                                      </p:to>
                                    </p:set>
                                    <p:anim calcmode="lin" valueType="num">
                                      <p:cBhvr additive="base">
                                        <p:cTn id="43" dur="500" fill="hold"/>
                                        <p:tgtEl>
                                          <p:spTgt spid="5"/>
                                        </p:tgtEl>
                                        <p:attrNameLst>
                                          <p:attrName>ppt_x</p:attrName>
                                        </p:attrNameLst>
                                      </p:cBhvr>
                                      <p:tavLst>
                                        <p:tav tm="0">
                                          <p:val>
                                            <p:strVal val="#ppt_x"/>
                                          </p:val>
                                        </p:tav>
                                        <p:tav tm="100000">
                                          <p:val>
                                            <p:strVal val="#ppt_x"/>
                                          </p:val>
                                        </p:tav>
                                      </p:tavLst>
                                    </p:anim>
                                    <p:anim calcmode="lin" valueType="num">
                                      <p:cBhvr additive="base">
                                        <p:cTn id="4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5"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Mapreduce</a:t>
            </a:r>
            <a:r>
              <a:rPr lang="en-US" b="1" dirty="0" smtClean="0"/>
              <a:t> job execution workflow</a:t>
            </a:r>
            <a:endParaRPr lang="en-US" b="1" dirty="0"/>
          </a:p>
        </p:txBody>
      </p:sp>
      <p:sp>
        <p:nvSpPr>
          <p:cNvPr id="3" name="Content Placeholder 2"/>
          <p:cNvSpPr>
            <a:spLocks noGrp="1"/>
          </p:cNvSpPr>
          <p:nvPr>
            <p:ph idx="1"/>
          </p:nvPr>
        </p:nvSpPr>
        <p:spPr>
          <a:xfrm>
            <a:off x="1024128" y="2286000"/>
            <a:ext cx="4679986" cy="4023360"/>
          </a:xfrm>
        </p:spPr>
        <p:style>
          <a:lnRef idx="2">
            <a:schemeClr val="dk1"/>
          </a:lnRef>
          <a:fillRef idx="1">
            <a:schemeClr val="lt1"/>
          </a:fillRef>
          <a:effectRef idx="0">
            <a:schemeClr val="dk1"/>
          </a:effectRef>
          <a:fontRef idx="minor">
            <a:schemeClr val="dk1"/>
          </a:fontRef>
        </p:style>
        <p:txBody>
          <a:bodyPr>
            <a:noAutofit/>
          </a:bodyPr>
          <a:lstStyle/>
          <a:p>
            <a:pPr>
              <a:lnSpc>
                <a:spcPct val="100000"/>
              </a:lnSpc>
              <a:spcBef>
                <a:spcPts val="0"/>
              </a:spcBef>
              <a:spcAft>
                <a:spcPts val="0"/>
              </a:spcAft>
            </a:pPr>
            <a:r>
              <a:rPr lang="en-US" sz="2600" b="1" dirty="0" smtClean="0"/>
              <a:t>5. Reduce </a:t>
            </a:r>
            <a:r>
              <a:rPr lang="en-US" sz="2600" b="1" dirty="0"/>
              <a:t>Phase (Aggregation</a:t>
            </a:r>
            <a:r>
              <a:rPr lang="en-US" sz="2600" b="1" dirty="0" smtClean="0"/>
              <a:t>)</a:t>
            </a:r>
          </a:p>
          <a:p>
            <a:pPr>
              <a:lnSpc>
                <a:spcPct val="100000"/>
              </a:lnSpc>
              <a:spcBef>
                <a:spcPts val="0"/>
              </a:spcBef>
              <a:spcAft>
                <a:spcPts val="0"/>
              </a:spcAft>
              <a:buFont typeface="Arial" panose="020B0604020202020204" pitchFamily="34" charset="0"/>
              <a:buChar char="•"/>
            </a:pPr>
            <a:r>
              <a:rPr lang="en-US" sz="2600" dirty="0" smtClean="0"/>
              <a:t>Reduce </a:t>
            </a:r>
            <a:r>
              <a:rPr lang="en-US" sz="2600" dirty="0"/>
              <a:t>tasks receive grouped keys with list of </a:t>
            </a:r>
            <a:r>
              <a:rPr lang="en-US" sz="2600" dirty="0" smtClean="0"/>
              <a:t>values</a:t>
            </a:r>
          </a:p>
          <a:p>
            <a:pPr>
              <a:lnSpc>
                <a:spcPct val="100000"/>
              </a:lnSpc>
              <a:spcBef>
                <a:spcPts val="0"/>
              </a:spcBef>
              <a:spcAft>
                <a:spcPts val="0"/>
              </a:spcAft>
              <a:buFont typeface="Arial" panose="020B0604020202020204" pitchFamily="34" charset="0"/>
              <a:buChar char="•"/>
            </a:pPr>
            <a:r>
              <a:rPr lang="en-US" sz="2600" dirty="0" smtClean="0"/>
              <a:t>Apply </a:t>
            </a:r>
            <a:r>
              <a:rPr lang="en-US" sz="2600" dirty="0"/>
              <a:t>aggregation or processing </a:t>
            </a:r>
            <a:r>
              <a:rPr lang="en-US" sz="2600" dirty="0" smtClean="0"/>
              <a:t>logic</a:t>
            </a:r>
          </a:p>
          <a:p>
            <a:pPr>
              <a:lnSpc>
                <a:spcPct val="100000"/>
              </a:lnSpc>
              <a:spcBef>
                <a:spcPts val="0"/>
              </a:spcBef>
              <a:spcAft>
                <a:spcPts val="0"/>
              </a:spcAft>
              <a:buFont typeface="Arial" panose="020B0604020202020204" pitchFamily="34" charset="0"/>
              <a:buChar char="•"/>
            </a:pPr>
            <a:r>
              <a:rPr lang="en-US" sz="2600" dirty="0" smtClean="0"/>
              <a:t>Generate </a:t>
            </a:r>
            <a:r>
              <a:rPr lang="en-US" sz="2600" dirty="0"/>
              <a:t>final output records</a:t>
            </a:r>
          </a:p>
        </p:txBody>
      </p:sp>
      <p:sp>
        <p:nvSpPr>
          <p:cNvPr id="5" name="Content Placeholder 2"/>
          <p:cNvSpPr txBox="1">
            <a:spLocks/>
          </p:cNvSpPr>
          <p:nvPr/>
        </p:nvSpPr>
        <p:spPr>
          <a:xfrm>
            <a:off x="6300071" y="2285999"/>
            <a:ext cx="4948500" cy="4023361"/>
          </a:xfrm>
          <a:prstGeom prst="rect">
            <a:avLst/>
          </a:prstGeom>
        </p:spPr>
        <p:style>
          <a:lnRef idx="2">
            <a:schemeClr val="dk1"/>
          </a:lnRef>
          <a:fillRef idx="1">
            <a:schemeClr val="lt1"/>
          </a:fillRef>
          <a:effectRef idx="0">
            <a:schemeClr val="dk1"/>
          </a:effectRef>
          <a:fontRef idx="minor">
            <a:schemeClr val="dk1"/>
          </a:fontRef>
        </p:style>
        <p:txBody>
          <a:bodyPr vert="horz" lIns="45720" tIns="45720" rIns="4572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dk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dk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dk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dk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dk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dk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dk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dk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dk1"/>
                </a:solidFill>
                <a:latin typeface="+mn-lt"/>
                <a:ea typeface="+mn-ea"/>
                <a:cs typeface="+mn-cs"/>
              </a:defRPr>
            </a:lvl9pPr>
          </a:lstStyle>
          <a:p>
            <a:pPr>
              <a:lnSpc>
                <a:spcPct val="100000"/>
              </a:lnSpc>
              <a:spcBef>
                <a:spcPts val="0"/>
              </a:spcBef>
              <a:spcAft>
                <a:spcPts val="0"/>
              </a:spcAft>
            </a:pPr>
            <a:r>
              <a:rPr lang="en-US" sz="2600" b="1" dirty="0"/>
              <a:t>6</a:t>
            </a:r>
            <a:r>
              <a:rPr lang="en-US" sz="2600" b="1" dirty="0" smtClean="0"/>
              <a:t>. </a:t>
            </a:r>
            <a:r>
              <a:rPr lang="en-US" sz="2800" b="1" dirty="0"/>
              <a:t>Output Storage</a:t>
            </a:r>
          </a:p>
          <a:p>
            <a:pPr>
              <a:lnSpc>
                <a:spcPct val="100000"/>
              </a:lnSpc>
              <a:spcBef>
                <a:spcPts val="0"/>
              </a:spcBef>
              <a:spcAft>
                <a:spcPts val="0"/>
              </a:spcAft>
            </a:pPr>
            <a:r>
              <a:rPr lang="en-US" sz="2800" dirty="0"/>
              <a:t>Final results are written back to HDFS</a:t>
            </a:r>
          </a:p>
          <a:p>
            <a:pPr>
              <a:lnSpc>
                <a:spcPct val="100000"/>
              </a:lnSpc>
              <a:spcBef>
                <a:spcPts val="0"/>
              </a:spcBef>
              <a:spcAft>
                <a:spcPts val="0"/>
              </a:spcAft>
            </a:pPr>
            <a:r>
              <a:rPr lang="en-US" sz="2800" dirty="0"/>
              <a:t>Each Reduce task produces one output file</a:t>
            </a:r>
          </a:p>
        </p:txBody>
      </p:sp>
    </p:spTree>
    <p:extLst>
      <p:ext uri="{BB962C8B-B14F-4D97-AF65-F5344CB8AC3E}">
        <p14:creationId xmlns:p14="http://schemas.microsoft.com/office/powerpoint/2010/main" val="1789957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
                                            <p:bg/>
                                          </p:spTgt>
                                        </p:tgtEl>
                                        <p:attrNameLst>
                                          <p:attrName>style.visibility</p:attrName>
                                        </p:attrNameLst>
                                      </p:cBhvr>
                                      <p:to>
                                        <p:strVal val="visible"/>
                                      </p:to>
                                    </p:set>
                                    <p:anim calcmode="lin" valueType="num">
                                      <p:cBhvr additive="base">
                                        <p:cTn id="7" dur="500" fill="hold"/>
                                        <p:tgtEl>
                                          <p:spTgt spid="3">
                                            <p:bg/>
                                          </p:spTgt>
                                        </p:tgtEl>
                                        <p:attrNameLst>
                                          <p:attrName>ppt_x</p:attrName>
                                        </p:attrNameLst>
                                      </p:cBhvr>
                                      <p:tavLst>
                                        <p:tav tm="0">
                                          <p:val>
                                            <p:strVal val="#ppt_x"/>
                                          </p:val>
                                        </p:tav>
                                        <p:tav tm="100000">
                                          <p:val>
                                            <p:strVal val="#ppt_x"/>
                                          </p:val>
                                        </p:tav>
                                      </p:tavLst>
                                    </p:anim>
                                    <p:anim calcmode="lin" valueType="num">
                                      <p:cBhvr additive="base">
                                        <p:cTn id="8" dur="500" fill="hold"/>
                                        <p:tgtEl>
                                          <p:spTgt spid="3">
                                            <p:bg/>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 calcmode="lin" valueType="num">
                                      <p:cBhvr additive="base">
                                        <p:cTn id="22"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 calcmode="lin" valueType="num">
                                      <p:cBhvr additive="base">
                                        <p:cTn id="2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5"/>
                                        </p:tgtEl>
                                        <p:attrNameLst>
                                          <p:attrName>style.visibility</p:attrName>
                                        </p:attrNameLst>
                                      </p:cBhvr>
                                      <p:to>
                                        <p:strVal val="visible"/>
                                      </p:to>
                                    </p:set>
                                    <p:anim calcmode="lin" valueType="num">
                                      <p:cBhvr additive="base">
                                        <p:cTn id="33" dur="500" fill="hold"/>
                                        <p:tgtEl>
                                          <p:spTgt spid="5"/>
                                        </p:tgtEl>
                                        <p:attrNameLst>
                                          <p:attrName>ppt_x</p:attrName>
                                        </p:attrNameLst>
                                      </p:cBhvr>
                                      <p:tavLst>
                                        <p:tav tm="0">
                                          <p:val>
                                            <p:strVal val="#ppt_x"/>
                                          </p:val>
                                        </p:tav>
                                        <p:tav tm="100000">
                                          <p:val>
                                            <p:strVal val="#ppt_x"/>
                                          </p:val>
                                        </p:tav>
                                      </p:tavLst>
                                    </p:anim>
                                    <p:anim calcmode="lin" valueType="num">
                                      <p:cBhvr additive="base">
                                        <p:cTn id="3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5"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122" name="Picture 2" descr="MapReduce-Architectur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4546" y="178027"/>
            <a:ext cx="10933341" cy="63375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879000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Example 1: word count </a:t>
            </a:r>
            <a:endParaRPr lang="en-US" b="1" dirty="0"/>
          </a:p>
        </p:txBody>
      </p:sp>
      <p:sp>
        <p:nvSpPr>
          <p:cNvPr id="3" name="Content Placeholder 2"/>
          <p:cNvSpPr>
            <a:spLocks noGrp="1"/>
          </p:cNvSpPr>
          <p:nvPr>
            <p:ph idx="1"/>
          </p:nvPr>
        </p:nvSpPr>
        <p:spPr/>
        <p:txBody>
          <a:bodyPr>
            <a:normAutofit/>
          </a:bodyPr>
          <a:lstStyle/>
          <a:p>
            <a:r>
              <a:rPr lang="en-US" sz="2800" b="1" dirty="0">
                <a:solidFill>
                  <a:srgbClr val="C00000"/>
                </a:solidFill>
              </a:rPr>
              <a:t>Count word frequencies in a large distributed file</a:t>
            </a:r>
            <a:r>
              <a:rPr lang="en-US" sz="2800" b="1" dirty="0" smtClean="0">
                <a:solidFill>
                  <a:srgbClr val="C00000"/>
                </a:solidFill>
              </a:rPr>
              <a:t>.</a:t>
            </a:r>
          </a:p>
          <a:p>
            <a:r>
              <a:rPr lang="en-US" sz="2800" b="1" dirty="0" smtClean="0"/>
              <a:t>Example:</a:t>
            </a:r>
            <a:endParaRPr lang="en-US" sz="2800" b="1" dirty="0"/>
          </a:p>
        </p:txBody>
      </p:sp>
      <p:sp>
        <p:nvSpPr>
          <p:cNvPr id="5" name="Rectangle 4"/>
          <p:cNvSpPr/>
          <p:nvPr/>
        </p:nvSpPr>
        <p:spPr>
          <a:xfrm>
            <a:off x="1291771" y="3451143"/>
            <a:ext cx="5529943" cy="193899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2400" dirty="0"/>
              <a:t>Big data is transforming the world</a:t>
            </a:r>
          </a:p>
          <a:p>
            <a:r>
              <a:rPr lang="en-US" sz="2400" dirty="0"/>
              <a:t>Big data technologies are powerful</a:t>
            </a:r>
          </a:p>
          <a:p>
            <a:r>
              <a:rPr lang="en-US" sz="2400" dirty="0"/>
              <a:t>Data science uses big data</a:t>
            </a:r>
          </a:p>
          <a:p>
            <a:r>
              <a:rPr lang="en-US" sz="2400" dirty="0"/>
              <a:t>The world of data is growing</a:t>
            </a:r>
          </a:p>
          <a:p>
            <a:r>
              <a:rPr lang="en-US" sz="2400" dirty="0"/>
              <a:t>Big systems process big data</a:t>
            </a:r>
          </a:p>
        </p:txBody>
      </p:sp>
    </p:spTree>
    <p:extLst>
      <p:ext uri="{BB962C8B-B14F-4D97-AF65-F5344CB8AC3E}">
        <p14:creationId xmlns:p14="http://schemas.microsoft.com/office/powerpoint/2010/main" val="42918931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Example 1: word count </a:t>
            </a:r>
            <a:endParaRPr lang="en-US" b="1" dirty="0"/>
          </a:p>
        </p:txBody>
      </p:sp>
      <p:sp>
        <p:nvSpPr>
          <p:cNvPr id="3" name="Content Placeholder 2"/>
          <p:cNvSpPr>
            <a:spLocks noGrp="1"/>
          </p:cNvSpPr>
          <p:nvPr>
            <p:ph idx="1"/>
          </p:nvPr>
        </p:nvSpPr>
        <p:spPr/>
        <p:txBody>
          <a:bodyPr>
            <a:normAutofit/>
          </a:bodyPr>
          <a:lstStyle/>
          <a:p>
            <a:r>
              <a:rPr lang="en-US" sz="2800" b="1" dirty="0" smtClean="0">
                <a:solidFill>
                  <a:srgbClr val="C00000"/>
                </a:solidFill>
              </a:rPr>
              <a:t>Step 1</a:t>
            </a:r>
            <a:r>
              <a:rPr lang="en-US" sz="2800" b="1" dirty="0" smtClean="0"/>
              <a:t>: Input Splitting</a:t>
            </a:r>
          </a:p>
        </p:txBody>
      </p:sp>
      <p:sp>
        <p:nvSpPr>
          <p:cNvPr id="5" name="Rectangle 4"/>
          <p:cNvSpPr/>
          <p:nvPr/>
        </p:nvSpPr>
        <p:spPr>
          <a:xfrm>
            <a:off x="4692191" y="1887083"/>
            <a:ext cx="4557486" cy="193899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2400" dirty="0"/>
              <a:t>Big data is transforming the world</a:t>
            </a:r>
          </a:p>
          <a:p>
            <a:r>
              <a:rPr lang="en-US" sz="2400" dirty="0"/>
              <a:t>Big data technologies are powerful</a:t>
            </a:r>
          </a:p>
          <a:p>
            <a:r>
              <a:rPr lang="en-US" sz="2400" dirty="0"/>
              <a:t>Data science uses big data</a:t>
            </a:r>
          </a:p>
          <a:p>
            <a:r>
              <a:rPr lang="en-US" sz="2400" dirty="0"/>
              <a:t>The world of data is growing</a:t>
            </a:r>
          </a:p>
          <a:p>
            <a:r>
              <a:rPr lang="en-US" sz="2400" dirty="0"/>
              <a:t>Big systems process big data</a:t>
            </a:r>
          </a:p>
        </p:txBody>
      </p:sp>
      <p:sp>
        <p:nvSpPr>
          <p:cNvPr id="4" name="Rectangle 3"/>
          <p:cNvSpPr/>
          <p:nvPr/>
        </p:nvSpPr>
        <p:spPr>
          <a:xfrm>
            <a:off x="1364341" y="4108700"/>
            <a:ext cx="4847772" cy="120032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sz="2400" b="1" dirty="0" smtClean="0">
                <a:solidFill>
                  <a:srgbClr val="C00000"/>
                </a:solidFill>
              </a:rPr>
              <a:t>Split 1</a:t>
            </a:r>
          </a:p>
          <a:p>
            <a:r>
              <a:rPr lang="en-US" sz="2400" dirty="0" smtClean="0">
                <a:solidFill>
                  <a:schemeClr val="dk1"/>
                </a:solidFill>
              </a:rPr>
              <a:t>Big </a:t>
            </a:r>
            <a:r>
              <a:rPr lang="en-US" sz="2400" dirty="0">
                <a:solidFill>
                  <a:schemeClr val="dk1"/>
                </a:solidFill>
              </a:rPr>
              <a:t>data is transforming the world</a:t>
            </a:r>
          </a:p>
          <a:p>
            <a:r>
              <a:rPr lang="en-US" sz="2400" dirty="0">
                <a:solidFill>
                  <a:schemeClr val="dk1"/>
                </a:solidFill>
              </a:rPr>
              <a:t>Big data technologies are powerful</a:t>
            </a:r>
          </a:p>
        </p:txBody>
      </p:sp>
      <p:sp>
        <p:nvSpPr>
          <p:cNvPr id="6" name="Rectangle 5"/>
          <p:cNvSpPr/>
          <p:nvPr/>
        </p:nvSpPr>
        <p:spPr>
          <a:xfrm>
            <a:off x="6483641" y="4108700"/>
            <a:ext cx="3806986" cy="830997"/>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sz="2400" b="1" dirty="0" smtClean="0">
                <a:solidFill>
                  <a:srgbClr val="C00000"/>
                </a:solidFill>
              </a:rPr>
              <a:t>Split 2</a:t>
            </a:r>
          </a:p>
          <a:p>
            <a:r>
              <a:rPr lang="en-US" sz="2400" dirty="0" smtClean="0">
                <a:solidFill>
                  <a:schemeClr val="dk1"/>
                </a:solidFill>
              </a:rPr>
              <a:t>Data </a:t>
            </a:r>
            <a:r>
              <a:rPr lang="en-US" sz="2400" dirty="0">
                <a:solidFill>
                  <a:schemeClr val="dk1"/>
                </a:solidFill>
              </a:rPr>
              <a:t>science uses big data</a:t>
            </a:r>
          </a:p>
        </p:txBody>
      </p:sp>
      <p:sp>
        <p:nvSpPr>
          <p:cNvPr id="7" name="Rectangle 6"/>
          <p:cNvSpPr/>
          <p:nvPr/>
        </p:nvSpPr>
        <p:spPr>
          <a:xfrm>
            <a:off x="6483641" y="5182839"/>
            <a:ext cx="3806986" cy="120032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sz="2400" b="1" dirty="0" smtClean="0">
                <a:solidFill>
                  <a:srgbClr val="C00000"/>
                </a:solidFill>
              </a:rPr>
              <a:t>Split 3</a:t>
            </a:r>
          </a:p>
          <a:p>
            <a:r>
              <a:rPr lang="en-US" sz="2400" dirty="0" smtClean="0">
                <a:solidFill>
                  <a:schemeClr val="dk1"/>
                </a:solidFill>
              </a:rPr>
              <a:t>The </a:t>
            </a:r>
            <a:r>
              <a:rPr lang="en-US" sz="2400" dirty="0">
                <a:solidFill>
                  <a:schemeClr val="dk1"/>
                </a:solidFill>
              </a:rPr>
              <a:t>world of data is growing</a:t>
            </a:r>
          </a:p>
          <a:p>
            <a:r>
              <a:rPr lang="en-US" sz="2400" dirty="0">
                <a:solidFill>
                  <a:schemeClr val="dk1"/>
                </a:solidFill>
              </a:rPr>
              <a:t>Big systems process big data</a:t>
            </a:r>
          </a:p>
        </p:txBody>
      </p:sp>
      <p:sp>
        <p:nvSpPr>
          <p:cNvPr id="8" name="Rectangle 7"/>
          <p:cNvSpPr/>
          <p:nvPr/>
        </p:nvSpPr>
        <p:spPr>
          <a:xfrm>
            <a:off x="1977629" y="5591654"/>
            <a:ext cx="3552511" cy="523220"/>
          </a:xfrm>
          <a:prstGeom prst="rect">
            <a:avLst/>
          </a:prstGeom>
        </p:spPr>
        <p:txBody>
          <a:bodyPr wrap="none">
            <a:spAutoFit/>
          </a:bodyPr>
          <a:lstStyle/>
          <a:p>
            <a:r>
              <a:rPr lang="en-US" sz="2800" b="1" dirty="0">
                <a:solidFill>
                  <a:srgbClr val="C00000"/>
                </a:solidFill>
              </a:rPr>
              <a:t>Each split → 1 Mapper</a:t>
            </a:r>
          </a:p>
        </p:txBody>
      </p:sp>
    </p:spTree>
    <p:extLst>
      <p:ext uri="{BB962C8B-B14F-4D97-AF65-F5344CB8AC3E}">
        <p14:creationId xmlns:p14="http://schemas.microsoft.com/office/powerpoint/2010/main" val="93031325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Example 1: word count </a:t>
            </a:r>
            <a:endParaRPr lang="en-US" b="1" dirty="0"/>
          </a:p>
        </p:txBody>
      </p:sp>
      <p:sp>
        <p:nvSpPr>
          <p:cNvPr id="3" name="Content Placeholder 2"/>
          <p:cNvSpPr>
            <a:spLocks noGrp="1"/>
          </p:cNvSpPr>
          <p:nvPr>
            <p:ph idx="1"/>
          </p:nvPr>
        </p:nvSpPr>
        <p:spPr/>
        <p:txBody>
          <a:bodyPr>
            <a:normAutofit/>
          </a:bodyPr>
          <a:lstStyle/>
          <a:p>
            <a:r>
              <a:rPr lang="en-US" sz="2800" b="1" dirty="0" smtClean="0">
                <a:solidFill>
                  <a:srgbClr val="C00000"/>
                </a:solidFill>
              </a:rPr>
              <a:t>Step 2</a:t>
            </a:r>
            <a:r>
              <a:rPr lang="en-US" sz="2800" b="1" dirty="0" smtClean="0"/>
              <a:t>: Map Phase</a:t>
            </a:r>
          </a:p>
        </p:txBody>
      </p:sp>
      <p:sp>
        <p:nvSpPr>
          <p:cNvPr id="5" name="Rectangle 4"/>
          <p:cNvSpPr/>
          <p:nvPr/>
        </p:nvSpPr>
        <p:spPr>
          <a:xfrm>
            <a:off x="1102013" y="2955163"/>
            <a:ext cx="3653523" cy="156966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2400" b="1" dirty="0" err="1"/>
              <a:t>def</a:t>
            </a:r>
            <a:r>
              <a:rPr lang="en-US" sz="2400" b="1" dirty="0"/>
              <a:t> </a:t>
            </a:r>
            <a:r>
              <a:rPr lang="en-US" sz="2400" b="1" dirty="0" err="1"/>
              <a:t>map_function</a:t>
            </a:r>
            <a:r>
              <a:rPr lang="en-US" sz="2400" b="1" dirty="0"/>
              <a:t>(line):</a:t>
            </a:r>
          </a:p>
          <a:p>
            <a:r>
              <a:rPr lang="en-US" sz="2400" b="1" dirty="0"/>
              <a:t>    words = </a:t>
            </a:r>
            <a:r>
              <a:rPr lang="en-US" sz="2400" b="1" dirty="0" err="1"/>
              <a:t>line.split</a:t>
            </a:r>
            <a:r>
              <a:rPr lang="en-US" sz="2400" b="1" dirty="0"/>
              <a:t>()</a:t>
            </a:r>
          </a:p>
          <a:p>
            <a:r>
              <a:rPr lang="en-US" sz="2400" b="1" dirty="0"/>
              <a:t>    for word in words:</a:t>
            </a:r>
          </a:p>
          <a:p>
            <a:r>
              <a:rPr lang="en-US" sz="2400" b="1" dirty="0"/>
              <a:t>        emit(</a:t>
            </a:r>
            <a:r>
              <a:rPr lang="en-US" sz="2400" b="1" dirty="0" err="1"/>
              <a:t>word.lower</a:t>
            </a:r>
            <a:r>
              <a:rPr lang="en-US" sz="2400" b="1" dirty="0"/>
              <a:t>(), 1)</a:t>
            </a:r>
          </a:p>
        </p:txBody>
      </p:sp>
      <p:sp>
        <p:nvSpPr>
          <p:cNvPr id="4" name="Rectangle 3"/>
          <p:cNvSpPr/>
          <p:nvPr/>
        </p:nvSpPr>
        <p:spPr>
          <a:xfrm>
            <a:off x="5293576" y="2578955"/>
            <a:ext cx="2468820" cy="37856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sz="2000" b="1" dirty="0">
                <a:solidFill>
                  <a:srgbClr val="C00000"/>
                </a:solidFill>
              </a:rPr>
              <a:t>Split </a:t>
            </a:r>
            <a:r>
              <a:rPr lang="en-US" sz="2000" b="1" dirty="0" smtClean="0">
                <a:solidFill>
                  <a:srgbClr val="C00000"/>
                </a:solidFill>
              </a:rPr>
              <a:t>1</a:t>
            </a:r>
            <a:endParaRPr lang="en-US" sz="2000" dirty="0" smtClean="0">
              <a:solidFill>
                <a:schemeClr val="tx1"/>
              </a:solidFill>
            </a:endParaRPr>
          </a:p>
          <a:p>
            <a:pPr algn="ctr"/>
            <a:r>
              <a:rPr lang="en-US" sz="2000" dirty="0" smtClean="0">
                <a:solidFill>
                  <a:schemeClr val="tx1"/>
                </a:solidFill>
              </a:rPr>
              <a:t>(</a:t>
            </a:r>
            <a:r>
              <a:rPr lang="en-US" sz="2000" dirty="0">
                <a:solidFill>
                  <a:schemeClr val="tx1"/>
                </a:solidFill>
              </a:rPr>
              <a:t>big,1)</a:t>
            </a:r>
          </a:p>
          <a:p>
            <a:pPr algn="ctr"/>
            <a:r>
              <a:rPr lang="en-US" sz="2000" dirty="0">
                <a:solidFill>
                  <a:schemeClr val="tx1"/>
                </a:solidFill>
              </a:rPr>
              <a:t>(data,1)</a:t>
            </a:r>
          </a:p>
          <a:p>
            <a:pPr algn="ctr"/>
            <a:r>
              <a:rPr lang="en-US" sz="2000" dirty="0">
                <a:solidFill>
                  <a:schemeClr val="tx1"/>
                </a:solidFill>
              </a:rPr>
              <a:t>(is,1)</a:t>
            </a:r>
          </a:p>
          <a:p>
            <a:pPr algn="ctr"/>
            <a:r>
              <a:rPr lang="en-US" sz="2000" dirty="0">
                <a:solidFill>
                  <a:schemeClr val="tx1"/>
                </a:solidFill>
              </a:rPr>
              <a:t>(transforming,1)</a:t>
            </a:r>
          </a:p>
          <a:p>
            <a:pPr algn="ctr"/>
            <a:r>
              <a:rPr lang="en-US" sz="2000" dirty="0">
                <a:solidFill>
                  <a:schemeClr val="tx1"/>
                </a:solidFill>
              </a:rPr>
              <a:t>(the,1)</a:t>
            </a:r>
          </a:p>
          <a:p>
            <a:pPr algn="ctr"/>
            <a:r>
              <a:rPr lang="en-US" sz="2000" dirty="0">
                <a:solidFill>
                  <a:schemeClr val="tx1"/>
                </a:solidFill>
              </a:rPr>
              <a:t>(world,1)</a:t>
            </a:r>
          </a:p>
          <a:p>
            <a:pPr algn="ctr"/>
            <a:r>
              <a:rPr lang="en-US" sz="2000" dirty="0">
                <a:solidFill>
                  <a:schemeClr val="tx1"/>
                </a:solidFill>
              </a:rPr>
              <a:t>(big,1)</a:t>
            </a:r>
          </a:p>
          <a:p>
            <a:pPr algn="ctr"/>
            <a:r>
              <a:rPr lang="en-US" sz="2000" dirty="0">
                <a:solidFill>
                  <a:schemeClr val="tx1"/>
                </a:solidFill>
              </a:rPr>
              <a:t>(data,1)</a:t>
            </a:r>
          </a:p>
          <a:p>
            <a:pPr algn="ctr"/>
            <a:r>
              <a:rPr lang="en-US" sz="2000" dirty="0">
                <a:solidFill>
                  <a:schemeClr val="tx1"/>
                </a:solidFill>
              </a:rPr>
              <a:t>(technologies,1)</a:t>
            </a:r>
          </a:p>
          <a:p>
            <a:pPr algn="ctr"/>
            <a:r>
              <a:rPr lang="en-US" sz="2000" dirty="0">
                <a:solidFill>
                  <a:schemeClr val="tx1"/>
                </a:solidFill>
              </a:rPr>
              <a:t>(are,1)</a:t>
            </a:r>
          </a:p>
          <a:p>
            <a:pPr algn="ctr"/>
            <a:r>
              <a:rPr lang="en-US" sz="2000" dirty="0">
                <a:solidFill>
                  <a:schemeClr val="tx1"/>
                </a:solidFill>
              </a:rPr>
              <a:t>(powerful,1)</a:t>
            </a:r>
          </a:p>
        </p:txBody>
      </p:sp>
      <p:sp>
        <p:nvSpPr>
          <p:cNvPr id="6" name="Rectangle 5"/>
          <p:cNvSpPr/>
          <p:nvPr/>
        </p:nvSpPr>
        <p:spPr>
          <a:xfrm>
            <a:off x="7936172" y="3328184"/>
            <a:ext cx="1317126" cy="193899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sz="2000" b="1" dirty="0" smtClean="0">
                <a:solidFill>
                  <a:srgbClr val="C00000"/>
                </a:solidFill>
              </a:rPr>
              <a:t>Split 2</a:t>
            </a:r>
          </a:p>
          <a:p>
            <a:r>
              <a:rPr lang="en-US" sz="2000" dirty="0" smtClean="0"/>
              <a:t>(</a:t>
            </a:r>
            <a:r>
              <a:rPr lang="en-US" sz="2000" dirty="0"/>
              <a:t>data,1</a:t>
            </a:r>
            <a:r>
              <a:rPr lang="en-US" sz="2000" dirty="0" smtClean="0"/>
              <a:t>)</a:t>
            </a:r>
          </a:p>
          <a:p>
            <a:r>
              <a:rPr lang="en-US" sz="2000" dirty="0" smtClean="0"/>
              <a:t>(science,1)</a:t>
            </a:r>
          </a:p>
          <a:p>
            <a:r>
              <a:rPr lang="en-US" sz="2000" dirty="0" smtClean="0"/>
              <a:t>(uses,1)</a:t>
            </a:r>
            <a:endParaRPr lang="en-US" sz="2000" dirty="0"/>
          </a:p>
          <a:p>
            <a:r>
              <a:rPr lang="en-US" sz="2000" dirty="0" smtClean="0"/>
              <a:t>(</a:t>
            </a:r>
            <a:r>
              <a:rPr lang="en-US" sz="2000" dirty="0"/>
              <a:t>big,1)</a:t>
            </a:r>
          </a:p>
          <a:p>
            <a:r>
              <a:rPr lang="en-US" sz="2000" dirty="0"/>
              <a:t>(data,1</a:t>
            </a:r>
            <a:r>
              <a:rPr lang="en-US" sz="2000" dirty="0" smtClean="0"/>
              <a:t>)</a:t>
            </a:r>
            <a:endParaRPr lang="en-US" sz="2000" dirty="0"/>
          </a:p>
        </p:txBody>
      </p:sp>
      <p:sp>
        <p:nvSpPr>
          <p:cNvPr id="7" name="Rectangle 6"/>
          <p:cNvSpPr/>
          <p:nvPr/>
        </p:nvSpPr>
        <p:spPr>
          <a:xfrm>
            <a:off x="9466682" y="2578955"/>
            <a:ext cx="1598693" cy="37856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sz="2000" b="1" dirty="0" smtClean="0">
                <a:solidFill>
                  <a:srgbClr val="C00000"/>
                </a:solidFill>
              </a:rPr>
              <a:t>Split 3</a:t>
            </a:r>
          </a:p>
          <a:p>
            <a:pPr algn="ctr"/>
            <a:r>
              <a:rPr lang="en-US" sz="2000" dirty="0" smtClean="0"/>
              <a:t>(the,1)</a:t>
            </a:r>
          </a:p>
          <a:p>
            <a:pPr algn="ctr"/>
            <a:r>
              <a:rPr lang="en-US" sz="2000" dirty="0" smtClean="0">
                <a:solidFill>
                  <a:schemeClr val="dk1"/>
                </a:solidFill>
              </a:rPr>
              <a:t>(world,1)</a:t>
            </a:r>
          </a:p>
          <a:p>
            <a:pPr algn="ctr"/>
            <a:r>
              <a:rPr lang="en-US" sz="2000" dirty="0" smtClean="0"/>
              <a:t>(of,1)</a:t>
            </a:r>
          </a:p>
          <a:p>
            <a:pPr algn="ctr"/>
            <a:r>
              <a:rPr lang="en-US" sz="2000" dirty="0" smtClean="0">
                <a:solidFill>
                  <a:schemeClr val="dk1"/>
                </a:solidFill>
              </a:rPr>
              <a:t>(data,1)</a:t>
            </a:r>
          </a:p>
          <a:p>
            <a:pPr algn="ctr"/>
            <a:r>
              <a:rPr lang="en-US" sz="2000" dirty="0" smtClean="0"/>
              <a:t>(is,1)</a:t>
            </a:r>
          </a:p>
          <a:p>
            <a:pPr algn="ctr"/>
            <a:r>
              <a:rPr lang="en-US" sz="2000" dirty="0" smtClean="0">
                <a:solidFill>
                  <a:schemeClr val="dk1"/>
                </a:solidFill>
              </a:rPr>
              <a:t>(growing,1)</a:t>
            </a:r>
          </a:p>
          <a:p>
            <a:pPr algn="ctr"/>
            <a:r>
              <a:rPr lang="en-US" sz="2000" dirty="0" smtClean="0"/>
              <a:t>(big,1)</a:t>
            </a:r>
          </a:p>
          <a:p>
            <a:pPr algn="ctr"/>
            <a:r>
              <a:rPr lang="en-US" sz="2000" dirty="0" smtClean="0">
                <a:solidFill>
                  <a:schemeClr val="dk1"/>
                </a:solidFill>
              </a:rPr>
              <a:t>(systems,1)</a:t>
            </a:r>
          </a:p>
          <a:p>
            <a:pPr algn="ctr"/>
            <a:r>
              <a:rPr lang="en-US" sz="2000" dirty="0" smtClean="0"/>
              <a:t>(process,1)</a:t>
            </a:r>
          </a:p>
          <a:p>
            <a:pPr algn="ctr"/>
            <a:r>
              <a:rPr lang="en-US" sz="2000" dirty="0" smtClean="0">
                <a:solidFill>
                  <a:schemeClr val="dk1"/>
                </a:solidFill>
              </a:rPr>
              <a:t>(big,1)</a:t>
            </a:r>
          </a:p>
          <a:p>
            <a:pPr algn="ctr"/>
            <a:r>
              <a:rPr lang="en-US" sz="2000" dirty="0" smtClean="0"/>
              <a:t>(data,1)</a:t>
            </a:r>
            <a:endParaRPr lang="en-US" sz="2000" dirty="0">
              <a:solidFill>
                <a:schemeClr val="dk1"/>
              </a:solidFill>
            </a:endParaRPr>
          </a:p>
        </p:txBody>
      </p:sp>
    </p:spTree>
    <p:extLst>
      <p:ext uri="{BB962C8B-B14F-4D97-AF65-F5344CB8AC3E}">
        <p14:creationId xmlns:p14="http://schemas.microsoft.com/office/powerpoint/2010/main" val="156291410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Example 1: word count </a:t>
            </a:r>
            <a:endParaRPr lang="en-US" b="1" dirty="0"/>
          </a:p>
        </p:txBody>
      </p:sp>
      <p:sp>
        <p:nvSpPr>
          <p:cNvPr id="3" name="Content Placeholder 2"/>
          <p:cNvSpPr>
            <a:spLocks noGrp="1"/>
          </p:cNvSpPr>
          <p:nvPr>
            <p:ph idx="1"/>
          </p:nvPr>
        </p:nvSpPr>
        <p:spPr/>
        <p:txBody>
          <a:bodyPr>
            <a:normAutofit/>
          </a:bodyPr>
          <a:lstStyle/>
          <a:p>
            <a:r>
              <a:rPr lang="en-US" sz="2800" b="1" dirty="0" smtClean="0">
                <a:solidFill>
                  <a:srgbClr val="C00000"/>
                </a:solidFill>
              </a:rPr>
              <a:t>Step 3</a:t>
            </a:r>
            <a:r>
              <a:rPr lang="en-US" sz="2800" b="1" dirty="0" smtClean="0"/>
              <a:t>: Combiner Phase</a:t>
            </a:r>
          </a:p>
        </p:txBody>
      </p:sp>
      <p:sp>
        <p:nvSpPr>
          <p:cNvPr id="5" name="Rectangle 4"/>
          <p:cNvSpPr/>
          <p:nvPr/>
        </p:nvSpPr>
        <p:spPr>
          <a:xfrm>
            <a:off x="1102013" y="2955163"/>
            <a:ext cx="3978179" cy="830997"/>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2400" b="1" dirty="0" err="1"/>
              <a:t>def</a:t>
            </a:r>
            <a:r>
              <a:rPr lang="en-US" sz="2400" b="1" dirty="0"/>
              <a:t> combiner(word, values):</a:t>
            </a:r>
          </a:p>
          <a:p>
            <a:r>
              <a:rPr lang="en-US" sz="2400" b="1" dirty="0"/>
              <a:t>    return (word, sum(values))</a:t>
            </a:r>
          </a:p>
        </p:txBody>
      </p:sp>
      <p:sp>
        <p:nvSpPr>
          <p:cNvPr id="4" name="Rectangle 3"/>
          <p:cNvSpPr/>
          <p:nvPr/>
        </p:nvSpPr>
        <p:spPr>
          <a:xfrm>
            <a:off x="5293576" y="2578955"/>
            <a:ext cx="2468820" cy="317009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sz="2000" b="1" dirty="0">
                <a:solidFill>
                  <a:srgbClr val="C00000"/>
                </a:solidFill>
              </a:rPr>
              <a:t>Split </a:t>
            </a:r>
            <a:r>
              <a:rPr lang="en-US" sz="2000" b="1" dirty="0" smtClean="0">
                <a:solidFill>
                  <a:srgbClr val="C00000"/>
                </a:solidFill>
              </a:rPr>
              <a:t>1</a:t>
            </a:r>
            <a:endParaRPr lang="en-US" sz="2000" dirty="0" smtClean="0">
              <a:solidFill>
                <a:schemeClr val="tx1"/>
              </a:solidFill>
            </a:endParaRPr>
          </a:p>
          <a:p>
            <a:pPr algn="ctr"/>
            <a:r>
              <a:rPr lang="en-US" sz="2000" b="1" dirty="0" smtClean="0">
                <a:solidFill>
                  <a:schemeClr val="tx1"/>
                </a:solidFill>
              </a:rPr>
              <a:t>(big,2)</a:t>
            </a:r>
            <a:endParaRPr lang="en-US" sz="2000" dirty="0">
              <a:solidFill>
                <a:schemeClr val="tx1"/>
              </a:solidFill>
            </a:endParaRPr>
          </a:p>
          <a:p>
            <a:pPr algn="ctr"/>
            <a:r>
              <a:rPr lang="en-US" sz="2000" b="1" dirty="0">
                <a:solidFill>
                  <a:schemeClr val="tx1"/>
                </a:solidFill>
              </a:rPr>
              <a:t>(</a:t>
            </a:r>
            <a:r>
              <a:rPr lang="en-US" sz="2000" b="1" dirty="0" smtClean="0">
                <a:solidFill>
                  <a:schemeClr val="tx1"/>
                </a:solidFill>
              </a:rPr>
              <a:t>data,2)</a:t>
            </a:r>
            <a:endParaRPr lang="en-US" sz="2000" b="1" dirty="0">
              <a:solidFill>
                <a:schemeClr val="tx1"/>
              </a:solidFill>
            </a:endParaRPr>
          </a:p>
          <a:p>
            <a:pPr algn="ctr"/>
            <a:r>
              <a:rPr lang="en-US" sz="2000" dirty="0">
                <a:solidFill>
                  <a:schemeClr val="tx1"/>
                </a:solidFill>
              </a:rPr>
              <a:t>(is,1)</a:t>
            </a:r>
          </a:p>
          <a:p>
            <a:pPr algn="ctr"/>
            <a:r>
              <a:rPr lang="en-US" sz="2000" dirty="0">
                <a:solidFill>
                  <a:schemeClr val="tx1"/>
                </a:solidFill>
              </a:rPr>
              <a:t>(transforming,1)</a:t>
            </a:r>
          </a:p>
          <a:p>
            <a:pPr algn="ctr"/>
            <a:r>
              <a:rPr lang="en-US" sz="2000" dirty="0">
                <a:solidFill>
                  <a:schemeClr val="tx1"/>
                </a:solidFill>
              </a:rPr>
              <a:t>(the,1)</a:t>
            </a:r>
          </a:p>
          <a:p>
            <a:pPr algn="ctr"/>
            <a:r>
              <a:rPr lang="en-US" sz="2000" dirty="0">
                <a:solidFill>
                  <a:schemeClr val="tx1"/>
                </a:solidFill>
              </a:rPr>
              <a:t>(world,1)</a:t>
            </a:r>
          </a:p>
          <a:p>
            <a:pPr algn="ctr"/>
            <a:r>
              <a:rPr lang="en-US" sz="2000" dirty="0" smtClean="0">
                <a:solidFill>
                  <a:schemeClr val="tx1"/>
                </a:solidFill>
              </a:rPr>
              <a:t>(</a:t>
            </a:r>
            <a:r>
              <a:rPr lang="en-US" sz="2000" dirty="0">
                <a:solidFill>
                  <a:schemeClr val="tx1"/>
                </a:solidFill>
              </a:rPr>
              <a:t>technologies,1)</a:t>
            </a:r>
          </a:p>
          <a:p>
            <a:pPr algn="ctr"/>
            <a:r>
              <a:rPr lang="en-US" sz="2000" dirty="0">
                <a:solidFill>
                  <a:schemeClr val="tx1"/>
                </a:solidFill>
              </a:rPr>
              <a:t>(are,1)</a:t>
            </a:r>
          </a:p>
          <a:p>
            <a:pPr algn="ctr"/>
            <a:r>
              <a:rPr lang="en-US" sz="2000" dirty="0">
                <a:solidFill>
                  <a:schemeClr val="tx1"/>
                </a:solidFill>
              </a:rPr>
              <a:t>(powerful,1)</a:t>
            </a:r>
          </a:p>
        </p:txBody>
      </p:sp>
      <p:sp>
        <p:nvSpPr>
          <p:cNvPr id="6" name="Rectangle 5"/>
          <p:cNvSpPr/>
          <p:nvPr/>
        </p:nvSpPr>
        <p:spPr>
          <a:xfrm>
            <a:off x="7936172" y="3328184"/>
            <a:ext cx="1317126" cy="1631216"/>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sz="2000" b="1" dirty="0" smtClean="0">
                <a:solidFill>
                  <a:srgbClr val="C00000"/>
                </a:solidFill>
              </a:rPr>
              <a:t>Split 2</a:t>
            </a:r>
          </a:p>
          <a:p>
            <a:r>
              <a:rPr lang="en-US" sz="2000" b="1" dirty="0" smtClean="0"/>
              <a:t>(data,2)</a:t>
            </a:r>
          </a:p>
          <a:p>
            <a:r>
              <a:rPr lang="en-US" sz="2000" dirty="0" smtClean="0"/>
              <a:t>(science,1)</a:t>
            </a:r>
          </a:p>
          <a:p>
            <a:r>
              <a:rPr lang="en-US" sz="2000" dirty="0" smtClean="0"/>
              <a:t>(uses,1)</a:t>
            </a:r>
            <a:endParaRPr lang="en-US" sz="2000" dirty="0"/>
          </a:p>
          <a:p>
            <a:r>
              <a:rPr lang="en-US" sz="2000" dirty="0" smtClean="0"/>
              <a:t>(</a:t>
            </a:r>
            <a:r>
              <a:rPr lang="en-US" sz="2000" dirty="0"/>
              <a:t>big,1</a:t>
            </a:r>
            <a:r>
              <a:rPr lang="en-US" sz="2000" dirty="0" smtClean="0"/>
              <a:t>)</a:t>
            </a:r>
            <a:endParaRPr lang="en-US" sz="2000" dirty="0"/>
          </a:p>
        </p:txBody>
      </p:sp>
      <p:sp>
        <p:nvSpPr>
          <p:cNvPr id="7" name="Rectangle 6"/>
          <p:cNvSpPr/>
          <p:nvPr/>
        </p:nvSpPr>
        <p:spPr>
          <a:xfrm>
            <a:off x="9466682" y="2578955"/>
            <a:ext cx="1598693" cy="317009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sz="2000" b="1" dirty="0" smtClean="0">
                <a:solidFill>
                  <a:srgbClr val="C00000"/>
                </a:solidFill>
              </a:rPr>
              <a:t>Split 3</a:t>
            </a:r>
          </a:p>
          <a:p>
            <a:pPr algn="ctr"/>
            <a:r>
              <a:rPr lang="en-US" sz="2000" dirty="0" smtClean="0"/>
              <a:t>(the,1)</a:t>
            </a:r>
          </a:p>
          <a:p>
            <a:pPr algn="ctr"/>
            <a:r>
              <a:rPr lang="en-US" sz="2000" dirty="0" smtClean="0">
                <a:solidFill>
                  <a:schemeClr val="dk1"/>
                </a:solidFill>
              </a:rPr>
              <a:t>(world,1)</a:t>
            </a:r>
          </a:p>
          <a:p>
            <a:pPr algn="ctr"/>
            <a:r>
              <a:rPr lang="en-US" sz="2000" dirty="0" smtClean="0"/>
              <a:t>(of,1)</a:t>
            </a:r>
          </a:p>
          <a:p>
            <a:pPr algn="ctr"/>
            <a:r>
              <a:rPr lang="en-US" sz="2000" b="1" dirty="0" smtClean="0">
                <a:solidFill>
                  <a:schemeClr val="dk1"/>
                </a:solidFill>
              </a:rPr>
              <a:t>(data,2)</a:t>
            </a:r>
          </a:p>
          <a:p>
            <a:pPr algn="ctr"/>
            <a:r>
              <a:rPr lang="en-US" sz="2000" dirty="0" smtClean="0"/>
              <a:t>(is,1)</a:t>
            </a:r>
          </a:p>
          <a:p>
            <a:pPr algn="ctr"/>
            <a:r>
              <a:rPr lang="en-US" sz="2000" dirty="0" smtClean="0">
                <a:solidFill>
                  <a:schemeClr val="dk1"/>
                </a:solidFill>
              </a:rPr>
              <a:t>(growing,1)</a:t>
            </a:r>
          </a:p>
          <a:p>
            <a:pPr algn="ctr"/>
            <a:r>
              <a:rPr lang="en-US" sz="2000" b="1" dirty="0" smtClean="0"/>
              <a:t>(big,2)</a:t>
            </a:r>
          </a:p>
          <a:p>
            <a:pPr algn="ctr"/>
            <a:r>
              <a:rPr lang="en-US" sz="2000" dirty="0" smtClean="0">
                <a:solidFill>
                  <a:schemeClr val="dk1"/>
                </a:solidFill>
              </a:rPr>
              <a:t>(systems,1)</a:t>
            </a:r>
          </a:p>
          <a:p>
            <a:pPr algn="ctr"/>
            <a:r>
              <a:rPr lang="en-US" sz="2000" dirty="0" smtClean="0"/>
              <a:t>(process,1)</a:t>
            </a:r>
          </a:p>
        </p:txBody>
      </p:sp>
    </p:spTree>
    <p:extLst>
      <p:ext uri="{BB962C8B-B14F-4D97-AF65-F5344CB8AC3E}">
        <p14:creationId xmlns:p14="http://schemas.microsoft.com/office/powerpoint/2010/main" val="53177467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Example 1: word count </a:t>
            </a:r>
            <a:endParaRPr lang="en-US" b="1" dirty="0"/>
          </a:p>
        </p:txBody>
      </p:sp>
      <p:sp>
        <p:nvSpPr>
          <p:cNvPr id="3" name="Content Placeholder 2"/>
          <p:cNvSpPr>
            <a:spLocks noGrp="1"/>
          </p:cNvSpPr>
          <p:nvPr>
            <p:ph idx="1"/>
          </p:nvPr>
        </p:nvSpPr>
        <p:spPr/>
        <p:txBody>
          <a:bodyPr>
            <a:normAutofit/>
          </a:bodyPr>
          <a:lstStyle/>
          <a:p>
            <a:r>
              <a:rPr lang="en-US" sz="2800" b="1" dirty="0" smtClean="0">
                <a:solidFill>
                  <a:srgbClr val="C00000"/>
                </a:solidFill>
              </a:rPr>
              <a:t>Step 4</a:t>
            </a:r>
            <a:r>
              <a:rPr lang="en-US" sz="2800" b="1" dirty="0" smtClean="0"/>
              <a:t>: Shuffle &amp; Sort Phase</a:t>
            </a:r>
          </a:p>
          <a:p>
            <a:pPr marL="0" lvl="0" indent="0" eaLnBrk="0" fontAlgn="base" hangingPunct="0">
              <a:lnSpc>
                <a:spcPct val="100000"/>
              </a:lnSpc>
              <a:spcBef>
                <a:spcPct val="0"/>
              </a:spcBef>
              <a:spcAft>
                <a:spcPct val="0"/>
              </a:spcAft>
              <a:buClrTx/>
              <a:buSzTx/>
              <a:buNone/>
            </a:pPr>
            <a:r>
              <a:rPr lang="en-US" altLang="en-US" sz="2400" dirty="0"/>
              <a:t>Shuffle groups identical keys from all mappers</a:t>
            </a:r>
            <a:r>
              <a:rPr lang="en-US" altLang="en-US" sz="2400" dirty="0" smtClean="0"/>
              <a:t>:</a:t>
            </a:r>
          </a:p>
          <a:p>
            <a:pPr marL="0" lvl="0" indent="0" eaLnBrk="0" fontAlgn="base" hangingPunct="0">
              <a:lnSpc>
                <a:spcPct val="100000"/>
              </a:lnSpc>
              <a:spcBef>
                <a:spcPct val="0"/>
              </a:spcBef>
              <a:spcAft>
                <a:spcPct val="0"/>
              </a:spcAft>
              <a:buClrTx/>
              <a:buSzTx/>
              <a:buNone/>
            </a:pPr>
            <a:endParaRPr lang="en-US" altLang="en-US" sz="2400" dirty="0"/>
          </a:p>
          <a:p>
            <a:pPr marL="0" lvl="0" indent="0" eaLnBrk="0" fontAlgn="base" hangingPunct="0">
              <a:lnSpc>
                <a:spcPct val="100000"/>
              </a:lnSpc>
              <a:spcBef>
                <a:spcPct val="0"/>
              </a:spcBef>
              <a:spcAft>
                <a:spcPct val="0"/>
              </a:spcAft>
              <a:buClrTx/>
              <a:buSzTx/>
              <a:buNone/>
            </a:pPr>
            <a:endParaRPr lang="en-US" altLang="en-US" sz="2400" dirty="0" smtClean="0"/>
          </a:p>
          <a:p>
            <a:pPr marL="0" lvl="0" indent="0" eaLnBrk="0" fontAlgn="base" hangingPunct="0">
              <a:lnSpc>
                <a:spcPct val="100000"/>
              </a:lnSpc>
              <a:spcBef>
                <a:spcPct val="0"/>
              </a:spcBef>
              <a:spcAft>
                <a:spcPct val="0"/>
              </a:spcAft>
              <a:buClrTx/>
              <a:buSzTx/>
              <a:buNone/>
            </a:pPr>
            <a:endParaRPr lang="en-US" altLang="en-US" sz="2400" dirty="0"/>
          </a:p>
          <a:p>
            <a:pPr marL="0" lvl="0" indent="0" eaLnBrk="0" fontAlgn="base" hangingPunct="0">
              <a:lnSpc>
                <a:spcPct val="100000"/>
              </a:lnSpc>
              <a:spcBef>
                <a:spcPct val="0"/>
              </a:spcBef>
              <a:spcAft>
                <a:spcPct val="0"/>
              </a:spcAft>
              <a:buClrTx/>
              <a:buSzTx/>
              <a:buNone/>
            </a:pPr>
            <a:endParaRPr lang="en-US" altLang="en-US" sz="2400" dirty="0" smtClean="0"/>
          </a:p>
          <a:p>
            <a:pPr marL="0" lvl="0" indent="0" eaLnBrk="0" fontAlgn="base" hangingPunct="0">
              <a:lnSpc>
                <a:spcPct val="100000"/>
              </a:lnSpc>
              <a:spcBef>
                <a:spcPct val="0"/>
              </a:spcBef>
              <a:spcAft>
                <a:spcPct val="0"/>
              </a:spcAft>
              <a:buClrTx/>
              <a:buSzTx/>
              <a:buNone/>
            </a:pPr>
            <a:endParaRPr lang="en-US" altLang="en-US" sz="2400" dirty="0"/>
          </a:p>
          <a:p>
            <a:pPr marL="0" lvl="0" indent="0" eaLnBrk="0" fontAlgn="base" hangingPunct="0">
              <a:lnSpc>
                <a:spcPct val="100000"/>
              </a:lnSpc>
              <a:spcBef>
                <a:spcPct val="0"/>
              </a:spcBef>
              <a:spcAft>
                <a:spcPct val="0"/>
              </a:spcAft>
              <a:buClrTx/>
              <a:buSzTx/>
              <a:buNone/>
            </a:pPr>
            <a:endParaRPr lang="en-US" altLang="en-US" sz="2400" dirty="0" smtClean="0"/>
          </a:p>
          <a:p>
            <a:pPr marL="0" indent="0" eaLnBrk="0" fontAlgn="base" hangingPunct="0">
              <a:lnSpc>
                <a:spcPct val="100000"/>
              </a:lnSpc>
              <a:spcBef>
                <a:spcPct val="0"/>
              </a:spcBef>
              <a:spcAft>
                <a:spcPct val="0"/>
              </a:spcAft>
              <a:buClrTx/>
              <a:buSzTx/>
              <a:buNone/>
            </a:pPr>
            <a:r>
              <a:rPr lang="en-US" sz="2400" b="1" dirty="0">
                <a:solidFill>
                  <a:srgbClr val="C00000"/>
                </a:solidFill>
              </a:rPr>
              <a:t>All values for same key → same reducer.</a:t>
            </a:r>
          </a:p>
          <a:p>
            <a:pPr marL="0" lvl="0" indent="0" eaLnBrk="0" fontAlgn="base" hangingPunct="0">
              <a:lnSpc>
                <a:spcPct val="100000"/>
              </a:lnSpc>
              <a:spcBef>
                <a:spcPct val="0"/>
              </a:spcBef>
              <a:spcAft>
                <a:spcPct val="0"/>
              </a:spcAft>
              <a:buClrTx/>
              <a:buSzTx/>
              <a:buNone/>
            </a:pPr>
            <a:endParaRPr lang="en-US" altLang="en-US" sz="2400" dirty="0"/>
          </a:p>
          <a:p>
            <a:pPr marL="0" lvl="0" indent="0" eaLnBrk="0" fontAlgn="base" hangingPunct="0">
              <a:lnSpc>
                <a:spcPct val="100000"/>
              </a:lnSpc>
              <a:spcBef>
                <a:spcPct val="0"/>
              </a:spcBef>
              <a:spcAft>
                <a:spcPct val="0"/>
              </a:spcAft>
              <a:buClrTx/>
              <a:buSzTx/>
              <a:buNone/>
            </a:pPr>
            <a:endParaRPr lang="en-US" altLang="en-US" sz="2400" dirty="0"/>
          </a:p>
          <a:p>
            <a:endParaRPr lang="en-US" sz="2800" b="1" dirty="0" smtClean="0"/>
          </a:p>
        </p:txBody>
      </p:sp>
      <p:sp>
        <p:nvSpPr>
          <p:cNvPr id="7" name="Rectangle 6"/>
          <p:cNvSpPr/>
          <p:nvPr/>
        </p:nvSpPr>
        <p:spPr>
          <a:xfrm>
            <a:off x="1111214" y="3284405"/>
            <a:ext cx="3112443" cy="1631216"/>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sz="2000" b="1" dirty="0">
                <a:solidFill>
                  <a:srgbClr val="C00000"/>
                </a:solidFill>
              </a:rPr>
              <a:t>(big, [2,1,2])</a:t>
            </a:r>
          </a:p>
          <a:p>
            <a:pPr algn="ctr"/>
            <a:r>
              <a:rPr lang="en-US" sz="2000" b="1" dirty="0">
                <a:solidFill>
                  <a:srgbClr val="C00000"/>
                </a:solidFill>
              </a:rPr>
              <a:t>(data, [2,2,2])</a:t>
            </a:r>
          </a:p>
          <a:p>
            <a:pPr algn="ctr"/>
            <a:r>
              <a:rPr lang="en-US" sz="2000" b="1" dirty="0">
                <a:solidFill>
                  <a:srgbClr val="C00000"/>
                </a:solidFill>
              </a:rPr>
              <a:t>(is, [1,1])</a:t>
            </a:r>
          </a:p>
          <a:p>
            <a:pPr algn="ctr"/>
            <a:r>
              <a:rPr lang="en-US" sz="2000" b="1" dirty="0">
                <a:solidFill>
                  <a:srgbClr val="C00000"/>
                </a:solidFill>
              </a:rPr>
              <a:t>(world, [1,1])</a:t>
            </a:r>
          </a:p>
          <a:p>
            <a:pPr algn="ctr"/>
            <a:r>
              <a:rPr lang="en-US" sz="2000" b="1" dirty="0">
                <a:solidFill>
                  <a:srgbClr val="C00000"/>
                </a:solidFill>
              </a:rPr>
              <a:t>...</a:t>
            </a:r>
            <a:endParaRPr lang="en-US" sz="2000" dirty="0" smtClean="0"/>
          </a:p>
        </p:txBody>
      </p:sp>
    </p:spTree>
    <p:extLst>
      <p:ext uri="{BB962C8B-B14F-4D97-AF65-F5344CB8AC3E}">
        <p14:creationId xmlns:p14="http://schemas.microsoft.com/office/powerpoint/2010/main" val="388621484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Example 1: word count </a:t>
            </a:r>
            <a:endParaRPr lang="en-US" b="1" dirty="0"/>
          </a:p>
        </p:txBody>
      </p:sp>
      <p:sp>
        <p:nvSpPr>
          <p:cNvPr id="3" name="Content Placeholder 2"/>
          <p:cNvSpPr>
            <a:spLocks noGrp="1"/>
          </p:cNvSpPr>
          <p:nvPr>
            <p:ph idx="1"/>
          </p:nvPr>
        </p:nvSpPr>
        <p:spPr/>
        <p:txBody>
          <a:bodyPr>
            <a:normAutofit/>
          </a:bodyPr>
          <a:lstStyle/>
          <a:p>
            <a:r>
              <a:rPr lang="en-US" sz="2800" b="1" dirty="0" smtClean="0">
                <a:solidFill>
                  <a:srgbClr val="C00000"/>
                </a:solidFill>
              </a:rPr>
              <a:t>Step 5</a:t>
            </a:r>
            <a:r>
              <a:rPr lang="en-US" sz="2800" b="1" dirty="0" smtClean="0"/>
              <a:t>: Reduce Phase</a:t>
            </a:r>
          </a:p>
        </p:txBody>
      </p:sp>
      <p:sp>
        <p:nvSpPr>
          <p:cNvPr id="5" name="Rectangle 4"/>
          <p:cNvSpPr/>
          <p:nvPr/>
        </p:nvSpPr>
        <p:spPr>
          <a:xfrm>
            <a:off x="1102013" y="2955163"/>
            <a:ext cx="4863358" cy="830997"/>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2400" b="1" dirty="0" err="1"/>
              <a:t>def</a:t>
            </a:r>
            <a:r>
              <a:rPr lang="en-US" sz="2400" b="1" dirty="0"/>
              <a:t> </a:t>
            </a:r>
            <a:r>
              <a:rPr lang="en-US" sz="2400" b="1" dirty="0" err="1"/>
              <a:t>reduce_function</a:t>
            </a:r>
            <a:r>
              <a:rPr lang="en-US" sz="2400" b="1" dirty="0"/>
              <a:t>(word, values</a:t>
            </a:r>
            <a:r>
              <a:rPr lang="en-US" sz="2400" b="1" dirty="0" smtClean="0"/>
              <a:t>):</a:t>
            </a:r>
            <a:endParaRPr lang="en-US" sz="2400" b="1" dirty="0"/>
          </a:p>
          <a:p>
            <a:r>
              <a:rPr lang="en-US" sz="2400" b="1" dirty="0"/>
              <a:t>    emit(word, </a:t>
            </a:r>
            <a:r>
              <a:rPr lang="en-US" sz="2400" b="1" dirty="0"/>
              <a:t>sum(values))</a:t>
            </a:r>
            <a:endParaRPr lang="en-US" sz="2400" b="1" dirty="0"/>
          </a:p>
        </p:txBody>
      </p:sp>
      <p:sp>
        <p:nvSpPr>
          <p:cNvPr id="7" name="Rectangle 6"/>
          <p:cNvSpPr/>
          <p:nvPr/>
        </p:nvSpPr>
        <p:spPr>
          <a:xfrm>
            <a:off x="7362241" y="1828801"/>
            <a:ext cx="2304404" cy="483209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sz="2200" b="1" dirty="0" smtClean="0">
                <a:solidFill>
                  <a:srgbClr val="C00000"/>
                </a:solidFill>
              </a:rPr>
              <a:t>Final Output</a:t>
            </a:r>
            <a:endParaRPr lang="en-US" sz="2200" b="1" dirty="0" smtClean="0">
              <a:solidFill>
                <a:schemeClr val="tx1"/>
              </a:solidFill>
            </a:endParaRPr>
          </a:p>
          <a:p>
            <a:pPr algn="ctr"/>
            <a:r>
              <a:rPr lang="en-US" sz="2200" b="1" dirty="0" smtClean="0">
                <a:solidFill>
                  <a:schemeClr val="tx1"/>
                </a:solidFill>
              </a:rPr>
              <a:t>big </a:t>
            </a:r>
            <a:r>
              <a:rPr lang="en-US" sz="2200" b="1" dirty="0">
                <a:solidFill>
                  <a:schemeClr val="tx1"/>
                </a:solidFill>
              </a:rPr>
              <a:t>→ 5</a:t>
            </a:r>
          </a:p>
          <a:p>
            <a:pPr algn="ctr"/>
            <a:r>
              <a:rPr lang="en-US" sz="2200" b="1" dirty="0">
                <a:solidFill>
                  <a:schemeClr val="tx1"/>
                </a:solidFill>
              </a:rPr>
              <a:t>data → 6</a:t>
            </a:r>
          </a:p>
          <a:p>
            <a:pPr algn="ctr"/>
            <a:r>
              <a:rPr lang="en-US" sz="2200" b="1" dirty="0">
                <a:solidFill>
                  <a:schemeClr val="tx1"/>
                </a:solidFill>
              </a:rPr>
              <a:t>is → 2</a:t>
            </a:r>
          </a:p>
          <a:p>
            <a:pPr algn="ctr"/>
            <a:r>
              <a:rPr lang="en-US" sz="2200" b="1" dirty="0">
                <a:solidFill>
                  <a:schemeClr val="tx1"/>
                </a:solidFill>
              </a:rPr>
              <a:t>world → 2</a:t>
            </a:r>
          </a:p>
          <a:p>
            <a:pPr algn="ctr"/>
            <a:r>
              <a:rPr lang="en-US" sz="2200" b="1" dirty="0">
                <a:solidFill>
                  <a:schemeClr val="tx1"/>
                </a:solidFill>
              </a:rPr>
              <a:t>the → 2</a:t>
            </a:r>
          </a:p>
          <a:p>
            <a:pPr algn="ctr"/>
            <a:r>
              <a:rPr lang="en-US" sz="2200" b="1" dirty="0">
                <a:solidFill>
                  <a:schemeClr val="tx1"/>
                </a:solidFill>
              </a:rPr>
              <a:t>technologies → 1</a:t>
            </a:r>
          </a:p>
          <a:p>
            <a:pPr algn="ctr"/>
            <a:r>
              <a:rPr lang="en-US" sz="2200" b="1" dirty="0">
                <a:solidFill>
                  <a:schemeClr val="tx1"/>
                </a:solidFill>
              </a:rPr>
              <a:t>are → 1</a:t>
            </a:r>
          </a:p>
          <a:p>
            <a:pPr algn="ctr"/>
            <a:r>
              <a:rPr lang="en-US" sz="2200" b="1" dirty="0">
                <a:solidFill>
                  <a:schemeClr val="tx1"/>
                </a:solidFill>
              </a:rPr>
              <a:t>powerful → 1</a:t>
            </a:r>
          </a:p>
          <a:p>
            <a:pPr algn="ctr"/>
            <a:r>
              <a:rPr lang="en-US" sz="2200" b="1" dirty="0">
                <a:solidFill>
                  <a:schemeClr val="tx1"/>
                </a:solidFill>
              </a:rPr>
              <a:t>science → 1</a:t>
            </a:r>
          </a:p>
          <a:p>
            <a:pPr algn="ctr"/>
            <a:r>
              <a:rPr lang="en-US" sz="2200" b="1" dirty="0">
                <a:solidFill>
                  <a:schemeClr val="tx1"/>
                </a:solidFill>
              </a:rPr>
              <a:t>uses → 1</a:t>
            </a:r>
          </a:p>
          <a:p>
            <a:pPr algn="ctr"/>
            <a:r>
              <a:rPr lang="en-US" sz="2200" b="1" dirty="0">
                <a:solidFill>
                  <a:schemeClr val="tx1"/>
                </a:solidFill>
              </a:rPr>
              <a:t>growing → 1</a:t>
            </a:r>
          </a:p>
          <a:p>
            <a:pPr algn="ctr"/>
            <a:r>
              <a:rPr lang="en-US" sz="2200" b="1" dirty="0">
                <a:solidFill>
                  <a:schemeClr val="tx1"/>
                </a:solidFill>
              </a:rPr>
              <a:t>systems → 1</a:t>
            </a:r>
          </a:p>
          <a:p>
            <a:pPr algn="ctr"/>
            <a:r>
              <a:rPr lang="en-US" sz="2200" b="1" dirty="0">
                <a:solidFill>
                  <a:schemeClr val="tx1"/>
                </a:solidFill>
              </a:rPr>
              <a:t>process → 1</a:t>
            </a:r>
            <a:endParaRPr lang="en-US" sz="2200" dirty="0" smtClean="0">
              <a:solidFill>
                <a:schemeClr val="tx1"/>
              </a:solidFill>
            </a:endParaRPr>
          </a:p>
        </p:txBody>
      </p:sp>
    </p:spTree>
    <p:extLst>
      <p:ext uri="{BB962C8B-B14F-4D97-AF65-F5344CB8AC3E}">
        <p14:creationId xmlns:p14="http://schemas.microsoft.com/office/powerpoint/2010/main" val="129722436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descr="https://static.wixstatic.com/media/a27d24_e7d16523d3a045dfb631a0b65f3b7134~mv2.jpg"/>
          <p:cNvPicPr>
            <a:picLocks noChangeAspect="1" noChangeArrowheads="1"/>
          </p:cNvPicPr>
          <p:nvPr/>
        </p:nvPicPr>
        <p:blipFill rotWithShape="1">
          <a:blip r:embed="rId3">
            <a:extLst>
              <a:ext uri="{28A0092B-C50C-407E-A947-70E740481C1C}">
                <a14:useLocalDpi xmlns:a14="http://schemas.microsoft.com/office/drawing/2010/main" val="0"/>
              </a:ext>
            </a:extLst>
          </a:blip>
          <a:srcRect r="5782"/>
          <a:stretch/>
        </p:blipFill>
        <p:spPr bwMode="auto">
          <a:xfrm>
            <a:off x="83005" y="556306"/>
            <a:ext cx="11962168" cy="59025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04543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Example 2: inverted index </a:t>
            </a:r>
            <a:endParaRPr lang="en-US" b="1" dirty="0"/>
          </a:p>
        </p:txBody>
      </p:sp>
      <p:sp>
        <p:nvSpPr>
          <p:cNvPr id="3" name="Content Placeholder 2"/>
          <p:cNvSpPr>
            <a:spLocks noGrp="1"/>
          </p:cNvSpPr>
          <p:nvPr>
            <p:ph idx="1"/>
          </p:nvPr>
        </p:nvSpPr>
        <p:spPr>
          <a:xfrm>
            <a:off x="1024128" y="2010234"/>
            <a:ext cx="9720073" cy="4023360"/>
          </a:xfrm>
        </p:spPr>
        <p:txBody>
          <a:bodyPr>
            <a:normAutofit/>
          </a:bodyPr>
          <a:lstStyle/>
          <a:p>
            <a:r>
              <a:rPr lang="en-US" sz="2800" b="1" dirty="0">
                <a:solidFill>
                  <a:srgbClr val="C00000"/>
                </a:solidFill>
              </a:rPr>
              <a:t>Given multiple documents, create an index that shows</a:t>
            </a:r>
            <a:r>
              <a:rPr lang="en-US" sz="2800" b="1" dirty="0" smtClean="0">
                <a:solidFill>
                  <a:srgbClr val="C00000"/>
                </a:solidFill>
              </a:rPr>
              <a:t>:</a:t>
            </a:r>
          </a:p>
          <a:p>
            <a:r>
              <a:rPr lang="en-US" sz="2800" b="1" dirty="0"/>
              <a:t>For each word → which documents contain it.</a:t>
            </a:r>
          </a:p>
          <a:p>
            <a:r>
              <a:rPr lang="en-US" sz="2800" b="1" dirty="0" smtClean="0"/>
              <a:t>Example:</a:t>
            </a:r>
            <a:endParaRPr lang="en-US" sz="2800" b="1" dirty="0"/>
          </a:p>
        </p:txBody>
      </p:sp>
      <p:sp>
        <p:nvSpPr>
          <p:cNvPr id="5" name="Rectangle 4"/>
          <p:cNvSpPr/>
          <p:nvPr/>
        </p:nvSpPr>
        <p:spPr>
          <a:xfrm>
            <a:off x="1190171" y="4002685"/>
            <a:ext cx="4528458" cy="156966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sz="2400" b="1" dirty="0" smtClean="0">
                <a:solidFill>
                  <a:srgbClr val="C00000"/>
                </a:solidFill>
              </a:rPr>
              <a:t>Input</a:t>
            </a:r>
          </a:p>
          <a:p>
            <a:r>
              <a:rPr lang="en-US" sz="2400" b="1" dirty="0" smtClean="0"/>
              <a:t>Doc1</a:t>
            </a:r>
            <a:r>
              <a:rPr lang="en-US" sz="2400" b="1" dirty="0"/>
              <a:t>:</a:t>
            </a:r>
            <a:r>
              <a:rPr lang="en-US" sz="2400" dirty="0"/>
              <a:t> Big data is powerful</a:t>
            </a:r>
          </a:p>
          <a:p>
            <a:r>
              <a:rPr lang="en-US" sz="2400" b="1" dirty="0"/>
              <a:t>Doc2:</a:t>
            </a:r>
            <a:r>
              <a:rPr lang="en-US" sz="2400" dirty="0"/>
              <a:t> Data science uses big data</a:t>
            </a:r>
          </a:p>
          <a:p>
            <a:r>
              <a:rPr lang="en-US" sz="2400" b="1" dirty="0"/>
              <a:t>Doc3:</a:t>
            </a:r>
            <a:r>
              <a:rPr lang="en-US" sz="2400" dirty="0"/>
              <a:t> Big systems process data</a:t>
            </a:r>
          </a:p>
        </p:txBody>
      </p:sp>
      <p:sp>
        <p:nvSpPr>
          <p:cNvPr id="7" name="Rectangle 6"/>
          <p:cNvSpPr/>
          <p:nvPr/>
        </p:nvSpPr>
        <p:spPr>
          <a:xfrm>
            <a:off x="6381786" y="3336824"/>
            <a:ext cx="4097528" cy="341632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sz="2400" b="1" dirty="0" smtClean="0">
                <a:solidFill>
                  <a:srgbClr val="C00000"/>
                </a:solidFill>
              </a:rPr>
              <a:t>Expected Output</a:t>
            </a:r>
          </a:p>
          <a:p>
            <a:r>
              <a:rPr lang="en-US" sz="2400" b="1" dirty="0"/>
              <a:t>big      → [Doc1, Doc2, Doc3]</a:t>
            </a:r>
          </a:p>
          <a:p>
            <a:r>
              <a:rPr lang="en-US" sz="2400" b="1" dirty="0"/>
              <a:t>data     → [Doc1, Doc2, Doc3]</a:t>
            </a:r>
          </a:p>
          <a:p>
            <a:r>
              <a:rPr lang="en-US" sz="2400" b="1" dirty="0"/>
              <a:t>science  → [Doc2]</a:t>
            </a:r>
          </a:p>
          <a:p>
            <a:r>
              <a:rPr lang="en-US" sz="2400" b="1" dirty="0"/>
              <a:t>systems  → [Doc3]</a:t>
            </a:r>
          </a:p>
          <a:p>
            <a:r>
              <a:rPr lang="en-US" sz="2400" b="1" dirty="0"/>
              <a:t>powerful → [Doc1</a:t>
            </a:r>
            <a:r>
              <a:rPr lang="en-US" sz="2400" b="1" dirty="0" smtClean="0"/>
              <a:t>]</a:t>
            </a:r>
          </a:p>
          <a:p>
            <a:r>
              <a:rPr lang="en-US" sz="2400" b="1" dirty="0" smtClean="0"/>
              <a:t>is </a:t>
            </a:r>
            <a:r>
              <a:rPr lang="en-US" sz="2400" b="1" dirty="0"/>
              <a:t>→ [Doc1]</a:t>
            </a:r>
          </a:p>
          <a:p>
            <a:r>
              <a:rPr lang="en-US" sz="2400" b="1" dirty="0" smtClean="0"/>
              <a:t>uses </a:t>
            </a:r>
            <a:r>
              <a:rPr lang="en-US" sz="2400" b="1" dirty="0"/>
              <a:t>→ [Doc1]</a:t>
            </a:r>
          </a:p>
          <a:p>
            <a:r>
              <a:rPr lang="en-US" sz="2400" b="1" dirty="0" smtClean="0"/>
              <a:t>process </a:t>
            </a:r>
            <a:r>
              <a:rPr lang="en-US" sz="2400" b="1" dirty="0"/>
              <a:t>→ [Doc1</a:t>
            </a:r>
            <a:r>
              <a:rPr lang="en-US" sz="2400" b="1" dirty="0" smtClean="0"/>
              <a:t>]</a:t>
            </a:r>
            <a:endParaRPr lang="en-US" sz="2400" b="1" dirty="0"/>
          </a:p>
        </p:txBody>
      </p:sp>
    </p:spTree>
    <p:extLst>
      <p:ext uri="{BB962C8B-B14F-4D97-AF65-F5344CB8AC3E}">
        <p14:creationId xmlns:p14="http://schemas.microsoft.com/office/powerpoint/2010/main" val="241197803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 2: inverted index </a:t>
            </a:r>
          </a:p>
        </p:txBody>
      </p:sp>
      <p:sp>
        <p:nvSpPr>
          <p:cNvPr id="3" name="Content Placeholder 2"/>
          <p:cNvSpPr>
            <a:spLocks noGrp="1"/>
          </p:cNvSpPr>
          <p:nvPr>
            <p:ph idx="1"/>
          </p:nvPr>
        </p:nvSpPr>
        <p:spPr/>
        <p:txBody>
          <a:bodyPr>
            <a:normAutofit/>
          </a:bodyPr>
          <a:lstStyle/>
          <a:p>
            <a:r>
              <a:rPr lang="en-US" sz="2800" b="1" dirty="0" smtClean="0">
                <a:solidFill>
                  <a:srgbClr val="C00000"/>
                </a:solidFill>
              </a:rPr>
              <a:t>Step 1</a:t>
            </a:r>
            <a:r>
              <a:rPr lang="en-US" sz="2800" b="1" dirty="0" smtClean="0"/>
              <a:t>: Input Splitting</a:t>
            </a:r>
          </a:p>
        </p:txBody>
      </p:sp>
      <p:sp>
        <p:nvSpPr>
          <p:cNvPr id="5" name="Rectangle 4"/>
          <p:cNvSpPr/>
          <p:nvPr/>
        </p:nvSpPr>
        <p:spPr>
          <a:xfrm>
            <a:off x="4692191" y="2046741"/>
            <a:ext cx="4557486" cy="120032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2400" b="1" dirty="0"/>
              <a:t>Doc1:</a:t>
            </a:r>
            <a:r>
              <a:rPr lang="en-US" sz="2400" dirty="0"/>
              <a:t> Big data is powerful</a:t>
            </a:r>
          </a:p>
          <a:p>
            <a:r>
              <a:rPr lang="en-US" sz="2400" b="1" dirty="0"/>
              <a:t>Doc2:</a:t>
            </a:r>
            <a:r>
              <a:rPr lang="en-US" sz="2400" dirty="0"/>
              <a:t> Data science uses big data</a:t>
            </a:r>
          </a:p>
          <a:p>
            <a:r>
              <a:rPr lang="en-US" sz="2400" b="1" dirty="0"/>
              <a:t>Doc3:</a:t>
            </a:r>
            <a:r>
              <a:rPr lang="en-US" sz="2400" dirty="0"/>
              <a:t> Big systems process data</a:t>
            </a:r>
          </a:p>
        </p:txBody>
      </p:sp>
      <p:sp>
        <p:nvSpPr>
          <p:cNvPr id="4" name="Rectangle 3"/>
          <p:cNvSpPr/>
          <p:nvPr/>
        </p:nvSpPr>
        <p:spPr>
          <a:xfrm>
            <a:off x="1364341" y="3542644"/>
            <a:ext cx="3614059" cy="830997"/>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sz="2400" b="1" dirty="0" smtClean="0">
                <a:solidFill>
                  <a:srgbClr val="C00000"/>
                </a:solidFill>
              </a:rPr>
              <a:t>Split 1</a:t>
            </a:r>
          </a:p>
          <a:p>
            <a:r>
              <a:rPr lang="en-US" sz="2400" b="1" dirty="0"/>
              <a:t>Doc1:</a:t>
            </a:r>
            <a:r>
              <a:rPr lang="en-US" sz="2400" dirty="0"/>
              <a:t> Big data is powerful</a:t>
            </a:r>
          </a:p>
        </p:txBody>
      </p:sp>
      <p:sp>
        <p:nvSpPr>
          <p:cNvPr id="6" name="Rectangle 5"/>
          <p:cNvSpPr/>
          <p:nvPr/>
        </p:nvSpPr>
        <p:spPr>
          <a:xfrm>
            <a:off x="5191869" y="3542643"/>
            <a:ext cx="4285960" cy="830997"/>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sz="2400" b="1" dirty="0" smtClean="0">
                <a:solidFill>
                  <a:srgbClr val="C00000"/>
                </a:solidFill>
              </a:rPr>
              <a:t>Split 2</a:t>
            </a:r>
          </a:p>
          <a:p>
            <a:r>
              <a:rPr lang="en-US" sz="2400" b="1" dirty="0"/>
              <a:t>Doc2:</a:t>
            </a:r>
            <a:r>
              <a:rPr lang="en-US" sz="2400" dirty="0"/>
              <a:t> Data science uses big data</a:t>
            </a:r>
          </a:p>
        </p:txBody>
      </p:sp>
      <p:sp>
        <p:nvSpPr>
          <p:cNvPr id="7" name="Rectangle 6"/>
          <p:cNvSpPr/>
          <p:nvPr/>
        </p:nvSpPr>
        <p:spPr>
          <a:xfrm>
            <a:off x="3527863" y="4499949"/>
            <a:ext cx="4063108" cy="830997"/>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sz="2400" b="1" dirty="0" smtClean="0">
                <a:solidFill>
                  <a:srgbClr val="C00000"/>
                </a:solidFill>
              </a:rPr>
              <a:t>Split 3</a:t>
            </a:r>
          </a:p>
          <a:p>
            <a:r>
              <a:rPr lang="en-US" sz="2400" b="1" dirty="0"/>
              <a:t>Doc3:</a:t>
            </a:r>
            <a:r>
              <a:rPr lang="en-US" sz="2400" dirty="0"/>
              <a:t> Big systems process </a:t>
            </a:r>
            <a:r>
              <a:rPr lang="en-US" sz="2400" dirty="0" smtClean="0"/>
              <a:t>data</a:t>
            </a:r>
            <a:endParaRPr lang="en-US" sz="2400" dirty="0"/>
          </a:p>
        </p:txBody>
      </p:sp>
      <p:sp>
        <p:nvSpPr>
          <p:cNvPr id="8" name="Rectangle 7"/>
          <p:cNvSpPr/>
          <p:nvPr/>
        </p:nvSpPr>
        <p:spPr>
          <a:xfrm>
            <a:off x="1977629" y="5591654"/>
            <a:ext cx="6937540" cy="523220"/>
          </a:xfrm>
          <a:prstGeom prst="rect">
            <a:avLst/>
          </a:prstGeom>
        </p:spPr>
        <p:txBody>
          <a:bodyPr wrap="none">
            <a:spAutoFit/>
          </a:bodyPr>
          <a:lstStyle/>
          <a:p>
            <a:r>
              <a:rPr lang="en-US" sz="2800" b="1" dirty="0" smtClean="0">
                <a:solidFill>
                  <a:srgbClr val="C00000"/>
                </a:solidFill>
              </a:rPr>
              <a:t>Each </a:t>
            </a:r>
            <a:r>
              <a:rPr lang="en-US" sz="2800" b="1" dirty="0">
                <a:solidFill>
                  <a:srgbClr val="C00000"/>
                </a:solidFill>
              </a:rPr>
              <a:t>Mapper receives (</a:t>
            </a:r>
            <a:r>
              <a:rPr lang="en-US" sz="2800" b="1" dirty="0" err="1">
                <a:solidFill>
                  <a:srgbClr val="C00000"/>
                </a:solidFill>
              </a:rPr>
              <a:t>docID</a:t>
            </a:r>
            <a:r>
              <a:rPr lang="en-US" sz="2800" b="1" dirty="0">
                <a:solidFill>
                  <a:srgbClr val="C00000"/>
                </a:solidFill>
              </a:rPr>
              <a:t>, </a:t>
            </a:r>
            <a:r>
              <a:rPr lang="en-US" sz="2800" b="1" dirty="0" err="1">
                <a:solidFill>
                  <a:srgbClr val="C00000"/>
                </a:solidFill>
              </a:rPr>
              <a:t>document_text</a:t>
            </a:r>
            <a:r>
              <a:rPr lang="en-US" sz="2800" b="1" dirty="0">
                <a:solidFill>
                  <a:srgbClr val="C00000"/>
                </a:solidFill>
              </a:rPr>
              <a:t>)</a:t>
            </a:r>
          </a:p>
        </p:txBody>
      </p:sp>
    </p:spTree>
    <p:extLst>
      <p:ext uri="{BB962C8B-B14F-4D97-AF65-F5344CB8AC3E}">
        <p14:creationId xmlns:p14="http://schemas.microsoft.com/office/powerpoint/2010/main" val="48515639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 2: inverted index </a:t>
            </a:r>
          </a:p>
        </p:txBody>
      </p:sp>
      <p:sp>
        <p:nvSpPr>
          <p:cNvPr id="3" name="Content Placeholder 2"/>
          <p:cNvSpPr>
            <a:spLocks noGrp="1"/>
          </p:cNvSpPr>
          <p:nvPr>
            <p:ph idx="1"/>
          </p:nvPr>
        </p:nvSpPr>
        <p:spPr/>
        <p:txBody>
          <a:bodyPr>
            <a:normAutofit/>
          </a:bodyPr>
          <a:lstStyle/>
          <a:p>
            <a:r>
              <a:rPr lang="en-US" sz="2800" b="1" dirty="0" smtClean="0">
                <a:solidFill>
                  <a:srgbClr val="C00000"/>
                </a:solidFill>
              </a:rPr>
              <a:t>Step 2</a:t>
            </a:r>
            <a:r>
              <a:rPr lang="en-US" sz="2800" b="1" dirty="0" smtClean="0"/>
              <a:t>: Map Phase</a:t>
            </a:r>
          </a:p>
        </p:txBody>
      </p:sp>
      <p:sp>
        <p:nvSpPr>
          <p:cNvPr id="5" name="Rectangle 4"/>
          <p:cNvSpPr/>
          <p:nvPr/>
        </p:nvSpPr>
        <p:spPr>
          <a:xfrm>
            <a:off x="702954" y="2955163"/>
            <a:ext cx="4459993" cy="156966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2400" b="1" dirty="0" err="1"/>
              <a:t>def</a:t>
            </a:r>
            <a:r>
              <a:rPr lang="en-US" sz="2400" b="1" dirty="0"/>
              <a:t> </a:t>
            </a:r>
            <a:r>
              <a:rPr lang="en-US" sz="2400" b="1" dirty="0" err="1"/>
              <a:t>map_function</a:t>
            </a:r>
            <a:r>
              <a:rPr lang="en-US" sz="2400" b="1" dirty="0"/>
              <a:t>(</a:t>
            </a:r>
            <a:r>
              <a:rPr lang="en-US" sz="2400" b="1" dirty="0" err="1"/>
              <a:t>doc_id</a:t>
            </a:r>
            <a:r>
              <a:rPr lang="en-US" sz="2400" b="1" dirty="0"/>
              <a:t>, text):</a:t>
            </a:r>
          </a:p>
          <a:p>
            <a:r>
              <a:rPr lang="en-US" sz="2400" b="1" dirty="0"/>
              <a:t>    words = </a:t>
            </a:r>
            <a:r>
              <a:rPr lang="en-US" sz="2400" b="1" dirty="0" err="1"/>
              <a:t>text.split</a:t>
            </a:r>
            <a:r>
              <a:rPr lang="en-US" sz="2400" b="1" dirty="0"/>
              <a:t>()</a:t>
            </a:r>
          </a:p>
          <a:p>
            <a:r>
              <a:rPr lang="en-US" sz="2400" b="1" dirty="0"/>
              <a:t>    for word in words:</a:t>
            </a:r>
          </a:p>
          <a:p>
            <a:r>
              <a:rPr lang="en-US" sz="2400" b="1" dirty="0"/>
              <a:t>        emit(</a:t>
            </a:r>
            <a:r>
              <a:rPr lang="en-US" sz="2400" b="1" dirty="0" err="1"/>
              <a:t>word.lower</a:t>
            </a:r>
            <a:r>
              <a:rPr lang="en-US" sz="2400" b="1" dirty="0"/>
              <a:t>(), </a:t>
            </a:r>
            <a:r>
              <a:rPr lang="en-US" sz="2400" b="1" dirty="0" err="1"/>
              <a:t>doc_id</a:t>
            </a:r>
            <a:r>
              <a:rPr lang="en-US" sz="2400" b="1" dirty="0"/>
              <a:t>)</a:t>
            </a:r>
          </a:p>
        </p:txBody>
      </p:sp>
      <p:sp>
        <p:nvSpPr>
          <p:cNvPr id="4" name="Rectangle 3"/>
          <p:cNvSpPr/>
          <p:nvPr/>
        </p:nvSpPr>
        <p:spPr>
          <a:xfrm>
            <a:off x="5315149" y="2955163"/>
            <a:ext cx="2468820" cy="1631216"/>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sz="2000" b="1" dirty="0">
                <a:solidFill>
                  <a:srgbClr val="C00000"/>
                </a:solidFill>
              </a:rPr>
              <a:t>Split </a:t>
            </a:r>
            <a:r>
              <a:rPr lang="en-US" sz="2000" b="1" dirty="0" smtClean="0">
                <a:solidFill>
                  <a:srgbClr val="C00000"/>
                </a:solidFill>
              </a:rPr>
              <a:t>1</a:t>
            </a:r>
            <a:endParaRPr lang="en-US" sz="2000" dirty="0" smtClean="0">
              <a:solidFill>
                <a:schemeClr val="tx1"/>
              </a:solidFill>
            </a:endParaRPr>
          </a:p>
          <a:p>
            <a:pPr algn="ctr"/>
            <a:r>
              <a:rPr lang="en-US" sz="2000" dirty="0">
                <a:solidFill>
                  <a:schemeClr val="tx1"/>
                </a:solidFill>
              </a:rPr>
              <a:t>(big, Doc1)</a:t>
            </a:r>
          </a:p>
          <a:p>
            <a:pPr algn="ctr"/>
            <a:r>
              <a:rPr lang="en-US" sz="2000" dirty="0">
                <a:solidFill>
                  <a:schemeClr val="tx1"/>
                </a:solidFill>
              </a:rPr>
              <a:t>(data, Doc1)</a:t>
            </a:r>
          </a:p>
          <a:p>
            <a:pPr algn="ctr"/>
            <a:r>
              <a:rPr lang="en-US" sz="2000" dirty="0">
                <a:solidFill>
                  <a:schemeClr val="tx1"/>
                </a:solidFill>
              </a:rPr>
              <a:t>(is, Doc1)</a:t>
            </a:r>
          </a:p>
          <a:p>
            <a:pPr algn="ctr"/>
            <a:r>
              <a:rPr lang="en-US" sz="2000" dirty="0">
                <a:solidFill>
                  <a:schemeClr val="tx1"/>
                </a:solidFill>
              </a:rPr>
              <a:t>(powerful, Doc1)</a:t>
            </a:r>
          </a:p>
        </p:txBody>
      </p:sp>
      <p:sp>
        <p:nvSpPr>
          <p:cNvPr id="6" name="Rectangle 5"/>
          <p:cNvSpPr/>
          <p:nvPr/>
        </p:nvSpPr>
        <p:spPr>
          <a:xfrm>
            <a:off x="7936171" y="2955163"/>
            <a:ext cx="1686799" cy="193899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sz="2000" b="1" dirty="0" smtClean="0">
                <a:solidFill>
                  <a:srgbClr val="C00000"/>
                </a:solidFill>
              </a:rPr>
              <a:t>Split 2</a:t>
            </a:r>
          </a:p>
          <a:p>
            <a:r>
              <a:rPr lang="en-US" sz="2000" dirty="0"/>
              <a:t>(data, Doc2)</a:t>
            </a:r>
          </a:p>
          <a:p>
            <a:r>
              <a:rPr lang="en-US" sz="2000" dirty="0"/>
              <a:t>(science, Doc2)</a:t>
            </a:r>
          </a:p>
          <a:p>
            <a:r>
              <a:rPr lang="en-US" sz="2000" dirty="0"/>
              <a:t>(uses, Doc2)</a:t>
            </a:r>
          </a:p>
          <a:p>
            <a:r>
              <a:rPr lang="en-US" sz="2000" dirty="0"/>
              <a:t>(big, Doc2)</a:t>
            </a:r>
          </a:p>
          <a:p>
            <a:r>
              <a:rPr lang="en-US" sz="2000" dirty="0"/>
              <a:t>(data, Doc2)</a:t>
            </a:r>
          </a:p>
        </p:txBody>
      </p:sp>
      <p:sp>
        <p:nvSpPr>
          <p:cNvPr id="7" name="Rectangle 6"/>
          <p:cNvSpPr/>
          <p:nvPr/>
        </p:nvSpPr>
        <p:spPr>
          <a:xfrm>
            <a:off x="9896202" y="2955163"/>
            <a:ext cx="1848201" cy="1631216"/>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sz="2000" b="1" dirty="0" smtClean="0">
                <a:solidFill>
                  <a:srgbClr val="C00000"/>
                </a:solidFill>
              </a:rPr>
              <a:t>Split 3</a:t>
            </a:r>
          </a:p>
          <a:p>
            <a:pPr algn="ctr"/>
            <a:r>
              <a:rPr lang="en-US" sz="2000" dirty="0" smtClean="0"/>
              <a:t>(big, Doc3)</a:t>
            </a:r>
            <a:endParaRPr lang="en-US" sz="2000" dirty="0"/>
          </a:p>
          <a:p>
            <a:pPr algn="ctr"/>
            <a:r>
              <a:rPr lang="en-US" sz="2000" dirty="0" smtClean="0"/>
              <a:t>(systems, Doc3)</a:t>
            </a:r>
            <a:endParaRPr lang="en-US" sz="2000" dirty="0"/>
          </a:p>
          <a:p>
            <a:pPr algn="ctr"/>
            <a:r>
              <a:rPr lang="en-US" sz="2000" dirty="0" smtClean="0"/>
              <a:t>(process, Doc3)</a:t>
            </a:r>
            <a:endParaRPr lang="en-US" sz="2000" dirty="0"/>
          </a:p>
          <a:p>
            <a:pPr algn="ctr"/>
            <a:r>
              <a:rPr lang="en-US" sz="2000" dirty="0" smtClean="0"/>
              <a:t>(</a:t>
            </a:r>
            <a:r>
              <a:rPr lang="en-US" sz="2000" dirty="0"/>
              <a:t>data, </a:t>
            </a:r>
            <a:r>
              <a:rPr lang="en-US" sz="2000" dirty="0" smtClean="0"/>
              <a:t>Doc3)</a:t>
            </a:r>
            <a:endParaRPr lang="en-US" sz="2000" dirty="0">
              <a:solidFill>
                <a:schemeClr val="dk1"/>
              </a:solidFill>
            </a:endParaRPr>
          </a:p>
        </p:txBody>
      </p:sp>
    </p:spTree>
    <p:extLst>
      <p:ext uri="{BB962C8B-B14F-4D97-AF65-F5344CB8AC3E}">
        <p14:creationId xmlns:p14="http://schemas.microsoft.com/office/powerpoint/2010/main" val="392008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P spid="6" grpId="0" animBg="1"/>
      <p:bldP spid="7"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 2: inverted index </a:t>
            </a:r>
          </a:p>
        </p:txBody>
      </p:sp>
      <p:sp>
        <p:nvSpPr>
          <p:cNvPr id="3" name="Content Placeholder 2"/>
          <p:cNvSpPr>
            <a:spLocks noGrp="1"/>
          </p:cNvSpPr>
          <p:nvPr>
            <p:ph idx="1"/>
          </p:nvPr>
        </p:nvSpPr>
        <p:spPr/>
        <p:txBody>
          <a:bodyPr>
            <a:normAutofit/>
          </a:bodyPr>
          <a:lstStyle/>
          <a:p>
            <a:r>
              <a:rPr lang="en-US" sz="2800" b="1" dirty="0" smtClean="0">
                <a:solidFill>
                  <a:srgbClr val="C00000"/>
                </a:solidFill>
              </a:rPr>
              <a:t>Step 3</a:t>
            </a:r>
            <a:r>
              <a:rPr lang="en-US" sz="2800" b="1" dirty="0" smtClean="0"/>
              <a:t>: Shuffle &amp; Sort Phase</a:t>
            </a:r>
          </a:p>
          <a:p>
            <a:pPr marL="0" lvl="0" indent="0" eaLnBrk="0" fontAlgn="base" hangingPunct="0">
              <a:lnSpc>
                <a:spcPct val="100000"/>
              </a:lnSpc>
              <a:spcBef>
                <a:spcPct val="0"/>
              </a:spcBef>
              <a:spcAft>
                <a:spcPct val="0"/>
              </a:spcAft>
              <a:buClrTx/>
              <a:buSzTx/>
              <a:buNone/>
            </a:pPr>
            <a:r>
              <a:rPr lang="en-US" altLang="en-US" sz="2400" dirty="0"/>
              <a:t>The shuffle phase</a:t>
            </a:r>
            <a:r>
              <a:rPr lang="en-US" altLang="en-US" sz="2400" dirty="0" smtClean="0"/>
              <a:t>: </a:t>
            </a:r>
          </a:p>
          <a:p>
            <a:pPr eaLnBrk="0" fontAlgn="base" hangingPunct="0">
              <a:lnSpc>
                <a:spcPct val="100000"/>
              </a:lnSpc>
              <a:spcBef>
                <a:spcPct val="0"/>
              </a:spcBef>
              <a:spcAft>
                <a:spcPct val="0"/>
              </a:spcAft>
              <a:buClrTx/>
              <a:buSzTx/>
              <a:buFont typeface="Arial" panose="020B0604020202020204" pitchFamily="34" charset="0"/>
              <a:buChar char="•"/>
            </a:pPr>
            <a:r>
              <a:rPr lang="en-US" altLang="en-US" sz="2400" dirty="0" smtClean="0"/>
              <a:t>Groups </a:t>
            </a:r>
            <a:r>
              <a:rPr lang="en-US" altLang="en-US" sz="2400" dirty="0"/>
              <a:t>all identical words </a:t>
            </a:r>
            <a:r>
              <a:rPr lang="en-US" altLang="en-US" sz="2400" dirty="0" smtClean="0"/>
              <a:t>together</a:t>
            </a:r>
          </a:p>
          <a:p>
            <a:pPr eaLnBrk="0" fontAlgn="base" hangingPunct="0">
              <a:lnSpc>
                <a:spcPct val="100000"/>
              </a:lnSpc>
              <a:spcBef>
                <a:spcPct val="0"/>
              </a:spcBef>
              <a:spcAft>
                <a:spcPct val="0"/>
              </a:spcAft>
              <a:buClrTx/>
              <a:buSzTx/>
              <a:buFont typeface="Arial" panose="020B0604020202020204" pitchFamily="34" charset="0"/>
              <a:buChar char="•"/>
            </a:pPr>
            <a:r>
              <a:rPr lang="en-US" altLang="en-US" sz="2400" dirty="0" smtClean="0"/>
              <a:t>Sends </a:t>
            </a:r>
            <a:r>
              <a:rPr lang="en-US" altLang="en-US" sz="2400" dirty="0"/>
              <a:t>them to the same reducer</a:t>
            </a:r>
          </a:p>
          <a:p>
            <a:pPr marL="0" lvl="0" indent="0" eaLnBrk="0" fontAlgn="base" hangingPunct="0">
              <a:lnSpc>
                <a:spcPct val="100000"/>
              </a:lnSpc>
              <a:spcBef>
                <a:spcPct val="0"/>
              </a:spcBef>
              <a:spcAft>
                <a:spcPct val="0"/>
              </a:spcAft>
              <a:buClrTx/>
              <a:buSzTx/>
              <a:buNone/>
            </a:pPr>
            <a:endParaRPr lang="en-US" altLang="en-US" sz="2400" dirty="0" smtClean="0"/>
          </a:p>
          <a:p>
            <a:r>
              <a:rPr lang="en-US" sz="2400" b="1" dirty="0">
                <a:solidFill>
                  <a:srgbClr val="C00000"/>
                </a:solidFill>
              </a:rPr>
              <a:t>"data" appears twice in Doc2 → duplicate entry</a:t>
            </a:r>
          </a:p>
          <a:p>
            <a:pPr marL="0" lvl="0" indent="0" eaLnBrk="0" fontAlgn="base" hangingPunct="0">
              <a:lnSpc>
                <a:spcPct val="100000"/>
              </a:lnSpc>
              <a:spcBef>
                <a:spcPct val="0"/>
              </a:spcBef>
              <a:spcAft>
                <a:spcPct val="0"/>
              </a:spcAft>
              <a:buClrTx/>
              <a:buSzTx/>
              <a:buNone/>
            </a:pPr>
            <a:endParaRPr lang="en-US" altLang="en-US" sz="2400" dirty="0"/>
          </a:p>
          <a:p>
            <a:pPr marL="0" lvl="0" indent="0" eaLnBrk="0" fontAlgn="base" hangingPunct="0">
              <a:lnSpc>
                <a:spcPct val="100000"/>
              </a:lnSpc>
              <a:spcBef>
                <a:spcPct val="0"/>
              </a:spcBef>
              <a:spcAft>
                <a:spcPct val="0"/>
              </a:spcAft>
              <a:buClrTx/>
              <a:buSzTx/>
              <a:buNone/>
            </a:pPr>
            <a:endParaRPr lang="en-US" altLang="en-US" sz="2400" dirty="0"/>
          </a:p>
          <a:p>
            <a:endParaRPr lang="en-US" sz="2800" b="1" dirty="0" smtClean="0"/>
          </a:p>
        </p:txBody>
      </p:sp>
      <p:sp>
        <p:nvSpPr>
          <p:cNvPr id="7" name="Rectangle 6"/>
          <p:cNvSpPr/>
          <p:nvPr/>
        </p:nvSpPr>
        <p:spPr>
          <a:xfrm>
            <a:off x="7541044" y="2286000"/>
            <a:ext cx="4084900" cy="255454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2000" b="1" dirty="0">
                <a:solidFill>
                  <a:schemeClr val="tx1"/>
                </a:solidFill>
              </a:rPr>
              <a:t>big      → [Doc1, Doc2, Doc3]</a:t>
            </a:r>
          </a:p>
          <a:p>
            <a:r>
              <a:rPr lang="en-US" sz="2000" b="1" dirty="0">
                <a:solidFill>
                  <a:schemeClr val="tx1"/>
                </a:solidFill>
              </a:rPr>
              <a:t>data     → [Doc1, Doc2, Doc2, Doc3]</a:t>
            </a:r>
          </a:p>
          <a:p>
            <a:r>
              <a:rPr lang="en-US" sz="2000" b="1" dirty="0">
                <a:solidFill>
                  <a:schemeClr val="tx1"/>
                </a:solidFill>
              </a:rPr>
              <a:t>science  → [Doc2]</a:t>
            </a:r>
          </a:p>
          <a:p>
            <a:r>
              <a:rPr lang="en-US" sz="2000" b="1" dirty="0">
                <a:solidFill>
                  <a:schemeClr val="tx1"/>
                </a:solidFill>
              </a:rPr>
              <a:t>systems  → [Doc3]</a:t>
            </a:r>
          </a:p>
          <a:p>
            <a:r>
              <a:rPr lang="en-US" sz="2000" b="1" dirty="0">
                <a:solidFill>
                  <a:schemeClr val="tx1"/>
                </a:solidFill>
              </a:rPr>
              <a:t>powerful → [Doc1</a:t>
            </a:r>
            <a:r>
              <a:rPr lang="en-US" sz="2000" b="1" dirty="0" smtClean="0">
                <a:solidFill>
                  <a:schemeClr val="tx1"/>
                </a:solidFill>
              </a:rPr>
              <a:t>]</a:t>
            </a:r>
          </a:p>
          <a:p>
            <a:r>
              <a:rPr lang="en-US" sz="2000" b="1" dirty="0" smtClean="0">
                <a:solidFill>
                  <a:schemeClr val="tx1"/>
                </a:solidFill>
              </a:rPr>
              <a:t>Is </a:t>
            </a:r>
            <a:r>
              <a:rPr lang="en-US" sz="2000" b="1" dirty="0">
                <a:solidFill>
                  <a:schemeClr val="tx1"/>
                </a:solidFill>
              </a:rPr>
              <a:t>→ [</a:t>
            </a:r>
            <a:r>
              <a:rPr lang="en-US" sz="2000" b="1" dirty="0" smtClean="0">
                <a:solidFill>
                  <a:schemeClr val="tx1"/>
                </a:solidFill>
              </a:rPr>
              <a:t>Doc1]</a:t>
            </a:r>
          </a:p>
          <a:p>
            <a:r>
              <a:rPr lang="en-US" sz="2000" b="1" dirty="0" smtClean="0">
                <a:solidFill>
                  <a:schemeClr val="tx1"/>
                </a:solidFill>
              </a:rPr>
              <a:t>Process </a:t>
            </a:r>
            <a:r>
              <a:rPr lang="en-US" sz="2000" b="1" dirty="0">
                <a:solidFill>
                  <a:schemeClr val="tx1"/>
                </a:solidFill>
              </a:rPr>
              <a:t>→ [</a:t>
            </a:r>
            <a:r>
              <a:rPr lang="en-US" sz="2000" b="1" dirty="0" smtClean="0">
                <a:solidFill>
                  <a:schemeClr val="tx1"/>
                </a:solidFill>
              </a:rPr>
              <a:t>Doc3]</a:t>
            </a:r>
          </a:p>
          <a:p>
            <a:r>
              <a:rPr lang="en-US" sz="2000" b="1" dirty="0" smtClean="0">
                <a:solidFill>
                  <a:schemeClr val="tx1"/>
                </a:solidFill>
              </a:rPr>
              <a:t>Uses </a:t>
            </a:r>
            <a:r>
              <a:rPr lang="en-US" sz="2000" b="1" dirty="0">
                <a:solidFill>
                  <a:schemeClr val="tx1"/>
                </a:solidFill>
              </a:rPr>
              <a:t>→ [Doc2]</a:t>
            </a:r>
            <a:endParaRPr lang="en-US" sz="2000" dirty="0" smtClean="0">
              <a:solidFill>
                <a:schemeClr val="tx1"/>
              </a:solidFill>
            </a:endParaRPr>
          </a:p>
        </p:txBody>
      </p:sp>
    </p:spTree>
    <p:extLst>
      <p:ext uri="{BB962C8B-B14F-4D97-AF65-F5344CB8AC3E}">
        <p14:creationId xmlns:p14="http://schemas.microsoft.com/office/powerpoint/2010/main" val="208319742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 2: inverted index </a:t>
            </a:r>
          </a:p>
        </p:txBody>
      </p:sp>
      <p:sp>
        <p:nvSpPr>
          <p:cNvPr id="3" name="Content Placeholder 2"/>
          <p:cNvSpPr>
            <a:spLocks noGrp="1"/>
          </p:cNvSpPr>
          <p:nvPr>
            <p:ph idx="1"/>
          </p:nvPr>
        </p:nvSpPr>
        <p:spPr/>
        <p:txBody>
          <a:bodyPr>
            <a:normAutofit/>
          </a:bodyPr>
          <a:lstStyle/>
          <a:p>
            <a:r>
              <a:rPr lang="en-US" sz="2800" b="1" dirty="0" smtClean="0">
                <a:solidFill>
                  <a:srgbClr val="C00000"/>
                </a:solidFill>
              </a:rPr>
              <a:t>Step 4</a:t>
            </a:r>
            <a:r>
              <a:rPr lang="en-US" sz="2800" b="1" dirty="0" smtClean="0"/>
              <a:t>: Reduce Phase</a:t>
            </a:r>
          </a:p>
          <a:p>
            <a:pPr>
              <a:lnSpc>
                <a:spcPct val="100000"/>
              </a:lnSpc>
              <a:spcBef>
                <a:spcPts val="0"/>
              </a:spcBef>
              <a:spcAft>
                <a:spcPts val="0"/>
              </a:spcAft>
            </a:pPr>
            <a:r>
              <a:rPr lang="en-US" sz="2800" dirty="0"/>
              <a:t>For each word:</a:t>
            </a:r>
          </a:p>
          <a:p>
            <a:pPr>
              <a:lnSpc>
                <a:spcPct val="100000"/>
              </a:lnSpc>
              <a:spcBef>
                <a:spcPts val="0"/>
              </a:spcBef>
              <a:spcAft>
                <a:spcPts val="0"/>
              </a:spcAft>
              <a:buFont typeface="Arial" panose="020B0604020202020204" pitchFamily="34" charset="0"/>
              <a:buChar char="•"/>
            </a:pPr>
            <a:r>
              <a:rPr lang="en-US" sz="2800" dirty="0"/>
              <a:t>Remove duplicate document IDs</a:t>
            </a:r>
          </a:p>
          <a:p>
            <a:pPr>
              <a:lnSpc>
                <a:spcPct val="100000"/>
              </a:lnSpc>
              <a:spcBef>
                <a:spcPts val="0"/>
              </a:spcBef>
              <a:spcAft>
                <a:spcPts val="0"/>
              </a:spcAft>
              <a:buFont typeface="Arial" panose="020B0604020202020204" pitchFamily="34" charset="0"/>
              <a:buChar char="•"/>
            </a:pPr>
            <a:r>
              <a:rPr lang="en-US" sz="2800" dirty="0"/>
              <a:t>Produce unique document list</a:t>
            </a:r>
          </a:p>
          <a:p>
            <a:endParaRPr lang="en-US" sz="2800" b="1" dirty="0" smtClean="0"/>
          </a:p>
        </p:txBody>
      </p:sp>
      <p:sp>
        <p:nvSpPr>
          <p:cNvPr id="5" name="Rectangle 4"/>
          <p:cNvSpPr/>
          <p:nvPr/>
        </p:nvSpPr>
        <p:spPr>
          <a:xfrm>
            <a:off x="1024128" y="4234692"/>
            <a:ext cx="4863358" cy="120032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2400" b="1" dirty="0" err="1"/>
              <a:t>def</a:t>
            </a:r>
            <a:r>
              <a:rPr lang="en-US" sz="2400" b="1" dirty="0"/>
              <a:t> </a:t>
            </a:r>
            <a:r>
              <a:rPr lang="en-US" sz="2400" b="1" dirty="0" err="1"/>
              <a:t>reduce_function</a:t>
            </a:r>
            <a:r>
              <a:rPr lang="en-US" sz="2400" b="1" dirty="0"/>
              <a:t>(word, </a:t>
            </a:r>
            <a:r>
              <a:rPr lang="en-US" sz="2400" b="1" dirty="0" err="1"/>
              <a:t>doc_ids</a:t>
            </a:r>
            <a:r>
              <a:rPr lang="en-US" sz="2400" b="1" dirty="0"/>
              <a:t>):</a:t>
            </a:r>
          </a:p>
          <a:p>
            <a:r>
              <a:rPr lang="en-US" sz="2400" b="1" dirty="0"/>
              <a:t>    </a:t>
            </a:r>
            <a:r>
              <a:rPr lang="en-US" sz="2400" b="1" dirty="0" err="1"/>
              <a:t>unique_docs</a:t>
            </a:r>
            <a:r>
              <a:rPr lang="en-US" sz="2400" b="1" dirty="0"/>
              <a:t> = set(</a:t>
            </a:r>
            <a:r>
              <a:rPr lang="en-US" sz="2400" b="1" dirty="0" err="1"/>
              <a:t>doc_ids</a:t>
            </a:r>
            <a:r>
              <a:rPr lang="en-US" sz="2400" b="1" dirty="0"/>
              <a:t>)</a:t>
            </a:r>
          </a:p>
          <a:p>
            <a:r>
              <a:rPr lang="en-US" sz="2400" b="1" dirty="0"/>
              <a:t>    emit(word, list(</a:t>
            </a:r>
            <a:r>
              <a:rPr lang="en-US" sz="2400" b="1" dirty="0" err="1"/>
              <a:t>unique_docs</a:t>
            </a:r>
            <a:r>
              <a:rPr lang="en-US" sz="2400" b="1" dirty="0"/>
              <a:t>))</a:t>
            </a:r>
          </a:p>
        </p:txBody>
      </p:sp>
      <p:sp>
        <p:nvSpPr>
          <p:cNvPr id="7" name="Rectangle 6"/>
          <p:cNvSpPr/>
          <p:nvPr/>
        </p:nvSpPr>
        <p:spPr>
          <a:xfrm>
            <a:off x="7362241" y="1828801"/>
            <a:ext cx="3697645" cy="313932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sz="2200" b="1" dirty="0" smtClean="0">
                <a:solidFill>
                  <a:srgbClr val="C00000"/>
                </a:solidFill>
              </a:rPr>
              <a:t>Final Output</a:t>
            </a:r>
            <a:endParaRPr lang="en-US" sz="2200" b="1" dirty="0" smtClean="0">
              <a:solidFill>
                <a:schemeClr val="tx1"/>
              </a:solidFill>
            </a:endParaRPr>
          </a:p>
          <a:p>
            <a:r>
              <a:rPr lang="en-US" sz="2200" b="1" dirty="0">
                <a:solidFill>
                  <a:schemeClr val="tx1"/>
                </a:solidFill>
              </a:rPr>
              <a:t>big      → [Doc1, Doc2, Doc3]</a:t>
            </a:r>
          </a:p>
          <a:p>
            <a:r>
              <a:rPr lang="en-US" sz="2200" b="1" dirty="0">
                <a:solidFill>
                  <a:schemeClr val="tx1"/>
                </a:solidFill>
              </a:rPr>
              <a:t>data     → [Doc1, Doc2, Doc3]</a:t>
            </a:r>
          </a:p>
          <a:p>
            <a:r>
              <a:rPr lang="en-US" sz="2200" b="1" dirty="0">
                <a:solidFill>
                  <a:schemeClr val="tx1"/>
                </a:solidFill>
              </a:rPr>
              <a:t>science  → [Doc2]</a:t>
            </a:r>
          </a:p>
          <a:p>
            <a:r>
              <a:rPr lang="en-US" sz="2200" b="1" dirty="0">
                <a:solidFill>
                  <a:schemeClr val="tx1"/>
                </a:solidFill>
              </a:rPr>
              <a:t>systems  → [Doc3]</a:t>
            </a:r>
          </a:p>
          <a:p>
            <a:r>
              <a:rPr lang="en-US" sz="2200" b="1" dirty="0">
                <a:solidFill>
                  <a:schemeClr val="tx1"/>
                </a:solidFill>
              </a:rPr>
              <a:t>powerful → [Doc1]</a:t>
            </a:r>
          </a:p>
          <a:p>
            <a:r>
              <a:rPr lang="en-US" sz="2200" b="1" dirty="0">
                <a:solidFill>
                  <a:schemeClr val="tx1"/>
                </a:solidFill>
              </a:rPr>
              <a:t>is       → [Doc1]</a:t>
            </a:r>
          </a:p>
          <a:p>
            <a:r>
              <a:rPr lang="en-US" sz="2200" b="1" dirty="0">
                <a:solidFill>
                  <a:schemeClr val="tx1"/>
                </a:solidFill>
              </a:rPr>
              <a:t>uses     → [Doc2]</a:t>
            </a:r>
          </a:p>
          <a:p>
            <a:r>
              <a:rPr lang="en-US" sz="2200" b="1" dirty="0">
                <a:solidFill>
                  <a:schemeClr val="tx1"/>
                </a:solidFill>
              </a:rPr>
              <a:t>process  → [Doc3]</a:t>
            </a:r>
            <a:endParaRPr lang="en-US" sz="2200" dirty="0" smtClean="0">
              <a:solidFill>
                <a:schemeClr val="tx1"/>
              </a:solidFill>
            </a:endParaRPr>
          </a:p>
        </p:txBody>
      </p:sp>
    </p:spTree>
    <p:extLst>
      <p:ext uri="{BB962C8B-B14F-4D97-AF65-F5344CB8AC3E}">
        <p14:creationId xmlns:p14="http://schemas.microsoft.com/office/powerpoint/2010/main" val="1610324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par>
                          <p:cTn id="17" fill="hold">
                            <p:stCondLst>
                              <p:cond delay="500"/>
                            </p:stCondLst>
                            <p:childTnLst>
                              <p:par>
                                <p:cTn id="18" presetID="2" presetClass="entr" presetSubtype="4" fill="hold" grpId="0" nodeType="after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additive="base">
                                        <p:cTn id="20" dur="500" fill="hold"/>
                                        <p:tgtEl>
                                          <p:spTgt spid="5"/>
                                        </p:tgtEl>
                                        <p:attrNameLst>
                                          <p:attrName>ppt_x</p:attrName>
                                        </p:attrNameLst>
                                      </p:cBhvr>
                                      <p:tavLst>
                                        <p:tav tm="0">
                                          <p:val>
                                            <p:strVal val="#ppt_x"/>
                                          </p:val>
                                        </p:tav>
                                        <p:tav tm="100000">
                                          <p:val>
                                            <p:strVal val="#ppt_x"/>
                                          </p:val>
                                        </p:tav>
                                      </p:tavLst>
                                    </p:anim>
                                    <p:anim calcmode="lin" valueType="num">
                                      <p:cBhvr additive="base">
                                        <p:cTn id="21" dur="500" fill="hold"/>
                                        <p:tgtEl>
                                          <p:spTgt spid="5"/>
                                        </p:tgtEl>
                                        <p:attrNameLst>
                                          <p:attrName>ppt_y</p:attrName>
                                        </p:attrNameLst>
                                      </p:cBhvr>
                                      <p:tavLst>
                                        <p:tav tm="0">
                                          <p:val>
                                            <p:strVal val="1+#ppt_h/2"/>
                                          </p:val>
                                        </p:tav>
                                        <p:tav tm="100000">
                                          <p:val>
                                            <p:strVal val="#ppt_y"/>
                                          </p:val>
                                        </p:tav>
                                      </p:tavLst>
                                    </p:anim>
                                  </p:childTnLst>
                                </p:cTn>
                              </p:par>
                            </p:childTnLst>
                          </p:cTn>
                        </p:par>
                        <p:par>
                          <p:cTn id="22" fill="hold">
                            <p:stCondLst>
                              <p:cond delay="1000"/>
                            </p:stCondLst>
                            <p:childTnLst>
                              <p:par>
                                <p:cTn id="23" presetID="2" presetClass="entr" presetSubtype="4" fill="hold" grpId="0" nodeType="after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 </a:t>
            </a:r>
            <a:r>
              <a:rPr lang="en-US" b="1" dirty="0" smtClean="0"/>
              <a:t>3: Language model </a:t>
            </a:r>
            <a:endParaRPr lang="en-US" b="1" dirty="0"/>
          </a:p>
        </p:txBody>
      </p:sp>
      <p:sp>
        <p:nvSpPr>
          <p:cNvPr id="3" name="Content Placeholder 2"/>
          <p:cNvSpPr>
            <a:spLocks noGrp="1"/>
          </p:cNvSpPr>
          <p:nvPr>
            <p:ph idx="1"/>
          </p:nvPr>
        </p:nvSpPr>
        <p:spPr>
          <a:xfrm>
            <a:off x="1024128" y="2285999"/>
            <a:ext cx="10616329" cy="4463143"/>
          </a:xfrm>
        </p:spPr>
        <p:txBody>
          <a:bodyPr>
            <a:noAutofit/>
          </a:bodyPr>
          <a:lstStyle/>
          <a:p>
            <a:pPr>
              <a:lnSpc>
                <a:spcPct val="100000"/>
              </a:lnSpc>
              <a:spcBef>
                <a:spcPts val="0"/>
              </a:spcBef>
              <a:spcAft>
                <a:spcPts val="0"/>
              </a:spcAft>
            </a:pPr>
            <a:r>
              <a:rPr lang="en-US" sz="2600" b="1" dirty="0">
                <a:solidFill>
                  <a:srgbClr val="C00000"/>
                </a:solidFill>
              </a:rPr>
              <a:t>Need to count number of times every 5-word sequence occurs in a large corpus of documents </a:t>
            </a:r>
          </a:p>
          <a:p>
            <a:pPr>
              <a:lnSpc>
                <a:spcPct val="100000"/>
              </a:lnSpc>
              <a:spcBef>
                <a:spcPts val="0"/>
              </a:spcBef>
              <a:spcAft>
                <a:spcPts val="0"/>
              </a:spcAft>
            </a:pPr>
            <a:r>
              <a:rPr lang="en-US" sz="2400" dirty="0"/>
              <a:t>A 5-word sequence (5-gram) is any consecutive group of 5 words</a:t>
            </a:r>
          </a:p>
          <a:p>
            <a:pPr>
              <a:lnSpc>
                <a:spcPct val="100000"/>
              </a:lnSpc>
              <a:spcBef>
                <a:spcPts val="0"/>
              </a:spcBef>
              <a:spcAft>
                <a:spcPts val="0"/>
              </a:spcAft>
            </a:pPr>
            <a:r>
              <a:rPr lang="en-US" sz="2400" b="1" dirty="0"/>
              <a:t>Example Sentence:</a:t>
            </a:r>
          </a:p>
          <a:p>
            <a:pPr>
              <a:lnSpc>
                <a:spcPct val="100000"/>
              </a:lnSpc>
              <a:spcBef>
                <a:spcPts val="0"/>
              </a:spcBef>
              <a:spcAft>
                <a:spcPts val="0"/>
              </a:spcAft>
            </a:pPr>
            <a:r>
              <a:rPr lang="en-US" sz="2400" dirty="0"/>
              <a:t>"The quick brown fox jumps over the lazy dog"</a:t>
            </a:r>
          </a:p>
          <a:p>
            <a:pPr>
              <a:lnSpc>
                <a:spcPct val="100000"/>
              </a:lnSpc>
              <a:spcBef>
                <a:spcPts val="0"/>
              </a:spcBef>
              <a:spcAft>
                <a:spcPts val="0"/>
              </a:spcAft>
            </a:pPr>
            <a:r>
              <a:rPr lang="en-US" sz="2400" b="1" dirty="0"/>
              <a:t>Extracted 5-word sequences:</a:t>
            </a:r>
          </a:p>
          <a:p>
            <a:pPr marL="457200" indent="-457200">
              <a:lnSpc>
                <a:spcPct val="100000"/>
              </a:lnSpc>
              <a:spcBef>
                <a:spcPts val="0"/>
              </a:spcBef>
              <a:spcAft>
                <a:spcPts val="0"/>
              </a:spcAft>
              <a:buFont typeface="+mj-lt"/>
              <a:buAutoNum type="arabicPeriod"/>
            </a:pPr>
            <a:r>
              <a:rPr lang="en-US" sz="2400" dirty="0"/>
              <a:t>"The quick brown fox jumps"</a:t>
            </a:r>
          </a:p>
          <a:p>
            <a:pPr marL="457200" indent="-457200">
              <a:lnSpc>
                <a:spcPct val="100000"/>
              </a:lnSpc>
              <a:spcBef>
                <a:spcPts val="0"/>
              </a:spcBef>
              <a:spcAft>
                <a:spcPts val="0"/>
              </a:spcAft>
              <a:buFont typeface="+mj-lt"/>
              <a:buAutoNum type="arabicPeriod"/>
            </a:pPr>
            <a:r>
              <a:rPr lang="en-US" sz="2400" dirty="0"/>
              <a:t>"quick brown fox jumps over"</a:t>
            </a:r>
          </a:p>
          <a:p>
            <a:pPr marL="457200" indent="-457200">
              <a:lnSpc>
                <a:spcPct val="100000"/>
              </a:lnSpc>
              <a:spcBef>
                <a:spcPts val="0"/>
              </a:spcBef>
              <a:spcAft>
                <a:spcPts val="0"/>
              </a:spcAft>
              <a:buFont typeface="+mj-lt"/>
              <a:buAutoNum type="arabicPeriod"/>
            </a:pPr>
            <a:r>
              <a:rPr lang="en-US" sz="2400" dirty="0"/>
              <a:t>"brown fox jumps over the"</a:t>
            </a:r>
          </a:p>
          <a:p>
            <a:pPr marL="457200" indent="-457200">
              <a:lnSpc>
                <a:spcPct val="100000"/>
              </a:lnSpc>
              <a:spcBef>
                <a:spcPts val="0"/>
              </a:spcBef>
              <a:spcAft>
                <a:spcPts val="0"/>
              </a:spcAft>
              <a:buFont typeface="+mj-lt"/>
              <a:buAutoNum type="arabicPeriod"/>
            </a:pPr>
            <a:r>
              <a:rPr lang="en-US" sz="2400" dirty="0"/>
              <a:t>"fox jumps over the lazy"</a:t>
            </a:r>
          </a:p>
          <a:p>
            <a:pPr marL="457200" indent="-457200">
              <a:lnSpc>
                <a:spcPct val="100000"/>
              </a:lnSpc>
              <a:spcBef>
                <a:spcPts val="0"/>
              </a:spcBef>
              <a:spcAft>
                <a:spcPts val="0"/>
              </a:spcAft>
              <a:buFont typeface="+mj-lt"/>
              <a:buAutoNum type="arabicPeriod"/>
            </a:pPr>
            <a:r>
              <a:rPr lang="en-US" sz="2400" dirty="0"/>
              <a:t>"jumps over the lazy </a:t>
            </a:r>
            <a:r>
              <a:rPr lang="en-US" sz="2400" dirty="0" smtClean="0"/>
              <a:t>dog“</a:t>
            </a:r>
          </a:p>
          <a:p>
            <a:pPr marL="0" indent="0">
              <a:lnSpc>
                <a:spcPct val="100000"/>
              </a:lnSpc>
              <a:spcBef>
                <a:spcPts val="0"/>
              </a:spcBef>
              <a:spcAft>
                <a:spcPts val="0"/>
              </a:spcAft>
              <a:buNone/>
            </a:pPr>
            <a:endParaRPr lang="en-US" sz="2400" dirty="0"/>
          </a:p>
        </p:txBody>
      </p:sp>
    </p:spTree>
    <p:extLst>
      <p:ext uri="{BB962C8B-B14F-4D97-AF65-F5344CB8AC3E}">
        <p14:creationId xmlns:p14="http://schemas.microsoft.com/office/powerpoint/2010/main" val="126543271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 </a:t>
            </a:r>
            <a:r>
              <a:rPr lang="en-US" b="1" dirty="0" smtClean="0"/>
              <a:t>3: Language model </a:t>
            </a:r>
            <a:endParaRPr lang="en-US" b="1" dirty="0"/>
          </a:p>
        </p:txBody>
      </p:sp>
      <p:sp>
        <p:nvSpPr>
          <p:cNvPr id="3" name="Content Placeholder 2"/>
          <p:cNvSpPr>
            <a:spLocks noGrp="1"/>
          </p:cNvSpPr>
          <p:nvPr>
            <p:ph idx="1"/>
          </p:nvPr>
        </p:nvSpPr>
        <p:spPr>
          <a:xfrm>
            <a:off x="1024128" y="1937657"/>
            <a:ext cx="9720073" cy="4023360"/>
          </a:xfrm>
        </p:spPr>
        <p:txBody>
          <a:bodyPr>
            <a:noAutofit/>
          </a:bodyPr>
          <a:lstStyle/>
          <a:p>
            <a:pPr>
              <a:lnSpc>
                <a:spcPct val="120000"/>
              </a:lnSpc>
              <a:spcBef>
                <a:spcPts val="0"/>
              </a:spcBef>
              <a:spcAft>
                <a:spcPts val="0"/>
              </a:spcAft>
            </a:pPr>
            <a:r>
              <a:rPr lang="en-US" sz="2600" b="1" dirty="0" smtClean="0">
                <a:solidFill>
                  <a:srgbClr val="C00000"/>
                </a:solidFill>
              </a:rPr>
              <a:t>Map phase</a:t>
            </a:r>
            <a:endParaRPr lang="en-US" sz="2600" b="1" dirty="0" smtClean="0">
              <a:solidFill>
                <a:srgbClr val="C00000"/>
              </a:solidFill>
            </a:endParaRPr>
          </a:p>
          <a:p>
            <a:pPr marL="514350" indent="-514350">
              <a:lnSpc>
                <a:spcPct val="120000"/>
              </a:lnSpc>
              <a:spcBef>
                <a:spcPts val="0"/>
              </a:spcBef>
              <a:spcAft>
                <a:spcPts val="0"/>
              </a:spcAft>
              <a:buFont typeface="+mj-lt"/>
              <a:buAutoNum type="arabicPeriod"/>
            </a:pPr>
            <a:r>
              <a:rPr lang="en-US" sz="2600" dirty="0" smtClean="0"/>
              <a:t>Extract </a:t>
            </a:r>
            <a:r>
              <a:rPr lang="en-US" sz="2600" dirty="0"/>
              <a:t>all 5-word sequences from each </a:t>
            </a:r>
            <a:r>
              <a:rPr lang="en-US" sz="2600" dirty="0" smtClean="0"/>
              <a:t>document</a:t>
            </a:r>
          </a:p>
          <a:p>
            <a:pPr marL="514350" indent="-514350">
              <a:lnSpc>
                <a:spcPct val="120000"/>
              </a:lnSpc>
              <a:spcBef>
                <a:spcPts val="0"/>
              </a:spcBef>
              <a:spcAft>
                <a:spcPts val="0"/>
              </a:spcAft>
              <a:buFont typeface="+mj-lt"/>
              <a:buAutoNum type="arabicPeriod"/>
            </a:pPr>
            <a:r>
              <a:rPr lang="en-US" sz="2600" dirty="0" smtClean="0"/>
              <a:t>Emit </a:t>
            </a:r>
            <a:r>
              <a:rPr lang="en-US" sz="2600" dirty="0"/>
              <a:t>(sequence, 1) for each occurrence</a:t>
            </a:r>
            <a:endParaRPr lang="en-US" sz="2600" b="1" dirty="0" smtClean="0">
              <a:solidFill>
                <a:srgbClr val="C00000"/>
              </a:solidFill>
            </a:endParaRPr>
          </a:p>
          <a:p>
            <a:pPr>
              <a:lnSpc>
                <a:spcPct val="120000"/>
              </a:lnSpc>
              <a:spcBef>
                <a:spcPts val="0"/>
              </a:spcBef>
              <a:spcAft>
                <a:spcPts val="0"/>
              </a:spcAft>
            </a:pPr>
            <a:r>
              <a:rPr lang="en-US" sz="2600" b="1" dirty="0">
                <a:solidFill>
                  <a:srgbClr val="C00000"/>
                </a:solidFill>
              </a:rPr>
              <a:t>Shuffle &amp; Sort </a:t>
            </a:r>
            <a:r>
              <a:rPr lang="en-US" sz="2600" b="1" dirty="0" smtClean="0">
                <a:solidFill>
                  <a:srgbClr val="C00000"/>
                </a:solidFill>
              </a:rPr>
              <a:t>Phase</a:t>
            </a:r>
            <a:endParaRPr lang="en-US" sz="2600" b="1" dirty="0">
              <a:solidFill>
                <a:srgbClr val="C00000"/>
              </a:solidFill>
            </a:endParaRPr>
          </a:p>
          <a:p>
            <a:pPr marL="514350" indent="-514350">
              <a:lnSpc>
                <a:spcPct val="120000"/>
              </a:lnSpc>
              <a:spcBef>
                <a:spcPts val="0"/>
              </a:spcBef>
              <a:spcAft>
                <a:spcPts val="0"/>
              </a:spcAft>
              <a:buFont typeface="+mj-lt"/>
              <a:buAutoNum type="arabicPeriod"/>
            </a:pPr>
            <a:r>
              <a:rPr lang="en-US" sz="2600" dirty="0"/>
              <a:t>Group all emitted pairs by sequence</a:t>
            </a:r>
          </a:p>
          <a:p>
            <a:pPr marL="514350" indent="-514350">
              <a:lnSpc>
                <a:spcPct val="120000"/>
              </a:lnSpc>
              <a:spcBef>
                <a:spcPts val="0"/>
              </a:spcBef>
              <a:spcAft>
                <a:spcPts val="0"/>
              </a:spcAft>
              <a:buFont typeface="+mj-lt"/>
              <a:buAutoNum type="arabicPeriod"/>
            </a:pPr>
            <a:r>
              <a:rPr lang="en-US" sz="2600" dirty="0"/>
              <a:t>Prepare for aggregation</a:t>
            </a:r>
          </a:p>
          <a:p>
            <a:pPr>
              <a:lnSpc>
                <a:spcPct val="120000"/>
              </a:lnSpc>
              <a:spcBef>
                <a:spcPts val="0"/>
              </a:spcBef>
              <a:spcAft>
                <a:spcPts val="0"/>
              </a:spcAft>
            </a:pPr>
            <a:r>
              <a:rPr lang="en-US" sz="2600" b="1" dirty="0">
                <a:solidFill>
                  <a:srgbClr val="C00000"/>
                </a:solidFill>
              </a:rPr>
              <a:t>Reduce </a:t>
            </a:r>
            <a:r>
              <a:rPr lang="en-US" sz="2600" b="1" dirty="0" smtClean="0">
                <a:solidFill>
                  <a:srgbClr val="C00000"/>
                </a:solidFill>
              </a:rPr>
              <a:t>Phase</a:t>
            </a:r>
            <a:endParaRPr lang="en-US" sz="2600" b="1" dirty="0">
              <a:solidFill>
                <a:srgbClr val="C00000"/>
              </a:solidFill>
            </a:endParaRPr>
          </a:p>
          <a:p>
            <a:pPr marL="514350" indent="-514350">
              <a:lnSpc>
                <a:spcPct val="120000"/>
              </a:lnSpc>
              <a:spcBef>
                <a:spcPts val="0"/>
              </a:spcBef>
              <a:spcAft>
                <a:spcPts val="0"/>
              </a:spcAft>
              <a:buFont typeface="+mj-lt"/>
              <a:buAutoNum type="arabicPeriod"/>
            </a:pPr>
            <a:r>
              <a:rPr lang="en-US" sz="2600" dirty="0"/>
              <a:t>Sum up the counts for each unique sequence</a:t>
            </a:r>
          </a:p>
          <a:p>
            <a:pPr marL="514350" indent="-514350">
              <a:lnSpc>
                <a:spcPct val="120000"/>
              </a:lnSpc>
              <a:spcBef>
                <a:spcPts val="0"/>
              </a:spcBef>
              <a:spcAft>
                <a:spcPts val="0"/>
              </a:spcAft>
              <a:buFont typeface="+mj-lt"/>
              <a:buAutoNum type="arabicPeriod"/>
            </a:pPr>
            <a:r>
              <a:rPr lang="en-US" sz="2600" dirty="0"/>
              <a:t>Output final (sequence, </a:t>
            </a:r>
            <a:r>
              <a:rPr lang="en-US" sz="2600" dirty="0" err="1"/>
              <a:t>total_count</a:t>
            </a:r>
            <a:r>
              <a:rPr lang="en-US" sz="2600" dirty="0"/>
              <a:t>)</a:t>
            </a:r>
          </a:p>
          <a:p>
            <a:pPr>
              <a:lnSpc>
                <a:spcPct val="120000"/>
              </a:lnSpc>
              <a:spcBef>
                <a:spcPts val="0"/>
              </a:spcBef>
              <a:spcAft>
                <a:spcPts val="0"/>
              </a:spcAft>
            </a:pPr>
            <a:r>
              <a:rPr lang="en-US" sz="2600" dirty="0"/>
              <a:t/>
            </a:r>
            <a:br>
              <a:rPr lang="en-US" sz="2600" dirty="0"/>
            </a:br>
            <a:endParaRPr lang="en-US" sz="2600" b="1" dirty="0" smtClean="0">
              <a:solidFill>
                <a:srgbClr val="C00000"/>
              </a:solidFill>
            </a:endParaRPr>
          </a:p>
        </p:txBody>
      </p:sp>
    </p:spTree>
    <p:extLst>
      <p:ext uri="{BB962C8B-B14F-4D97-AF65-F5344CB8AC3E}">
        <p14:creationId xmlns:p14="http://schemas.microsoft.com/office/powerpoint/2010/main" val="2388190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 calcmode="lin" valueType="num">
                                      <p:cBhvr additive="base">
                                        <p:cTn id="1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 calcmode="lin" valueType="num">
                                      <p:cBhvr additive="base">
                                        <p:cTn id="2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 calcmode="lin" valueType="num">
                                      <p:cBhvr additive="base">
                                        <p:cTn id="2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 calcmode="lin" valueType="num">
                                      <p:cBhvr additive="base">
                                        <p:cTn id="3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 4</a:t>
            </a:r>
            <a:r>
              <a:rPr lang="en-US" b="1" dirty="0" smtClean="0"/>
              <a:t>: join by </a:t>
            </a:r>
            <a:r>
              <a:rPr lang="en-US" b="1" dirty="0" err="1" smtClean="0"/>
              <a:t>sql</a:t>
            </a:r>
            <a:r>
              <a:rPr lang="en-US" b="1" dirty="0" smtClean="0"/>
              <a:t> query </a:t>
            </a:r>
            <a:endParaRPr lang="en-US" b="1" dirty="0"/>
          </a:p>
        </p:txBody>
      </p:sp>
      <p:sp>
        <p:nvSpPr>
          <p:cNvPr id="3" name="Content Placeholder 2"/>
          <p:cNvSpPr>
            <a:spLocks noGrp="1"/>
          </p:cNvSpPr>
          <p:nvPr>
            <p:ph idx="1"/>
          </p:nvPr>
        </p:nvSpPr>
        <p:spPr>
          <a:xfrm>
            <a:off x="472585" y="1979943"/>
            <a:ext cx="5754044" cy="4551486"/>
          </a:xfrm>
        </p:spPr>
        <p:txBody>
          <a:bodyPr>
            <a:normAutofit lnSpcReduction="10000"/>
          </a:bodyPr>
          <a:lstStyle/>
          <a:p>
            <a:pPr>
              <a:lnSpc>
                <a:spcPct val="100000"/>
              </a:lnSpc>
              <a:spcBef>
                <a:spcPts val="0"/>
              </a:spcBef>
              <a:spcAft>
                <a:spcPts val="0"/>
              </a:spcAft>
              <a:buFont typeface="Arial" panose="020B0604020202020204" pitchFamily="34" charset="0"/>
              <a:buChar char="•"/>
            </a:pPr>
            <a:r>
              <a:rPr lang="en-US" sz="2800" dirty="0"/>
              <a:t> </a:t>
            </a:r>
            <a:r>
              <a:rPr lang="en-US" sz="2800" dirty="0" smtClean="0"/>
              <a:t>Compute </a:t>
            </a:r>
            <a:r>
              <a:rPr lang="en-US" sz="2800" dirty="0"/>
              <a:t>the natural join R(A,B) ⋈ S(B,C) </a:t>
            </a:r>
            <a:endParaRPr lang="en-US" sz="2800" dirty="0" smtClean="0"/>
          </a:p>
          <a:p>
            <a:pPr>
              <a:lnSpc>
                <a:spcPct val="100000"/>
              </a:lnSpc>
              <a:spcBef>
                <a:spcPts val="0"/>
              </a:spcBef>
              <a:spcAft>
                <a:spcPts val="0"/>
              </a:spcAft>
              <a:buFont typeface="Arial" panose="020B0604020202020204" pitchFamily="34" charset="0"/>
              <a:buChar char="•"/>
            </a:pPr>
            <a:r>
              <a:rPr lang="en-US" sz="2800" dirty="0"/>
              <a:t> </a:t>
            </a:r>
            <a:r>
              <a:rPr lang="en-US" sz="2800" dirty="0" smtClean="0"/>
              <a:t>R </a:t>
            </a:r>
            <a:r>
              <a:rPr lang="en-US" sz="2800" dirty="0"/>
              <a:t>and S are each stored in files </a:t>
            </a:r>
            <a:endParaRPr lang="en-US" sz="2800" dirty="0" smtClean="0"/>
          </a:p>
          <a:p>
            <a:pPr>
              <a:lnSpc>
                <a:spcPct val="100000"/>
              </a:lnSpc>
              <a:spcBef>
                <a:spcPts val="0"/>
              </a:spcBef>
              <a:spcAft>
                <a:spcPts val="0"/>
              </a:spcAft>
              <a:buFont typeface="Arial" panose="020B0604020202020204" pitchFamily="34" charset="0"/>
              <a:buChar char="•"/>
            </a:pPr>
            <a:r>
              <a:rPr lang="en-US" sz="2800" dirty="0"/>
              <a:t> </a:t>
            </a:r>
            <a:r>
              <a:rPr lang="en-US" sz="2800" dirty="0" smtClean="0"/>
              <a:t>Tuples </a:t>
            </a:r>
            <a:r>
              <a:rPr lang="en-US" sz="2800" dirty="0"/>
              <a:t>are pairs (</a:t>
            </a:r>
            <a:r>
              <a:rPr lang="en-US" sz="2800" dirty="0" err="1"/>
              <a:t>a,b</a:t>
            </a:r>
            <a:r>
              <a:rPr lang="en-US" sz="2800" dirty="0"/>
              <a:t>) or (</a:t>
            </a:r>
            <a:r>
              <a:rPr lang="en-US" sz="2800" dirty="0" err="1"/>
              <a:t>b,c</a:t>
            </a:r>
            <a:r>
              <a:rPr lang="en-US" sz="2800" dirty="0"/>
              <a:t>) </a:t>
            </a:r>
          </a:p>
          <a:p>
            <a:pPr>
              <a:lnSpc>
                <a:spcPct val="100000"/>
              </a:lnSpc>
              <a:spcBef>
                <a:spcPts val="0"/>
              </a:spcBef>
              <a:spcAft>
                <a:spcPts val="0"/>
              </a:spcAft>
            </a:pPr>
            <a:r>
              <a:rPr lang="en-US" sz="2800" b="1" dirty="0" smtClean="0">
                <a:solidFill>
                  <a:srgbClr val="C00000"/>
                </a:solidFill>
              </a:rPr>
              <a:t>Map Task turns</a:t>
            </a:r>
          </a:p>
          <a:p>
            <a:pPr>
              <a:lnSpc>
                <a:spcPct val="100000"/>
              </a:lnSpc>
              <a:spcBef>
                <a:spcPts val="0"/>
              </a:spcBef>
              <a:spcAft>
                <a:spcPts val="0"/>
              </a:spcAft>
              <a:buFont typeface="Arial" panose="020B0604020202020204" pitchFamily="34" charset="0"/>
              <a:buChar char="•"/>
            </a:pPr>
            <a:r>
              <a:rPr lang="en-US" sz="2800" dirty="0"/>
              <a:t> </a:t>
            </a:r>
            <a:r>
              <a:rPr lang="en-US" sz="2800" dirty="0" smtClean="0"/>
              <a:t>Each </a:t>
            </a:r>
            <a:r>
              <a:rPr lang="en-US" sz="2800" dirty="0"/>
              <a:t>input tuple R(</a:t>
            </a:r>
            <a:r>
              <a:rPr lang="en-US" sz="2800" dirty="0" err="1"/>
              <a:t>a,b</a:t>
            </a:r>
            <a:r>
              <a:rPr lang="en-US" sz="2800" dirty="0"/>
              <a:t>) into key-value pair (b,(</a:t>
            </a:r>
            <a:r>
              <a:rPr lang="en-US" sz="2800" dirty="0" err="1"/>
              <a:t>a,R</a:t>
            </a:r>
            <a:r>
              <a:rPr lang="en-US" sz="2800" dirty="0"/>
              <a:t>)) </a:t>
            </a:r>
          </a:p>
          <a:p>
            <a:pPr>
              <a:lnSpc>
                <a:spcPct val="100000"/>
              </a:lnSpc>
              <a:spcBef>
                <a:spcPts val="0"/>
              </a:spcBef>
              <a:spcAft>
                <a:spcPts val="0"/>
              </a:spcAft>
              <a:buFont typeface="Arial" panose="020B0604020202020204" pitchFamily="34" charset="0"/>
              <a:buChar char="•"/>
            </a:pPr>
            <a:r>
              <a:rPr lang="en-US" sz="2800" dirty="0" smtClean="0"/>
              <a:t> Each </a:t>
            </a:r>
            <a:r>
              <a:rPr lang="en-US" sz="2800" dirty="0"/>
              <a:t>input tuple S(</a:t>
            </a:r>
            <a:r>
              <a:rPr lang="en-US" sz="2800" dirty="0" err="1"/>
              <a:t>b,c</a:t>
            </a:r>
            <a:r>
              <a:rPr lang="en-US" sz="2800" dirty="0"/>
              <a:t>) into (b,(</a:t>
            </a:r>
            <a:r>
              <a:rPr lang="en-US" sz="2800" dirty="0" err="1"/>
              <a:t>c,S</a:t>
            </a:r>
            <a:r>
              <a:rPr lang="en-US" sz="2800" dirty="0"/>
              <a:t>)) </a:t>
            </a:r>
            <a:endParaRPr lang="en-US" sz="2800" dirty="0" smtClean="0"/>
          </a:p>
          <a:p>
            <a:pPr>
              <a:lnSpc>
                <a:spcPct val="100000"/>
              </a:lnSpc>
              <a:spcBef>
                <a:spcPts val="0"/>
              </a:spcBef>
              <a:spcAft>
                <a:spcPts val="0"/>
              </a:spcAft>
            </a:pPr>
            <a:r>
              <a:rPr lang="en-US" sz="2800" b="1" dirty="0" smtClean="0">
                <a:solidFill>
                  <a:srgbClr val="C00000"/>
                </a:solidFill>
              </a:rPr>
              <a:t>Reduce Task</a:t>
            </a:r>
          </a:p>
          <a:p>
            <a:pPr>
              <a:lnSpc>
                <a:spcPct val="100000"/>
              </a:lnSpc>
              <a:spcBef>
                <a:spcPts val="0"/>
              </a:spcBef>
              <a:spcAft>
                <a:spcPts val="0"/>
              </a:spcAft>
            </a:pPr>
            <a:r>
              <a:rPr lang="en-US" sz="2800" dirty="0" smtClean="0"/>
              <a:t>Matches </a:t>
            </a:r>
            <a:r>
              <a:rPr lang="en-US" sz="2800" dirty="0"/>
              <a:t>all the pairs (b,(</a:t>
            </a:r>
            <a:r>
              <a:rPr lang="en-US" sz="2800" dirty="0" err="1"/>
              <a:t>a,R</a:t>
            </a:r>
            <a:r>
              <a:rPr lang="en-US" sz="2800" dirty="0"/>
              <a:t>)) with all (b,(</a:t>
            </a:r>
            <a:r>
              <a:rPr lang="en-US" sz="2800" dirty="0" err="1"/>
              <a:t>c,S</a:t>
            </a:r>
            <a:r>
              <a:rPr lang="en-US" sz="2800" dirty="0"/>
              <a:t>)) and outputs (</a:t>
            </a:r>
            <a:r>
              <a:rPr lang="en-US" sz="2800" dirty="0" err="1"/>
              <a:t>a,b,c</a:t>
            </a:r>
            <a:r>
              <a:rPr lang="en-US" sz="2800" dirty="0"/>
              <a:t>). </a:t>
            </a:r>
            <a:endParaRPr lang="en-US" sz="2800" b="1" dirty="0" smtClean="0">
              <a:solidFill>
                <a:srgbClr val="C00000"/>
              </a:solidFill>
            </a:endParaRPr>
          </a:p>
        </p:txBody>
      </p:sp>
      <p:pic>
        <p:nvPicPr>
          <p:cNvPr id="4" name="Picture 3"/>
          <p:cNvPicPr>
            <a:picLocks noChangeAspect="1"/>
          </p:cNvPicPr>
          <p:nvPr/>
        </p:nvPicPr>
        <p:blipFill>
          <a:blip r:embed="rId3"/>
          <a:stretch>
            <a:fillRect/>
          </a:stretch>
        </p:blipFill>
        <p:spPr>
          <a:xfrm>
            <a:off x="6334355" y="2729076"/>
            <a:ext cx="5741531" cy="2525095"/>
          </a:xfrm>
          <a:prstGeom prst="rect">
            <a:avLst/>
          </a:prstGeom>
        </p:spPr>
      </p:pic>
    </p:spTree>
    <p:extLst>
      <p:ext uri="{BB962C8B-B14F-4D97-AF65-F5344CB8AC3E}">
        <p14:creationId xmlns:p14="http://schemas.microsoft.com/office/powerpoint/2010/main" val="1032368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anim calcmode="lin" valueType="num">
                                      <p:cBhvr additive="base">
                                        <p:cTn id="1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 calcmode="lin" valueType="num">
                                      <p:cBhvr additive="base">
                                        <p:cTn id="1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 calcmode="lin" valueType="num">
                                      <p:cBhvr additive="base">
                                        <p:cTn id="1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anim calcmode="lin" valueType="num">
                                      <p:cBhvr additive="base">
                                        <p:cTn id="2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Fault tolerance in </a:t>
            </a:r>
            <a:r>
              <a:rPr lang="en-US" b="1" dirty="0" err="1" smtClean="0"/>
              <a:t>mapreduce</a:t>
            </a:r>
            <a:endParaRPr lang="en-US" b="1" dirty="0"/>
          </a:p>
        </p:txBody>
      </p:sp>
      <p:sp>
        <p:nvSpPr>
          <p:cNvPr id="3" name="Content Placeholder 2"/>
          <p:cNvSpPr>
            <a:spLocks noGrp="1"/>
          </p:cNvSpPr>
          <p:nvPr>
            <p:ph idx="1"/>
          </p:nvPr>
        </p:nvSpPr>
        <p:spPr>
          <a:xfrm>
            <a:off x="1024128" y="1821543"/>
            <a:ext cx="6537815" cy="4023360"/>
          </a:xfrm>
        </p:spPr>
        <p:txBody>
          <a:bodyPr>
            <a:noAutofit/>
          </a:bodyPr>
          <a:lstStyle/>
          <a:p>
            <a:pPr>
              <a:lnSpc>
                <a:spcPct val="100000"/>
              </a:lnSpc>
              <a:spcBef>
                <a:spcPts val="0"/>
              </a:spcBef>
              <a:spcAft>
                <a:spcPts val="0"/>
              </a:spcAft>
            </a:pPr>
            <a:r>
              <a:rPr lang="en-US" sz="2600" b="1" dirty="0" smtClean="0">
                <a:solidFill>
                  <a:srgbClr val="C00000"/>
                </a:solidFill>
              </a:rPr>
              <a:t>Task </a:t>
            </a:r>
            <a:r>
              <a:rPr lang="en-US" sz="2600" b="1" dirty="0">
                <a:solidFill>
                  <a:srgbClr val="C00000"/>
                </a:solidFill>
              </a:rPr>
              <a:t>Re-Execution</a:t>
            </a:r>
          </a:p>
          <a:p>
            <a:pPr>
              <a:lnSpc>
                <a:spcPct val="100000"/>
              </a:lnSpc>
              <a:spcBef>
                <a:spcPts val="0"/>
              </a:spcBef>
              <a:spcAft>
                <a:spcPts val="0"/>
              </a:spcAft>
            </a:pPr>
            <a:r>
              <a:rPr lang="en-US" sz="2600" dirty="0"/>
              <a:t>If a Map or Reduce task fails:</a:t>
            </a:r>
          </a:p>
          <a:p>
            <a:pPr lvl="1">
              <a:lnSpc>
                <a:spcPct val="100000"/>
              </a:lnSpc>
              <a:spcBef>
                <a:spcPts val="0"/>
              </a:spcBef>
              <a:spcAft>
                <a:spcPts val="0"/>
              </a:spcAft>
            </a:pPr>
            <a:r>
              <a:rPr lang="en-US" sz="2600" dirty="0"/>
              <a:t>The master detects failure</a:t>
            </a:r>
          </a:p>
          <a:p>
            <a:pPr lvl="1">
              <a:lnSpc>
                <a:spcPct val="100000"/>
              </a:lnSpc>
              <a:spcBef>
                <a:spcPts val="0"/>
              </a:spcBef>
              <a:spcAft>
                <a:spcPts val="0"/>
              </a:spcAft>
            </a:pPr>
            <a:r>
              <a:rPr lang="en-US" sz="2600" dirty="0"/>
              <a:t>Task is re-executed on another node</a:t>
            </a:r>
          </a:p>
          <a:p>
            <a:pPr>
              <a:lnSpc>
                <a:spcPct val="100000"/>
              </a:lnSpc>
              <a:spcBef>
                <a:spcPts val="0"/>
              </a:spcBef>
              <a:spcAft>
                <a:spcPts val="0"/>
              </a:spcAft>
            </a:pPr>
            <a:r>
              <a:rPr lang="en-US" sz="2600" dirty="0"/>
              <a:t>Input data remains safe in HDFS</a:t>
            </a:r>
          </a:p>
          <a:p>
            <a:pPr>
              <a:lnSpc>
                <a:spcPct val="100000"/>
              </a:lnSpc>
              <a:spcBef>
                <a:spcPts val="0"/>
              </a:spcBef>
              <a:spcAft>
                <a:spcPts val="0"/>
              </a:spcAft>
            </a:pPr>
            <a:r>
              <a:rPr lang="en-US" sz="2600" dirty="0" smtClean="0"/>
              <a:t>No </a:t>
            </a:r>
            <a:r>
              <a:rPr lang="en-US" sz="2600" dirty="0"/>
              <a:t>need to restart entire </a:t>
            </a:r>
            <a:r>
              <a:rPr lang="en-US" sz="2600" dirty="0" smtClean="0"/>
              <a:t>job</a:t>
            </a:r>
          </a:p>
          <a:p>
            <a:pPr>
              <a:lnSpc>
                <a:spcPct val="100000"/>
              </a:lnSpc>
              <a:spcBef>
                <a:spcPts val="0"/>
              </a:spcBef>
              <a:spcAft>
                <a:spcPts val="0"/>
              </a:spcAft>
            </a:pPr>
            <a:r>
              <a:rPr lang="en-US" sz="2600" b="1" dirty="0">
                <a:solidFill>
                  <a:srgbClr val="C00000"/>
                </a:solidFill>
              </a:rPr>
              <a:t>Speculative Execution (Straggler Handling)</a:t>
            </a:r>
          </a:p>
          <a:p>
            <a:pPr>
              <a:lnSpc>
                <a:spcPct val="100000"/>
              </a:lnSpc>
              <a:spcBef>
                <a:spcPts val="0"/>
              </a:spcBef>
              <a:spcAft>
                <a:spcPts val="0"/>
              </a:spcAft>
            </a:pPr>
            <a:r>
              <a:rPr lang="en-US" sz="2600" dirty="0"/>
              <a:t>If one task is unusually slow:</a:t>
            </a:r>
          </a:p>
          <a:p>
            <a:pPr>
              <a:lnSpc>
                <a:spcPct val="100000"/>
              </a:lnSpc>
              <a:spcBef>
                <a:spcPts val="0"/>
              </a:spcBef>
              <a:spcAft>
                <a:spcPts val="0"/>
              </a:spcAft>
              <a:buFont typeface="Arial" panose="020B0604020202020204" pitchFamily="34" charset="0"/>
              <a:buChar char="•"/>
            </a:pPr>
            <a:r>
              <a:rPr lang="en-US" sz="2600" dirty="0"/>
              <a:t>System launches a duplicate copy</a:t>
            </a:r>
          </a:p>
          <a:p>
            <a:pPr>
              <a:lnSpc>
                <a:spcPct val="100000"/>
              </a:lnSpc>
              <a:spcBef>
                <a:spcPts val="0"/>
              </a:spcBef>
              <a:spcAft>
                <a:spcPts val="0"/>
              </a:spcAft>
              <a:buFont typeface="Arial" panose="020B0604020202020204" pitchFamily="34" charset="0"/>
              <a:buChar char="•"/>
            </a:pPr>
            <a:r>
              <a:rPr lang="en-US" sz="2600" dirty="0"/>
              <a:t>First to finish wins</a:t>
            </a:r>
          </a:p>
          <a:p>
            <a:pPr>
              <a:lnSpc>
                <a:spcPct val="100000"/>
              </a:lnSpc>
              <a:spcBef>
                <a:spcPts val="0"/>
              </a:spcBef>
              <a:spcAft>
                <a:spcPts val="0"/>
              </a:spcAft>
              <a:buFont typeface="Arial" panose="020B0604020202020204" pitchFamily="34" charset="0"/>
              <a:buChar char="•"/>
            </a:pPr>
            <a:r>
              <a:rPr lang="en-US" sz="2600" dirty="0"/>
              <a:t>Prevents “straggler” from delaying whole job</a:t>
            </a:r>
          </a:p>
          <a:p>
            <a:pPr>
              <a:lnSpc>
                <a:spcPct val="100000"/>
              </a:lnSpc>
              <a:spcBef>
                <a:spcPts val="0"/>
              </a:spcBef>
              <a:spcAft>
                <a:spcPts val="0"/>
              </a:spcAft>
            </a:pPr>
            <a:endParaRPr lang="en-US" sz="2600" dirty="0" smtClean="0"/>
          </a:p>
          <a:p>
            <a:pPr>
              <a:lnSpc>
                <a:spcPct val="100000"/>
              </a:lnSpc>
              <a:spcBef>
                <a:spcPts val="0"/>
              </a:spcBef>
              <a:spcAft>
                <a:spcPts val="0"/>
              </a:spcAft>
            </a:pPr>
            <a:endParaRPr lang="en-US" sz="2600" dirty="0"/>
          </a:p>
        </p:txBody>
      </p:sp>
      <p:sp>
        <p:nvSpPr>
          <p:cNvPr id="4" name="Rectangle 3"/>
          <p:cNvSpPr/>
          <p:nvPr/>
        </p:nvSpPr>
        <p:spPr>
          <a:xfrm>
            <a:off x="7213600" y="3321159"/>
            <a:ext cx="4586514" cy="1292662"/>
          </a:xfrm>
          <a:prstGeom prst="rect">
            <a:avLst/>
          </a:prstGeom>
        </p:spPr>
        <p:txBody>
          <a:bodyPr wrap="square">
            <a:spAutoFit/>
          </a:bodyPr>
          <a:lstStyle/>
          <a:p>
            <a:pPr algn="ctr"/>
            <a:r>
              <a:rPr lang="en-US" sz="2600" b="1" i="1" dirty="0">
                <a:solidFill>
                  <a:srgbClr val="C00000"/>
                </a:solidFill>
              </a:rPr>
              <a:t>Fault tolerance is built into the </a:t>
            </a:r>
            <a:r>
              <a:rPr lang="en-US" sz="2600" b="1" i="1" dirty="0" smtClean="0">
                <a:solidFill>
                  <a:srgbClr val="C00000"/>
                </a:solidFill>
              </a:rPr>
              <a:t>model, not </a:t>
            </a:r>
            <a:r>
              <a:rPr lang="en-US" sz="2600" b="1" i="1" dirty="0">
                <a:solidFill>
                  <a:srgbClr val="C00000"/>
                </a:solidFill>
              </a:rPr>
              <a:t>handled manually by the programmer.</a:t>
            </a:r>
          </a:p>
        </p:txBody>
      </p:sp>
    </p:spTree>
    <p:extLst>
      <p:ext uri="{BB962C8B-B14F-4D97-AF65-F5344CB8AC3E}">
        <p14:creationId xmlns:p14="http://schemas.microsoft.com/office/powerpoint/2010/main" val="3651860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 calcmode="lin" valueType="num">
                                      <p:cBhvr additive="base">
                                        <p:cTn id="4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8" end="8"/>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3">
                                            <p:txEl>
                                              <p:pRg st="9" end="9"/>
                                            </p:txEl>
                                          </p:spTgt>
                                        </p:tgtEl>
                                        <p:attrNameLst>
                                          <p:attrName>style.visibility</p:attrName>
                                        </p:attrNameLst>
                                      </p:cBhvr>
                                      <p:to>
                                        <p:strVal val="visible"/>
                                      </p:to>
                                    </p:set>
                                    <p:anim calcmode="lin" valueType="num">
                                      <p:cBhvr additive="base">
                                        <p:cTn id="4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9" end="9"/>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3">
                                            <p:txEl>
                                              <p:pRg st="10" end="10"/>
                                            </p:txEl>
                                          </p:spTgt>
                                        </p:tgtEl>
                                        <p:attrNameLst>
                                          <p:attrName>style.visibility</p:attrName>
                                        </p:attrNameLst>
                                      </p:cBhvr>
                                      <p:to>
                                        <p:strVal val="visible"/>
                                      </p:to>
                                    </p:set>
                                    <p:anim calcmode="lin" valueType="num">
                                      <p:cBhvr additive="base">
                                        <p:cTn id="49"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par>
                          <p:cTn id="51" fill="hold">
                            <p:stCondLst>
                              <p:cond delay="500"/>
                            </p:stCondLst>
                            <p:childTnLst>
                              <p:par>
                                <p:cTn id="52" presetID="2" presetClass="entr" presetSubtype="4" fill="hold" grpId="0" nodeType="afterEffect">
                                  <p:stCondLst>
                                    <p:cond delay="0"/>
                                  </p:stCondLst>
                                  <p:childTnLst>
                                    <p:set>
                                      <p:cBhvr>
                                        <p:cTn id="53" dur="1" fill="hold">
                                          <p:stCondLst>
                                            <p:cond delay="0"/>
                                          </p:stCondLst>
                                        </p:cTn>
                                        <p:tgtEl>
                                          <p:spTgt spid="4"/>
                                        </p:tgtEl>
                                        <p:attrNameLst>
                                          <p:attrName>style.visibility</p:attrName>
                                        </p:attrNameLst>
                                      </p:cBhvr>
                                      <p:to>
                                        <p:strVal val="visible"/>
                                      </p:to>
                                    </p:set>
                                    <p:anim calcmode="lin" valueType="num">
                                      <p:cBhvr additive="base">
                                        <p:cTn id="54" dur="500" fill="hold"/>
                                        <p:tgtEl>
                                          <p:spTgt spid="4"/>
                                        </p:tgtEl>
                                        <p:attrNameLst>
                                          <p:attrName>ppt_x</p:attrName>
                                        </p:attrNameLst>
                                      </p:cBhvr>
                                      <p:tavLst>
                                        <p:tav tm="0">
                                          <p:val>
                                            <p:strVal val="#ppt_x"/>
                                          </p:val>
                                        </p:tav>
                                        <p:tav tm="100000">
                                          <p:val>
                                            <p:strVal val="#ppt_x"/>
                                          </p:val>
                                        </p:tav>
                                      </p:tavLst>
                                    </p:anim>
                                    <p:anim calcmode="lin" valueType="num">
                                      <p:cBhvr additive="base">
                                        <p:cTn id="55"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Mapreduce</a:t>
            </a:r>
            <a:r>
              <a:rPr lang="en-US" b="1" dirty="0" smtClean="0"/>
              <a:t> performance </a:t>
            </a:r>
            <a:endParaRPr lang="en-US" b="1" dirty="0"/>
          </a:p>
        </p:txBody>
      </p:sp>
      <p:sp>
        <p:nvSpPr>
          <p:cNvPr id="3" name="Content Placeholder 2"/>
          <p:cNvSpPr>
            <a:spLocks noGrp="1"/>
          </p:cNvSpPr>
          <p:nvPr>
            <p:ph idx="1"/>
          </p:nvPr>
        </p:nvSpPr>
        <p:spPr>
          <a:xfrm>
            <a:off x="1024128" y="2068289"/>
            <a:ext cx="9720073" cy="4023360"/>
          </a:xfrm>
        </p:spPr>
        <p:txBody>
          <a:bodyPr>
            <a:noAutofit/>
          </a:bodyPr>
          <a:lstStyle/>
          <a:p>
            <a:pPr>
              <a:lnSpc>
                <a:spcPct val="100000"/>
              </a:lnSpc>
              <a:spcBef>
                <a:spcPts val="0"/>
              </a:spcBef>
              <a:spcAft>
                <a:spcPts val="0"/>
              </a:spcAft>
            </a:pPr>
            <a:r>
              <a:rPr lang="en-US" sz="2600" b="1" dirty="0">
                <a:solidFill>
                  <a:srgbClr val="C00000"/>
                </a:solidFill>
              </a:rPr>
              <a:t>Heavy Disk I/O</a:t>
            </a:r>
          </a:p>
          <a:p>
            <a:pPr>
              <a:lnSpc>
                <a:spcPct val="100000"/>
              </a:lnSpc>
              <a:spcBef>
                <a:spcPts val="0"/>
              </a:spcBef>
              <a:spcAft>
                <a:spcPts val="0"/>
              </a:spcAft>
              <a:buFont typeface="Arial" panose="020B0604020202020204" pitchFamily="34" charset="0"/>
              <a:buChar char="•"/>
            </a:pPr>
            <a:r>
              <a:rPr lang="en-US" sz="2600" dirty="0"/>
              <a:t>Map output written to disk</a:t>
            </a:r>
          </a:p>
          <a:p>
            <a:pPr>
              <a:lnSpc>
                <a:spcPct val="100000"/>
              </a:lnSpc>
              <a:spcBef>
                <a:spcPts val="0"/>
              </a:spcBef>
              <a:spcAft>
                <a:spcPts val="0"/>
              </a:spcAft>
              <a:buFont typeface="Arial" panose="020B0604020202020204" pitchFamily="34" charset="0"/>
              <a:buChar char="•"/>
            </a:pPr>
            <a:r>
              <a:rPr lang="en-US" sz="2600" dirty="0"/>
              <a:t>Shuffle writes to disk</a:t>
            </a:r>
          </a:p>
          <a:p>
            <a:pPr>
              <a:lnSpc>
                <a:spcPct val="100000"/>
              </a:lnSpc>
              <a:spcBef>
                <a:spcPts val="0"/>
              </a:spcBef>
              <a:spcAft>
                <a:spcPts val="0"/>
              </a:spcAft>
              <a:buFont typeface="Arial" panose="020B0604020202020204" pitchFamily="34" charset="0"/>
              <a:buChar char="•"/>
            </a:pPr>
            <a:r>
              <a:rPr lang="en-US" sz="2600" dirty="0"/>
              <a:t>Reduce output written to disk</a:t>
            </a:r>
          </a:p>
          <a:p>
            <a:pPr>
              <a:lnSpc>
                <a:spcPct val="100000"/>
              </a:lnSpc>
              <a:spcBef>
                <a:spcPts val="0"/>
              </a:spcBef>
              <a:spcAft>
                <a:spcPts val="0"/>
              </a:spcAft>
            </a:pPr>
            <a:r>
              <a:rPr lang="en-US" sz="2600" b="1" dirty="0" smtClean="0">
                <a:solidFill>
                  <a:srgbClr val="C00000"/>
                </a:solidFill>
              </a:rPr>
              <a:t>Expensive </a:t>
            </a:r>
            <a:r>
              <a:rPr lang="en-US" sz="2600" b="1" dirty="0">
                <a:solidFill>
                  <a:srgbClr val="C00000"/>
                </a:solidFill>
              </a:rPr>
              <a:t>Shuffle Phase</a:t>
            </a:r>
          </a:p>
          <a:p>
            <a:pPr>
              <a:lnSpc>
                <a:spcPct val="100000"/>
              </a:lnSpc>
              <a:spcBef>
                <a:spcPts val="0"/>
              </a:spcBef>
              <a:spcAft>
                <a:spcPts val="0"/>
              </a:spcAft>
              <a:buFont typeface="Arial" panose="020B0604020202020204" pitchFamily="34" charset="0"/>
              <a:buChar char="•"/>
            </a:pPr>
            <a:r>
              <a:rPr lang="en-US" sz="2600" dirty="0"/>
              <a:t>Network transfer between nodes</a:t>
            </a:r>
          </a:p>
          <a:p>
            <a:pPr>
              <a:lnSpc>
                <a:spcPct val="100000"/>
              </a:lnSpc>
              <a:spcBef>
                <a:spcPts val="0"/>
              </a:spcBef>
              <a:spcAft>
                <a:spcPts val="0"/>
              </a:spcAft>
              <a:buFont typeface="Arial" panose="020B0604020202020204" pitchFamily="34" charset="0"/>
              <a:buChar char="•"/>
            </a:pPr>
            <a:r>
              <a:rPr lang="en-US" sz="2600" dirty="0"/>
              <a:t>Sorting cost</a:t>
            </a:r>
          </a:p>
          <a:p>
            <a:pPr>
              <a:lnSpc>
                <a:spcPct val="100000"/>
              </a:lnSpc>
              <a:spcBef>
                <a:spcPts val="0"/>
              </a:spcBef>
              <a:spcAft>
                <a:spcPts val="0"/>
              </a:spcAft>
            </a:pPr>
            <a:r>
              <a:rPr lang="en-US" sz="2600" b="1" dirty="0" smtClean="0"/>
              <a:t>This phase often </a:t>
            </a:r>
            <a:r>
              <a:rPr lang="en-US" sz="2600" b="1" dirty="0"/>
              <a:t>dominates execution </a:t>
            </a:r>
            <a:r>
              <a:rPr lang="en-US" sz="2600" b="1" dirty="0" smtClean="0"/>
              <a:t>time</a:t>
            </a:r>
          </a:p>
          <a:p>
            <a:pPr>
              <a:lnSpc>
                <a:spcPct val="100000"/>
              </a:lnSpc>
              <a:spcBef>
                <a:spcPts val="0"/>
              </a:spcBef>
              <a:spcAft>
                <a:spcPts val="0"/>
              </a:spcAft>
            </a:pPr>
            <a:r>
              <a:rPr lang="en-US" sz="2600" b="1" dirty="0">
                <a:solidFill>
                  <a:srgbClr val="C00000"/>
                </a:solidFill>
              </a:rPr>
              <a:t>High Latency Model</a:t>
            </a:r>
          </a:p>
          <a:p>
            <a:pPr>
              <a:lnSpc>
                <a:spcPct val="100000"/>
              </a:lnSpc>
              <a:spcBef>
                <a:spcPts val="0"/>
              </a:spcBef>
              <a:spcAft>
                <a:spcPts val="0"/>
              </a:spcAft>
            </a:pPr>
            <a:endParaRPr lang="en-US" sz="2600" dirty="0"/>
          </a:p>
        </p:txBody>
      </p:sp>
    </p:spTree>
    <p:extLst>
      <p:ext uri="{BB962C8B-B14F-4D97-AF65-F5344CB8AC3E}">
        <p14:creationId xmlns:p14="http://schemas.microsoft.com/office/powerpoint/2010/main" val="1498994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 calcmode="lin" valueType="num">
                                      <p:cBhvr additive="base">
                                        <p:cTn id="4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10267986" cy="1499616"/>
          </a:xfrm>
        </p:spPr>
        <p:txBody>
          <a:bodyPr/>
          <a:lstStyle/>
          <a:p>
            <a:r>
              <a:rPr lang="en-US" b="1" dirty="0" err="1" smtClean="0">
                <a:sym typeface="Wingdings" panose="05000000000000000000" pitchFamily="2" charset="2"/>
              </a:rPr>
              <a:t>mapreduce</a:t>
            </a:r>
            <a:r>
              <a:rPr lang="en-US" b="1" dirty="0" smtClean="0">
                <a:sym typeface="Wingdings" panose="05000000000000000000" pitchFamily="2" charset="2"/>
              </a:rPr>
              <a:t> is </a:t>
            </a:r>
            <a:r>
              <a:rPr lang="en-US" b="1" dirty="0" smtClean="0">
                <a:solidFill>
                  <a:srgbClr val="C00000"/>
                </a:solidFill>
                <a:sym typeface="Wingdings" panose="05000000000000000000" pitchFamily="2" charset="2"/>
              </a:rPr>
              <a:t>not</a:t>
            </a:r>
            <a:r>
              <a:rPr lang="en-US" b="1" dirty="0" smtClean="0">
                <a:sym typeface="Wingdings" panose="05000000000000000000" pitchFamily="2" charset="2"/>
              </a:rPr>
              <a:t> suitable for what?</a:t>
            </a:r>
            <a:endParaRPr lang="en-US" b="1" dirty="0"/>
          </a:p>
        </p:txBody>
      </p:sp>
      <p:sp>
        <p:nvSpPr>
          <p:cNvPr id="3" name="Content Placeholder 2"/>
          <p:cNvSpPr>
            <a:spLocks noGrp="1"/>
          </p:cNvSpPr>
          <p:nvPr>
            <p:ph idx="1"/>
          </p:nvPr>
        </p:nvSpPr>
        <p:spPr>
          <a:xfrm>
            <a:off x="1024128" y="2184402"/>
            <a:ext cx="9720073" cy="4023360"/>
          </a:xfrm>
        </p:spPr>
        <p:txBody>
          <a:bodyPr>
            <a:noAutofit/>
          </a:bodyPr>
          <a:lstStyle/>
          <a:p>
            <a:r>
              <a:rPr lang="en-US" sz="2600" dirty="0" err="1" smtClean="0"/>
              <a:t>MapReduce</a:t>
            </a:r>
            <a:r>
              <a:rPr lang="en-US" sz="2600" dirty="0"/>
              <a:t> rigid </a:t>
            </a:r>
            <a:r>
              <a:rPr lang="en-US" sz="2600" b="1" dirty="0"/>
              <a:t>Map → Shuffle → Reduce</a:t>
            </a:r>
            <a:r>
              <a:rPr lang="en-US" sz="2600" dirty="0"/>
              <a:t> structure makes it highly inefficient for several categories of problems</a:t>
            </a:r>
            <a:r>
              <a:rPr lang="en-US" sz="2600" dirty="0" smtClean="0"/>
              <a:t>.</a:t>
            </a:r>
          </a:p>
          <a:p>
            <a:r>
              <a:rPr lang="en-US" sz="2600" b="1" dirty="0"/>
              <a:t>1. Iterative Algorithms (Machine Learning &amp; Graph Processing</a:t>
            </a:r>
            <a:r>
              <a:rPr lang="en-US" sz="2600" b="1" dirty="0" smtClean="0"/>
              <a:t>)</a:t>
            </a:r>
          </a:p>
          <a:p>
            <a:r>
              <a:rPr lang="en-US" sz="2600" b="1" dirty="0"/>
              <a:t>2. Real-time or Low-Latency </a:t>
            </a:r>
            <a:r>
              <a:rPr lang="en-US" sz="2600" b="1" dirty="0" smtClean="0"/>
              <a:t>Processing</a:t>
            </a:r>
          </a:p>
          <a:p>
            <a:r>
              <a:rPr lang="en-US" sz="2600" b="1" dirty="0" smtClean="0"/>
              <a:t>3. </a:t>
            </a:r>
            <a:r>
              <a:rPr lang="en-US" sz="2600" b="1" dirty="0"/>
              <a:t>I</a:t>
            </a:r>
            <a:r>
              <a:rPr lang="en-US" sz="2600" b="1" dirty="0" smtClean="0"/>
              <a:t>nteractive queries </a:t>
            </a:r>
          </a:p>
          <a:p>
            <a:r>
              <a:rPr lang="en-US" sz="2600" b="1" dirty="0" smtClean="0"/>
              <a:t>4. Highly Sequential/ Dependent Tasks </a:t>
            </a:r>
          </a:p>
          <a:p>
            <a:endParaRPr lang="en-US" sz="2600" b="1" dirty="0"/>
          </a:p>
          <a:p>
            <a:pPr lvl="0" algn="ctr"/>
            <a:r>
              <a:rPr lang="en-US" altLang="en-US" sz="2600" b="1" dirty="0">
                <a:solidFill>
                  <a:srgbClr val="C00000"/>
                </a:solidFill>
              </a:rPr>
              <a:t>If the algorithm needs many iterations or real-time responses → </a:t>
            </a:r>
            <a:r>
              <a:rPr lang="en-US" altLang="en-US" sz="2600" b="1" dirty="0" err="1">
                <a:solidFill>
                  <a:srgbClr val="C00000"/>
                </a:solidFill>
              </a:rPr>
              <a:t>MapReduce</a:t>
            </a:r>
            <a:r>
              <a:rPr lang="en-US" altLang="en-US" sz="2600" b="1" dirty="0">
                <a:solidFill>
                  <a:srgbClr val="C00000"/>
                </a:solidFill>
              </a:rPr>
              <a:t> is probably not the right tool.</a:t>
            </a:r>
          </a:p>
          <a:p>
            <a:endParaRPr lang="en-US" sz="2600" b="1" dirty="0"/>
          </a:p>
          <a:p>
            <a:endParaRPr lang="en-US" sz="2600" dirty="0"/>
          </a:p>
        </p:txBody>
      </p:sp>
    </p:spTree>
    <p:extLst>
      <p:ext uri="{BB962C8B-B14F-4D97-AF65-F5344CB8AC3E}">
        <p14:creationId xmlns:p14="http://schemas.microsoft.com/office/powerpoint/2010/main" val="1811856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par>
                          <p:cTn id="21" fill="hold">
                            <p:stCondLst>
                              <p:cond delay="500"/>
                            </p:stCondLst>
                            <p:childTnLst>
                              <p:par>
                                <p:cTn id="22" presetID="2" presetClass="entr" presetSubtype="4" fill="hold" nodeType="after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 calcmode="lin" valueType="num">
                                      <p:cBhvr additive="base">
                                        <p:cTn id="24"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24128" y="457202"/>
            <a:ext cx="9720073" cy="4023360"/>
          </a:xfrm>
        </p:spPr>
        <p:txBody>
          <a:bodyPr>
            <a:noAutofit/>
          </a:bodyPr>
          <a:lstStyle/>
          <a:p>
            <a:pPr>
              <a:lnSpc>
                <a:spcPct val="100000"/>
              </a:lnSpc>
              <a:spcBef>
                <a:spcPts val="0"/>
              </a:spcBef>
              <a:spcAft>
                <a:spcPts val="0"/>
              </a:spcAft>
            </a:pPr>
            <a:r>
              <a:rPr lang="en-US" sz="2400" b="1" dirty="0"/>
              <a:t>Start</a:t>
            </a:r>
          </a:p>
          <a:p>
            <a:pPr>
              <a:lnSpc>
                <a:spcPct val="100000"/>
              </a:lnSpc>
              <a:spcBef>
                <a:spcPts val="0"/>
              </a:spcBef>
              <a:spcAft>
                <a:spcPts val="0"/>
              </a:spcAft>
            </a:pPr>
            <a:r>
              <a:rPr lang="en-US" sz="2400" b="1" dirty="0"/>
              <a:t>  |</a:t>
            </a:r>
          </a:p>
          <a:p>
            <a:pPr>
              <a:lnSpc>
                <a:spcPct val="100000"/>
              </a:lnSpc>
              <a:spcBef>
                <a:spcPts val="0"/>
              </a:spcBef>
              <a:spcAft>
                <a:spcPts val="0"/>
              </a:spcAft>
            </a:pPr>
            <a:r>
              <a:rPr lang="en-US" sz="2400" b="1" dirty="0"/>
              <a:t>  ├── Real-time?</a:t>
            </a:r>
          </a:p>
          <a:p>
            <a:pPr>
              <a:lnSpc>
                <a:spcPct val="100000"/>
              </a:lnSpc>
              <a:spcBef>
                <a:spcPts val="0"/>
              </a:spcBef>
              <a:spcAft>
                <a:spcPts val="0"/>
              </a:spcAft>
            </a:pPr>
            <a:r>
              <a:rPr lang="en-US" sz="2400" b="1" dirty="0"/>
              <a:t>  |       ├── Yes → </a:t>
            </a:r>
            <a:r>
              <a:rPr lang="en-US" sz="2400" b="1" dirty="0" err="1">
                <a:solidFill>
                  <a:srgbClr val="C00000"/>
                </a:solidFill>
              </a:rPr>
              <a:t>Flink</a:t>
            </a:r>
            <a:r>
              <a:rPr lang="en-US" sz="2400" b="1" dirty="0">
                <a:solidFill>
                  <a:srgbClr val="C00000"/>
                </a:solidFill>
              </a:rPr>
              <a:t> / Spark Streaming</a:t>
            </a:r>
          </a:p>
          <a:p>
            <a:pPr>
              <a:lnSpc>
                <a:spcPct val="100000"/>
              </a:lnSpc>
              <a:spcBef>
                <a:spcPts val="0"/>
              </a:spcBef>
              <a:spcAft>
                <a:spcPts val="0"/>
              </a:spcAft>
            </a:pPr>
            <a:r>
              <a:rPr lang="en-US" sz="2400" b="1" dirty="0"/>
              <a:t>  |       └── No</a:t>
            </a:r>
          </a:p>
          <a:p>
            <a:pPr>
              <a:lnSpc>
                <a:spcPct val="100000"/>
              </a:lnSpc>
              <a:spcBef>
                <a:spcPts val="0"/>
              </a:spcBef>
              <a:spcAft>
                <a:spcPts val="0"/>
              </a:spcAft>
            </a:pPr>
            <a:r>
              <a:rPr lang="en-US" sz="2400" b="1" dirty="0"/>
              <a:t>  |</a:t>
            </a:r>
          </a:p>
          <a:p>
            <a:pPr>
              <a:lnSpc>
                <a:spcPct val="100000"/>
              </a:lnSpc>
              <a:spcBef>
                <a:spcPts val="0"/>
              </a:spcBef>
              <a:spcAft>
                <a:spcPts val="0"/>
              </a:spcAft>
            </a:pPr>
            <a:r>
              <a:rPr lang="en-US" sz="2400" b="1" dirty="0"/>
              <a:t>  ├── Iterative?</a:t>
            </a:r>
          </a:p>
          <a:p>
            <a:pPr>
              <a:lnSpc>
                <a:spcPct val="100000"/>
              </a:lnSpc>
              <a:spcBef>
                <a:spcPts val="0"/>
              </a:spcBef>
              <a:spcAft>
                <a:spcPts val="0"/>
              </a:spcAft>
            </a:pPr>
            <a:r>
              <a:rPr lang="en-US" sz="2400" b="1" dirty="0"/>
              <a:t>  |       ├── Yes → </a:t>
            </a:r>
            <a:r>
              <a:rPr lang="en-US" sz="2400" b="1" dirty="0">
                <a:solidFill>
                  <a:srgbClr val="C00000"/>
                </a:solidFill>
              </a:rPr>
              <a:t>Spark</a:t>
            </a:r>
          </a:p>
          <a:p>
            <a:pPr>
              <a:lnSpc>
                <a:spcPct val="100000"/>
              </a:lnSpc>
              <a:spcBef>
                <a:spcPts val="0"/>
              </a:spcBef>
              <a:spcAft>
                <a:spcPts val="0"/>
              </a:spcAft>
            </a:pPr>
            <a:r>
              <a:rPr lang="en-US" sz="2400" b="1" dirty="0"/>
              <a:t>  |       └── No</a:t>
            </a:r>
          </a:p>
          <a:p>
            <a:pPr>
              <a:lnSpc>
                <a:spcPct val="100000"/>
              </a:lnSpc>
              <a:spcBef>
                <a:spcPts val="0"/>
              </a:spcBef>
              <a:spcAft>
                <a:spcPts val="0"/>
              </a:spcAft>
            </a:pPr>
            <a:r>
              <a:rPr lang="en-US" sz="2400" b="1" dirty="0"/>
              <a:t>  |</a:t>
            </a:r>
          </a:p>
          <a:p>
            <a:pPr>
              <a:lnSpc>
                <a:spcPct val="100000"/>
              </a:lnSpc>
              <a:spcBef>
                <a:spcPts val="0"/>
              </a:spcBef>
              <a:spcAft>
                <a:spcPts val="0"/>
              </a:spcAft>
            </a:pPr>
            <a:r>
              <a:rPr lang="en-US" sz="2400" b="1" dirty="0"/>
              <a:t>  ├── Simple large-scale batch?</a:t>
            </a:r>
          </a:p>
          <a:p>
            <a:pPr>
              <a:lnSpc>
                <a:spcPct val="100000"/>
              </a:lnSpc>
              <a:spcBef>
                <a:spcPts val="0"/>
              </a:spcBef>
              <a:spcAft>
                <a:spcPts val="0"/>
              </a:spcAft>
            </a:pPr>
            <a:r>
              <a:rPr lang="en-US" sz="2400" b="1" dirty="0"/>
              <a:t>  |       ├── Yes → </a:t>
            </a:r>
            <a:r>
              <a:rPr lang="en-US" sz="2400" b="1" dirty="0" err="1">
                <a:solidFill>
                  <a:srgbClr val="C00000"/>
                </a:solidFill>
              </a:rPr>
              <a:t>MapReduce</a:t>
            </a:r>
            <a:endParaRPr lang="en-US" sz="2400" b="1" dirty="0">
              <a:solidFill>
                <a:srgbClr val="C00000"/>
              </a:solidFill>
            </a:endParaRPr>
          </a:p>
          <a:p>
            <a:pPr>
              <a:lnSpc>
                <a:spcPct val="100000"/>
              </a:lnSpc>
              <a:spcBef>
                <a:spcPts val="0"/>
              </a:spcBef>
              <a:spcAft>
                <a:spcPts val="0"/>
              </a:spcAft>
            </a:pPr>
            <a:r>
              <a:rPr lang="en-US" sz="2400" b="1" dirty="0"/>
              <a:t>  |       └── No → </a:t>
            </a:r>
            <a:r>
              <a:rPr lang="en-US" sz="2400" b="1" dirty="0">
                <a:solidFill>
                  <a:srgbClr val="C00000"/>
                </a:solidFill>
              </a:rPr>
              <a:t>Spark</a:t>
            </a:r>
          </a:p>
          <a:p>
            <a:pPr>
              <a:lnSpc>
                <a:spcPct val="100000"/>
              </a:lnSpc>
              <a:spcBef>
                <a:spcPts val="0"/>
              </a:spcBef>
              <a:spcAft>
                <a:spcPts val="0"/>
              </a:spcAft>
            </a:pPr>
            <a:r>
              <a:rPr lang="en-US" sz="2400" b="1" dirty="0"/>
              <a:t>  |</a:t>
            </a:r>
          </a:p>
          <a:p>
            <a:pPr>
              <a:lnSpc>
                <a:spcPct val="100000"/>
              </a:lnSpc>
              <a:spcBef>
                <a:spcPts val="0"/>
              </a:spcBef>
              <a:spcAft>
                <a:spcPts val="0"/>
              </a:spcAft>
            </a:pPr>
            <a:r>
              <a:rPr lang="en-US" sz="2400" b="1" dirty="0"/>
              <a:t>  └── Interactive SQL?</a:t>
            </a:r>
          </a:p>
          <a:p>
            <a:pPr>
              <a:lnSpc>
                <a:spcPct val="100000"/>
              </a:lnSpc>
              <a:spcBef>
                <a:spcPts val="0"/>
              </a:spcBef>
              <a:spcAft>
                <a:spcPts val="0"/>
              </a:spcAft>
            </a:pPr>
            <a:r>
              <a:rPr lang="en-US" sz="2400" b="1" dirty="0"/>
              <a:t>          ├── Yes → </a:t>
            </a:r>
            <a:r>
              <a:rPr lang="en-US" sz="2400" b="1" dirty="0">
                <a:solidFill>
                  <a:srgbClr val="C00000"/>
                </a:solidFill>
              </a:rPr>
              <a:t>Hive / Presto</a:t>
            </a:r>
          </a:p>
        </p:txBody>
      </p:sp>
    </p:spTree>
    <p:extLst>
      <p:ext uri="{BB962C8B-B14F-4D97-AF65-F5344CB8AC3E}">
        <p14:creationId xmlns:p14="http://schemas.microsoft.com/office/powerpoint/2010/main" val="365625372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001486" y="-1"/>
            <a:ext cx="10305143" cy="6870095"/>
          </a:xfrm>
          <a:prstGeom prst="rect">
            <a:avLst/>
          </a:prstGeom>
        </p:spPr>
      </p:pic>
    </p:spTree>
    <p:extLst>
      <p:ext uri="{BB962C8B-B14F-4D97-AF65-F5344CB8AC3E}">
        <p14:creationId xmlns:p14="http://schemas.microsoft.com/office/powerpoint/2010/main" val="4288421126"/>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20414</TotalTime>
  <Words>4852</Words>
  <Application>Microsoft Office PowerPoint</Application>
  <PresentationFormat>Widescreen</PresentationFormat>
  <Paragraphs>985</Paragraphs>
  <Slides>51</Slides>
  <Notes>42</Notes>
  <HiddenSlides>2</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51</vt:i4>
      </vt:variant>
    </vt:vector>
  </HeadingPairs>
  <TitlesOfParts>
    <vt:vector size="61" baseType="lpstr">
      <vt:lpstr>Yu Mincho</vt:lpstr>
      <vt:lpstr>Arial</vt:lpstr>
      <vt:lpstr>Calibri</vt:lpstr>
      <vt:lpstr>Courier New</vt:lpstr>
      <vt:lpstr>Times New Roman</vt:lpstr>
      <vt:lpstr>Tw Cen MT</vt:lpstr>
      <vt:lpstr>Tw Cen MT Condensed</vt:lpstr>
      <vt:lpstr>Wingdings</vt:lpstr>
      <vt:lpstr>Wingdings 3</vt:lpstr>
      <vt:lpstr>Integral</vt:lpstr>
      <vt:lpstr>Mapreduce programming model </vt:lpstr>
      <vt:lpstr>outline</vt:lpstr>
      <vt:lpstr>Parallel Programming model</vt:lpstr>
      <vt:lpstr>Parallel Programming model types</vt:lpstr>
      <vt:lpstr>Parallel Programming model types</vt:lpstr>
      <vt:lpstr>Parallel Programming model types</vt:lpstr>
      <vt:lpstr>PowerPoint Presentation</vt:lpstr>
      <vt:lpstr>Task parallelism vs data parallelism </vt:lpstr>
      <vt:lpstr>Task parallelism vs data parallelism </vt:lpstr>
      <vt:lpstr>Task parallelism vs data parallelism </vt:lpstr>
      <vt:lpstr>Data locality </vt:lpstr>
      <vt:lpstr>Map reduce programming model </vt:lpstr>
      <vt:lpstr>Map reduce basic idea </vt:lpstr>
      <vt:lpstr>Mapreduce framework</vt:lpstr>
      <vt:lpstr>Detailed architecture and workflow</vt:lpstr>
      <vt:lpstr>PowerPoint Presentation</vt:lpstr>
      <vt:lpstr>inputSplit vs block </vt:lpstr>
      <vt:lpstr>Map phase - mapper</vt:lpstr>
      <vt:lpstr>Map phase - Combiner</vt:lpstr>
      <vt:lpstr>Map phase - Partitioner</vt:lpstr>
      <vt:lpstr>partitioning strategies</vt:lpstr>
      <vt:lpstr>Shuffling &amp; sorting</vt:lpstr>
      <vt:lpstr>Shuffling &amp; sorting</vt:lpstr>
      <vt:lpstr>reduce phase </vt:lpstr>
      <vt:lpstr>Record writer</vt:lpstr>
      <vt:lpstr>PowerPoint Presentation</vt:lpstr>
      <vt:lpstr>Mapreduce job execution workflow</vt:lpstr>
      <vt:lpstr>Mapreduce process </vt:lpstr>
      <vt:lpstr>Mapreduce job execution workflow</vt:lpstr>
      <vt:lpstr>Mapreduce job execution workflow</vt:lpstr>
      <vt:lpstr>PowerPoint Presentation</vt:lpstr>
      <vt:lpstr>Example 1: word count </vt:lpstr>
      <vt:lpstr>Example 1: word count </vt:lpstr>
      <vt:lpstr>Example 1: word count </vt:lpstr>
      <vt:lpstr>Example 1: word count </vt:lpstr>
      <vt:lpstr>Example 1: word count </vt:lpstr>
      <vt:lpstr>Example 1: word count </vt:lpstr>
      <vt:lpstr>PowerPoint Presentation</vt:lpstr>
      <vt:lpstr>Example 2: inverted index </vt:lpstr>
      <vt:lpstr>Example 2: inverted index </vt:lpstr>
      <vt:lpstr>Example 2: inverted index </vt:lpstr>
      <vt:lpstr>Example 2: inverted index </vt:lpstr>
      <vt:lpstr>Example 2: inverted index </vt:lpstr>
      <vt:lpstr>Example 3: Language model </vt:lpstr>
      <vt:lpstr>Example 3: Language model </vt:lpstr>
      <vt:lpstr>Example 4: join by sql query </vt:lpstr>
      <vt:lpstr>Fault tolerance in mapreduce</vt:lpstr>
      <vt:lpstr>Mapreduce performance </vt:lpstr>
      <vt:lpstr>mapreduce is not suitable for what?</vt:lpstr>
      <vt:lpstr>PowerPoint Presentation</vt:lpstr>
      <vt:lpstr>PowerPoint Presentation</vt:lpstr>
    </vt:vector>
  </TitlesOfParts>
  <Company>SACC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CSAI 253 – Machine Learning</dc:title>
  <dc:creator>Maher</dc:creator>
  <cp:lastModifiedBy>Mayada</cp:lastModifiedBy>
  <cp:revision>1347</cp:revision>
  <dcterms:created xsi:type="dcterms:W3CDTF">2024-09-16T13:46:05Z</dcterms:created>
  <dcterms:modified xsi:type="dcterms:W3CDTF">2026-03-09T08:49:43Z</dcterms:modified>
</cp:coreProperties>
</file>
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257" r:id="rId3"/>
    <p:sldId id="259" r:id="rId4"/>
    <p:sldId id="262" r:id="rId5"/>
    <p:sldId id="261" r:id="rId6"/>
    <p:sldId id="294" r:id="rId7"/>
    <p:sldId id="267" r:id="rId8"/>
    <p:sldId id="292" r:id="rId9"/>
    <p:sldId id="293" r:id="rId10"/>
    <p:sldId id="263" r:id="rId11"/>
    <p:sldId id="264" r:id="rId12"/>
    <p:sldId id="266" r:id="rId13"/>
    <p:sldId id="276" r:id="rId14"/>
    <p:sldId id="275" r:id="rId15"/>
    <p:sldId id="274" r:id="rId16"/>
    <p:sldId id="268" r:id="rId17"/>
    <p:sldId id="278" r:id="rId18"/>
    <p:sldId id="277" r:id="rId19"/>
    <p:sldId id="296" r:id="rId20"/>
    <p:sldId id="297" r:id="rId21"/>
    <p:sldId id="282" r:id="rId22"/>
    <p:sldId id="283" r:id="rId23"/>
    <p:sldId id="300" r:id="rId24"/>
    <p:sldId id="299" r:id="rId25"/>
    <p:sldId id="305" r:id="rId26"/>
    <p:sldId id="308" r:id="rId27"/>
    <p:sldId id="309" r:id="rId28"/>
    <p:sldId id="310" r:id="rId29"/>
    <p:sldId id="269" r:id="rId30"/>
    <p:sldId id="285" r:id="rId31"/>
    <p:sldId id="295" r:id="rId32"/>
    <p:sldId id="284" r:id="rId33"/>
    <p:sldId id="286" r:id="rId34"/>
    <p:sldId id="311" r:id="rId35"/>
    <p:sldId id="312" r:id="rId36"/>
    <p:sldId id="301" r:id="rId37"/>
    <p:sldId id="304" r:id="rId38"/>
    <p:sldId id="313" r:id="rId39"/>
    <p:sldId id="306" r:id="rId40"/>
    <p:sldId id="307" r:id="rId41"/>
    <p:sldId id="271" r:id="rId42"/>
    <p:sldId id="289" r:id="rId43"/>
    <p:sldId id="290" r:id="rId44"/>
    <p:sldId id="291" r:id="rId45"/>
    <p:sldId id="302" r:id="rId46"/>
    <p:sldId id="303" r:id="rId47"/>
    <p:sldId id="270" r:id="rId48"/>
    <p:sldId id="280" r:id="rId49"/>
    <p:sldId id="287" r:id="rId50"/>
    <p:sldId id="26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6330" autoAdjust="0"/>
  </p:normalViewPr>
  <p:slideViewPr>
    <p:cSldViewPr snapToGrid="0">
      <p:cViewPr varScale="1">
        <p:scale>
          <a:sx n="51" d="100"/>
          <a:sy n="51" d="100"/>
        </p:scale>
        <p:origin x="696" y="52"/>
      </p:cViewPr>
      <p:guideLst/>
    </p:cSldViewPr>
  </p:slideViewPr>
  <p:notesTextViewPr>
    <p:cViewPr>
      <p:scale>
        <a:sx n="1" d="1"/>
        <a:sy n="1" d="1"/>
      </p:scale>
      <p:origin x="0" y="0"/>
    </p:cViewPr>
  </p:notesTextViewPr>
  <p:sorterViewPr>
    <p:cViewPr>
      <p:scale>
        <a:sx n="100" d="100"/>
        <a:sy n="100" d="100"/>
      </p:scale>
      <p:origin x="0" y="-54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11D21-B03E-47ED-B043-AFEDB84E8537}"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63088-F16C-4FAF-8BB4-7C6C9F3D1EC9}" type="slidenum">
              <a:rPr lang="en-US" smtClean="0"/>
              <a:t>‹#›</a:t>
            </a:fld>
            <a:endParaRPr lang="en-US"/>
          </a:p>
        </p:txBody>
      </p:sp>
    </p:spTree>
    <p:extLst>
      <p:ext uri="{BB962C8B-B14F-4D97-AF65-F5344CB8AC3E}">
        <p14:creationId xmlns:p14="http://schemas.microsoft.com/office/powerpoint/2010/main" val="94631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ata-flair.training/blogs/hadoop-mapreduce-job-execution-flow/"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ata-flair.training/blogs/machine-learning-tutoria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a:t>
            </a:fld>
            <a:endParaRPr lang="en-US"/>
          </a:p>
        </p:txBody>
      </p:sp>
    </p:spTree>
    <p:extLst>
      <p:ext uri="{BB962C8B-B14F-4D97-AF65-F5344CB8AC3E}">
        <p14:creationId xmlns:p14="http://schemas.microsoft.com/office/powerpoint/2010/main" val="1522461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a:t>
            </a:fld>
            <a:endParaRPr lang="en-US"/>
          </a:p>
        </p:txBody>
      </p:sp>
    </p:spTree>
    <p:extLst>
      <p:ext uri="{BB962C8B-B14F-4D97-AF65-F5344CB8AC3E}">
        <p14:creationId xmlns:p14="http://schemas.microsoft.com/office/powerpoint/2010/main" val="115452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Developed by </a:t>
            </a:r>
            <a:r>
              <a:rPr lang="en-US" b="1" dirty="0" smtClean="0"/>
              <a:t>Apache Software Foundation</a:t>
            </a:r>
            <a:endParaRPr lang="en-US" dirty="0" smtClean="0"/>
          </a:p>
          <a:p>
            <a:r>
              <a:rPr lang="en-US" dirty="0" smtClean="0"/>
              <a:t>Created by </a:t>
            </a:r>
            <a:r>
              <a:rPr lang="en-US" b="1" dirty="0" smtClean="0"/>
              <a:t>Doug Cutting</a:t>
            </a:r>
            <a:endParaRPr lang="en-US" dirty="0" smtClean="0"/>
          </a:p>
          <a:p>
            <a:r>
              <a:rPr lang="en-US" dirty="0" smtClean="0"/>
              <a:t>Enables </a:t>
            </a:r>
            <a:r>
              <a:rPr lang="en-US" b="1" dirty="0" smtClean="0"/>
              <a:t>scalable and fault-tolerant Big Data analytics</a:t>
            </a:r>
            <a:endParaRPr lang="en-US" dirty="0" smtClean="0"/>
          </a:p>
          <a:p>
            <a:r>
              <a:rPr lang="en-US" dirty="0" smtClean="0"/>
              <a:t>Available through industry distributions:</a:t>
            </a:r>
          </a:p>
          <a:p>
            <a:r>
              <a:rPr lang="en-US" dirty="0" smtClean="0"/>
              <a:t>Cloudera</a:t>
            </a:r>
          </a:p>
          <a:p>
            <a:r>
              <a:rPr lang="en-US" dirty="0" smtClean="0"/>
              <a:t>Hortonworks</a:t>
            </a:r>
          </a:p>
          <a:p>
            <a:r>
              <a:rPr lang="en-US" dirty="0" smtClean="0"/>
              <a:t>IBM </a:t>
            </a:r>
            <a:r>
              <a:rPr lang="en-US" dirty="0" err="1" smtClean="0"/>
              <a:t>BigInsights</a:t>
            </a:r>
            <a:endParaRPr lang="en-US" dirty="0" smtClean="0"/>
          </a:p>
          <a:p>
            <a:r>
              <a:rPr lang="en-US" dirty="0" err="1" smtClean="0"/>
              <a:t>MapR</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a:t>
            </a:fld>
            <a:endParaRPr lang="en-US"/>
          </a:p>
        </p:txBody>
      </p:sp>
    </p:spTree>
    <p:extLst>
      <p:ext uri="{BB962C8B-B14F-4D97-AF65-F5344CB8AC3E}">
        <p14:creationId xmlns:p14="http://schemas.microsoft.com/office/powerpoint/2010/main" val="74826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Developed by </a:t>
            </a:r>
            <a:r>
              <a:rPr lang="en-US" b="1" dirty="0" smtClean="0"/>
              <a:t>Apache Software Foundation</a:t>
            </a:r>
            <a:endParaRPr lang="en-US" dirty="0" smtClean="0"/>
          </a:p>
          <a:p>
            <a:r>
              <a:rPr lang="en-US" dirty="0" smtClean="0"/>
              <a:t>Created by </a:t>
            </a:r>
            <a:r>
              <a:rPr lang="en-US" b="1" dirty="0" smtClean="0"/>
              <a:t>Doug Cutting</a:t>
            </a:r>
            <a:endParaRPr lang="en-US" dirty="0" smtClean="0"/>
          </a:p>
          <a:p>
            <a:r>
              <a:rPr lang="en-US" dirty="0" smtClean="0"/>
              <a:t>Enables </a:t>
            </a:r>
            <a:r>
              <a:rPr lang="en-US" b="1" dirty="0" smtClean="0"/>
              <a:t>scalable and fault-tolerant Big Data analytics</a:t>
            </a:r>
            <a:endParaRPr lang="en-US" dirty="0" smtClean="0"/>
          </a:p>
          <a:p>
            <a:r>
              <a:rPr lang="en-US" dirty="0" smtClean="0"/>
              <a:t>Available through industry distributions:</a:t>
            </a:r>
          </a:p>
          <a:p>
            <a:r>
              <a:rPr lang="en-US" dirty="0" smtClean="0"/>
              <a:t>Cloudera</a:t>
            </a:r>
          </a:p>
          <a:p>
            <a:r>
              <a:rPr lang="en-US" dirty="0" smtClean="0"/>
              <a:t>Hortonworks</a:t>
            </a:r>
          </a:p>
          <a:p>
            <a:r>
              <a:rPr lang="en-US" dirty="0" smtClean="0"/>
              <a:t>IBM </a:t>
            </a:r>
            <a:r>
              <a:rPr lang="en-US" dirty="0" err="1" smtClean="0"/>
              <a:t>BigInsights</a:t>
            </a:r>
            <a:endParaRPr lang="en-US" dirty="0" smtClean="0"/>
          </a:p>
          <a:p>
            <a:r>
              <a:rPr lang="en-US" dirty="0" err="1" smtClean="0"/>
              <a:t>MapR</a:t>
            </a:r>
            <a:endParaRPr lang="en-US" dirty="0" smtClean="0"/>
          </a:p>
          <a:p>
            <a:endParaRPr lang="en-US" dirty="0" smtClean="0"/>
          </a:p>
          <a:p>
            <a:endParaRPr lang="en-US" dirty="0" smtClean="0"/>
          </a:p>
          <a:p>
            <a:r>
              <a:rPr lang="en-US" dirty="0" smtClean="0"/>
              <a:t>YARN Allows multiple processing frameworks (</a:t>
            </a:r>
            <a:r>
              <a:rPr lang="en-US" dirty="0" err="1" smtClean="0"/>
              <a:t>MapReduce</a:t>
            </a:r>
            <a:r>
              <a:rPr lang="en-US" dirty="0" smtClean="0"/>
              <a:t>, Spark, etc.) to share the same cluster</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a:t>
            </a:fld>
            <a:endParaRPr lang="en-US"/>
          </a:p>
        </p:txBody>
      </p:sp>
    </p:spTree>
    <p:extLst>
      <p:ext uri="{BB962C8B-B14F-4D97-AF65-F5344CB8AC3E}">
        <p14:creationId xmlns:p14="http://schemas.microsoft.com/office/powerpoint/2010/main" val="1308207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a:t>
            </a:r>
            <a:r>
              <a:rPr lang="en-US" dirty="0" err="1" smtClean="0"/>
              <a:t>source:https</a:t>
            </a:r>
            <a:r>
              <a:rPr lang="en-US" dirty="0" smtClean="0"/>
              <a:t>://data-</a:t>
            </a:r>
            <a:r>
              <a:rPr lang="en-US" dirty="0" err="1" smtClean="0"/>
              <a:t>flair.training</a:t>
            </a:r>
            <a:r>
              <a:rPr lang="en-US" dirty="0" smtClean="0"/>
              <a:t>/blogs/</a:t>
            </a:r>
            <a:r>
              <a:rPr lang="en-US" dirty="0" err="1" smtClean="0"/>
              <a:t>hadoop</a:t>
            </a:r>
            <a:r>
              <a:rPr lang="en-US" dirty="0" smtClean="0"/>
              <a:t>-ecosystem/</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Hadoop maps perfectly to the Big Data architecture: it ingests data (</a:t>
            </a:r>
            <a:r>
              <a:rPr lang="en-US" i="1" dirty="0" err="1" smtClean="0"/>
              <a:t>Sqoop</a:t>
            </a:r>
            <a:r>
              <a:rPr lang="en-US" i="1" dirty="0" smtClean="0"/>
              <a:t>/Flume), stores it at scale (HDFS/</a:t>
            </a:r>
            <a:r>
              <a:rPr lang="en-US" i="1" dirty="0" err="1" smtClean="0"/>
              <a:t>HBase</a:t>
            </a:r>
            <a:r>
              <a:rPr lang="en-US" i="1" dirty="0" smtClean="0"/>
              <a:t>), processes it in parallel (</a:t>
            </a:r>
            <a:r>
              <a:rPr lang="en-US" i="1" dirty="0" err="1" smtClean="0"/>
              <a:t>MapReduce</a:t>
            </a:r>
            <a:r>
              <a:rPr lang="en-US" i="1" dirty="0" smtClean="0"/>
              <a:t>/Hive), manages resources (YARN), and delivers insights for analytics.</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5</a:t>
            </a:fld>
            <a:endParaRPr lang="en-US"/>
          </a:p>
        </p:txBody>
      </p:sp>
    </p:spTree>
    <p:extLst>
      <p:ext uri="{BB962C8B-B14F-4D97-AF65-F5344CB8AC3E}">
        <p14:creationId xmlns:p14="http://schemas.microsoft.com/office/powerpoint/2010/main" val="1795090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Developed by </a:t>
            </a:r>
            <a:r>
              <a:rPr lang="en-US" b="1" dirty="0" smtClean="0"/>
              <a:t>Apache Software Foundation</a:t>
            </a:r>
            <a:endParaRPr lang="en-US" dirty="0" smtClean="0"/>
          </a:p>
          <a:p>
            <a:r>
              <a:rPr lang="en-US" dirty="0" smtClean="0"/>
              <a:t>Created by </a:t>
            </a:r>
            <a:r>
              <a:rPr lang="en-US" b="1" dirty="0" smtClean="0"/>
              <a:t>Doug Cutting</a:t>
            </a:r>
            <a:endParaRPr lang="en-US" dirty="0" smtClean="0"/>
          </a:p>
          <a:p>
            <a:r>
              <a:rPr lang="en-US" dirty="0" smtClean="0"/>
              <a:t>Enables </a:t>
            </a:r>
            <a:r>
              <a:rPr lang="en-US" b="1" dirty="0" smtClean="0"/>
              <a:t>scalable and fault-tolerant Big Data analytics</a:t>
            </a:r>
            <a:endParaRPr lang="en-US" dirty="0" smtClean="0"/>
          </a:p>
          <a:p>
            <a:r>
              <a:rPr lang="en-US" dirty="0" smtClean="0"/>
              <a:t>Available through industry distributions:</a:t>
            </a:r>
          </a:p>
          <a:p>
            <a:r>
              <a:rPr lang="en-US" dirty="0" smtClean="0"/>
              <a:t>Cloudera</a:t>
            </a:r>
          </a:p>
          <a:p>
            <a:r>
              <a:rPr lang="en-US" dirty="0" smtClean="0"/>
              <a:t>Hortonworks</a:t>
            </a:r>
          </a:p>
          <a:p>
            <a:r>
              <a:rPr lang="en-US" dirty="0" smtClean="0"/>
              <a:t>IBM </a:t>
            </a:r>
            <a:r>
              <a:rPr lang="en-US" dirty="0" err="1" smtClean="0"/>
              <a:t>BigInsights</a:t>
            </a:r>
            <a:endParaRPr lang="en-US" dirty="0" smtClean="0"/>
          </a:p>
          <a:p>
            <a:r>
              <a:rPr lang="en-US" dirty="0" err="1" smtClean="0"/>
              <a:t>MapR</a:t>
            </a:r>
            <a:endParaRPr lang="en-US" dirty="0" smtClean="0"/>
          </a:p>
          <a:p>
            <a:endParaRPr lang="en-US" dirty="0" smtClean="0"/>
          </a:p>
          <a:p>
            <a:endParaRPr lang="en-US" dirty="0" smtClean="0"/>
          </a:p>
          <a:p>
            <a:r>
              <a:rPr lang="en-US" dirty="0" smtClean="0"/>
              <a:t>YARN Allows multiple processing frameworks (</a:t>
            </a:r>
            <a:r>
              <a:rPr lang="en-US" dirty="0" err="1" smtClean="0"/>
              <a:t>MapReduce</a:t>
            </a:r>
            <a:r>
              <a:rPr lang="en-US" dirty="0" smtClean="0"/>
              <a:t>, Spark, etc.) to share the same cluster</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6</a:t>
            </a:fld>
            <a:endParaRPr lang="en-US"/>
          </a:p>
        </p:txBody>
      </p:sp>
    </p:spTree>
    <p:extLst>
      <p:ext uri="{BB962C8B-B14F-4D97-AF65-F5344CB8AC3E}">
        <p14:creationId xmlns:p14="http://schemas.microsoft.com/office/powerpoint/2010/main" val="903924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Hive : </a:t>
            </a:r>
            <a:r>
              <a:rPr lang="en-US" sz="1200" kern="1200" dirty="0" smtClean="0">
                <a:solidFill>
                  <a:schemeClr val="tx1"/>
                </a:solidFill>
                <a:effectLst/>
                <a:latin typeface="+mn-lt"/>
                <a:ea typeface="+mn-ea"/>
                <a:cs typeface="+mn-cs"/>
              </a:rPr>
              <a:t>an open source data warehouse system for querying and analyzing large datasets stored in Hadoop files. Hive do three main functions: </a:t>
            </a:r>
            <a:r>
              <a:rPr lang="en-US" sz="1200" i="1" kern="1200" dirty="0" smtClean="0">
                <a:solidFill>
                  <a:schemeClr val="tx1"/>
                </a:solidFill>
                <a:effectLst/>
                <a:latin typeface="+mn-lt"/>
                <a:ea typeface="+mn-ea"/>
                <a:cs typeface="+mn-cs"/>
              </a:rPr>
              <a:t>data summarization, query, and analysis</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Hive use language called </a:t>
            </a:r>
            <a:r>
              <a:rPr lang="en-US" sz="1200" b="1" kern="1200" dirty="0" err="1" smtClean="0">
                <a:solidFill>
                  <a:schemeClr val="tx1"/>
                </a:solidFill>
                <a:effectLst/>
                <a:latin typeface="+mn-lt"/>
                <a:ea typeface="+mn-ea"/>
                <a:cs typeface="+mn-cs"/>
              </a:rPr>
              <a:t>HiveQL</a:t>
            </a:r>
            <a:r>
              <a:rPr lang="en-US" dirty="0" smtClean="0">
                <a:effectLst/>
              </a:rPr>
              <a:t> (HQL), which is similar to SQL. </a:t>
            </a:r>
            <a:r>
              <a:rPr lang="en-US" dirty="0" err="1" smtClean="0">
                <a:effectLst/>
              </a:rPr>
              <a:t>HiveQL</a:t>
            </a:r>
            <a:r>
              <a:rPr lang="en-US" dirty="0" smtClean="0">
                <a:effectLst/>
              </a:rPr>
              <a:t> automatically translates SQL-like queries into </a:t>
            </a:r>
            <a:r>
              <a:rPr lang="en-US" sz="1200" b="1" u="sng" kern="1200" dirty="0" err="1" smtClean="0">
                <a:solidFill>
                  <a:schemeClr val="tx1"/>
                </a:solidFill>
                <a:effectLst/>
                <a:latin typeface="+mn-lt"/>
                <a:ea typeface="+mn-ea"/>
                <a:cs typeface="+mn-cs"/>
                <a:hlinkClick r:id="rId3"/>
              </a:rPr>
              <a:t>MapReduce</a:t>
            </a:r>
            <a:r>
              <a:rPr lang="en-US" sz="1200" b="1" u="sng" kern="1200" dirty="0" smtClean="0">
                <a:solidFill>
                  <a:schemeClr val="tx1"/>
                </a:solidFill>
                <a:effectLst/>
                <a:latin typeface="+mn-lt"/>
                <a:ea typeface="+mn-ea"/>
                <a:cs typeface="+mn-cs"/>
                <a:hlinkClick r:id="rId3"/>
              </a:rPr>
              <a:t> jobs</a:t>
            </a:r>
            <a:r>
              <a:rPr lang="en-US" sz="1200" kern="1200" dirty="0" smtClean="0">
                <a:solidFill>
                  <a:schemeClr val="tx1"/>
                </a:solidFill>
                <a:effectLst/>
                <a:latin typeface="+mn-lt"/>
                <a:ea typeface="+mn-ea"/>
                <a:cs typeface="+mn-cs"/>
              </a:rPr>
              <a:t> which will execute on Hadoop. </a:t>
            </a:r>
          </a:p>
          <a:p>
            <a:endParaRPr lang="en-US" sz="1200" kern="1200" dirty="0" smtClean="0">
              <a:solidFill>
                <a:schemeClr val="tx1"/>
              </a:solidFill>
              <a:effectLst/>
              <a:latin typeface="+mn-lt"/>
              <a:ea typeface="+mn-ea"/>
              <a:cs typeface="+mn-cs"/>
            </a:endParaRPr>
          </a:p>
          <a:p>
            <a:pPr fontAlgn="base"/>
            <a:r>
              <a:rPr lang="en-US" sz="1200" b="1" kern="1200" dirty="0" err="1" smtClean="0">
                <a:solidFill>
                  <a:schemeClr val="tx1"/>
                </a:solidFill>
                <a:effectLst/>
                <a:latin typeface="+mn-lt"/>
                <a:ea typeface="+mn-ea"/>
                <a:cs typeface="+mn-cs"/>
              </a:rPr>
              <a:t>HBase</a:t>
            </a:r>
            <a:endParaRPr lang="en-US" sz="1200" b="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 distributed database that was designed to store structured data in tables that could have billions of row and millions of columns. </a:t>
            </a:r>
            <a:r>
              <a:rPr lang="en-US" sz="1200" kern="1200" dirty="0" err="1" smtClean="0">
                <a:solidFill>
                  <a:schemeClr val="tx1"/>
                </a:solidFill>
                <a:effectLst/>
                <a:latin typeface="+mn-lt"/>
                <a:ea typeface="+mn-ea"/>
                <a:cs typeface="+mn-cs"/>
              </a:rPr>
              <a:t>HBase</a:t>
            </a:r>
            <a:r>
              <a:rPr lang="en-US" sz="1200" kern="1200" dirty="0" smtClean="0">
                <a:solidFill>
                  <a:schemeClr val="tx1"/>
                </a:solidFill>
                <a:effectLst/>
                <a:latin typeface="+mn-lt"/>
                <a:ea typeface="+mn-ea"/>
                <a:cs typeface="+mn-cs"/>
              </a:rPr>
              <a:t> is scalable, distributed, and NoSQL database that is built on top of HDFS. </a:t>
            </a:r>
            <a:r>
              <a:rPr lang="en-US" sz="1200" kern="1200" dirty="0" err="1" smtClean="0">
                <a:solidFill>
                  <a:schemeClr val="tx1"/>
                </a:solidFill>
                <a:effectLst/>
                <a:latin typeface="+mn-lt"/>
                <a:ea typeface="+mn-ea"/>
                <a:cs typeface="+mn-cs"/>
              </a:rPr>
              <a:t>HBase</a:t>
            </a:r>
            <a:r>
              <a:rPr lang="en-US" sz="1200" kern="1200" dirty="0" smtClean="0">
                <a:solidFill>
                  <a:schemeClr val="tx1"/>
                </a:solidFill>
                <a:effectLst/>
                <a:latin typeface="+mn-lt"/>
                <a:ea typeface="+mn-ea"/>
                <a:cs typeface="+mn-cs"/>
              </a:rPr>
              <a:t>, provide real-time access to read or write data in HDFS.</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7</a:t>
            </a:fld>
            <a:endParaRPr lang="en-US"/>
          </a:p>
        </p:txBody>
      </p:sp>
    </p:spTree>
    <p:extLst>
      <p:ext uri="{BB962C8B-B14F-4D97-AF65-F5344CB8AC3E}">
        <p14:creationId xmlns:p14="http://schemas.microsoft.com/office/powerpoint/2010/main" val="3227200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PIG: </a:t>
            </a:r>
            <a:r>
              <a:rPr lang="en-US" sz="1200" kern="1200" dirty="0" smtClean="0">
                <a:solidFill>
                  <a:schemeClr val="tx1"/>
                </a:solidFill>
                <a:effectLst/>
                <a:latin typeface="+mn-lt"/>
                <a:ea typeface="+mn-ea"/>
                <a:cs typeface="+mn-cs"/>
              </a:rPr>
              <a:t>a high-level language platform for analyzing and querying huge dataset that are stored in HDFS. Pig as a component of Hadoop Ecosystem uses </a:t>
            </a:r>
            <a:r>
              <a:rPr lang="en-US" sz="1200" b="1" i="1" kern="1200" dirty="0" err="1" smtClean="0">
                <a:solidFill>
                  <a:schemeClr val="tx1"/>
                </a:solidFill>
                <a:effectLst/>
                <a:latin typeface="+mn-lt"/>
                <a:ea typeface="+mn-ea"/>
                <a:cs typeface="+mn-cs"/>
              </a:rPr>
              <a:t>PigLatin</a:t>
            </a:r>
            <a:r>
              <a:rPr lang="en-US" sz="1200" b="1" i="1"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language.</a:t>
            </a:r>
          </a:p>
          <a:p>
            <a:r>
              <a:rPr lang="en-US" sz="1200" kern="1200" dirty="0" smtClean="0">
                <a:solidFill>
                  <a:schemeClr val="tx1"/>
                </a:solidFill>
                <a:effectLst/>
                <a:latin typeface="+mn-lt"/>
                <a:ea typeface="+mn-ea"/>
                <a:cs typeface="+mn-cs"/>
              </a:rPr>
              <a:t>loads the data, applies the required filters and dumps the data in the required format. For Programs execution, pig requires Java runtime environment. </a:t>
            </a:r>
          </a:p>
          <a:p>
            <a:endParaRPr lang="en-US" sz="1200" kern="1200" dirty="0" smtClean="0">
              <a:solidFill>
                <a:schemeClr val="tx1"/>
              </a:solidFill>
              <a:effectLst/>
              <a:latin typeface="+mn-lt"/>
              <a:ea typeface="+mn-ea"/>
              <a:cs typeface="+mn-cs"/>
            </a:endParaRPr>
          </a:p>
          <a:p>
            <a:pPr fontAlgn="base"/>
            <a:r>
              <a:rPr lang="en-US" sz="1200" b="1" kern="1200" dirty="0" smtClean="0">
                <a:solidFill>
                  <a:schemeClr val="tx1"/>
                </a:solidFill>
                <a:effectLst/>
                <a:latin typeface="+mn-lt"/>
                <a:ea typeface="+mn-ea"/>
                <a:cs typeface="+mn-cs"/>
              </a:rPr>
              <a:t>Apache </a:t>
            </a:r>
            <a:r>
              <a:rPr lang="en-US" sz="1200" b="1" kern="1200" dirty="0" err="1" smtClean="0">
                <a:solidFill>
                  <a:schemeClr val="tx1"/>
                </a:solidFill>
                <a:effectLst/>
                <a:latin typeface="+mn-lt"/>
                <a:ea typeface="+mn-ea"/>
                <a:cs typeface="+mn-cs"/>
              </a:rPr>
              <a:t>Sqoop</a:t>
            </a:r>
            <a:endParaRPr lang="en-US" sz="1200" b="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imports data from external sources into related Hadoop ecosystem components like HDFS, </a:t>
            </a:r>
            <a:r>
              <a:rPr lang="en-US" sz="1200" kern="1200" dirty="0" err="1" smtClean="0">
                <a:solidFill>
                  <a:schemeClr val="tx1"/>
                </a:solidFill>
                <a:effectLst/>
                <a:latin typeface="+mn-lt"/>
                <a:ea typeface="+mn-ea"/>
                <a:cs typeface="+mn-cs"/>
              </a:rPr>
              <a:t>Hbase</a:t>
            </a:r>
            <a:r>
              <a:rPr lang="en-US" sz="1200" kern="1200" dirty="0" smtClean="0">
                <a:solidFill>
                  <a:schemeClr val="tx1"/>
                </a:solidFill>
                <a:effectLst/>
                <a:latin typeface="+mn-lt"/>
                <a:ea typeface="+mn-ea"/>
                <a:cs typeface="+mn-cs"/>
              </a:rPr>
              <a:t> or Hive. It also exports data from Hadoop to other external sources. </a:t>
            </a:r>
            <a:r>
              <a:rPr lang="en-US" sz="1200" kern="1200" dirty="0" err="1" smtClean="0">
                <a:solidFill>
                  <a:schemeClr val="tx1"/>
                </a:solidFill>
                <a:effectLst/>
                <a:latin typeface="+mn-lt"/>
                <a:ea typeface="+mn-ea"/>
                <a:cs typeface="+mn-cs"/>
              </a:rPr>
              <a:t>Sqoop</a:t>
            </a:r>
            <a:r>
              <a:rPr lang="en-US" sz="1200" kern="1200" dirty="0" smtClean="0">
                <a:solidFill>
                  <a:schemeClr val="tx1"/>
                </a:solidFill>
                <a:effectLst/>
                <a:latin typeface="+mn-lt"/>
                <a:ea typeface="+mn-ea"/>
                <a:cs typeface="+mn-cs"/>
              </a:rPr>
              <a:t> works with relational databases such as </a:t>
            </a:r>
            <a:r>
              <a:rPr lang="en-US" sz="1200" kern="1200" dirty="0" err="1" smtClean="0">
                <a:solidFill>
                  <a:schemeClr val="tx1"/>
                </a:solidFill>
                <a:effectLst/>
                <a:latin typeface="+mn-lt"/>
                <a:ea typeface="+mn-ea"/>
                <a:cs typeface="+mn-cs"/>
              </a:rPr>
              <a:t>teradata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Netezza</a:t>
            </a:r>
            <a:r>
              <a:rPr lang="en-US" sz="1200" kern="1200" dirty="0" smtClean="0">
                <a:solidFill>
                  <a:schemeClr val="tx1"/>
                </a:solidFill>
                <a:effectLst/>
                <a:latin typeface="+mn-lt"/>
                <a:ea typeface="+mn-ea"/>
                <a:cs typeface="+mn-cs"/>
              </a:rPr>
              <a:t>, oracle, MySQL.</a:t>
            </a:r>
          </a:p>
          <a:p>
            <a:endParaRPr lang="en-US" dirty="0" smtClean="0"/>
          </a:p>
          <a:p>
            <a:pPr fontAlgn="base"/>
            <a:r>
              <a:rPr lang="en-US" sz="1200" b="1" kern="1200" dirty="0" smtClean="0">
                <a:solidFill>
                  <a:schemeClr val="tx1"/>
                </a:solidFill>
                <a:effectLst/>
                <a:latin typeface="+mn-lt"/>
                <a:ea typeface="+mn-ea"/>
                <a:cs typeface="+mn-cs"/>
              </a:rPr>
              <a:t>Apache Flume</a:t>
            </a:r>
          </a:p>
          <a:p>
            <a:r>
              <a:rPr lang="en-US" sz="1200" kern="1200" dirty="0" smtClean="0">
                <a:solidFill>
                  <a:schemeClr val="tx1"/>
                </a:solidFill>
                <a:effectLst/>
                <a:latin typeface="+mn-lt"/>
                <a:ea typeface="+mn-ea"/>
                <a:cs typeface="+mn-cs"/>
              </a:rPr>
              <a:t>efficiently collects, aggregate and moves a large amount of data from its origin and sending it back to HDFS. It is fault tolerant and reliable mechanism.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Using Flume, we can get the data from multiple servers immediately into </a:t>
            </a:r>
            <a:r>
              <a:rPr lang="en-US" sz="1200" kern="1200" dirty="0" err="1" smtClean="0">
                <a:solidFill>
                  <a:schemeClr val="tx1"/>
                </a:solidFill>
                <a:effectLst/>
                <a:latin typeface="+mn-lt"/>
                <a:ea typeface="+mn-ea"/>
                <a:cs typeface="+mn-cs"/>
              </a:rPr>
              <a:t>hadoop</a:t>
            </a:r>
            <a:r>
              <a:rPr lang="en-US" sz="1200" kern="1200" dirty="0" smtClean="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8</a:t>
            </a:fld>
            <a:endParaRPr lang="en-US"/>
          </a:p>
        </p:txBody>
      </p:sp>
    </p:spTree>
    <p:extLst>
      <p:ext uri="{BB962C8B-B14F-4D97-AF65-F5344CB8AC3E}">
        <p14:creationId xmlns:p14="http://schemas.microsoft.com/office/powerpoint/2010/main" val="2184421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kern="1200" dirty="0" smtClean="0">
                <a:solidFill>
                  <a:schemeClr val="tx1"/>
                </a:solidFill>
                <a:effectLst/>
                <a:latin typeface="+mn-lt"/>
                <a:ea typeface="+mn-ea"/>
                <a:cs typeface="+mn-cs"/>
              </a:rPr>
              <a:t>Apache Mahout</a:t>
            </a:r>
          </a:p>
          <a:p>
            <a:r>
              <a:rPr lang="en-US" sz="1200" kern="1200" dirty="0" smtClean="0">
                <a:solidFill>
                  <a:schemeClr val="tx1"/>
                </a:solidFill>
                <a:effectLst/>
                <a:latin typeface="+mn-lt"/>
                <a:ea typeface="+mn-ea"/>
                <a:cs typeface="+mn-cs"/>
              </a:rPr>
              <a:t>open source framework for creating scalable </a:t>
            </a:r>
            <a:r>
              <a:rPr lang="en-US" sz="1200" b="1" u="none" strike="noStrike" kern="1200" dirty="0" smtClean="0">
                <a:solidFill>
                  <a:schemeClr val="tx1"/>
                </a:solidFill>
                <a:effectLst/>
                <a:latin typeface="+mn-lt"/>
                <a:ea typeface="+mn-ea"/>
                <a:cs typeface="+mn-cs"/>
                <a:hlinkClick r:id="rId3"/>
              </a:rPr>
              <a:t>machine learning</a:t>
            </a:r>
            <a:r>
              <a:rPr lang="en-US" sz="1200" u="sng" kern="1200" dirty="0" smtClean="0">
                <a:solidFill>
                  <a:schemeClr val="tx1"/>
                </a:solidFill>
                <a:effectLst/>
                <a:latin typeface="+mn-lt"/>
                <a:ea typeface="+mn-ea"/>
                <a:cs typeface="+mn-cs"/>
                <a:hlinkClick r:id="rId3"/>
              </a:rPr>
              <a:t> </a:t>
            </a:r>
            <a:r>
              <a:rPr lang="en-US" sz="1200" kern="1200" dirty="0" smtClean="0">
                <a:solidFill>
                  <a:schemeClr val="tx1"/>
                </a:solidFill>
                <a:effectLst/>
                <a:latin typeface="+mn-lt"/>
                <a:ea typeface="+mn-ea"/>
                <a:cs typeface="+mn-cs"/>
              </a:rPr>
              <a:t>algorithm and data mining library. Once data is stored in Hadoop HDFS, mahout provides the data science tools to automatically find meaningful patterns in those big data sets.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9</a:t>
            </a:fld>
            <a:endParaRPr lang="en-US"/>
          </a:p>
        </p:txBody>
      </p:sp>
    </p:spTree>
    <p:extLst>
      <p:ext uri="{BB962C8B-B14F-4D97-AF65-F5344CB8AC3E}">
        <p14:creationId xmlns:p14="http://schemas.microsoft.com/office/powerpoint/2010/main" val="2572291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10</a:t>
            </a:fld>
            <a:endParaRPr lang="en-US"/>
          </a:p>
        </p:txBody>
      </p:sp>
    </p:spTree>
    <p:extLst>
      <p:ext uri="{BB962C8B-B14F-4D97-AF65-F5344CB8AC3E}">
        <p14:creationId xmlns:p14="http://schemas.microsoft.com/office/powerpoint/2010/main" val="2710498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u="none" strike="noStrike" kern="1200" baseline="0" dirty="0" smtClean="0">
                <a:solidFill>
                  <a:schemeClr val="tx1"/>
                </a:solidFill>
                <a:latin typeface="+mn-lt"/>
                <a:ea typeface="+mn-ea"/>
                <a:cs typeface="+mn-cs"/>
              </a:rPr>
              <a:t>Very large files</a:t>
            </a:r>
          </a:p>
          <a:p>
            <a:r>
              <a:rPr lang="en-US" sz="1200" b="0" i="0" u="none" strike="noStrike" kern="1200" baseline="0" dirty="0" smtClean="0">
                <a:solidFill>
                  <a:schemeClr val="tx1"/>
                </a:solidFill>
                <a:latin typeface="+mn-lt"/>
                <a:ea typeface="+mn-ea"/>
                <a:cs typeface="+mn-cs"/>
              </a:rPr>
              <a:t>“Very large” in this context means files that are hundreds of megabytes, gigabytes,</a:t>
            </a:r>
          </a:p>
          <a:p>
            <a:r>
              <a:rPr lang="en-US" sz="1200" b="0" i="0" u="none" strike="noStrike" kern="1200" baseline="0" dirty="0" smtClean="0">
                <a:solidFill>
                  <a:schemeClr val="tx1"/>
                </a:solidFill>
                <a:latin typeface="+mn-lt"/>
                <a:ea typeface="+mn-ea"/>
                <a:cs typeface="+mn-cs"/>
              </a:rPr>
              <a:t>or terabytes in size. There are Hadoop clusters running today that store petabytes</a:t>
            </a:r>
          </a:p>
          <a:p>
            <a:r>
              <a:rPr lang="en-US" sz="1200" b="0" i="0" u="none" strike="noStrike" kern="1200" baseline="0" dirty="0" smtClean="0">
                <a:solidFill>
                  <a:schemeClr val="tx1"/>
                </a:solidFill>
                <a:latin typeface="+mn-lt"/>
                <a:ea typeface="+mn-ea"/>
                <a:cs typeface="+mn-cs"/>
              </a:rPr>
              <a:t>of data.2</a:t>
            </a:r>
          </a:p>
          <a:p>
            <a:r>
              <a:rPr lang="en-US" sz="1200" b="1" i="1" u="none" strike="noStrike" kern="1200" baseline="0" dirty="0" smtClean="0">
                <a:solidFill>
                  <a:schemeClr val="tx1"/>
                </a:solidFill>
                <a:latin typeface="+mn-lt"/>
                <a:ea typeface="+mn-ea"/>
                <a:cs typeface="+mn-cs"/>
              </a:rPr>
              <a:t>Streaming data access</a:t>
            </a:r>
          </a:p>
          <a:p>
            <a:r>
              <a:rPr lang="en-US" sz="1200" b="0" i="0" u="none" strike="noStrike" kern="1200" baseline="0" dirty="0" smtClean="0">
                <a:solidFill>
                  <a:schemeClr val="tx1"/>
                </a:solidFill>
                <a:latin typeface="+mn-lt"/>
                <a:ea typeface="+mn-ea"/>
                <a:cs typeface="+mn-cs"/>
              </a:rPr>
              <a:t>HDFS is built around the idea that the most efficient data processing pattern is a</a:t>
            </a:r>
          </a:p>
          <a:p>
            <a:r>
              <a:rPr lang="en-US" sz="1200" b="0" i="0" u="none" strike="noStrike" kern="1200" baseline="0" dirty="0" smtClean="0">
                <a:solidFill>
                  <a:schemeClr val="tx1"/>
                </a:solidFill>
                <a:latin typeface="+mn-lt"/>
                <a:ea typeface="+mn-ea"/>
                <a:cs typeface="+mn-cs"/>
              </a:rPr>
              <a:t>write-once, read-many-times pattern. A dataset is typically generated or copied</a:t>
            </a:r>
          </a:p>
          <a:p>
            <a:r>
              <a:rPr lang="en-US" sz="1200" b="0" i="0" u="none" strike="noStrike" kern="1200" baseline="0" dirty="0" smtClean="0">
                <a:solidFill>
                  <a:schemeClr val="tx1"/>
                </a:solidFill>
                <a:latin typeface="+mn-lt"/>
                <a:ea typeface="+mn-ea"/>
                <a:cs typeface="+mn-cs"/>
              </a:rPr>
              <a:t>from source, and then various analyses are performed on that dataset over time.</a:t>
            </a:r>
          </a:p>
          <a:p>
            <a:r>
              <a:rPr lang="en-US" sz="1200" b="0" i="0" u="none" strike="noStrike" kern="1200" baseline="0" dirty="0" smtClean="0">
                <a:solidFill>
                  <a:schemeClr val="tx1"/>
                </a:solidFill>
                <a:latin typeface="+mn-lt"/>
                <a:ea typeface="+mn-ea"/>
                <a:cs typeface="+mn-cs"/>
              </a:rPr>
              <a:t>Each analysis will involve a large proportion, if not all, of the dataset, so the time</a:t>
            </a:r>
          </a:p>
          <a:p>
            <a:r>
              <a:rPr lang="en-US" sz="1200" b="0" i="0" u="none" strike="noStrike" kern="1200" baseline="0" dirty="0" smtClean="0">
                <a:solidFill>
                  <a:schemeClr val="tx1"/>
                </a:solidFill>
                <a:latin typeface="+mn-lt"/>
                <a:ea typeface="+mn-ea"/>
                <a:cs typeface="+mn-cs"/>
              </a:rPr>
              <a:t>to read the whole dataset is more important than the latency in reading the first</a:t>
            </a:r>
          </a:p>
          <a:p>
            <a:r>
              <a:rPr lang="en-US" sz="1200" b="0" i="0" u="none" strike="noStrike" kern="1200" baseline="0" dirty="0" smtClean="0">
                <a:solidFill>
                  <a:schemeClr val="tx1"/>
                </a:solidFill>
                <a:latin typeface="+mn-lt"/>
                <a:ea typeface="+mn-ea"/>
                <a:cs typeface="+mn-cs"/>
              </a:rPr>
              <a:t>record.</a:t>
            </a:r>
          </a:p>
          <a:p>
            <a:r>
              <a:rPr lang="en-US" sz="1200" b="1" i="1" u="none" strike="noStrike" kern="1200" baseline="0" dirty="0" smtClean="0">
                <a:solidFill>
                  <a:schemeClr val="tx1"/>
                </a:solidFill>
                <a:latin typeface="+mn-lt"/>
                <a:ea typeface="+mn-ea"/>
                <a:cs typeface="+mn-cs"/>
              </a:rPr>
              <a:t>Commodity hardware</a:t>
            </a:r>
          </a:p>
          <a:p>
            <a:r>
              <a:rPr lang="en-US" sz="1200" b="0" i="0" u="none" strike="noStrike" kern="1200" baseline="0" dirty="0" smtClean="0">
                <a:solidFill>
                  <a:schemeClr val="tx1"/>
                </a:solidFill>
                <a:latin typeface="+mn-lt"/>
                <a:ea typeface="+mn-ea"/>
                <a:cs typeface="+mn-cs"/>
              </a:rPr>
              <a:t>Hadoop doesn’t require expensive, highly reliable hardware. It’s designed to run on</a:t>
            </a:r>
          </a:p>
          <a:p>
            <a:r>
              <a:rPr lang="en-US" sz="1200" b="0" i="0" u="none" strike="noStrike" kern="1200" baseline="0" dirty="0" smtClean="0">
                <a:solidFill>
                  <a:schemeClr val="tx1"/>
                </a:solidFill>
                <a:latin typeface="+mn-lt"/>
                <a:ea typeface="+mn-ea"/>
                <a:cs typeface="+mn-cs"/>
              </a:rPr>
              <a:t>clusters of commodity hardware (commonly available hardware that can be obtained</a:t>
            </a:r>
          </a:p>
          <a:p>
            <a:r>
              <a:rPr lang="en-US" sz="1200" b="0" i="0" u="none" strike="noStrike" kern="1200" baseline="0" dirty="0" smtClean="0">
                <a:solidFill>
                  <a:schemeClr val="tx1"/>
                </a:solidFill>
                <a:latin typeface="+mn-lt"/>
                <a:ea typeface="+mn-ea"/>
                <a:cs typeface="+mn-cs"/>
              </a:rPr>
              <a:t>from multiple vendors)3 for which the chance of node failure across the</a:t>
            </a:r>
          </a:p>
          <a:p>
            <a:r>
              <a:rPr lang="en-US" sz="1200" b="0" i="0" u="none" strike="noStrike" kern="1200" baseline="0" dirty="0" smtClean="0">
                <a:solidFill>
                  <a:schemeClr val="tx1"/>
                </a:solidFill>
                <a:latin typeface="+mn-lt"/>
                <a:ea typeface="+mn-ea"/>
                <a:cs typeface="+mn-cs"/>
              </a:rPr>
              <a:t>cluster is high, at least for large clusters. HDFS is designed to carry on working</a:t>
            </a:r>
          </a:p>
          <a:p>
            <a:r>
              <a:rPr lang="en-US" sz="1200" b="0" i="0" u="none" strike="noStrike" kern="1200" baseline="0" dirty="0" smtClean="0">
                <a:solidFill>
                  <a:schemeClr val="tx1"/>
                </a:solidFill>
                <a:latin typeface="+mn-lt"/>
                <a:ea typeface="+mn-ea"/>
                <a:cs typeface="+mn-cs"/>
              </a:rPr>
              <a:t>without a noticeable interruption to the user in the face of such failure.</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11</a:t>
            </a:fld>
            <a:endParaRPr lang="en-US"/>
          </a:p>
        </p:txBody>
      </p:sp>
    </p:spTree>
    <p:extLst>
      <p:ext uri="{BB962C8B-B14F-4D97-AF65-F5344CB8AC3E}">
        <p14:creationId xmlns:p14="http://schemas.microsoft.com/office/powerpoint/2010/main" val="488544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 HDFS the main target is storage without understanding data meaning</a:t>
            </a:r>
          </a:p>
          <a:p>
            <a:endParaRPr lang="en-US" b="1" dirty="0" smtClean="0"/>
          </a:p>
          <a:p>
            <a:r>
              <a:rPr lang="en-US" b="1" dirty="0" smtClean="0"/>
              <a:t>Storage (HDFS) only knows blocks of bytes.</a:t>
            </a:r>
            <a:br>
              <a:rPr lang="en-US" b="1" dirty="0" smtClean="0"/>
            </a:br>
            <a:r>
              <a:rPr lang="en-US" b="1" dirty="0" err="1" smtClean="0"/>
              <a:t>Sharding</a:t>
            </a:r>
            <a:r>
              <a:rPr lang="en-US" b="1" dirty="0" smtClean="0"/>
              <a:t> is implemented by higher-level systems that decide </a:t>
            </a:r>
            <a:r>
              <a:rPr lang="en-US" b="1" i="1" dirty="0" smtClean="0"/>
              <a:t>which records go where</a:t>
            </a:r>
            <a:r>
              <a:rPr lang="en-US" b="1" dirty="0" smtClean="0"/>
              <a:t>, then store the result on HDFS.</a:t>
            </a:r>
            <a:endParaRPr lang="en-US" dirty="0" smtClean="0"/>
          </a:p>
          <a:p>
            <a:r>
              <a:rPr lang="en-US" dirty="0" smtClean="0"/>
              <a:t>So </a:t>
            </a:r>
            <a:r>
              <a:rPr lang="en-US" dirty="0" err="1" smtClean="0"/>
              <a:t>sharding</a:t>
            </a:r>
            <a:r>
              <a:rPr lang="en-US" dirty="0" smtClean="0"/>
              <a:t> is </a:t>
            </a:r>
            <a:r>
              <a:rPr lang="en-US" b="1" dirty="0" smtClean="0"/>
              <a:t>a data layout decision</a:t>
            </a:r>
            <a:r>
              <a:rPr lang="en-US" dirty="0" smtClean="0"/>
              <a:t>, not a storage mechanism.</a:t>
            </a:r>
          </a:p>
          <a:p>
            <a:endParaRPr lang="en-US" b="1" dirty="0" smtClean="0"/>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HDFS stays simple and fast</a:t>
            </a:r>
            <a:br>
              <a:rPr lang="en-US" dirty="0" smtClean="0"/>
            </a:br>
            <a:r>
              <a:rPr lang="en-US" dirty="0" smtClean="0"/>
              <a:t>✅ Multiple engines can shard differently</a:t>
            </a:r>
            <a:br>
              <a:rPr lang="en-US" dirty="0" smtClean="0"/>
            </a:br>
            <a:r>
              <a:rPr lang="en-US" dirty="0" smtClean="0"/>
              <a:t>✅ </a:t>
            </a:r>
            <a:r>
              <a:rPr lang="en-US" dirty="0" err="1" smtClean="0"/>
              <a:t>Sharding</a:t>
            </a:r>
            <a:r>
              <a:rPr lang="en-US" dirty="0" smtClean="0"/>
              <a:t> strategies can evolve</a:t>
            </a:r>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err="1" smtClean="0"/>
              <a:t>Sharding</a:t>
            </a:r>
            <a:r>
              <a:rPr lang="en-US" b="1" dirty="0" smtClean="0"/>
              <a:t> is implemented by data processing systems that control how records are grouped into files and directories, while HDFS only provides block-based, fault-tolerant storage without understanding data semantics.</a:t>
            </a:r>
            <a:endParaRPr lang="en-US" dirty="0" smtClean="0"/>
          </a:p>
          <a:p>
            <a:endParaRPr lang="en-US" b="1" dirty="0" smtClean="0"/>
          </a:p>
          <a:p>
            <a:endParaRPr lang="en-US" b="1" dirty="0" smtClean="0"/>
          </a:p>
          <a:p>
            <a:r>
              <a:rPr lang="en-US" b="1" dirty="0" smtClean="0"/>
              <a:t>HDFS Blocks vs Data </a:t>
            </a:r>
            <a:r>
              <a:rPr lang="en-US" b="1" dirty="0" err="1" smtClean="0"/>
              <a:t>Sharding</a:t>
            </a:r>
            <a:endParaRPr lang="en-US" b="1" dirty="0" smtClean="0"/>
          </a:p>
          <a:p>
            <a:r>
              <a:rPr lang="en-US" b="1" dirty="0" smtClean="0"/>
              <a:t>HDFS Blocks</a:t>
            </a:r>
            <a:endParaRPr lang="en-US" dirty="0" smtClean="0"/>
          </a:p>
          <a:p>
            <a:r>
              <a:rPr lang="en-US" dirty="0" smtClean="0"/>
              <a:t>A </a:t>
            </a:r>
            <a:r>
              <a:rPr lang="en-US" b="1" dirty="0" smtClean="0"/>
              <a:t>storage-level concept</a:t>
            </a:r>
            <a:r>
              <a:rPr lang="en-US" dirty="0" smtClean="0"/>
              <a:t> used by HDFS to split files into fixed-size chunks (e.g., 128 MB) for distributed storage and fault tolerance.</a:t>
            </a:r>
          </a:p>
          <a:p>
            <a:r>
              <a:rPr lang="en-US" dirty="0" smtClean="0"/>
              <a:t>Blocks are </a:t>
            </a:r>
            <a:r>
              <a:rPr lang="en-US" b="1" dirty="0" smtClean="0"/>
              <a:t>automatically managed</a:t>
            </a:r>
            <a:r>
              <a:rPr lang="en-US" dirty="0" smtClean="0"/>
              <a:t> by HDFS and are transparent to applications.</a:t>
            </a:r>
          </a:p>
          <a:p>
            <a:r>
              <a:rPr lang="en-US" dirty="0" smtClean="0"/>
              <a:t>Purpose: efficient storage, replication, and high-throughput data access.</a:t>
            </a:r>
          </a:p>
          <a:p>
            <a:r>
              <a:rPr lang="en-US" b="1" dirty="0" smtClean="0"/>
              <a:t>Data </a:t>
            </a:r>
            <a:r>
              <a:rPr lang="en-US" b="1" dirty="0" err="1" smtClean="0"/>
              <a:t>Sharding</a:t>
            </a:r>
            <a:endParaRPr lang="en-US" dirty="0" smtClean="0"/>
          </a:p>
          <a:p>
            <a:r>
              <a:rPr lang="en-US" dirty="0" smtClean="0"/>
              <a:t>An </a:t>
            </a:r>
            <a:r>
              <a:rPr lang="en-US" b="1" dirty="0" smtClean="0"/>
              <a:t>application-level or database concept</a:t>
            </a:r>
            <a:r>
              <a:rPr lang="en-US" dirty="0" smtClean="0"/>
              <a:t> where data is deliberately partitioned (by key, range, or hash) across nodes.</a:t>
            </a:r>
          </a:p>
          <a:p>
            <a:r>
              <a:rPr lang="en-US" dirty="0" smtClean="0"/>
              <a:t>Shards are </a:t>
            </a:r>
            <a:r>
              <a:rPr lang="en-US" b="1" dirty="0" smtClean="0"/>
              <a:t>logically meaningful</a:t>
            </a:r>
            <a:r>
              <a:rPr lang="en-US" dirty="0" smtClean="0"/>
              <a:t> and directly impact query routing and performance.</a:t>
            </a:r>
          </a:p>
          <a:p>
            <a:r>
              <a:rPr lang="en-US" dirty="0" smtClean="0"/>
              <a:t>Purpose: scalability, load balancing, and parallel query execution.</a:t>
            </a:r>
          </a:p>
          <a:p>
            <a:r>
              <a:rPr lang="en-US" b="1" dirty="0" smtClean="0"/>
              <a:t>Key Difference</a:t>
            </a:r>
            <a:endParaRPr lang="en-US" dirty="0" smtClean="0"/>
          </a:p>
          <a:p>
            <a:r>
              <a:rPr lang="en-US" b="1" dirty="0" smtClean="0"/>
              <a:t>Blocks are physical storage units</a:t>
            </a:r>
            <a:r>
              <a:rPr lang="en-US" dirty="0" smtClean="0"/>
              <a:t>, while </a:t>
            </a:r>
            <a:r>
              <a:rPr lang="en-US" b="1" dirty="0" smtClean="0"/>
              <a:t>shards are logical data partitions</a:t>
            </a:r>
            <a:r>
              <a:rPr lang="en-US" dirty="0" smtClean="0"/>
              <a:t> defined by application or schema design.</a:t>
            </a:r>
          </a:p>
          <a:p>
            <a:r>
              <a:rPr lang="en-US" b="1" dirty="0" smtClean="0"/>
              <a:t>How They Relate</a:t>
            </a:r>
            <a:endParaRPr lang="en-US" dirty="0" smtClean="0"/>
          </a:p>
          <a:p>
            <a:r>
              <a:rPr lang="en-US" dirty="0" smtClean="0"/>
              <a:t>A single shard may span multiple HDFS blocks, and each block may be replicated across nodes.</a:t>
            </a:r>
          </a:p>
          <a:p>
            <a:r>
              <a:rPr lang="en-US" dirty="0" smtClean="0"/>
              <a:t>Systems like </a:t>
            </a:r>
            <a:r>
              <a:rPr lang="en-US" b="1" dirty="0" err="1" smtClean="0"/>
              <a:t>HBase</a:t>
            </a:r>
            <a:r>
              <a:rPr lang="en-US" b="1" dirty="0" smtClean="0"/>
              <a:t> or Hive</a:t>
            </a:r>
            <a:r>
              <a:rPr lang="en-US" dirty="0" smtClean="0"/>
              <a:t> use HDFS blocks underneath while implementing </a:t>
            </a:r>
            <a:r>
              <a:rPr lang="en-US" dirty="0" err="1" smtClean="0"/>
              <a:t>sharding</a:t>
            </a:r>
            <a:r>
              <a:rPr lang="en-US" dirty="0" smtClean="0"/>
              <a:t> at a higher level.</a:t>
            </a:r>
          </a:p>
          <a:p>
            <a:r>
              <a:rPr lang="en-US" dirty="0" smtClean="0"/>
              <a:t>If you want, </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12</a:t>
            </a:fld>
            <a:endParaRPr lang="en-US"/>
          </a:p>
        </p:txBody>
      </p:sp>
    </p:spTree>
    <p:extLst>
      <p:ext uri="{BB962C8B-B14F-4D97-AF65-F5344CB8AC3E}">
        <p14:creationId xmlns:p14="http://schemas.microsoft.com/office/powerpoint/2010/main" val="3941089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Block abstraction</a:t>
            </a:r>
            <a:r>
              <a:rPr lang="en-US" dirty="0" smtClean="0"/>
              <a:t> means that </a:t>
            </a:r>
            <a:r>
              <a:rPr lang="en-US" b="1" dirty="0" smtClean="0"/>
              <a:t>HDFS treats data as fixed-size blocks instead of whole files</a:t>
            </a:r>
            <a:r>
              <a:rPr lang="en-US" dirty="0" smtClean="0"/>
              <a:t>.</a:t>
            </a:r>
          </a:p>
          <a:p>
            <a:r>
              <a:rPr lang="en-US" b="1" dirty="0" smtClean="0"/>
              <a:t>In simple terms</a:t>
            </a:r>
          </a:p>
          <a:p>
            <a:pPr lvl="1"/>
            <a:r>
              <a:rPr lang="en-US" dirty="0" smtClean="0"/>
              <a:t>A file is </a:t>
            </a:r>
            <a:r>
              <a:rPr lang="en-US" b="1" dirty="0" smtClean="0"/>
              <a:t>not stored as one piece</a:t>
            </a:r>
            <a:r>
              <a:rPr lang="en-US" dirty="0" smtClean="0"/>
              <a:t>.</a:t>
            </a:r>
          </a:p>
          <a:p>
            <a:pPr lvl="1"/>
            <a:r>
              <a:rPr lang="en-US" dirty="0" smtClean="0"/>
              <a:t>It is </a:t>
            </a:r>
            <a:r>
              <a:rPr lang="en-US" b="1" dirty="0" smtClean="0"/>
              <a:t>broken into equal-sized blocks</a:t>
            </a:r>
            <a:r>
              <a:rPr lang="en-US" dirty="0" smtClean="0"/>
              <a:t> (e.g., 128 MB).</a:t>
            </a:r>
          </a:p>
          <a:p>
            <a:pPr lvl="1"/>
            <a:r>
              <a:rPr lang="en-US" dirty="0" smtClean="0"/>
              <a:t>Each block is handled </a:t>
            </a:r>
            <a:r>
              <a:rPr lang="en-US" b="1" dirty="0" smtClean="0"/>
              <a:t>independently</a:t>
            </a:r>
            <a:r>
              <a:rPr lang="en-US" dirty="0" smtClean="0"/>
              <a:t> by the system.</a:t>
            </a:r>
          </a:p>
          <a:p>
            <a:r>
              <a:rPr lang="en-US" b="1" dirty="0" smtClean="0"/>
              <a:t>What HDFS “sees”</a:t>
            </a:r>
          </a:p>
          <a:p>
            <a:pPr lvl="1"/>
            <a:r>
              <a:rPr lang="en-US" b="1" dirty="0" smtClean="0"/>
              <a:t>Blocks</a:t>
            </a:r>
            <a:r>
              <a:rPr lang="en-US" dirty="0" smtClean="0"/>
              <a:t> → stored, replicated, moved, and recovered</a:t>
            </a:r>
          </a:p>
          <a:p>
            <a:pPr lvl="1"/>
            <a:r>
              <a:rPr lang="en-US" b="1" dirty="0" smtClean="0"/>
              <a:t>Files</a:t>
            </a:r>
            <a:r>
              <a:rPr lang="en-US" dirty="0" smtClean="0"/>
              <a:t> → just a logical view created by stitching blocks together</a:t>
            </a:r>
          </a:p>
          <a:p>
            <a:r>
              <a:rPr lang="en-US" b="1" dirty="0" smtClean="0"/>
              <a:t>Why it’s called an </a:t>
            </a:r>
            <a:r>
              <a:rPr lang="en-US" b="1" i="1" dirty="0" smtClean="0"/>
              <a:t>abstraction</a:t>
            </a:r>
            <a:endParaRPr lang="en-US" b="1" dirty="0" smtClean="0"/>
          </a:p>
          <a:p>
            <a:pPr lvl="1"/>
            <a:r>
              <a:rPr lang="en-US" dirty="0" smtClean="0"/>
              <a:t>Users work with </a:t>
            </a:r>
            <a:r>
              <a:rPr lang="en-US" b="1" dirty="0" smtClean="0"/>
              <a:t>files</a:t>
            </a:r>
            <a:endParaRPr lang="en-US" dirty="0" smtClean="0"/>
          </a:p>
          <a:p>
            <a:pPr lvl="1"/>
            <a:r>
              <a:rPr lang="en-US" dirty="0" smtClean="0"/>
              <a:t>HDFS internally works with </a:t>
            </a:r>
            <a:r>
              <a:rPr lang="en-US" b="1" dirty="0" smtClean="0"/>
              <a:t>blocks</a:t>
            </a:r>
            <a:endParaRPr lang="en-US" dirty="0" smtClean="0"/>
          </a:p>
          <a:p>
            <a:pPr lvl="1"/>
            <a:r>
              <a:rPr lang="en-US" dirty="0" smtClean="0"/>
              <a:t>The complexity of splitting, placing, and replicating data is </a:t>
            </a:r>
            <a:r>
              <a:rPr lang="en-US" b="1" dirty="0" smtClean="0"/>
              <a:t>hidden from users</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14</a:t>
            </a:fld>
            <a:endParaRPr lang="en-US"/>
          </a:p>
        </p:txBody>
      </p:sp>
    </p:spTree>
    <p:extLst>
      <p:ext uri="{BB962C8B-B14F-4D97-AF65-F5344CB8AC3E}">
        <p14:creationId xmlns:p14="http://schemas.microsoft.com/office/powerpoint/2010/main" val="2975782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How HDFS Stores Data (As Shown in the Figure)</a:t>
            </a:r>
          </a:p>
          <a:p>
            <a:r>
              <a:rPr lang="en-US" b="1" dirty="0" smtClean="0"/>
              <a:t>Large file input</a:t>
            </a:r>
            <a:endParaRPr lang="en-US" dirty="0" smtClean="0"/>
          </a:p>
          <a:p>
            <a:pPr lvl="1"/>
            <a:r>
              <a:rPr lang="en-US" dirty="0" smtClean="0"/>
              <a:t>A very large file (e.g., </a:t>
            </a:r>
            <a:r>
              <a:rPr lang="en-US" b="1" dirty="0" smtClean="0"/>
              <a:t>100 TB</a:t>
            </a:r>
            <a:r>
              <a:rPr lang="en-US" dirty="0" smtClean="0"/>
              <a:t>) is uploaded to HDFS as a single logical file from the user’s perspective.</a:t>
            </a:r>
          </a:p>
          <a:p>
            <a:r>
              <a:rPr lang="en-US" b="1" dirty="0" smtClean="0"/>
              <a:t>File splitting into blocks</a:t>
            </a:r>
            <a:endParaRPr lang="en-US" dirty="0" smtClean="0"/>
          </a:p>
          <a:p>
            <a:pPr lvl="1"/>
            <a:r>
              <a:rPr lang="en-US" dirty="0" smtClean="0"/>
              <a:t>HDFS automatically splits the file into fixed-size </a:t>
            </a:r>
            <a:r>
              <a:rPr lang="en-US" b="1" dirty="0" smtClean="0"/>
              <a:t>blocks</a:t>
            </a:r>
            <a:r>
              <a:rPr lang="en-US" dirty="0" smtClean="0"/>
              <a:t> (e.g., Block 1, Block 2, Block 3, Block 4, …).</a:t>
            </a:r>
          </a:p>
          <a:p>
            <a:pPr lvl="1"/>
            <a:r>
              <a:rPr lang="en-US" dirty="0" smtClean="0"/>
              <a:t>Each block is typically </a:t>
            </a:r>
            <a:r>
              <a:rPr lang="en-US" b="1" dirty="0" smtClean="0"/>
              <a:t>128 MB</a:t>
            </a:r>
            <a:r>
              <a:rPr lang="en-US" dirty="0" smtClean="0"/>
              <a:t> (configurable).</a:t>
            </a:r>
          </a:p>
          <a:p>
            <a:r>
              <a:rPr lang="en-US" b="1" dirty="0" smtClean="0"/>
              <a:t>Metadata handled by the Master (</a:t>
            </a:r>
            <a:r>
              <a:rPr lang="en-US" b="1" dirty="0" err="1" smtClean="0"/>
              <a:t>NameNode</a:t>
            </a:r>
            <a:r>
              <a:rPr lang="en-US" b="1" dirty="0" smtClean="0"/>
              <a:t>)</a:t>
            </a:r>
            <a:endParaRPr lang="en-US" dirty="0" smtClean="0"/>
          </a:p>
          <a:p>
            <a:pPr lvl="1"/>
            <a:r>
              <a:rPr lang="en-US" dirty="0" smtClean="0"/>
              <a:t>The </a:t>
            </a:r>
            <a:r>
              <a:rPr lang="en-US" b="1" dirty="0" smtClean="0"/>
              <a:t>Master (</a:t>
            </a:r>
            <a:r>
              <a:rPr lang="en-US" b="1" dirty="0" err="1" smtClean="0"/>
              <a:t>NameNode</a:t>
            </a:r>
            <a:r>
              <a:rPr lang="en-US" b="1" dirty="0" smtClean="0"/>
              <a:t>)</a:t>
            </a:r>
            <a:r>
              <a:rPr lang="en-US" dirty="0" smtClean="0"/>
              <a:t> does not store data itself.</a:t>
            </a:r>
          </a:p>
          <a:p>
            <a:pPr lvl="1"/>
            <a:r>
              <a:rPr lang="en-US" dirty="0" smtClean="0"/>
              <a:t>It stores </a:t>
            </a:r>
            <a:r>
              <a:rPr lang="en-US" b="1" dirty="0" smtClean="0"/>
              <a:t>metadata</a:t>
            </a:r>
            <a:r>
              <a:rPr lang="en-US" dirty="0" smtClean="0"/>
              <a:t>: file names, block IDs, and which </a:t>
            </a:r>
            <a:r>
              <a:rPr lang="en-US" dirty="0" err="1" smtClean="0"/>
              <a:t>DataNodes</a:t>
            </a:r>
            <a:r>
              <a:rPr lang="en-US" dirty="0" smtClean="0"/>
              <a:t> hold each block.</a:t>
            </a:r>
          </a:p>
          <a:p>
            <a:r>
              <a:rPr lang="en-US" b="1" dirty="0" smtClean="0"/>
              <a:t>Blocks distributed across </a:t>
            </a:r>
            <a:r>
              <a:rPr lang="en-US" b="1" dirty="0" err="1" smtClean="0"/>
              <a:t>DataNodes</a:t>
            </a:r>
            <a:r>
              <a:rPr lang="en-US" b="1" dirty="0" smtClean="0"/>
              <a:t> (slaves)</a:t>
            </a:r>
            <a:endParaRPr lang="en-US" dirty="0" smtClean="0"/>
          </a:p>
          <a:p>
            <a:pPr lvl="1"/>
            <a:r>
              <a:rPr lang="en-US" dirty="0" smtClean="0"/>
              <a:t>Each block is stored on different </a:t>
            </a:r>
            <a:r>
              <a:rPr lang="en-US" b="1" dirty="0" err="1" smtClean="0"/>
              <a:t>DataNodes</a:t>
            </a:r>
            <a:r>
              <a:rPr lang="en-US" dirty="0" smtClean="0"/>
              <a:t> across the cluster (e.g., 100 slave nodes).</a:t>
            </a:r>
          </a:p>
          <a:p>
            <a:pPr lvl="1"/>
            <a:r>
              <a:rPr lang="en-US" dirty="0" smtClean="0"/>
              <a:t>Blocks are </a:t>
            </a:r>
            <a:r>
              <a:rPr lang="en-US" b="1" dirty="0" smtClean="0"/>
              <a:t>not stored sequentially on one machine</a:t>
            </a:r>
            <a:r>
              <a:rPr lang="en-US" dirty="0" smtClean="0"/>
              <a:t>.</a:t>
            </a:r>
          </a:p>
          <a:p>
            <a:r>
              <a:rPr lang="en-US" b="1" dirty="0" smtClean="0"/>
              <a:t>Replication for fault tolerance</a:t>
            </a:r>
            <a:endParaRPr lang="en-US" dirty="0" smtClean="0"/>
          </a:p>
          <a:p>
            <a:pPr lvl="1"/>
            <a:r>
              <a:rPr lang="en-US" dirty="0" smtClean="0"/>
              <a:t>Every block is </a:t>
            </a:r>
            <a:r>
              <a:rPr lang="en-US" b="1" dirty="0" smtClean="0"/>
              <a:t>replicated</a:t>
            </a:r>
            <a:r>
              <a:rPr lang="en-US" dirty="0" smtClean="0"/>
              <a:t> (commonly 3 copies).</a:t>
            </a:r>
          </a:p>
          <a:p>
            <a:pPr lvl="1"/>
            <a:r>
              <a:rPr lang="en-US" dirty="0" smtClean="0"/>
              <a:t>Replicas are placed on </a:t>
            </a:r>
            <a:r>
              <a:rPr lang="en-US" b="1" dirty="0" smtClean="0"/>
              <a:t>different </a:t>
            </a:r>
            <a:r>
              <a:rPr lang="en-US" b="1" dirty="0" err="1" smtClean="0"/>
              <a:t>DataNodes</a:t>
            </a:r>
            <a:r>
              <a:rPr lang="en-US" dirty="0" smtClean="0"/>
              <a:t> to survive disk or node failures.</a:t>
            </a:r>
          </a:p>
          <a:p>
            <a:r>
              <a:rPr lang="en-US" b="1" dirty="0" smtClean="0"/>
              <a:t>Parallel storage and access</a:t>
            </a:r>
            <a:endParaRPr lang="en-US" dirty="0" smtClean="0"/>
          </a:p>
          <a:p>
            <a:pPr lvl="1"/>
            <a:r>
              <a:rPr lang="en-US" dirty="0" smtClean="0"/>
              <a:t>Different blocks of the same file are stored on </a:t>
            </a:r>
            <a:r>
              <a:rPr lang="en-US" b="1" dirty="0" smtClean="0"/>
              <a:t>different nodes</a:t>
            </a:r>
            <a:r>
              <a:rPr lang="en-US" dirty="0" smtClean="0"/>
              <a:t>, enabling parallel reads and writes.</a:t>
            </a:r>
          </a:p>
          <a:p>
            <a:pPr lvl="1"/>
            <a:r>
              <a:rPr lang="en-US" dirty="0" smtClean="0"/>
              <a:t>Multiple compute tasks can process different blocks at the same time.</a:t>
            </a:r>
          </a:p>
          <a:p>
            <a:r>
              <a:rPr lang="en-US" b="1" dirty="0" smtClean="0"/>
              <a:t>Failure handling</a:t>
            </a:r>
            <a:endParaRPr lang="en-US" dirty="0" smtClean="0"/>
          </a:p>
          <a:p>
            <a:pPr lvl="1"/>
            <a:r>
              <a:rPr lang="en-US" dirty="0" smtClean="0"/>
              <a:t>If a </a:t>
            </a:r>
            <a:r>
              <a:rPr lang="en-US" dirty="0" err="1" smtClean="0"/>
              <a:t>DataNode</a:t>
            </a:r>
            <a:r>
              <a:rPr lang="en-US" dirty="0" smtClean="0"/>
              <a:t> fails, HDFS automatically reads the block from another replica.</a:t>
            </a:r>
          </a:p>
          <a:p>
            <a:pPr lvl="1"/>
            <a:r>
              <a:rPr lang="en-US" dirty="0" smtClean="0"/>
              <a:t>Missing replicas are recreated to maintain the replication factor.</a:t>
            </a:r>
          </a:p>
          <a:p>
            <a:r>
              <a:rPr lang="en-US" b="1" dirty="0" smtClean="0"/>
              <a:t>Transparent to the user</a:t>
            </a:r>
            <a:endParaRPr lang="en-US" dirty="0" smtClean="0"/>
          </a:p>
          <a:p>
            <a:pPr lvl="1"/>
            <a:r>
              <a:rPr lang="en-US" dirty="0" smtClean="0"/>
              <a:t>Users see </a:t>
            </a:r>
            <a:r>
              <a:rPr lang="en-US" b="1" dirty="0" smtClean="0"/>
              <a:t>one large file</a:t>
            </a:r>
            <a:r>
              <a:rPr lang="en-US" dirty="0" smtClean="0"/>
              <a:t>, not blocks.</a:t>
            </a:r>
          </a:p>
          <a:p>
            <a:pPr lvl="1"/>
            <a:r>
              <a:rPr lang="en-US" dirty="0" smtClean="0"/>
              <a:t>Block management, placement, and recovery are fully handled by HDFS.</a:t>
            </a:r>
          </a:p>
          <a:p>
            <a:endParaRPr lang="en-US" b="1" dirty="0" smtClean="0"/>
          </a:p>
          <a:p>
            <a:r>
              <a:rPr lang="en-US" b="1" dirty="0" smtClean="0"/>
              <a:t>HDFS breaks large files into blocks, spreads and replicates them across many machines, and uses a master node to track where each block lives—enabling scalable, fault-tolerant storage.</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15</a:t>
            </a:fld>
            <a:endParaRPr lang="en-US"/>
          </a:p>
        </p:txBody>
      </p:sp>
    </p:spTree>
    <p:extLst>
      <p:ext uri="{BB962C8B-B14F-4D97-AF65-F5344CB8AC3E}">
        <p14:creationId xmlns:p14="http://schemas.microsoft.com/office/powerpoint/2010/main" val="2728073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file system namespace, that is information about blocks of files like block locations, permissions, etc.</a:t>
            </a:r>
          </a:p>
          <a:p>
            <a:endParaRPr lang="en-US"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stores information about blocks locations, permissions, etc. on the local disk in the form of two files:</a:t>
            </a:r>
          </a:p>
          <a:p>
            <a:pPr fontAlgn="base"/>
            <a:r>
              <a:rPr lang="en-US" sz="1200" b="1" i="0" kern="1200" dirty="0" err="1" smtClean="0">
                <a:solidFill>
                  <a:schemeClr val="tx1"/>
                </a:solidFill>
                <a:effectLst/>
                <a:latin typeface="+mn-lt"/>
                <a:ea typeface="+mn-ea"/>
                <a:cs typeface="+mn-cs"/>
              </a:rPr>
              <a:t>Fsimage</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stands for File System image. It contains the complete namespace of the Hadoop file system since 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creation.</a:t>
            </a:r>
          </a:p>
          <a:p>
            <a:pPr fontAlgn="base"/>
            <a:r>
              <a:rPr lang="en-US" sz="1200" b="1" i="0" kern="1200" dirty="0" smtClean="0">
                <a:solidFill>
                  <a:schemeClr val="tx1"/>
                </a:solidFill>
                <a:effectLst/>
                <a:latin typeface="+mn-lt"/>
                <a:ea typeface="+mn-ea"/>
                <a:cs typeface="+mn-cs"/>
              </a:rPr>
              <a:t>Edit log:</a:t>
            </a:r>
            <a:r>
              <a:rPr lang="en-US" sz="1200" b="0" i="0" kern="1200" dirty="0" smtClean="0">
                <a:solidFill>
                  <a:schemeClr val="tx1"/>
                </a:solidFill>
                <a:effectLst/>
                <a:latin typeface="+mn-lt"/>
                <a:ea typeface="+mn-ea"/>
                <a:cs typeface="+mn-cs"/>
              </a:rPr>
              <a:t> It contains all the recent changes performed to the file system namespace to the most recent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a:t>
            </a:r>
          </a:p>
          <a:p>
            <a:endParaRPr lang="en-US" dirty="0" smtClean="0"/>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uses a transaction log called the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to persistently record every change that occurs to file system metadata. For example, creating a new file in HDFS causes 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to insert a record into the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indicating this. Similarly, changing the replication factor of a file causes a new record to be inserted into the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uses a file in its local host OS file system to store the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The entire file system namespace, including the mapping of blocks to files and file system properties, is stored in a file called the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is stored as a file in the </a:t>
            </a:r>
            <a:r>
              <a:rPr lang="en-US" sz="1200" b="0" i="0" kern="1200" dirty="0" err="1" smtClean="0">
                <a:solidFill>
                  <a:schemeClr val="tx1"/>
                </a:solidFill>
                <a:effectLst/>
                <a:latin typeface="+mn-lt"/>
                <a:ea typeface="+mn-ea"/>
                <a:cs typeface="+mn-cs"/>
              </a:rPr>
              <a:t>NameNode’s</a:t>
            </a:r>
            <a:r>
              <a:rPr lang="en-US" sz="1200" b="0" i="0" kern="1200" dirty="0" smtClean="0">
                <a:solidFill>
                  <a:schemeClr val="tx1"/>
                </a:solidFill>
                <a:effectLst/>
                <a:latin typeface="+mn-lt"/>
                <a:ea typeface="+mn-ea"/>
                <a:cs typeface="+mn-cs"/>
              </a:rPr>
              <a:t> local file system too.</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When 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starts up, it reads the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from disk, applies all the transactions from the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to the in-memory representation of the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and flushes out this new version into a new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on disk. It can then truncate the old </a:t>
            </a:r>
            <a:r>
              <a:rPr lang="en-US" sz="1200" b="0" i="0" kern="1200" dirty="0" err="1" smtClean="0">
                <a:solidFill>
                  <a:schemeClr val="tx1"/>
                </a:solidFill>
                <a:effectLst/>
                <a:latin typeface="+mn-lt"/>
                <a:ea typeface="+mn-ea"/>
                <a:cs typeface="+mn-cs"/>
              </a:rPr>
              <a:t>EditLog</a:t>
            </a:r>
            <a:r>
              <a:rPr lang="en-US" sz="1200" b="0" i="0" kern="1200" dirty="0" smtClean="0">
                <a:solidFill>
                  <a:schemeClr val="tx1"/>
                </a:solidFill>
                <a:effectLst/>
                <a:latin typeface="+mn-lt"/>
                <a:ea typeface="+mn-ea"/>
                <a:cs typeface="+mn-cs"/>
              </a:rPr>
              <a:t> because its transactions have been applied to the persistent </a:t>
            </a:r>
            <a:r>
              <a:rPr lang="en-US" sz="1200" b="0" i="0" kern="1200" dirty="0" err="1" smtClean="0">
                <a:solidFill>
                  <a:schemeClr val="tx1"/>
                </a:solidFill>
                <a:effectLst/>
                <a:latin typeface="+mn-lt"/>
                <a:ea typeface="+mn-ea"/>
                <a:cs typeface="+mn-cs"/>
              </a:rPr>
              <a:t>FsImage</a:t>
            </a:r>
            <a:r>
              <a:rPr lang="en-US" sz="1200" b="0" i="0" kern="1200" dirty="0" smtClean="0">
                <a:solidFill>
                  <a:schemeClr val="tx1"/>
                </a:solidFill>
                <a:effectLst/>
                <a:latin typeface="+mn-lt"/>
                <a:ea typeface="+mn-ea"/>
                <a:cs typeface="+mn-cs"/>
              </a:rPr>
              <a:t>. This process is called a checkpoint.</a:t>
            </a:r>
          </a:p>
          <a:p>
            <a:r>
              <a:rPr lang="en-US" dirty="0" smtClean="0"/>
              <a:t/>
            </a:r>
            <a:br>
              <a:rPr lang="en-US" dirty="0" smtClean="0"/>
            </a:br>
            <a:endParaRPr lang="en-US" dirty="0" smtClean="0"/>
          </a:p>
          <a:p>
            <a:endParaRPr lang="en-US" dirty="0" smtClean="0"/>
          </a:p>
          <a:p>
            <a:r>
              <a:rPr lang="en-US" b="1" dirty="0" smtClean="0"/>
              <a:t>Safe Mode</a:t>
            </a:r>
          </a:p>
          <a:p>
            <a:r>
              <a:rPr lang="en-US" dirty="0" smtClean="0"/>
              <a:t>A brief mention of </a:t>
            </a:r>
            <a:r>
              <a:rPr lang="en-US" b="1" dirty="0" smtClean="0"/>
              <a:t>Safe Mode</a:t>
            </a:r>
            <a:r>
              <a:rPr lang="en-US" dirty="0" smtClean="0"/>
              <a:t>. This is the read-only state HDFS enters during startup where it waits for a certain percentage of blocks to be reported by </a:t>
            </a:r>
            <a:r>
              <a:rPr lang="en-US" dirty="0" err="1" smtClean="0"/>
              <a:t>DataNodes</a:t>
            </a:r>
            <a:r>
              <a:rPr lang="en-US" dirty="0" smtClean="0"/>
              <a:t> before allowing writes.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16</a:t>
            </a:fld>
            <a:endParaRPr lang="en-US"/>
          </a:p>
        </p:txBody>
      </p:sp>
    </p:spTree>
    <p:extLst>
      <p:ext uri="{BB962C8B-B14F-4D97-AF65-F5344CB8AC3E}">
        <p14:creationId xmlns:p14="http://schemas.microsoft.com/office/powerpoint/2010/main" val="1417155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Functions of HDFS </a:t>
            </a:r>
            <a:r>
              <a:rPr lang="en-US" sz="1200" b="1" i="0" kern="1200" dirty="0" err="1" smtClean="0">
                <a:solidFill>
                  <a:schemeClr val="tx1"/>
                </a:solidFill>
                <a:effectLst/>
                <a:latin typeface="+mn-lt"/>
                <a:ea typeface="+mn-ea"/>
                <a:cs typeface="+mn-cs"/>
              </a:rPr>
              <a:t>NameNode</a:t>
            </a:r>
            <a:endParaRPr lang="en-US" sz="1200" b="1" i="0" kern="1200" dirty="0" smtClean="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It executes the file system namespace operations like opening, renaming, and closing files and directories.</a:t>
            </a: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manages and maintains the </a:t>
            </a: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It determines the mapping of blocks of a file to </a:t>
            </a: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a:t>
            </a: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records each change made to the file system namespace.</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It keeps the locations of each block of a file.</a:t>
            </a: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takes care of the replication factor of all the blocks.</a:t>
            </a: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receives heartbeat and block reports from all </a:t>
            </a: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 that ensure </a:t>
            </a:r>
            <a:r>
              <a:rPr lang="en-US" sz="1200" b="0" i="0" kern="1200" dirty="0" err="1" smtClean="0">
                <a:solidFill>
                  <a:schemeClr val="tx1"/>
                </a:solidFill>
                <a:effectLst/>
                <a:latin typeface="+mn-lt"/>
                <a:ea typeface="+mn-ea"/>
                <a:cs typeface="+mn-cs"/>
              </a:rPr>
              <a:t>DataNode</a:t>
            </a:r>
            <a:r>
              <a:rPr lang="en-US" sz="1200" b="0" i="0" kern="1200" dirty="0" smtClean="0">
                <a:solidFill>
                  <a:schemeClr val="tx1"/>
                </a:solidFill>
                <a:effectLst/>
                <a:latin typeface="+mn-lt"/>
                <a:ea typeface="+mn-ea"/>
                <a:cs typeface="+mn-cs"/>
              </a:rPr>
              <a:t> is alive.</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If the </a:t>
            </a:r>
            <a:r>
              <a:rPr lang="en-US" sz="1200" b="0" i="0" kern="1200" dirty="0" err="1" smtClean="0">
                <a:solidFill>
                  <a:schemeClr val="tx1"/>
                </a:solidFill>
                <a:effectLst/>
                <a:latin typeface="+mn-lt"/>
                <a:ea typeface="+mn-ea"/>
                <a:cs typeface="+mn-cs"/>
              </a:rPr>
              <a:t>DataNode</a:t>
            </a:r>
            <a:r>
              <a:rPr lang="en-US" sz="1200" b="0" i="0" kern="1200" dirty="0" smtClean="0">
                <a:solidFill>
                  <a:schemeClr val="tx1"/>
                </a:solidFill>
                <a:effectLst/>
                <a:latin typeface="+mn-lt"/>
                <a:ea typeface="+mn-ea"/>
                <a:cs typeface="+mn-cs"/>
              </a:rPr>
              <a:t> fails, 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chooses new </a:t>
            </a: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 for new replicas.</a:t>
            </a:r>
          </a:p>
          <a:p>
            <a:pPr fontAlgn="base"/>
            <a:r>
              <a:rPr lang="en-US" sz="1200" b="1" i="0" kern="1200" dirty="0" smtClean="0">
                <a:solidFill>
                  <a:schemeClr val="tx1"/>
                </a:solidFill>
                <a:effectLst/>
                <a:latin typeface="+mn-lt"/>
                <a:ea typeface="+mn-ea"/>
                <a:cs typeface="+mn-cs"/>
              </a:rPr>
              <a:t>Functions of </a:t>
            </a:r>
            <a:r>
              <a:rPr lang="en-US" sz="1200" b="1" i="0" kern="1200" dirty="0" err="1" smtClean="0">
                <a:solidFill>
                  <a:schemeClr val="tx1"/>
                </a:solidFill>
                <a:effectLst/>
                <a:latin typeface="+mn-lt"/>
                <a:ea typeface="+mn-ea"/>
                <a:cs typeface="+mn-cs"/>
              </a:rPr>
              <a:t>DataNode</a:t>
            </a:r>
            <a:endParaRPr lang="en-US" sz="1200" b="1" i="0" kern="1200" dirty="0" smtClean="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DataNode</a:t>
            </a:r>
            <a:r>
              <a:rPr lang="en-US" sz="1200" b="0" i="0" kern="1200" dirty="0" smtClean="0">
                <a:solidFill>
                  <a:schemeClr val="tx1"/>
                </a:solidFill>
                <a:effectLst/>
                <a:latin typeface="+mn-lt"/>
                <a:ea typeface="+mn-ea"/>
                <a:cs typeface="+mn-cs"/>
              </a:rPr>
              <a:t> is responsible for serving the client read/write requests.</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Based on the instruction from the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 performs block creation, replication, and deletion.</a:t>
            </a: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 send a heartbeat to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to report the health of HDFS.</a:t>
            </a:r>
          </a:p>
          <a:p>
            <a:pPr marL="171450" indent="-171450" fontAlgn="base">
              <a:buFont typeface="Arial" panose="020B0604020202020204" pitchFamily="34" charset="0"/>
              <a:buChar char="•"/>
            </a:pPr>
            <a:r>
              <a:rPr lang="en-US" sz="1200" b="0" i="0" kern="1200" dirty="0" err="1" smtClean="0">
                <a:solidFill>
                  <a:schemeClr val="tx1"/>
                </a:solidFill>
                <a:effectLst/>
                <a:latin typeface="+mn-lt"/>
                <a:ea typeface="+mn-ea"/>
                <a:cs typeface="+mn-cs"/>
              </a:rPr>
              <a:t>DataNodes</a:t>
            </a:r>
            <a:r>
              <a:rPr lang="en-US" sz="1200" b="0" i="0" kern="1200" dirty="0" smtClean="0">
                <a:solidFill>
                  <a:schemeClr val="tx1"/>
                </a:solidFill>
                <a:effectLst/>
                <a:latin typeface="+mn-lt"/>
                <a:ea typeface="+mn-ea"/>
                <a:cs typeface="+mn-cs"/>
              </a:rPr>
              <a:t> also sends block reports to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 to report the list of blocks it contains.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18</a:t>
            </a:fld>
            <a:endParaRPr lang="en-US"/>
          </a:p>
        </p:txBody>
      </p:sp>
    </p:spTree>
    <p:extLst>
      <p:ext uri="{BB962C8B-B14F-4D97-AF65-F5344CB8AC3E}">
        <p14:creationId xmlns:p14="http://schemas.microsoft.com/office/powerpoint/2010/main" val="1326011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Without block reports, the </a:t>
            </a:r>
            <a:r>
              <a:rPr lang="en-US" dirty="0" err="1" smtClean="0"/>
              <a:t>NameNode</a:t>
            </a:r>
            <a:r>
              <a:rPr lang="en-US" dirty="0" smtClean="0"/>
              <a:t> would not know:</a:t>
            </a:r>
          </a:p>
          <a:p>
            <a:pPr lvl="1"/>
            <a:r>
              <a:rPr lang="en-US" dirty="0" smtClean="0"/>
              <a:t>Where blocks physically exist</a:t>
            </a:r>
          </a:p>
          <a:p>
            <a:pPr lvl="1"/>
            <a:r>
              <a:rPr lang="en-US" dirty="0" smtClean="0"/>
              <a:t>Which replicas are alive</a:t>
            </a:r>
          </a:p>
          <a:p>
            <a:pPr lvl="1"/>
            <a:r>
              <a:rPr lang="en-US" dirty="0" smtClean="0"/>
              <a:t>Whether a block copy was lost</a:t>
            </a:r>
          </a:p>
          <a:p>
            <a:r>
              <a:rPr lang="en-US" dirty="0" smtClean="0"/>
              <a:t>Block reports ensure:</a:t>
            </a:r>
          </a:p>
          <a:p>
            <a:r>
              <a:rPr lang="en-US" dirty="0" smtClean="0"/>
              <a:t>The metadata reflects reality.</a:t>
            </a:r>
          </a:p>
          <a:p>
            <a:endParaRPr lang="en-US" dirty="0" smtClean="0"/>
          </a:p>
          <a:p>
            <a:r>
              <a:rPr lang="en-US" dirty="0" smtClean="0"/>
              <a:t>Heartbeat			Block Report</a:t>
            </a:r>
          </a:p>
          <a:p>
            <a:r>
              <a:rPr lang="en-US" dirty="0" smtClean="0"/>
              <a:t>Sent frequently (few seconds)		Sent periodically (longer interval)</a:t>
            </a:r>
          </a:p>
          <a:p>
            <a:r>
              <a:rPr lang="en-US" dirty="0" smtClean="0"/>
              <a:t>"I am alive“			"Here are all my blocks“</a:t>
            </a:r>
          </a:p>
          <a:p>
            <a:r>
              <a:rPr lang="en-US" dirty="0" smtClean="0"/>
              <a:t>Small message			Large metadata message</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20</a:t>
            </a:fld>
            <a:endParaRPr lang="en-US"/>
          </a:p>
        </p:txBody>
      </p:sp>
    </p:spTree>
    <p:extLst>
      <p:ext uri="{BB962C8B-B14F-4D97-AF65-F5344CB8AC3E}">
        <p14:creationId xmlns:p14="http://schemas.microsoft.com/office/powerpoint/2010/main" val="790986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Secondary </a:t>
            </a:r>
            <a:r>
              <a:rPr lang="en-US" b="1" dirty="0" err="1" smtClean="0"/>
              <a:t>NameNode</a:t>
            </a:r>
            <a:r>
              <a:rPr lang="en-US" b="1" dirty="0" smtClean="0"/>
              <a:t> in HDFS</a:t>
            </a:r>
          </a:p>
          <a:p>
            <a:r>
              <a:rPr lang="en-US" b="1" dirty="0" smtClean="0"/>
              <a:t>Role:</a:t>
            </a:r>
            <a:r>
              <a:rPr lang="en-US" dirty="0" smtClean="0"/>
              <a:t> Helper daemon that performs </a:t>
            </a:r>
            <a:r>
              <a:rPr lang="en-US" b="1" dirty="0" err="1" smtClean="0"/>
              <a:t>checkpointing</a:t>
            </a:r>
            <a:endParaRPr lang="en-US" dirty="0" smtClean="0"/>
          </a:p>
          <a:p>
            <a:r>
              <a:rPr lang="en-US" b="1" dirty="0" smtClean="0"/>
              <a:t>Main Task:</a:t>
            </a:r>
            <a:r>
              <a:rPr lang="en-US" dirty="0" smtClean="0"/>
              <a:t> Merge </a:t>
            </a:r>
            <a:r>
              <a:rPr lang="en-US" b="1" dirty="0" err="1" smtClean="0"/>
              <a:t>FsImage</a:t>
            </a:r>
            <a:r>
              <a:rPr lang="en-US" b="1" dirty="0" smtClean="0"/>
              <a:t> + Edit Logs</a:t>
            </a:r>
            <a:r>
              <a:rPr lang="en-US" dirty="0" smtClean="0"/>
              <a:t> periodically</a:t>
            </a:r>
          </a:p>
          <a:p>
            <a:r>
              <a:rPr lang="en-US" b="1" dirty="0" smtClean="0"/>
              <a:t>Benefit:</a:t>
            </a:r>
            <a:r>
              <a:rPr lang="en-US" dirty="0" smtClean="0"/>
              <a:t> Prevents edit logs from growing too large</a:t>
            </a:r>
          </a:p>
          <a:p>
            <a:r>
              <a:rPr lang="en-US" b="1" dirty="0" smtClean="0"/>
              <a:t>Result:</a:t>
            </a:r>
            <a:r>
              <a:rPr lang="en-US" dirty="0" smtClean="0"/>
              <a:t> Faster </a:t>
            </a:r>
            <a:r>
              <a:rPr lang="en-US" dirty="0" err="1" smtClean="0"/>
              <a:t>NameNode</a:t>
            </a:r>
            <a:r>
              <a:rPr lang="en-US" dirty="0" smtClean="0"/>
              <a:t> restart and improved stability</a:t>
            </a:r>
          </a:p>
          <a:p>
            <a:r>
              <a:rPr lang="en-US" b="1" dirty="0" smtClean="0"/>
              <a:t>Failure Handling:</a:t>
            </a:r>
            <a:r>
              <a:rPr lang="en-US" dirty="0" smtClean="0"/>
              <a:t> Provides latest checkpoint for </a:t>
            </a:r>
            <a:r>
              <a:rPr lang="en-US" b="1" dirty="0" smtClean="0"/>
              <a:t>manual recovery</a:t>
            </a:r>
            <a:endParaRPr lang="en-US" dirty="0" smtClean="0"/>
          </a:p>
          <a:p>
            <a:r>
              <a:rPr lang="en-US" b="1" dirty="0" smtClean="0"/>
              <a:t>Key Point:</a:t>
            </a:r>
            <a:r>
              <a:rPr lang="en-US" dirty="0" smtClean="0"/>
              <a:t> ❗ Not a standby or replacement </a:t>
            </a:r>
            <a:r>
              <a:rPr lang="en-US" dirty="0" err="1" smtClean="0"/>
              <a:t>NameNode</a:t>
            </a:r>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Secondary </a:t>
            </a:r>
            <a:r>
              <a:rPr lang="en-US" dirty="0" err="1" smtClean="0"/>
              <a:t>NameNode</a:t>
            </a:r>
            <a:r>
              <a:rPr lang="en-US" dirty="0" smtClean="0"/>
              <a:t> improves </a:t>
            </a:r>
            <a:r>
              <a:rPr lang="en-US" b="1" dirty="0" err="1" smtClean="0"/>
              <a:t>NameNode</a:t>
            </a:r>
            <a:r>
              <a:rPr lang="en-US" b="1" dirty="0" smtClean="0"/>
              <a:t> reliability and restart performance</a:t>
            </a:r>
            <a:r>
              <a:rPr lang="en-US" dirty="0" smtClean="0"/>
              <a:t> by periodically </a:t>
            </a:r>
            <a:r>
              <a:rPr lang="en-US" dirty="0" err="1" smtClean="0"/>
              <a:t>checkpointing</a:t>
            </a:r>
            <a:r>
              <a:rPr lang="en-US" dirty="0" smtClean="0"/>
              <a:t> </a:t>
            </a:r>
            <a:r>
              <a:rPr lang="en-US" dirty="0" err="1" smtClean="0"/>
              <a:t>filesystem</a:t>
            </a:r>
            <a:r>
              <a:rPr lang="en-US" dirty="0" smtClean="0"/>
              <a:t> metadata.</a:t>
            </a:r>
          </a:p>
          <a:p>
            <a:r>
              <a:rPr lang="en-US" sz="1200" b="0" i="0" kern="1200" dirty="0" smtClean="0">
                <a:solidFill>
                  <a:schemeClr val="tx1"/>
                </a:solidFill>
                <a:effectLst/>
                <a:latin typeface="+mn-lt"/>
                <a:ea typeface="+mn-ea"/>
                <a:cs typeface="+mn-cs"/>
              </a:rPr>
              <a:t>In a non-HA deployment, </a:t>
            </a:r>
            <a:r>
              <a:rPr lang="en-US" sz="1200" b="0" i="0" kern="1200" dirty="0" err="1" smtClean="0">
                <a:solidFill>
                  <a:schemeClr val="tx1"/>
                </a:solidFill>
                <a:effectLst/>
                <a:latin typeface="+mn-lt"/>
                <a:ea typeface="+mn-ea"/>
                <a:cs typeface="+mn-cs"/>
              </a:rPr>
              <a:t>checkpointing</a:t>
            </a:r>
            <a:r>
              <a:rPr lang="en-US" sz="1200" b="0" i="0" kern="1200" dirty="0" smtClean="0">
                <a:solidFill>
                  <a:schemeClr val="tx1"/>
                </a:solidFill>
                <a:effectLst/>
                <a:latin typeface="+mn-lt"/>
                <a:ea typeface="+mn-ea"/>
                <a:cs typeface="+mn-cs"/>
              </a:rPr>
              <a:t> is done on the </a:t>
            </a:r>
            <a:r>
              <a:rPr lang="en-US" sz="1200" b="0" i="0" kern="1200" dirty="0" err="1" smtClean="0">
                <a:solidFill>
                  <a:schemeClr val="tx1"/>
                </a:solidFill>
                <a:effectLst/>
                <a:latin typeface="+mn-lt"/>
                <a:ea typeface="+mn-ea"/>
                <a:cs typeface="+mn-cs"/>
              </a:rPr>
              <a:t>SecondaryNameNode</a:t>
            </a:r>
            <a:r>
              <a:rPr lang="en-US" sz="1200" b="0" i="0" kern="1200" dirty="0" smtClean="0">
                <a:solidFill>
                  <a:schemeClr val="tx1"/>
                </a:solidFill>
                <a:effectLst/>
                <a:latin typeface="+mn-lt"/>
                <a:ea typeface="+mn-ea"/>
                <a:cs typeface="+mn-cs"/>
              </a:rPr>
              <a:t> rather than the standby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Standby </a:t>
            </a:r>
            <a:r>
              <a:rPr lang="en-US" b="1" dirty="0" err="1" smtClean="0"/>
              <a:t>NameNode</a:t>
            </a:r>
            <a:r>
              <a:rPr lang="en-US" b="1" dirty="0" smtClean="0"/>
              <a:t> replaces the Secondary </a:t>
            </a:r>
            <a:r>
              <a:rPr lang="en-US" b="1" dirty="0" err="1" smtClean="0"/>
              <a:t>NameNode</a:t>
            </a:r>
            <a:r>
              <a:rPr lang="en-US" b="1" dirty="0" smtClean="0"/>
              <a:t> in Hadoop HA clusters by providing both </a:t>
            </a:r>
            <a:r>
              <a:rPr lang="en-US" b="1" dirty="0" err="1" smtClean="0"/>
              <a:t>checkpointing</a:t>
            </a:r>
            <a:r>
              <a:rPr lang="en-US" b="1" dirty="0" smtClean="0"/>
              <a:t> and automatic failover.</a:t>
            </a:r>
            <a:endParaRPr lang="en-US" dirty="0" smtClean="0"/>
          </a:p>
          <a:p>
            <a:r>
              <a:rPr lang="en-US" b="1" dirty="0" smtClean="0"/>
              <a:t>Secondary </a:t>
            </a:r>
            <a:r>
              <a:rPr lang="en-US" b="1" dirty="0" err="1" smtClean="0"/>
              <a:t>NameNode</a:t>
            </a:r>
            <a:r>
              <a:rPr lang="en-US" dirty="0" smtClean="0"/>
              <a:t> → restart optimization</a:t>
            </a:r>
          </a:p>
          <a:p>
            <a:r>
              <a:rPr lang="en-US" b="1" dirty="0" smtClean="0"/>
              <a:t>Standby </a:t>
            </a:r>
            <a:r>
              <a:rPr lang="en-US" b="1" dirty="0" err="1" smtClean="0"/>
              <a:t>NameNode</a:t>
            </a:r>
            <a:r>
              <a:rPr lang="en-US" dirty="0" smtClean="0"/>
              <a:t> → availability + recovery + </a:t>
            </a:r>
            <a:r>
              <a:rPr lang="en-US" dirty="0" err="1" smtClean="0"/>
              <a:t>checkpointing</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21</a:t>
            </a:fld>
            <a:endParaRPr lang="en-US"/>
          </a:p>
        </p:txBody>
      </p:sp>
    </p:spTree>
    <p:extLst>
      <p:ext uri="{BB962C8B-B14F-4D97-AF65-F5344CB8AC3E}">
        <p14:creationId xmlns:p14="http://schemas.microsoft.com/office/powerpoint/2010/main" val="1849195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a:t>
            </a:r>
            <a:r>
              <a:rPr lang="en-US" baseline="0" dirty="0" smtClean="0"/>
              <a:t>ce https://data-flair.training/blogs/wp-content/uploads/sites/2/2017/06/HDFS-secondary-namenode.jpg</a:t>
            </a:r>
          </a:p>
          <a:p>
            <a:endParaRPr lang="en-US" baseline="0" dirty="0" smtClean="0"/>
          </a:p>
          <a:p>
            <a:r>
              <a:rPr lang="en-US" b="1" dirty="0" smtClean="0"/>
              <a:t>Secondary </a:t>
            </a:r>
            <a:r>
              <a:rPr lang="en-US" b="1" dirty="0" err="1" smtClean="0"/>
              <a:t>NameNode</a:t>
            </a:r>
            <a:r>
              <a:rPr lang="en-US" b="1" dirty="0" smtClean="0"/>
              <a:t> </a:t>
            </a:r>
            <a:r>
              <a:rPr lang="en-US" b="1" dirty="0" err="1" smtClean="0"/>
              <a:t>Checkpointing</a:t>
            </a:r>
            <a:r>
              <a:rPr lang="en-US" b="1" dirty="0" smtClean="0"/>
              <a:t> Flow (Explained)</a:t>
            </a:r>
          </a:p>
          <a:p>
            <a:r>
              <a:rPr lang="en-US" b="1" dirty="0" smtClean="0"/>
              <a:t>Step-by-step flow:</a:t>
            </a:r>
            <a:endParaRPr lang="en-US" dirty="0" smtClean="0"/>
          </a:p>
          <a:p>
            <a:r>
              <a:rPr lang="en-US" b="1" dirty="0" err="1" smtClean="0"/>
              <a:t>NameNode</a:t>
            </a:r>
            <a:r>
              <a:rPr lang="en-US" b="1" dirty="0" smtClean="0"/>
              <a:t> runs continuously</a:t>
            </a:r>
            <a:endParaRPr lang="en-US" dirty="0" smtClean="0"/>
          </a:p>
          <a:p>
            <a:pPr lvl="1"/>
            <a:r>
              <a:rPr lang="en-US" dirty="0" err="1" smtClean="0"/>
              <a:t>FsImage</a:t>
            </a:r>
            <a:r>
              <a:rPr lang="en-US" dirty="0" smtClean="0"/>
              <a:t> = old snapshot</a:t>
            </a:r>
          </a:p>
          <a:p>
            <a:pPr lvl="1"/>
            <a:r>
              <a:rPr lang="en-US" dirty="0" err="1" smtClean="0"/>
              <a:t>EditLogs</a:t>
            </a:r>
            <a:r>
              <a:rPr lang="en-US" dirty="0" smtClean="0"/>
              <a:t> = growing changes</a:t>
            </a:r>
          </a:p>
          <a:p>
            <a:r>
              <a:rPr lang="en-US" b="1" dirty="0" smtClean="0"/>
              <a:t>Secondary </a:t>
            </a:r>
            <a:r>
              <a:rPr lang="en-US" b="1" dirty="0" err="1" smtClean="0"/>
              <a:t>NameNode</a:t>
            </a:r>
            <a:r>
              <a:rPr lang="en-US" b="1" dirty="0" smtClean="0"/>
              <a:t> starts checkpoint</a:t>
            </a:r>
            <a:endParaRPr lang="en-US" dirty="0" smtClean="0"/>
          </a:p>
          <a:p>
            <a:pPr lvl="1"/>
            <a:r>
              <a:rPr lang="en-US" dirty="0" smtClean="0"/>
              <a:t>Downloads </a:t>
            </a:r>
            <a:r>
              <a:rPr lang="en-US" b="1" dirty="0" err="1" smtClean="0"/>
              <a:t>FsImage</a:t>
            </a:r>
            <a:r>
              <a:rPr lang="en-US" b="1" dirty="0" smtClean="0"/>
              <a:t> + </a:t>
            </a:r>
            <a:r>
              <a:rPr lang="en-US" b="1" dirty="0" err="1" smtClean="0"/>
              <a:t>EditLogs</a:t>
            </a:r>
            <a:r>
              <a:rPr lang="en-US" dirty="0" smtClean="0"/>
              <a:t> from </a:t>
            </a:r>
            <a:r>
              <a:rPr lang="en-US" dirty="0" err="1" smtClean="0"/>
              <a:t>NameNode</a:t>
            </a:r>
            <a:endParaRPr lang="en-US" dirty="0" smtClean="0"/>
          </a:p>
          <a:p>
            <a:r>
              <a:rPr lang="en-US" b="1" dirty="0" smtClean="0"/>
              <a:t>Merge process</a:t>
            </a:r>
            <a:endParaRPr lang="en-US" dirty="0" smtClean="0"/>
          </a:p>
          <a:p>
            <a:pPr lvl="1"/>
            <a:r>
              <a:rPr lang="en-US" dirty="0" smtClean="0"/>
              <a:t>Applies all </a:t>
            </a:r>
            <a:r>
              <a:rPr lang="en-US" dirty="0" err="1" smtClean="0"/>
              <a:t>EditLogs</a:t>
            </a:r>
            <a:r>
              <a:rPr lang="en-US" dirty="0" smtClean="0"/>
              <a:t> to </a:t>
            </a:r>
            <a:r>
              <a:rPr lang="en-US" dirty="0" err="1" smtClean="0"/>
              <a:t>FsImage</a:t>
            </a:r>
            <a:endParaRPr lang="en-US" dirty="0" smtClean="0"/>
          </a:p>
          <a:p>
            <a:pPr lvl="1"/>
            <a:r>
              <a:rPr lang="en-US" dirty="0" smtClean="0"/>
              <a:t>Creates a </a:t>
            </a:r>
            <a:r>
              <a:rPr lang="en-US" b="1" dirty="0" smtClean="0"/>
              <a:t>new updated </a:t>
            </a:r>
            <a:r>
              <a:rPr lang="en-US" b="1" dirty="0" err="1" smtClean="0"/>
              <a:t>FsImage</a:t>
            </a:r>
            <a:endParaRPr lang="en-US" dirty="0" smtClean="0"/>
          </a:p>
          <a:p>
            <a:r>
              <a:rPr lang="en-US" b="1" dirty="0" smtClean="0"/>
              <a:t>Checkpoint upload</a:t>
            </a:r>
            <a:endParaRPr lang="en-US" dirty="0" smtClean="0"/>
          </a:p>
          <a:p>
            <a:pPr lvl="1"/>
            <a:r>
              <a:rPr lang="en-US" dirty="0" smtClean="0"/>
              <a:t>Sends merged </a:t>
            </a:r>
            <a:r>
              <a:rPr lang="en-US" dirty="0" err="1" smtClean="0"/>
              <a:t>FsImage</a:t>
            </a:r>
            <a:r>
              <a:rPr lang="en-US" dirty="0" smtClean="0"/>
              <a:t> back to </a:t>
            </a:r>
            <a:r>
              <a:rPr lang="en-US" dirty="0" err="1" smtClean="0"/>
              <a:t>NameNode</a:t>
            </a:r>
            <a:endParaRPr lang="en-US" dirty="0" smtClean="0"/>
          </a:p>
          <a:p>
            <a:r>
              <a:rPr lang="en-US" b="1" dirty="0" smtClean="0"/>
              <a:t>Cleanup</a:t>
            </a:r>
            <a:endParaRPr lang="en-US" dirty="0" smtClean="0"/>
          </a:p>
          <a:p>
            <a:pPr lvl="1"/>
            <a:r>
              <a:rPr lang="en-US" dirty="0" err="1" smtClean="0"/>
              <a:t>NameNode</a:t>
            </a:r>
            <a:r>
              <a:rPr lang="en-US" dirty="0" smtClean="0"/>
              <a:t> replaces old </a:t>
            </a:r>
            <a:r>
              <a:rPr lang="en-US" dirty="0" err="1" smtClean="0"/>
              <a:t>FsImage</a:t>
            </a:r>
            <a:endParaRPr lang="en-US" dirty="0" smtClean="0"/>
          </a:p>
          <a:p>
            <a:pPr lvl="1"/>
            <a:r>
              <a:rPr lang="en-US" dirty="0" err="1" smtClean="0"/>
              <a:t>EditLogs</a:t>
            </a:r>
            <a:r>
              <a:rPr lang="en-US" dirty="0" smtClean="0"/>
              <a:t> are reset (small again)</a:t>
            </a:r>
          </a:p>
          <a:p>
            <a:r>
              <a:rPr lang="en-US" dirty="0" smtClean="0"/>
              <a:t>👉 Result: </a:t>
            </a:r>
            <a:r>
              <a:rPr lang="en-US" b="1" dirty="0" smtClean="0"/>
              <a:t>Fast restart + stable metadata management</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22</a:t>
            </a:fld>
            <a:endParaRPr lang="en-US"/>
          </a:p>
        </p:txBody>
      </p:sp>
    </p:spTree>
    <p:extLst>
      <p:ext uri="{BB962C8B-B14F-4D97-AF65-F5344CB8AC3E}">
        <p14:creationId xmlns:p14="http://schemas.microsoft.com/office/powerpoint/2010/main" val="1539108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23</a:t>
            </a:fld>
            <a:endParaRPr lang="en-US"/>
          </a:p>
        </p:txBody>
      </p:sp>
    </p:spTree>
    <p:extLst>
      <p:ext uri="{BB962C8B-B14F-4D97-AF65-F5344CB8AC3E}">
        <p14:creationId xmlns:p14="http://schemas.microsoft.com/office/powerpoint/2010/main" val="512968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HDFS:</a:t>
            </a:r>
          </a:p>
          <a:p>
            <a:r>
              <a:rPr lang="en-US" b="1" dirty="0" smtClean="0"/>
              <a:t>Metadata is stored in the </a:t>
            </a:r>
            <a:r>
              <a:rPr lang="en-US" b="1" dirty="0" err="1" smtClean="0"/>
              <a:t>NameNode’s</a:t>
            </a:r>
            <a:r>
              <a:rPr lang="en-US" b="1" dirty="0" smtClean="0"/>
              <a:t> RAM.</a:t>
            </a:r>
            <a:r>
              <a:rPr lang="en-US" dirty="0" smtClean="0"/>
              <a:t/>
            </a:r>
            <a:br>
              <a:rPr lang="en-US" dirty="0" smtClean="0"/>
            </a:br>
            <a:r>
              <a:rPr lang="en-US" dirty="0" smtClean="0"/>
              <a:t>Every file and every block consumes memory.</a:t>
            </a:r>
          </a:p>
          <a:p>
            <a:r>
              <a:rPr lang="en-US" dirty="0" smtClean="0"/>
              <a:t>HDFS is optimized for:</a:t>
            </a:r>
          </a:p>
          <a:p>
            <a:r>
              <a:rPr lang="en-US" dirty="0" smtClean="0"/>
              <a:t>Few </a:t>
            </a:r>
            <a:r>
              <a:rPr lang="en-US" b="1" dirty="0" smtClean="0"/>
              <a:t>very large files</a:t>
            </a:r>
            <a:endParaRPr lang="en-US" dirty="0" smtClean="0"/>
          </a:p>
          <a:p>
            <a:r>
              <a:rPr lang="en-US" dirty="0" smtClean="0"/>
              <a:t>Not millions of small files</a:t>
            </a:r>
          </a:p>
          <a:p>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LARGE FILE STORAGE</a:t>
            </a:r>
            <a:br>
              <a:rPr lang="en-US" b="1" dirty="0" smtClean="0"/>
            </a:br>
            <a:r>
              <a:rPr lang="en-US" dirty="0" smtClean="0"/>
              <a:t>Few files</a:t>
            </a:r>
            <a:br>
              <a:rPr lang="en-US" dirty="0" smtClean="0"/>
            </a:br>
            <a:r>
              <a:rPr lang="en-US" dirty="0" smtClean="0"/>
              <a:t>Few blocks</a:t>
            </a:r>
            <a:br>
              <a:rPr lang="en-US" dirty="0" smtClean="0"/>
            </a:br>
            <a:r>
              <a:rPr lang="en-US" dirty="0" smtClean="0"/>
              <a:t>Low metadata</a:t>
            </a:r>
            <a:br>
              <a:rPr lang="en-US" dirty="0" smtClean="0"/>
            </a:br>
            <a:r>
              <a:rPr lang="en-US" dirty="0" smtClean="0"/>
              <a:t>High efficiency</a:t>
            </a:r>
            <a:br>
              <a:rPr lang="en-US" dirty="0" smtClean="0"/>
            </a:br>
            <a:r>
              <a:rPr lang="en-US" dirty="0" smtClean="0"/>
              <a:t>Fast restart</a:t>
            </a:r>
            <a:br>
              <a:rPr lang="en-US" dirty="0" smtClean="0"/>
            </a:br>
            <a:r>
              <a:rPr lang="en-US" dirty="0" smtClean="0"/>
              <a:t/>
            </a:r>
            <a:br>
              <a:rPr lang="en-US" dirty="0" smtClean="0"/>
            </a:br>
            <a:r>
              <a:rPr lang="en-US" b="1" dirty="0" smtClean="0"/>
              <a:t>SMALL FILE STORAGE</a:t>
            </a:r>
            <a:br>
              <a:rPr lang="en-US" b="1" dirty="0" smtClean="0"/>
            </a:br>
            <a:r>
              <a:rPr lang="en-US" dirty="0" smtClean="0"/>
              <a:t>Millions of files</a:t>
            </a:r>
            <a:br>
              <a:rPr lang="en-US" dirty="0" smtClean="0"/>
            </a:br>
            <a:r>
              <a:rPr lang="en-US" dirty="0" smtClean="0"/>
              <a:t>Millions of blocks</a:t>
            </a:r>
            <a:br>
              <a:rPr lang="en-US" dirty="0" smtClean="0"/>
            </a:br>
            <a:r>
              <a:rPr lang="en-US" dirty="0" smtClean="0"/>
              <a:t>High metadata usage</a:t>
            </a:r>
            <a:br>
              <a:rPr lang="en-US" dirty="0" smtClean="0"/>
            </a:br>
            <a:r>
              <a:rPr lang="en-US" dirty="0" smtClean="0"/>
              <a:t>Wasted block space</a:t>
            </a:r>
            <a:br>
              <a:rPr lang="en-US" dirty="0" smtClean="0"/>
            </a:br>
            <a:r>
              <a:rPr lang="en-US" dirty="0" smtClean="0"/>
              <a:t>Slow restart</a:t>
            </a:r>
            <a:br>
              <a:rPr lang="en-US" dirty="0" smtClean="0"/>
            </a:br>
            <a:r>
              <a:rPr lang="en-US" dirty="0" err="1" smtClean="0"/>
              <a:t>NameNode</a:t>
            </a:r>
            <a:r>
              <a:rPr lang="en-US" dirty="0" smtClean="0"/>
              <a:t> bottleneck</a:t>
            </a:r>
          </a:p>
          <a:p>
            <a:endParaRPr lang="en-US" dirty="0" smtClean="0"/>
          </a:p>
        </p:txBody>
      </p:sp>
      <p:sp>
        <p:nvSpPr>
          <p:cNvPr id="4" name="Slide Number Placeholder 3"/>
          <p:cNvSpPr>
            <a:spLocks noGrp="1"/>
          </p:cNvSpPr>
          <p:nvPr>
            <p:ph type="sldNum" sz="quarter" idx="10"/>
          </p:nvPr>
        </p:nvSpPr>
        <p:spPr/>
        <p:txBody>
          <a:bodyPr/>
          <a:lstStyle/>
          <a:p>
            <a:fld id="{EB363088-F16C-4FAF-8BB4-7C6C9F3D1EC9}" type="slidenum">
              <a:rPr lang="en-US" smtClean="0"/>
              <a:t>24</a:t>
            </a:fld>
            <a:endParaRPr lang="en-US"/>
          </a:p>
        </p:txBody>
      </p:sp>
    </p:spTree>
    <p:extLst>
      <p:ext uri="{BB962C8B-B14F-4D97-AF65-F5344CB8AC3E}">
        <p14:creationId xmlns:p14="http://schemas.microsoft.com/office/powerpoint/2010/main" val="3450721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25</a:t>
            </a:fld>
            <a:endParaRPr lang="en-US"/>
          </a:p>
        </p:txBody>
      </p:sp>
    </p:spTree>
    <p:extLst>
      <p:ext uri="{BB962C8B-B14F-4D97-AF65-F5344CB8AC3E}">
        <p14:creationId xmlns:p14="http://schemas.microsoft.com/office/powerpoint/2010/main" val="38035715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Monitoring Disk Usage</a:t>
            </a:r>
          </a:p>
          <a:p>
            <a:r>
              <a:rPr lang="en-US" dirty="0" smtClean="0"/>
              <a:t>The balancer </a:t>
            </a:r>
            <a:r>
              <a:rPr lang="en-US" b="1" dirty="0" smtClean="0"/>
              <a:t>checks each </a:t>
            </a:r>
            <a:r>
              <a:rPr lang="en-US" b="1" dirty="0" err="1" smtClean="0"/>
              <a:t>DataNode’s</a:t>
            </a:r>
            <a:r>
              <a:rPr lang="en-US" b="1" dirty="0" smtClean="0"/>
              <a:t> disk utilization</a:t>
            </a:r>
            <a:r>
              <a:rPr lang="en-US" dirty="0" smtClean="0"/>
              <a:t>.</a:t>
            </a:r>
          </a:p>
          <a:p>
            <a:r>
              <a:rPr lang="en-US" dirty="0" smtClean="0"/>
              <a:t>It collects metrics like </a:t>
            </a:r>
            <a:r>
              <a:rPr lang="en-US" b="1" dirty="0" smtClean="0"/>
              <a:t>used space vs total space</a:t>
            </a:r>
            <a:r>
              <a:rPr lang="en-US" dirty="0" smtClean="0"/>
              <a:t>.</a:t>
            </a:r>
          </a:p>
          <a:p>
            <a:r>
              <a:rPr lang="en-US" dirty="0" smtClean="0"/>
              <a:t>Example:</a:t>
            </a:r>
          </a:p>
          <a:p>
            <a:pPr lvl="1"/>
            <a:r>
              <a:rPr lang="en-US" dirty="0" smtClean="0"/>
              <a:t>Node 1: 90% full</a:t>
            </a:r>
          </a:p>
          <a:p>
            <a:pPr lvl="1"/>
            <a:r>
              <a:rPr lang="en-US" dirty="0" smtClean="0"/>
              <a:t>Node 2: 60% full</a:t>
            </a:r>
          </a:p>
          <a:p>
            <a:pPr lvl="1"/>
            <a:r>
              <a:rPr lang="en-US" dirty="0" smtClean="0"/>
              <a:t>Node 3: 30% full</a:t>
            </a:r>
          </a:p>
          <a:p>
            <a:r>
              <a:rPr lang="en-US" b="1" dirty="0" smtClean="0"/>
              <a:t>2. Identifying Imbalances</a:t>
            </a:r>
          </a:p>
          <a:p>
            <a:r>
              <a:rPr lang="en-US" b="1" dirty="0" smtClean="0"/>
              <a:t>Over-utilized nodes:</a:t>
            </a:r>
            <a:r>
              <a:rPr lang="en-US" dirty="0" smtClean="0"/>
              <a:t> Nodes storing significantly more data than the cluster average.</a:t>
            </a:r>
          </a:p>
          <a:p>
            <a:r>
              <a:rPr lang="en-US" b="1" dirty="0" smtClean="0"/>
              <a:t>Under-utilized nodes:</a:t>
            </a:r>
            <a:r>
              <a:rPr lang="en-US" dirty="0" smtClean="0"/>
              <a:t> Nodes storing less data than the cluster average.</a:t>
            </a:r>
          </a:p>
          <a:p>
            <a:r>
              <a:rPr lang="en-US" dirty="0" smtClean="0"/>
              <a:t>The balancer calculates a </a:t>
            </a:r>
            <a:r>
              <a:rPr lang="en-US" b="1" dirty="0" smtClean="0"/>
              <a:t>threshold</a:t>
            </a:r>
            <a:r>
              <a:rPr lang="en-US" dirty="0" smtClean="0"/>
              <a:t> (default 10%). Nodes beyond this are candidates for block movement.</a:t>
            </a:r>
          </a:p>
          <a:p>
            <a:r>
              <a:rPr lang="en-US" b="1" dirty="0" smtClean="0"/>
              <a:t>3. Gradual Block Movement</a:t>
            </a:r>
          </a:p>
          <a:p>
            <a:r>
              <a:rPr lang="en-US" dirty="0" smtClean="0"/>
              <a:t>The balancer </a:t>
            </a:r>
            <a:r>
              <a:rPr lang="en-US" b="1" dirty="0" smtClean="0"/>
              <a:t>moves HDFS blocks</a:t>
            </a:r>
            <a:r>
              <a:rPr lang="en-US" dirty="0" smtClean="0"/>
              <a:t> from full nodes to emptier nodes.</a:t>
            </a:r>
          </a:p>
          <a:p>
            <a:r>
              <a:rPr lang="en-US" dirty="0" smtClean="0"/>
              <a:t>Example: Node 1 may transfer some blocks to Node 3 until both reach similar usage.</a:t>
            </a:r>
          </a:p>
          <a:p>
            <a:r>
              <a:rPr lang="en-US" dirty="0" smtClean="0"/>
              <a:t>It </a:t>
            </a:r>
            <a:r>
              <a:rPr lang="en-US" b="1" dirty="0" smtClean="0"/>
              <a:t>respects HDFS rules</a:t>
            </a:r>
            <a:r>
              <a:rPr lang="en-US" dirty="0" smtClean="0"/>
              <a:t>, including:</a:t>
            </a:r>
          </a:p>
          <a:p>
            <a:pPr lvl="1"/>
            <a:r>
              <a:rPr lang="en-US" b="1" dirty="0" smtClean="0"/>
              <a:t>Replication factor</a:t>
            </a:r>
            <a:r>
              <a:rPr lang="en-US" dirty="0" smtClean="0"/>
              <a:t>: No block loses its replicas.</a:t>
            </a:r>
          </a:p>
          <a:p>
            <a:pPr lvl="1"/>
            <a:r>
              <a:rPr lang="en-US" b="1" dirty="0" smtClean="0"/>
              <a:t>Data integrity</a:t>
            </a:r>
            <a:r>
              <a:rPr lang="en-US" dirty="0" smtClean="0"/>
              <a:t>: Blocks are never partially moved; they are copied first, then the original is deleted once confirmed.</a:t>
            </a:r>
          </a:p>
          <a:p>
            <a:r>
              <a:rPr lang="en-US" b="1" dirty="0" smtClean="0"/>
              <a:t>4. Important Features</a:t>
            </a:r>
          </a:p>
          <a:p>
            <a:r>
              <a:rPr lang="en-US" b="1" dirty="0" smtClean="0"/>
              <a:t>No downtime</a:t>
            </a:r>
            <a:endParaRPr lang="en-US" dirty="0" smtClean="0"/>
          </a:p>
          <a:p>
            <a:pPr lvl="1"/>
            <a:r>
              <a:rPr lang="en-US" dirty="0" smtClean="0"/>
              <a:t>The cluster continues serving read/write requests while balancing occurs.</a:t>
            </a:r>
          </a:p>
          <a:p>
            <a:pPr lvl="1"/>
            <a:r>
              <a:rPr lang="en-US" dirty="0" smtClean="0"/>
              <a:t>Users don’t notice any interruption.</a:t>
            </a:r>
          </a:p>
          <a:p>
            <a:r>
              <a:rPr lang="en-US" b="1" dirty="0" smtClean="0"/>
              <a:t>Data integrity is preserved</a:t>
            </a:r>
            <a:endParaRPr lang="en-US" dirty="0" smtClean="0"/>
          </a:p>
          <a:p>
            <a:pPr lvl="1"/>
            <a:r>
              <a:rPr lang="en-US" dirty="0" smtClean="0"/>
              <a:t>Blocks are copied safely; replication rules are strictly enforced.</a:t>
            </a:r>
          </a:p>
          <a:p>
            <a:pPr lvl="1"/>
            <a:r>
              <a:rPr lang="en-US" dirty="0" smtClean="0"/>
              <a:t>HDFS ensures that even if a node fails during balancing, data is safe.</a:t>
            </a:r>
          </a:p>
          <a:p>
            <a:r>
              <a:rPr lang="en-US" b="1" dirty="0" smtClean="0"/>
              <a:t>Throttled movement</a:t>
            </a:r>
            <a:endParaRPr lang="en-US" dirty="0" smtClean="0"/>
          </a:p>
          <a:p>
            <a:pPr lvl="1"/>
            <a:r>
              <a:rPr lang="en-US" dirty="0" smtClean="0"/>
              <a:t>To avoid saturating the network, the balancer moves blocks at a controlled speed.</a:t>
            </a:r>
          </a:p>
          <a:p>
            <a:pPr lvl="1"/>
            <a:r>
              <a:rPr lang="en-US" dirty="0" smtClean="0"/>
              <a:t>Administrators can adjust the </a:t>
            </a:r>
            <a:r>
              <a:rPr lang="en-US" b="1" dirty="0" smtClean="0"/>
              <a:t>bandwidth limit</a:t>
            </a:r>
            <a:r>
              <a:rPr lang="en-US" dirty="0" smtClean="0"/>
              <a:t>, e.g., only use 50% of network capacity.</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26</a:t>
            </a:fld>
            <a:endParaRPr lang="en-US"/>
          </a:p>
        </p:txBody>
      </p:sp>
    </p:spTree>
    <p:extLst>
      <p:ext uri="{BB962C8B-B14F-4D97-AF65-F5344CB8AC3E}">
        <p14:creationId xmlns:p14="http://schemas.microsoft.com/office/powerpoint/2010/main" val="2842427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source:</a:t>
            </a:r>
            <a:r>
              <a:rPr lang="en-US" baseline="0" dirty="0" smtClean="0"/>
              <a:t> https://medium.com/@mukulranjan/understanding-hdfs-architecture-a58ecb1bf808</a:t>
            </a:r>
          </a:p>
          <a:p>
            <a:endParaRPr lang="en-US" baseline="0" dirty="0" smtClean="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Client requests metadata</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rPr>
              <a:t>Client contacts the </a:t>
            </a:r>
            <a:r>
              <a:rPr kumimoji="0" lang="en-US" altLang="en-US" sz="1200" b="1" i="0" u="none" strike="noStrike" cap="none" normalizeH="0" baseline="0" dirty="0" err="1" smtClean="0">
                <a:ln>
                  <a:noFill/>
                </a:ln>
                <a:solidFill>
                  <a:schemeClr val="tx1"/>
                </a:solidFill>
                <a:effectLst/>
              </a:rPr>
              <a:t>NameNode</a:t>
            </a:r>
            <a:r>
              <a:rPr kumimoji="0" lang="en-US" altLang="en-US" sz="1200" b="0" i="0" u="none" strike="noStrike" cap="none" normalizeH="0" baseline="0" dirty="0" smtClean="0">
                <a:ln>
                  <a:noFill/>
                </a:ln>
                <a:solidFill>
                  <a:schemeClr val="tx1"/>
                </a:solidFill>
                <a:effectLst/>
              </a:rPr>
              <a:t> to get file and block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rPr>
              <a:t>NameNode</a:t>
            </a:r>
            <a:r>
              <a:rPr kumimoji="0" lang="en-US" altLang="en-US" sz="1200" b="1" i="0" u="none" strike="noStrike" cap="none" normalizeH="0" baseline="0" dirty="0" smtClean="0">
                <a:ln>
                  <a:noFill/>
                </a:ln>
                <a:solidFill>
                  <a:schemeClr val="tx1"/>
                </a:solidFill>
                <a:effectLst/>
              </a:rPr>
              <a:t> returns block locations</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smtClean="0">
                <a:ln>
                  <a:noFill/>
                </a:ln>
                <a:solidFill>
                  <a:schemeClr val="tx1"/>
                </a:solidFill>
                <a:effectLst/>
              </a:rPr>
              <a:t>NameNode</a:t>
            </a:r>
            <a:r>
              <a:rPr kumimoji="0" lang="en-US" altLang="en-US" sz="1200" b="0" i="0" u="none" strike="noStrike" cap="none" normalizeH="0" baseline="0" dirty="0" smtClean="0">
                <a:ln>
                  <a:noFill/>
                </a:ln>
                <a:solidFill>
                  <a:schemeClr val="tx1"/>
                </a:solidFill>
                <a:effectLst/>
              </a:rPr>
              <a:t> provides a list of </a:t>
            </a:r>
            <a:r>
              <a:rPr kumimoji="0" lang="en-US" altLang="en-US" sz="1200" b="1" i="0" u="none" strike="noStrike" cap="none" normalizeH="0" baseline="0" dirty="0" err="1" smtClean="0">
                <a:ln>
                  <a:noFill/>
                </a:ln>
                <a:solidFill>
                  <a:schemeClr val="tx1"/>
                </a:solidFill>
                <a:effectLst/>
              </a:rPr>
              <a:t>DataNodes</a:t>
            </a:r>
            <a:r>
              <a:rPr kumimoji="0" lang="en-US" altLang="en-US" sz="1200" b="0" i="0" u="none" strike="noStrike" cap="none" normalizeH="0" baseline="0" dirty="0" smtClean="0">
                <a:ln>
                  <a:noFill/>
                </a:ln>
                <a:solidFill>
                  <a:schemeClr val="tx1"/>
                </a:solidFill>
                <a:effectLst/>
              </a:rPr>
              <a:t> for each block (B1, B2,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Client reads data directly</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rPr>
              <a:t>Client connects </a:t>
            </a:r>
            <a:r>
              <a:rPr kumimoji="0" lang="en-US" altLang="en-US" sz="1200" b="1" i="0" u="none" strike="noStrike" cap="none" normalizeH="0" baseline="0" dirty="0" smtClean="0">
                <a:ln>
                  <a:noFill/>
                </a:ln>
                <a:solidFill>
                  <a:schemeClr val="tx1"/>
                </a:solidFill>
                <a:effectLst/>
              </a:rPr>
              <a:t>directly to </a:t>
            </a:r>
            <a:r>
              <a:rPr kumimoji="0" lang="en-US" altLang="en-US" sz="1200" b="1" i="0" u="none" strike="noStrike" cap="none" normalizeH="0" baseline="0" dirty="0" err="1" smtClean="0">
                <a:ln>
                  <a:noFill/>
                </a:ln>
                <a:solidFill>
                  <a:schemeClr val="tx1"/>
                </a:solidFill>
                <a:effectLst/>
              </a:rPr>
              <a:t>DataNodes</a:t>
            </a:r>
            <a:r>
              <a:rPr kumimoji="0" lang="en-US" altLang="en-US" sz="1200" b="0" i="0" u="none" strike="noStrike" cap="none" normalizeH="0" baseline="0" dirty="0" smtClean="0">
                <a:ln>
                  <a:noFill/>
                </a:ln>
                <a:solidFill>
                  <a:schemeClr val="tx1"/>
                </a:solidFill>
                <a:effectLst/>
              </a:rPr>
              <a:t> (not through the </a:t>
            </a:r>
            <a:r>
              <a:rPr kumimoji="0" lang="en-US" altLang="en-US" sz="1200" b="0" i="0" u="none" strike="noStrike" cap="none" normalizeH="0" baseline="0" dirty="0" err="1" smtClean="0">
                <a:ln>
                  <a:noFill/>
                </a:ln>
                <a:solidFill>
                  <a:schemeClr val="tx1"/>
                </a:solidFill>
                <a:effectLst/>
              </a:rPr>
              <a:t>NameNode</a:t>
            </a:r>
            <a:r>
              <a:rPr kumimoji="0" lang="en-US" altLang="en-US" sz="12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Parallel data reading</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rPr>
              <a:t>Blocks are read </a:t>
            </a:r>
            <a:r>
              <a:rPr kumimoji="0" lang="en-US" altLang="en-US" sz="1200" b="1" i="0" u="none" strike="noStrike" cap="none" normalizeH="0" baseline="0" dirty="0" smtClean="0">
                <a:ln>
                  <a:noFill/>
                </a:ln>
                <a:solidFill>
                  <a:schemeClr val="tx1"/>
                </a:solidFill>
                <a:effectLst/>
              </a:rPr>
              <a:t>in parallel</a:t>
            </a:r>
            <a:r>
              <a:rPr kumimoji="0" lang="en-US" altLang="en-US" sz="1200" b="0" i="0" u="none" strike="noStrike" cap="none" normalizeH="0" baseline="0" dirty="0" smtClean="0">
                <a:ln>
                  <a:noFill/>
                </a:ln>
                <a:solidFill>
                  <a:schemeClr val="tx1"/>
                </a:solidFill>
                <a:effectLst/>
              </a:rPr>
              <a:t> from multiple </a:t>
            </a:r>
            <a:r>
              <a:rPr kumimoji="0" lang="en-US" altLang="en-US" sz="1200" b="0" i="0" u="none" strike="noStrike" cap="none" normalizeH="0" baseline="0" dirty="0" err="1" smtClean="0">
                <a:ln>
                  <a:noFill/>
                </a:ln>
                <a:solidFill>
                  <a:schemeClr val="tx1"/>
                </a:solidFill>
                <a:effectLst/>
              </a:rPr>
              <a:t>DataNodes</a:t>
            </a:r>
            <a:r>
              <a:rPr kumimoji="0" lang="en-US" altLang="en-US" sz="1200" b="0" i="0" u="none" strike="noStrike" cap="none" normalizeH="0" baseline="0" dirty="0" smtClean="0">
                <a:ln>
                  <a:noFill/>
                </a:ln>
                <a:solidFill>
                  <a:schemeClr val="tx1"/>
                </a:solidFill>
                <a:effectLst/>
              </a:rPr>
              <a:t> for higher throughput.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Failure handling</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rPr>
              <a:t>If a </a:t>
            </a:r>
            <a:r>
              <a:rPr kumimoji="0" lang="en-US" altLang="en-US" sz="1200" b="0" i="0" u="none" strike="noStrike" cap="none" normalizeH="0" baseline="0" dirty="0" err="1" smtClean="0">
                <a:ln>
                  <a:noFill/>
                </a:ln>
                <a:solidFill>
                  <a:schemeClr val="tx1"/>
                </a:solidFill>
                <a:effectLst/>
              </a:rPr>
              <a:t>DataNode</a:t>
            </a:r>
            <a:r>
              <a:rPr kumimoji="0" lang="en-US" altLang="en-US" sz="1200" b="0" i="0" u="none" strike="noStrike" cap="none" normalizeH="0" baseline="0" dirty="0" smtClean="0">
                <a:ln>
                  <a:noFill/>
                </a:ln>
                <a:solidFill>
                  <a:schemeClr val="tx1"/>
                </a:solidFill>
                <a:effectLst/>
              </a:rPr>
              <a:t> fails or a block is corrupted, the client automatically reads from the </a:t>
            </a:r>
            <a:r>
              <a:rPr kumimoji="0" lang="en-US" altLang="en-US" sz="1200" b="1" i="0" u="none" strike="noStrike" cap="none" normalizeH="0" baseline="0" dirty="0" smtClean="0">
                <a:ln>
                  <a:noFill/>
                </a:ln>
                <a:solidFill>
                  <a:schemeClr val="tx1"/>
                </a:solidFill>
                <a:effectLst/>
              </a:rPr>
              <a:t>next </a:t>
            </a:r>
            <a:r>
              <a:rPr kumimoji="0" lang="en-US" altLang="en-US" sz="1200" b="1" i="0" u="none" strike="noStrike" cap="none" normalizeH="0" baseline="0" dirty="0" err="1" smtClean="0">
                <a:ln>
                  <a:noFill/>
                </a:ln>
                <a:solidFill>
                  <a:schemeClr val="tx1"/>
                </a:solidFill>
                <a:effectLst/>
              </a:rPr>
              <a:t>DataNode</a:t>
            </a:r>
            <a:r>
              <a:rPr kumimoji="0" lang="en-US" altLang="en-US" sz="1200" b="1" i="0" u="none" strike="noStrike" cap="none" normalizeH="0" baseline="0" dirty="0" smtClean="0">
                <a:ln>
                  <a:noFill/>
                </a:ln>
                <a:solidFill>
                  <a:schemeClr val="tx1"/>
                </a:solidFill>
                <a:effectLst/>
              </a:rPr>
              <a:t> replica</a:t>
            </a:r>
            <a:r>
              <a:rPr kumimoji="0" lang="en-US" altLang="en-US" sz="1200" b="0" i="0" u="none" strike="noStrike" cap="none" normalizeH="0" baseline="0" dirty="0" smtClean="0">
                <a:ln>
                  <a:noFill/>
                </a:ln>
                <a:solidFill>
                  <a:schemeClr val="tx1"/>
                </a:solidFill>
                <a:effectLst/>
              </a:rPr>
              <a:t> in the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Data flows to client</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rPr>
              <a:t>Data flows </a:t>
            </a:r>
            <a:r>
              <a:rPr kumimoji="0" lang="en-US" altLang="en-US" sz="1200" b="1" i="0" u="none" strike="noStrike" cap="none" normalizeH="0" baseline="0" dirty="0" err="1" smtClean="0">
                <a:ln>
                  <a:noFill/>
                </a:ln>
                <a:solidFill>
                  <a:schemeClr val="tx1"/>
                </a:solidFill>
                <a:effectLst/>
              </a:rPr>
              <a:t>DataNode</a:t>
            </a:r>
            <a:r>
              <a:rPr kumimoji="0" lang="en-US" altLang="en-US" sz="1200" b="1" i="0" u="none" strike="noStrike" cap="none" normalizeH="0" baseline="0" dirty="0" smtClean="0">
                <a:ln>
                  <a:noFill/>
                </a:ln>
                <a:solidFill>
                  <a:schemeClr val="tx1"/>
                </a:solidFill>
                <a:effectLst/>
              </a:rPr>
              <a:t> → Client</a:t>
            </a:r>
            <a:r>
              <a:rPr kumimoji="0" lang="en-US" altLang="en-US" sz="1200" b="0" i="0" u="none" strike="noStrike" cap="none" normalizeH="0" baseline="0" dirty="0" smtClean="0">
                <a:ln>
                  <a:noFill/>
                </a:ln>
                <a:solidFill>
                  <a:schemeClr val="tx1"/>
                </a:solidFill>
                <a:effectLst/>
              </a:rPr>
              <a:t>, ensuring efficiency and scalability.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rgbClr val="C00000"/>
                </a:solidFill>
                <a:effectLst/>
                <a:latin typeface="+mn-lt"/>
                <a:ea typeface="+mn-ea"/>
                <a:cs typeface="+mn-cs"/>
              </a:rPr>
              <a:t>When a client or application receives all the blocks of the file, it combines these blocks into the form of an original file.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rgbClr val="C00000"/>
              </a:solidFill>
              <a:effectLst/>
              <a:latin typeface="+mn-lt"/>
              <a:ea typeface="+mn-ea"/>
              <a:cs typeface="+mn-cs"/>
            </a:endParaRPr>
          </a:p>
          <a:p>
            <a:r>
              <a:rPr lang="en-US" b="1" dirty="0" smtClean="0"/>
              <a:t>4. Short-Circuit Local Reads</a:t>
            </a:r>
          </a:p>
          <a:p>
            <a:r>
              <a:rPr lang="en-US" dirty="0" smtClean="0"/>
              <a:t>In the "Read Operation" section, you explain that clients read from </a:t>
            </a:r>
            <a:r>
              <a:rPr lang="en-US" dirty="0" err="1" smtClean="0"/>
              <a:t>DataNodes</a:t>
            </a:r>
            <a:r>
              <a:rPr lang="en-US" dirty="0" smtClean="0"/>
              <a:t>.</a:t>
            </a:r>
          </a:p>
          <a:p>
            <a:r>
              <a:rPr lang="en-US" b="1" dirty="0" smtClean="0"/>
              <a:t>Improvement:</a:t>
            </a:r>
            <a:r>
              <a:rPr lang="en-US" dirty="0" smtClean="0"/>
              <a:t> If a client (like a Spark task) is running on the </a:t>
            </a:r>
            <a:r>
              <a:rPr lang="en-US" b="1" dirty="0" smtClean="0"/>
              <a:t>same machine</a:t>
            </a:r>
            <a:r>
              <a:rPr lang="en-US" dirty="0" smtClean="0"/>
              <a:t> as the </a:t>
            </a:r>
            <a:r>
              <a:rPr lang="en-US" dirty="0" err="1" smtClean="0"/>
              <a:t>DataNode</a:t>
            </a:r>
            <a:r>
              <a:rPr lang="en-US" dirty="0" smtClean="0"/>
              <a:t> holding the data, it can bypass the network stack and read directly from the local disk. This is called </a:t>
            </a:r>
            <a:r>
              <a:rPr lang="en-US" b="1" dirty="0" smtClean="0"/>
              <a:t>Short-Circuit Local Read</a:t>
            </a:r>
            <a:r>
              <a:rPr lang="en-US" dirty="0" smtClean="0"/>
              <a:t> and is a major performance boost.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rgbClr val="C00000"/>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29</a:t>
            </a:fld>
            <a:endParaRPr lang="en-US"/>
          </a:p>
        </p:txBody>
      </p:sp>
    </p:spTree>
    <p:extLst>
      <p:ext uri="{BB962C8B-B14F-4D97-AF65-F5344CB8AC3E}">
        <p14:creationId xmlns:p14="http://schemas.microsoft.com/office/powerpoint/2010/main" val="22086939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source:</a:t>
            </a:r>
            <a:r>
              <a:rPr lang="en-US" baseline="0" dirty="0" smtClean="0"/>
              <a:t> https://medium.com/@mukulranjan/understanding-hdfs-architecture-a58ecb1bf808</a:t>
            </a:r>
          </a:p>
          <a:p>
            <a:r>
              <a:rPr lang="en-US" b="1" dirty="0" smtClean="0"/>
              <a:t>Client requests write access</a:t>
            </a:r>
            <a:endParaRPr lang="en-US" dirty="0" smtClean="0"/>
          </a:p>
          <a:p>
            <a:pPr lvl="1"/>
            <a:r>
              <a:rPr lang="en-US" dirty="0" smtClean="0"/>
              <a:t>Client contacts the </a:t>
            </a:r>
            <a:r>
              <a:rPr lang="en-US" b="1" dirty="0" err="1" smtClean="0"/>
              <a:t>NameNode</a:t>
            </a:r>
            <a:r>
              <a:rPr lang="en-US" dirty="0" smtClean="0"/>
              <a:t> to create a new file and request metadata.</a:t>
            </a:r>
          </a:p>
          <a:p>
            <a:r>
              <a:rPr lang="en-US" b="1" dirty="0" err="1" smtClean="0"/>
              <a:t>NameNode</a:t>
            </a:r>
            <a:r>
              <a:rPr lang="en-US" b="1" dirty="0" smtClean="0"/>
              <a:t> performs checks</a:t>
            </a:r>
            <a:endParaRPr lang="en-US" dirty="0" smtClean="0"/>
          </a:p>
          <a:p>
            <a:pPr lvl="1"/>
            <a:r>
              <a:rPr lang="en-US" dirty="0" smtClean="0"/>
              <a:t>Verifies file existence, permissions, and client authorization.</a:t>
            </a:r>
          </a:p>
          <a:p>
            <a:r>
              <a:rPr lang="en-US" b="1" dirty="0" smtClean="0"/>
              <a:t>Block &amp; </a:t>
            </a:r>
            <a:r>
              <a:rPr lang="en-US" b="1" dirty="0" err="1" smtClean="0"/>
              <a:t>DataNode</a:t>
            </a:r>
            <a:r>
              <a:rPr lang="en-US" b="1" dirty="0" smtClean="0"/>
              <a:t> assignment</a:t>
            </a:r>
            <a:endParaRPr lang="en-US" dirty="0" smtClean="0"/>
          </a:p>
          <a:p>
            <a:pPr lvl="1"/>
            <a:r>
              <a:rPr lang="en-US" dirty="0" err="1" smtClean="0"/>
              <a:t>NameNode</a:t>
            </a:r>
            <a:r>
              <a:rPr lang="en-US" dirty="0" smtClean="0"/>
              <a:t> returns:</a:t>
            </a:r>
          </a:p>
          <a:p>
            <a:pPr lvl="2"/>
            <a:r>
              <a:rPr lang="en-US" dirty="0" smtClean="0"/>
              <a:t>Block IDs</a:t>
            </a:r>
          </a:p>
          <a:p>
            <a:pPr lvl="2"/>
            <a:r>
              <a:rPr lang="en-US" dirty="0" smtClean="0"/>
              <a:t>List of </a:t>
            </a:r>
            <a:r>
              <a:rPr lang="en-US" b="1" dirty="0" err="1" smtClean="0"/>
              <a:t>DataNodes</a:t>
            </a:r>
            <a:r>
              <a:rPr lang="en-US" dirty="0" smtClean="0"/>
              <a:t> for replicas (e.g., D1, D2, D3 for RF=3)</a:t>
            </a:r>
          </a:p>
          <a:p>
            <a:r>
              <a:rPr lang="en-US" b="1" dirty="0" smtClean="0"/>
              <a:t>Client writes data</a:t>
            </a:r>
            <a:endParaRPr lang="en-US" dirty="0" smtClean="0"/>
          </a:p>
          <a:p>
            <a:pPr lvl="1"/>
            <a:r>
              <a:rPr lang="en-US" dirty="0" smtClean="0"/>
              <a:t>Client writes data </a:t>
            </a:r>
            <a:r>
              <a:rPr lang="en-US" b="1" dirty="0" smtClean="0"/>
              <a:t>directly to the first </a:t>
            </a:r>
            <a:r>
              <a:rPr lang="en-US" b="1" dirty="0" err="1" smtClean="0"/>
              <a:t>DataNode</a:t>
            </a:r>
            <a:r>
              <a:rPr lang="en-US" dirty="0" smtClean="0"/>
              <a:t>.</a:t>
            </a:r>
          </a:p>
          <a:p>
            <a:pPr lvl="1"/>
            <a:r>
              <a:rPr lang="en-US" dirty="0" smtClean="0"/>
              <a:t>Data is replicated in a </a:t>
            </a:r>
            <a:r>
              <a:rPr lang="en-US" b="1" dirty="0" smtClean="0"/>
              <a:t>pipeline</a:t>
            </a:r>
            <a:r>
              <a:rPr lang="en-US" dirty="0" smtClean="0"/>
              <a:t> to other </a:t>
            </a:r>
            <a:r>
              <a:rPr lang="en-US" dirty="0" err="1" smtClean="0"/>
              <a:t>DataNodes</a:t>
            </a:r>
            <a:r>
              <a:rPr lang="en-US" dirty="0" smtClean="0"/>
              <a:t>.</a:t>
            </a:r>
          </a:p>
          <a:p>
            <a:r>
              <a:rPr lang="en-US" b="1" dirty="0" smtClean="0"/>
              <a:t>Replication handling</a:t>
            </a:r>
            <a:endParaRPr lang="en-US" dirty="0" smtClean="0"/>
          </a:p>
          <a:p>
            <a:pPr lvl="1"/>
            <a:r>
              <a:rPr lang="en-US" dirty="0" smtClean="0"/>
              <a:t>Each block is stored on all assigned </a:t>
            </a:r>
            <a:r>
              <a:rPr lang="en-US" dirty="0" err="1" smtClean="0"/>
              <a:t>DataNodes</a:t>
            </a:r>
            <a:r>
              <a:rPr lang="en-US" dirty="0" smtClean="0"/>
              <a:t>.</a:t>
            </a:r>
          </a:p>
          <a:p>
            <a:pPr lvl="1"/>
            <a:r>
              <a:rPr lang="en-US" dirty="0" smtClean="0"/>
              <a:t>Steps repeat until the entire file is written.</a:t>
            </a:r>
          </a:p>
          <a:p>
            <a:r>
              <a:rPr lang="en-US" b="1" dirty="0" smtClean="0"/>
              <a:t>Failure recovery</a:t>
            </a:r>
            <a:endParaRPr lang="en-US" dirty="0" smtClean="0"/>
          </a:p>
          <a:p>
            <a:pPr lvl="1"/>
            <a:r>
              <a:rPr lang="en-US" dirty="0" smtClean="0"/>
              <a:t>If a </a:t>
            </a:r>
            <a:r>
              <a:rPr lang="en-US" dirty="0" err="1" smtClean="0"/>
              <a:t>DataNode</a:t>
            </a:r>
            <a:r>
              <a:rPr lang="en-US" dirty="0" smtClean="0"/>
              <a:t> fails, data is written to remaining nodes.</a:t>
            </a:r>
          </a:p>
          <a:p>
            <a:pPr lvl="1"/>
            <a:r>
              <a:rPr lang="en-US" dirty="0" err="1" smtClean="0"/>
              <a:t>NameNode</a:t>
            </a:r>
            <a:r>
              <a:rPr lang="en-US" dirty="0" smtClean="0"/>
              <a:t> detects </a:t>
            </a:r>
            <a:r>
              <a:rPr lang="en-US" b="1" dirty="0" smtClean="0"/>
              <a:t>under-replication</a:t>
            </a:r>
            <a:r>
              <a:rPr lang="en-US" dirty="0" smtClean="0"/>
              <a:t> and selects a new </a:t>
            </a:r>
            <a:r>
              <a:rPr lang="en-US" dirty="0" err="1" smtClean="0"/>
              <a:t>DataNode</a:t>
            </a:r>
            <a:r>
              <a:rPr lang="en-US" dirty="0" smtClean="0"/>
              <a:t>.</a:t>
            </a:r>
          </a:p>
          <a:p>
            <a:r>
              <a:rPr lang="en-US" b="1" dirty="0" smtClean="0"/>
              <a:t>Acknowledgement</a:t>
            </a:r>
            <a:endParaRPr lang="en-US" dirty="0" smtClean="0"/>
          </a:p>
          <a:p>
            <a:pPr lvl="1"/>
            <a:r>
              <a:rPr lang="en-US" dirty="0" smtClean="0"/>
              <a:t>After required replicas are created, </a:t>
            </a:r>
            <a:r>
              <a:rPr lang="en-US" b="1" dirty="0" smtClean="0"/>
              <a:t>success acknowledgment</a:t>
            </a:r>
            <a:r>
              <a:rPr lang="en-US" dirty="0" smtClean="0"/>
              <a:t> is sent to the client.</a:t>
            </a:r>
          </a:p>
          <a:p>
            <a:r>
              <a:rPr lang="en-US" dirty="0" smtClean="0"/>
              <a:t>Acknowledgments (ACKs) flow </a:t>
            </a:r>
            <a:r>
              <a:rPr lang="en-US" b="1" dirty="0" smtClean="0"/>
              <a:t>backward</a:t>
            </a:r>
            <a:r>
              <a:rPr lang="en-US" dirty="0" smtClean="0"/>
              <a:t> through the pipeline</a:t>
            </a:r>
          </a:p>
          <a:p>
            <a:r>
              <a:rPr lang="en-US" dirty="0" smtClean="0"/>
              <a:t>Write is successful </a:t>
            </a:r>
            <a:r>
              <a:rPr lang="en-US" b="1" dirty="0" smtClean="0"/>
              <a:t>only after all ACKs are received</a:t>
            </a:r>
            <a:endParaRPr lang="en-US" dirty="0" smtClean="0"/>
          </a:p>
          <a:p>
            <a:pPr lvl="1"/>
            <a:endParaRPr lang="en-US" dirty="0" smtClean="0"/>
          </a:p>
          <a:p>
            <a:pPr lvl="1"/>
            <a:endParaRPr lang="en-US" dirty="0" smtClean="0"/>
          </a:p>
          <a:p>
            <a:pPr lvl="1"/>
            <a:r>
              <a:rPr lang="en-US" b="1" dirty="0" err="1" smtClean="0"/>
              <a:t>NameNode</a:t>
            </a:r>
            <a:r>
              <a:rPr lang="en-US" b="1" dirty="0" smtClean="0"/>
              <a:t> manages metadata, while data flows directly from client to </a:t>
            </a:r>
            <a:r>
              <a:rPr lang="en-US" b="1" dirty="0" err="1" smtClean="0"/>
              <a:t>DataNodes</a:t>
            </a:r>
            <a:r>
              <a:rPr lang="en-US" b="1" dirty="0" smtClean="0"/>
              <a:t> for efficient and fault-tolerant writes.</a:t>
            </a:r>
            <a:endParaRPr lang="en-US" b="1" dirty="0"/>
          </a:p>
        </p:txBody>
      </p:sp>
      <p:sp>
        <p:nvSpPr>
          <p:cNvPr id="4" name="Slide Number Placeholder 3"/>
          <p:cNvSpPr>
            <a:spLocks noGrp="1"/>
          </p:cNvSpPr>
          <p:nvPr>
            <p:ph type="sldNum" sz="quarter" idx="10"/>
          </p:nvPr>
        </p:nvSpPr>
        <p:spPr/>
        <p:txBody>
          <a:bodyPr/>
          <a:lstStyle/>
          <a:p>
            <a:fld id="{EB363088-F16C-4FAF-8BB4-7C6C9F3D1EC9}" type="slidenum">
              <a:rPr lang="en-US" smtClean="0"/>
              <a:t>30</a:t>
            </a:fld>
            <a:endParaRPr lang="en-US"/>
          </a:p>
        </p:txBody>
      </p:sp>
    </p:spTree>
    <p:extLst>
      <p:ext uri="{BB962C8B-B14F-4D97-AF65-F5344CB8AC3E}">
        <p14:creationId xmlns:p14="http://schemas.microsoft.com/office/powerpoint/2010/main" val="2941427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Image source: https://data-flair.training/blogs/wp-content/uploads/sites/2/2020/02/hadoop-cluster.jpg</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Nodes </a:t>
            </a:r>
            <a:r>
              <a:rPr lang="en-US" dirty="0" smtClean="0"/>
              <a:t>in the same rack typically have </a:t>
            </a:r>
            <a:r>
              <a:rPr lang="en-US" b="1" dirty="0" smtClean="0"/>
              <a:t>faster network connectivity</a:t>
            </a:r>
            <a:r>
              <a:rPr lang="en-US" dirty="0" smtClean="0"/>
              <a:t> with each other than with nodes in other racks.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Large clusters often have </a:t>
            </a:r>
            <a:r>
              <a:rPr lang="en-US" b="1" dirty="0" smtClean="0"/>
              <a:t>hundreds or thousands of nodes</a:t>
            </a:r>
            <a:r>
              <a:rPr lang="en-US" dirty="0" smtClean="0"/>
              <a:t>, which cannot fit in a single rack.</a:t>
            </a:r>
          </a:p>
          <a:p>
            <a:endParaRPr lang="en-US" dirty="0" smtClean="0"/>
          </a:p>
          <a:p>
            <a:r>
              <a:rPr lang="en-US" dirty="0" smtClean="0"/>
              <a:t>Rack Awareness is a placement policy used by HDFS to:</a:t>
            </a:r>
          </a:p>
          <a:p>
            <a:r>
              <a:rPr lang="en-US" dirty="0" smtClean="0"/>
              <a:t>Intelligently distribute block replicas across different racks.</a:t>
            </a:r>
          </a:p>
          <a:p>
            <a:r>
              <a:rPr lang="en-US" dirty="0" smtClean="0"/>
              <a:t>The </a:t>
            </a:r>
            <a:r>
              <a:rPr lang="en-US" b="1" dirty="0" err="1" smtClean="0"/>
              <a:t>NameNode</a:t>
            </a:r>
            <a:r>
              <a:rPr lang="en-US" dirty="0" smtClean="0"/>
              <a:t> knows the rack topology and uses it when deciding where to store replicas.</a:t>
            </a:r>
          </a:p>
          <a:p>
            <a:endParaRPr lang="en-US" dirty="0" smtClean="0"/>
          </a:p>
          <a:p>
            <a:r>
              <a:rPr lang="en-US" b="1" dirty="0" smtClean="0"/>
              <a:t>Replica Placement Strategy (Replication Factor = 3)</a:t>
            </a:r>
          </a:p>
          <a:p>
            <a:r>
              <a:rPr lang="en-US" dirty="0" smtClean="0"/>
              <a:t>In modern rack-aware </a:t>
            </a:r>
            <a:r>
              <a:rPr lang="en-US" b="1" dirty="0" smtClean="0"/>
              <a:t>HDFS (Apache Hadoop)</a:t>
            </a:r>
            <a:r>
              <a:rPr lang="en-US" dirty="0" smtClean="0"/>
              <a:t>, the standard policy is:</a:t>
            </a:r>
          </a:p>
          <a:p>
            <a:r>
              <a:rPr lang="en-US" dirty="0" smtClean="0"/>
              <a:t>1️⃣ </a:t>
            </a:r>
            <a:r>
              <a:rPr lang="en-US" b="1" dirty="0" smtClean="0"/>
              <a:t>First replica</a:t>
            </a:r>
            <a:r>
              <a:rPr lang="en-US" dirty="0" smtClean="0"/>
              <a:t> → local </a:t>
            </a:r>
            <a:r>
              <a:rPr lang="en-US" dirty="0" err="1" smtClean="0"/>
              <a:t>DataNode</a:t>
            </a:r>
            <a:r>
              <a:rPr lang="en-US" dirty="0" smtClean="0"/>
              <a:t> (local rack)</a:t>
            </a:r>
            <a:br>
              <a:rPr lang="en-US" dirty="0" smtClean="0"/>
            </a:br>
            <a:r>
              <a:rPr lang="en-US" dirty="0" smtClean="0"/>
              <a:t>2️⃣ </a:t>
            </a:r>
            <a:r>
              <a:rPr lang="en-US" b="1" dirty="0" smtClean="0"/>
              <a:t>Second replica</a:t>
            </a:r>
            <a:r>
              <a:rPr lang="en-US" dirty="0" smtClean="0"/>
              <a:t> → another </a:t>
            </a:r>
            <a:r>
              <a:rPr lang="en-US" dirty="0" err="1" smtClean="0"/>
              <a:t>DataNode</a:t>
            </a:r>
            <a:r>
              <a:rPr lang="en-US" dirty="0" smtClean="0"/>
              <a:t> in the </a:t>
            </a:r>
            <a:r>
              <a:rPr lang="en-US" i="1" dirty="0" smtClean="0"/>
              <a:t>same rack</a:t>
            </a:r>
            <a:r>
              <a:rPr lang="en-US" dirty="0" smtClean="0"/>
              <a:t/>
            </a:r>
            <a:br>
              <a:rPr lang="en-US" dirty="0" smtClean="0"/>
            </a:br>
            <a:r>
              <a:rPr lang="en-US" dirty="0" smtClean="0"/>
              <a:t>3️⃣ </a:t>
            </a:r>
            <a:r>
              <a:rPr lang="en-US" b="1" dirty="0" smtClean="0"/>
              <a:t>Third replica</a:t>
            </a:r>
            <a:r>
              <a:rPr lang="en-US" dirty="0" smtClean="0"/>
              <a:t> → </a:t>
            </a:r>
            <a:r>
              <a:rPr lang="en-US" dirty="0" err="1" smtClean="0"/>
              <a:t>DataNode</a:t>
            </a:r>
            <a:r>
              <a:rPr lang="en-US" dirty="0" smtClean="0"/>
              <a:t> in a </a:t>
            </a:r>
            <a:r>
              <a:rPr lang="en-US" i="1" dirty="0" smtClean="0"/>
              <a:t>different rack</a:t>
            </a:r>
            <a:endParaRPr lang="en-US" dirty="0" smtClean="0"/>
          </a:p>
          <a:p>
            <a:endParaRPr lang="en-US" dirty="0" smtClean="0"/>
          </a:p>
          <a:p>
            <a:endParaRPr lang="en-US" dirty="0" smtClean="0"/>
          </a:p>
          <a:p>
            <a:r>
              <a:rPr lang="en-US" b="1" dirty="0" smtClean="0"/>
              <a:t>Fault Tolerance Analysis</a:t>
            </a:r>
          </a:p>
          <a:p>
            <a:r>
              <a:rPr lang="en-US" b="1" dirty="0" smtClean="0"/>
              <a:t>Case 1: Single </a:t>
            </a:r>
            <a:r>
              <a:rPr lang="en-US" b="1" dirty="0" err="1" smtClean="0"/>
              <a:t>DataNode</a:t>
            </a:r>
            <a:r>
              <a:rPr lang="en-US" b="1" dirty="0" smtClean="0"/>
              <a:t> Failure</a:t>
            </a:r>
          </a:p>
          <a:p>
            <a:r>
              <a:rPr lang="en-US" dirty="0" smtClean="0"/>
              <a:t>Only one replica lost → Still 2 remaining → Safe</a:t>
            </a:r>
          </a:p>
          <a:p>
            <a:r>
              <a:rPr lang="en-US" b="1" dirty="0" smtClean="0"/>
              <a:t>Case 2: Entire Rack Failure</a:t>
            </a:r>
          </a:p>
          <a:p>
            <a:r>
              <a:rPr lang="en-US" dirty="0" smtClean="0"/>
              <a:t>Two replicas lost (from same rack)</a:t>
            </a:r>
            <a:br>
              <a:rPr lang="en-US" dirty="0" smtClean="0"/>
            </a:br>
            <a:r>
              <a:rPr lang="en-US" dirty="0" smtClean="0"/>
              <a:t>One replica survives (in different rack) → Data preserved</a:t>
            </a:r>
          </a:p>
          <a:p>
            <a:r>
              <a:rPr lang="en-US" dirty="0" smtClean="0"/>
              <a:t>This protects against:</a:t>
            </a:r>
          </a:p>
          <a:p>
            <a:r>
              <a:rPr lang="en-US" dirty="0" smtClean="0"/>
              <a:t>Switch failure</a:t>
            </a:r>
          </a:p>
          <a:p>
            <a:r>
              <a:rPr lang="en-US" dirty="0" smtClean="0"/>
              <a:t>Power failure in a rack</a:t>
            </a:r>
          </a:p>
          <a:p>
            <a:r>
              <a:rPr lang="en-US" dirty="0" smtClean="0"/>
              <a:t>Maintenance downtime</a:t>
            </a:r>
          </a:p>
          <a:p>
            <a:r>
              <a:rPr lang="en-US" b="1" dirty="0" smtClean="0"/>
              <a:t>🚀 Benefits of Rack-Aware Replication</a:t>
            </a:r>
          </a:p>
          <a:p>
            <a:r>
              <a:rPr lang="en-US" b="1" dirty="0" smtClean="0"/>
              <a:t>✅ 1. Improved Fault Tolerance</a:t>
            </a:r>
          </a:p>
          <a:p>
            <a:r>
              <a:rPr lang="en-US" dirty="0" smtClean="0"/>
              <a:t>Protects against node-level AND rack-level failures</a:t>
            </a:r>
          </a:p>
          <a:p>
            <a:r>
              <a:rPr lang="en-US" dirty="0" smtClean="0"/>
              <a:t>Enables self-healing via re-replication</a:t>
            </a:r>
          </a:p>
          <a:p>
            <a:r>
              <a:rPr lang="en-US" b="1" dirty="0" smtClean="0"/>
              <a:t>✅ 2. Reduced Network Latency</a:t>
            </a:r>
          </a:p>
          <a:p>
            <a:r>
              <a:rPr lang="en-US" dirty="0" smtClean="0"/>
              <a:t>Reads prefer:</a:t>
            </a:r>
          </a:p>
          <a:p>
            <a:r>
              <a:rPr lang="en-US" dirty="0" smtClean="0"/>
              <a:t>Local replica </a:t>
            </a:r>
          </a:p>
          <a:p>
            <a:r>
              <a:rPr lang="en-US" dirty="0" smtClean="0"/>
              <a:t>Same rack replica</a:t>
            </a:r>
          </a:p>
          <a:p>
            <a:r>
              <a:rPr lang="en-US" dirty="0" smtClean="0"/>
              <a:t>Cross-rack only if needed</a:t>
            </a:r>
          </a:p>
          <a:p>
            <a:r>
              <a:rPr lang="en-US" b="1" dirty="0" smtClean="0"/>
              <a:t>✅ </a:t>
            </a:r>
            <a:r>
              <a:rPr lang="en-US" b="1" dirty="0" smtClean="0"/>
              <a:t>3. Better Write Performance</a:t>
            </a:r>
          </a:p>
          <a:p>
            <a:r>
              <a:rPr lang="en-US" dirty="0" smtClean="0"/>
              <a:t>Write pipeline example:</a:t>
            </a:r>
          </a:p>
          <a:p>
            <a:r>
              <a:rPr lang="en-US" dirty="0" smtClean="0"/>
              <a:t>Client writes → DN1 → DN2 → DN3</a:t>
            </a:r>
          </a:p>
          <a:p>
            <a:r>
              <a:rPr lang="en-US" dirty="0" smtClean="0"/>
              <a:t>If DN1 and DN2 are in same rack:</a:t>
            </a:r>
          </a:p>
          <a:p>
            <a:r>
              <a:rPr lang="en-US" dirty="0" smtClean="0"/>
              <a:t>First replication is fast (intra-rack)</a:t>
            </a:r>
          </a:p>
          <a:p>
            <a:r>
              <a:rPr lang="en-US" dirty="0" smtClean="0"/>
              <a:t>Only one cross-rack transfer needed</a:t>
            </a:r>
          </a:p>
          <a:p>
            <a:r>
              <a:rPr lang="en-US" dirty="0" smtClean="0"/>
              <a:t>This reduces:</a:t>
            </a:r>
          </a:p>
          <a:p>
            <a:r>
              <a:rPr lang="en-US" dirty="0" smtClean="0"/>
              <a:t>Cross-switch bandwidth usage</a:t>
            </a:r>
          </a:p>
          <a:p>
            <a:r>
              <a:rPr lang="en-US" dirty="0" err="1" smtClean="0"/>
              <a:t>Congesti</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33</a:t>
            </a:fld>
            <a:endParaRPr lang="en-US"/>
          </a:p>
        </p:txBody>
      </p:sp>
    </p:spTree>
    <p:extLst>
      <p:ext uri="{BB962C8B-B14F-4D97-AF65-F5344CB8AC3E}">
        <p14:creationId xmlns:p14="http://schemas.microsoft.com/office/powerpoint/2010/main" val="3268423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Nodes in the same rack typically have </a:t>
            </a:r>
            <a:r>
              <a:rPr lang="en-US" b="1" dirty="0" smtClean="0"/>
              <a:t>faster network connectivity</a:t>
            </a:r>
            <a:r>
              <a:rPr lang="en-US" dirty="0" smtClean="0"/>
              <a:t> with each other than with nodes in other racks.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Large clusters often have </a:t>
            </a:r>
            <a:r>
              <a:rPr lang="en-US" b="1" dirty="0" smtClean="0"/>
              <a:t>hundreds or thousands of nodes</a:t>
            </a:r>
            <a:r>
              <a:rPr lang="en-US" dirty="0" smtClean="0"/>
              <a:t>, which cannot fit in a single rack.</a:t>
            </a:r>
          </a:p>
          <a:p>
            <a:endParaRPr lang="en-US" dirty="0" smtClean="0"/>
          </a:p>
          <a:p>
            <a:r>
              <a:rPr lang="en-US" dirty="0" smtClean="0"/>
              <a:t>Rack Awareness is a placement policy used by HDFS to:</a:t>
            </a:r>
          </a:p>
          <a:p>
            <a:r>
              <a:rPr lang="en-US" dirty="0" smtClean="0"/>
              <a:t>Intelligently distribute block replicas across different racks.</a:t>
            </a:r>
          </a:p>
          <a:p>
            <a:r>
              <a:rPr lang="en-US" dirty="0" smtClean="0"/>
              <a:t>The </a:t>
            </a:r>
            <a:r>
              <a:rPr lang="en-US" b="1" dirty="0" err="1" smtClean="0"/>
              <a:t>NameNode</a:t>
            </a:r>
            <a:r>
              <a:rPr lang="en-US" dirty="0" smtClean="0"/>
              <a:t> knows the rack topology and uses it when deciding where to store replicas.</a:t>
            </a:r>
          </a:p>
          <a:p>
            <a:endParaRPr lang="en-US" dirty="0" smtClean="0"/>
          </a:p>
          <a:p>
            <a:r>
              <a:rPr lang="en-US" b="1" dirty="0" smtClean="0"/>
              <a:t>Replica Placement Strategy (Replication Factor = 3)</a:t>
            </a:r>
          </a:p>
          <a:p>
            <a:r>
              <a:rPr lang="en-US" dirty="0" smtClean="0"/>
              <a:t>In modern rack-aware </a:t>
            </a:r>
            <a:r>
              <a:rPr lang="en-US" b="1" dirty="0" smtClean="0"/>
              <a:t>HDFS (Apache Hadoop)</a:t>
            </a:r>
            <a:r>
              <a:rPr lang="en-US" dirty="0" smtClean="0"/>
              <a:t>, the standard policy is:</a:t>
            </a:r>
          </a:p>
          <a:p>
            <a:r>
              <a:rPr lang="en-US" dirty="0" smtClean="0"/>
              <a:t>1️⃣ </a:t>
            </a:r>
            <a:r>
              <a:rPr lang="en-US" b="1" dirty="0" smtClean="0"/>
              <a:t>First replica</a:t>
            </a:r>
            <a:r>
              <a:rPr lang="en-US" dirty="0" smtClean="0"/>
              <a:t> → local </a:t>
            </a:r>
            <a:r>
              <a:rPr lang="en-US" dirty="0" err="1" smtClean="0"/>
              <a:t>DataNode</a:t>
            </a:r>
            <a:r>
              <a:rPr lang="en-US" dirty="0" smtClean="0"/>
              <a:t> (local rack)</a:t>
            </a:r>
            <a:br>
              <a:rPr lang="en-US" dirty="0" smtClean="0"/>
            </a:br>
            <a:r>
              <a:rPr lang="en-US" dirty="0" smtClean="0"/>
              <a:t>2️⃣ </a:t>
            </a:r>
            <a:r>
              <a:rPr lang="en-US" b="1" dirty="0" smtClean="0"/>
              <a:t>Second replica</a:t>
            </a:r>
            <a:r>
              <a:rPr lang="en-US" dirty="0" smtClean="0"/>
              <a:t> → another </a:t>
            </a:r>
            <a:r>
              <a:rPr lang="en-US" dirty="0" err="1" smtClean="0"/>
              <a:t>DataNode</a:t>
            </a:r>
            <a:r>
              <a:rPr lang="en-US" dirty="0" smtClean="0"/>
              <a:t> in the </a:t>
            </a:r>
            <a:r>
              <a:rPr lang="en-US" i="1" dirty="0" smtClean="0"/>
              <a:t>same rack</a:t>
            </a:r>
            <a:r>
              <a:rPr lang="en-US" dirty="0" smtClean="0"/>
              <a:t/>
            </a:r>
            <a:br>
              <a:rPr lang="en-US" dirty="0" smtClean="0"/>
            </a:br>
            <a:r>
              <a:rPr lang="en-US" dirty="0" smtClean="0"/>
              <a:t>3️⃣ </a:t>
            </a:r>
            <a:r>
              <a:rPr lang="en-US" b="1" dirty="0" smtClean="0"/>
              <a:t>Third replica</a:t>
            </a:r>
            <a:r>
              <a:rPr lang="en-US" dirty="0" smtClean="0"/>
              <a:t> → </a:t>
            </a:r>
            <a:r>
              <a:rPr lang="en-US" dirty="0" err="1" smtClean="0"/>
              <a:t>DataNode</a:t>
            </a:r>
            <a:r>
              <a:rPr lang="en-US" dirty="0" smtClean="0"/>
              <a:t> in a </a:t>
            </a:r>
            <a:r>
              <a:rPr lang="en-US" i="1" dirty="0" smtClean="0"/>
              <a:t>different rack</a:t>
            </a:r>
            <a:endParaRPr lang="en-US" dirty="0" smtClean="0"/>
          </a:p>
          <a:p>
            <a:endParaRPr lang="en-US" dirty="0" smtClean="0"/>
          </a:p>
          <a:p>
            <a:endParaRPr lang="en-US" dirty="0" smtClean="0"/>
          </a:p>
          <a:p>
            <a:r>
              <a:rPr lang="en-US" b="1" dirty="0" smtClean="0"/>
              <a:t>Fault Tolerance Analysis</a:t>
            </a:r>
          </a:p>
          <a:p>
            <a:r>
              <a:rPr lang="en-US" b="1" dirty="0" smtClean="0"/>
              <a:t>Case 1: Single </a:t>
            </a:r>
            <a:r>
              <a:rPr lang="en-US" b="1" dirty="0" err="1" smtClean="0"/>
              <a:t>DataNode</a:t>
            </a:r>
            <a:r>
              <a:rPr lang="en-US" b="1" dirty="0" smtClean="0"/>
              <a:t> Failure</a:t>
            </a:r>
          </a:p>
          <a:p>
            <a:r>
              <a:rPr lang="en-US" dirty="0" smtClean="0"/>
              <a:t>Only one replica lost → Still 2 remaining → Safe</a:t>
            </a:r>
          </a:p>
          <a:p>
            <a:r>
              <a:rPr lang="en-US" b="1" dirty="0" smtClean="0"/>
              <a:t>Case 2: Entire Rack Failure</a:t>
            </a:r>
          </a:p>
          <a:p>
            <a:r>
              <a:rPr lang="en-US" dirty="0" smtClean="0"/>
              <a:t>Two replicas lost (from same rack)</a:t>
            </a:r>
            <a:br>
              <a:rPr lang="en-US" dirty="0" smtClean="0"/>
            </a:br>
            <a:r>
              <a:rPr lang="en-US" dirty="0" smtClean="0"/>
              <a:t>One replica survives (in different rack) → Data preserved</a:t>
            </a:r>
          </a:p>
          <a:p>
            <a:r>
              <a:rPr lang="en-US" dirty="0" smtClean="0"/>
              <a:t>This protects against:</a:t>
            </a:r>
          </a:p>
          <a:p>
            <a:r>
              <a:rPr lang="en-US" dirty="0" smtClean="0"/>
              <a:t>Switch failure</a:t>
            </a:r>
          </a:p>
          <a:p>
            <a:r>
              <a:rPr lang="en-US" dirty="0" smtClean="0"/>
              <a:t>Power failure in a rack</a:t>
            </a:r>
          </a:p>
          <a:p>
            <a:r>
              <a:rPr lang="en-US" dirty="0" smtClean="0"/>
              <a:t>Maintenance downtime</a:t>
            </a:r>
          </a:p>
          <a:p>
            <a:r>
              <a:rPr lang="en-US" b="1" dirty="0" smtClean="0"/>
              <a:t>🚀 Benefits of Rack-Aware Replication</a:t>
            </a:r>
          </a:p>
          <a:p>
            <a:r>
              <a:rPr lang="en-US" b="1" dirty="0" smtClean="0"/>
              <a:t>✅ 1. Improved Fault Tolerance</a:t>
            </a:r>
          </a:p>
          <a:p>
            <a:r>
              <a:rPr lang="en-US" dirty="0" smtClean="0"/>
              <a:t>Protects against node-level AND rack-level failures</a:t>
            </a:r>
          </a:p>
          <a:p>
            <a:r>
              <a:rPr lang="en-US" dirty="0" smtClean="0"/>
              <a:t>Enables self-healing via re-replication</a:t>
            </a:r>
          </a:p>
          <a:p>
            <a:r>
              <a:rPr lang="en-US" b="1" dirty="0" smtClean="0"/>
              <a:t>✅ 2. Reduced Network Latency</a:t>
            </a:r>
          </a:p>
          <a:p>
            <a:r>
              <a:rPr lang="en-US" dirty="0" smtClean="0"/>
              <a:t>Reads prefer:</a:t>
            </a:r>
          </a:p>
          <a:p>
            <a:r>
              <a:rPr lang="en-US" dirty="0" smtClean="0"/>
              <a:t>Local replica </a:t>
            </a:r>
          </a:p>
          <a:p>
            <a:r>
              <a:rPr lang="en-US" dirty="0" smtClean="0"/>
              <a:t>Same rack replica</a:t>
            </a:r>
          </a:p>
          <a:p>
            <a:r>
              <a:rPr lang="en-US" dirty="0" smtClean="0"/>
              <a:t>Cross-rack only if needed</a:t>
            </a:r>
          </a:p>
          <a:p>
            <a:r>
              <a:rPr lang="en-US" b="1" dirty="0" smtClean="0"/>
              <a:t>✅ </a:t>
            </a:r>
            <a:r>
              <a:rPr lang="en-US" b="1" dirty="0" smtClean="0"/>
              <a:t>3. Better Write Performance</a:t>
            </a:r>
          </a:p>
          <a:p>
            <a:r>
              <a:rPr lang="en-US" dirty="0" smtClean="0"/>
              <a:t>Write pipeline example:</a:t>
            </a:r>
          </a:p>
          <a:p>
            <a:r>
              <a:rPr lang="en-US" dirty="0" smtClean="0"/>
              <a:t>Client writes → DN1 → DN2 → DN3</a:t>
            </a:r>
          </a:p>
          <a:p>
            <a:r>
              <a:rPr lang="en-US" dirty="0" smtClean="0"/>
              <a:t>If DN1 and DN2 are in same rack:</a:t>
            </a:r>
          </a:p>
          <a:p>
            <a:r>
              <a:rPr lang="en-US" dirty="0" smtClean="0"/>
              <a:t>First replication is fast (intra-rack)</a:t>
            </a:r>
          </a:p>
          <a:p>
            <a:r>
              <a:rPr lang="en-US" dirty="0" smtClean="0"/>
              <a:t>Only one cross-rack transfer needed</a:t>
            </a:r>
          </a:p>
          <a:p>
            <a:r>
              <a:rPr lang="en-US" dirty="0" smtClean="0"/>
              <a:t>This reduces:</a:t>
            </a:r>
          </a:p>
          <a:p>
            <a:r>
              <a:rPr lang="en-US" dirty="0" smtClean="0"/>
              <a:t>Cross-switch bandwidth usage</a:t>
            </a:r>
          </a:p>
          <a:p>
            <a:r>
              <a:rPr lang="en-US" dirty="0" err="1" smtClean="0"/>
              <a:t>Congesti</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34</a:t>
            </a:fld>
            <a:endParaRPr lang="en-US"/>
          </a:p>
        </p:txBody>
      </p:sp>
    </p:spTree>
    <p:extLst>
      <p:ext uri="{BB962C8B-B14F-4D97-AF65-F5344CB8AC3E}">
        <p14:creationId xmlns:p14="http://schemas.microsoft.com/office/powerpoint/2010/main" val="2285324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source:</a:t>
            </a:r>
            <a:r>
              <a:rPr lang="en-US" baseline="0" dirty="0" smtClean="0"/>
              <a:t> https://data-flair.training/blogs/wp-content/uploads/sites/2/2017/01/HDFS-rack-awareness.gif</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35</a:t>
            </a:fld>
            <a:endParaRPr lang="en-US"/>
          </a:p>
        </p:txBody>
      </p:sp>
    </p:spTree>
    <p:extLst>
      <p:ext uri="{BB962C8B-B14F-4D97-AF65-F5344CB8AC3E}">
        <p14:creationId xmlns:p14="http://schemas.microsoft.com/office/powerpoint/2010/main" val="696601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Introduced in </a:t>
            </a:r>
            <a:r>
              <a:rPr lang="en-US" dirty="0" err="1" smtClean="0"/>
              <a:t>hadoob</a:t>
            </a:r>
            <a:r>
              <a:rPr lang="en-US" dirty="0" smtClean="0"/>
              <a:t> 3</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37</a:t>
            </a:fld>
            <a:endParaRPr lang="en-US"/>
          </a:p>
        </p:txBody>
      </p:sp>
    </p:spTree>
    <p:extLst>
      <p:ext uri="{BB962C8B-B14F-4D97-AF65-F5344CB8AC3E}">
        <p14:creationId xmlns:p14="http://schemas.microsoft.com/office/powerpoint/2010/main" val="17057355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Assignment: https://www.cloudera.com/blog/technical/introduction-to-hdfs-erasure-coding-in-apache-hadoop.html</a:t>
            </a:r>
          </a:p>
          <a:p>
            <a:endParaRPr lang="en-US" b="1" dirty="0" smtClean="0"/>
          </a:p>
          <a:p>
            <a:r>
              <a:rPr lang="en-US" b="1" dirty="0" smtClean="0"/>
              <a:t>Most </a:t>
            </a:r>
            <a:r>
              <a:rPr lang="en-US" b="1" dirty="0" smtClean="0"/>
              <a:t>Common HDFS EC Policy</a:t>
            </a:r>
          </a:p>
          <a:p>
            <a:r>
              <a:rPr lang="en-US" b="1" dirty="0" smtClean="0"/>
              <a:t>🔹 RS-6-3 (Default Policy)</a:t>
            </a:r>
          </a:p>
          <a:p>
            <a:pPr rtl="0"/>
            <a:r>
              <a:rPr lang="en-US" dirty="0" smtClean="0"/>
              <a:t>Stripe Layout +----+----+----+----+----+----+----+----+----+ | D1 | D2 | D3 | D4 | D5 | D6 | P1 | P2 | P3 | +----+----+----+----+----+----+----+----+----+ Data Blocks (6) Parity Blocks (3) </a:t>
            </a:r>
          </a:p>
          <a:p>
            <a:r>
              <a:rPr lang="en-US" dirty="0" smtClean="0"/>
              <a:t>Total blocks per stripe = </a:t>
            </a:r>
            <a:r>
              <a:rPr lang="en-US" b="1" dirty="0" smtClean="0"/>
              <a:t>9</a:t>
            </a:r>
            <a:endParaRPr lang="en-US" dirty="0" smtClean="0"/>
          </a:p>
          <a:p>
            <a:r>
              <a:rPr lang="en-US" dirty="0" smtClean="0"/>
              <a:t>Can tolerate </a:t>
            </a:r>
            <a:r>
              <a:rPr lang="en-US" b="1" dirty="0" smtClean="0"/>
              <a:t>up to 3 </a:t>
            </a:r>
            <a:r>
              <a:rPr lang="en-US" b="1" dirty="0" err="1" smtClean="0"/>
              <a:t>DataNode</a:t>
            </a:r>
            <a:r>
              <a:rPr lang="en-US" b="1" dirty="0" smtClean="0"/>
              <a:t> failures</a:t>
            </a:r>
            <a:endParaRPr lang="en-US" dirty="0" smtClean="0"/>
          </a:p>
          <a:p>
            <a:r>
              <a:rPr lang="en-US" dirty="0" smtClean="0"/>
              <a:t>Storage overhead = </a:t>
            </a:r>
            <a:r>
              <a:rPr lang="en-US" b="1" dirty="0" smtClean="0"/>
              <a:t>50%</a:t>
            </a:r>
            <a:endParaRPr lang="en-US" dirty="0" smtClean="0"/>
          </a:p>
          <a:p>
            <a:r>
              <a:rPr lang="en-US" dirty="0" smtClean="0"/>
              <a:t>Much lower than replication (200%)</a:t>
            </a:r>
          </a:p>
          <a:p>
            <a:r>
              <a:rPr lang="en-US" b="1" dirty="0" smtClean="0"/>
              <a:t>How Fault Tolerance Works</a:t>
            </a:r>
          </a:p>
          <a:p>
            <a:r>
              <a:rPr lang="en-US" dirty="0" smtClean="0"/>
              <a:t>Any </a:t>
            </a:r>
            <a:r>
              <a:rPr lang="en-US" b="1" dirty="0" smtClean="0"/>
              <a:t>k blocks</a:t>
            </a:r>
            <a:r>
              <a:rPr lang="en-US" dirty="0" smtClean="0"/>
              <a:t> are enough to reconstruct the data</a:t>
            </a:r>
          </a:p>
          <a:p>
            <a:r>
              <a:rPr lang="en-US" dirty="0" smtClean="0"/>
              <a:t>If up to </a:t>
            </a:r>
            <a:r>
              <a:rPr lang="en-US" b="1" dirty="0" smtClean="0"/>
              <a:t>m blocks fail</a:t>
            </a:r>
            <a:r>
              <a:rPr lang="en-US" dirty="0" smtClean="0"/>
              <a:t>, HDFS:</a:t>
            </a:r>
          </a:p>
          <a:p>
            <a:pPr lvl="1"/>
            <a:r>
              <a:rPr lang="en-US" dirty="0" smtClean="0"/>
              <a:t>Reads remaining blocks</a:t>
            </a:r>
          </a:p>
          <a:p>
            <a:pPr lvl="1"/>
            <a:r>
              <a:rPr lang="en-US" dirty="0" smtClean="0"/>
              <a:t>Uses parity to rebuild missing blocks</a:t>
            </a:r>
          </a:p>
          <a:p>
            <a:r>
              <a:rPr lang="en-US" dirty="0" smtClean="0"/>
              <a:t>✔ Same durability as replication, with far less storage</a:t>
            </a:r>
          </a:p>
          <a:p>
            <a:endParaRPr lang="en-US" dirty="0" smtClean="0"/>
          </a:p>
          <a:p>
            <a:r>
              <a:rPr lang="en-US" b="1" dirty="0" smtClean="0"/>
              <a:t>When to Use Which Policy</a:t>
            </a:r>
          </a:p>
          <a:p>
            <a:r>
              <a:rPr lang="en-US" b="1" dirty="0" smtClean="0"/>
              <a:t>RS-6-3</a:t>
            </a:r>
            <a:r>
              <a:rPr lang="en-US" dirty="0" smtClean="0"/>
              <a:t> → Large, cold/warm datasets (logs, archives)</a:t>
            </a:r>
          </a:p>
          <a:p>
            <a:r>
              <a:rPr lang="en-US" b="1" dirty="0" smtClean="0"/>
              <a:t>Replication</a:t>
            </a:r>
            <a:r>
              <a:rPr lang="en-US" dirty="0" smtClean="0"/>
              <a:t> → Hot data, low latency access</a:t>
            </a:r>
          </a:p>
          <a:p>
            <a:r>
              <a:rPr lang="en-US" dirty="0" smtClean="0"/>
              <a:t>Smaller policies → Smaller clusters with fewer nodes</a:t>
            </a:r>
          </a:p>
          <a:p>
            <a:endParaRPr lang="en-US" dirty="0" smtClean="0"/>
          </a:p>
          <a:p>
            <a:r>
              <a:rPr lang="en-US" dirty="0" smtClean="0"/>
              <a:t>Starting with Hadoop 3:</a:t>
            </a:r>
          </a:p>
          <a:p>
            <a:r>
              <a:rPr lang="en-US" b="1" dirty="0" smtClean="0"/>
              <a:t>Hot data</a:t>
            </a:r>
            <a:r>
              <a:rPr lang="en-US" dirty="0" smtClean="0"/>
              <a:t> → uses replication (fast access)</a:t>
            </a:r>
          </a:p>
          <a:p>
            <a:r>
              <a:rPr lang="en-US" b="1" dirty="0" smtClean="0"/>
              <a:t>Cold data / archival</a:t>
            </a:r>
            <a:r>
              <a:rPr lang="en-US" dirty="0" smtClean="0"/>
              <a:t> → uses EC (save storage)</a:t>
            </a:r>
          </a:p>
          <a:p>
            <a:r>
              <a:rPr lang="en-US" dirty="0" smtClean="0"/>
              <a:t>So EC </a:t>
            </a:r>
            <a:r>
              <a:rPr lang="en-US" b="1" dirty="0" smtClean="0"/>
              <a:t>does not completely eliminate replication</a:t>
            </a:r>
            <a:r>
              <a:rPr lang="en-US" dirty="0" smtClean="0"/>
              <a:t>.</a:t>
            </a:r>
            <a:r>
              <a:rPr lang="en-US" baseline="0" dirty="0" smtClean="0"/>
              <a:t> </a:t>
            </a:r>
            <a:r>
              <a:rPr lang="en-US" dirty="0" smtClean="0"/>
              <a:t>It complements it.</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39</a:t>
            </a:fld>
            <a:endParaRPr lang="en-US"/>
          </a:p>
        </p:txBody>
      </p:sp>
    </p:spTree>
    <p:extLst>
      <p:ext uri="{BB962C8B-B14F-4D97-AF65-F5344CB8AC3E}">
        <p14:creationId xmlns:p14="http://schemas.microsoft.com/office/powerpoint/2010/main" val="38473187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Replication (RF = 3)</a:t>
            </a:r>
          </a:p>
          <a:p>
            <a:r>
              <a:rPr lang="en-US" dirty="0" smtClean="0"/>
              <a:t>Each block is stored </a:t>
            </a:r>
            <a:r>
              <a:rPr lang="en-US" b="1" dirty="0" smtClean="0"/>
              <a:t>3 times</a:t>
            </a:r>
            <a:endParaRPr lang="en-US" dirty="0" smtClean="0"/>
          </a:p>
          <a:p>
            <a:r>
              <a:rPr lang="en-US" dirty="0" smtClean="0"/>
              <a:t>Total Storage=900×3=2700 TB</a:t>
            </a:r>
          </a:p>
          <a:p>
            <a:r>
              <a:rPr lang="en-US" b="1" dirty="0" smtClean="0"/>
              <a:t>Erasure Coding (RS-6-3)</a:t>
            </a:r>
          </a:p>
          <a:p>
            <a:r>
              <a:rPr lang="en-US" dirty="0" smtClean="0"/>
              <a:t>Total blocks per stripe = </a:t>
            </a:r>
            <a:r>
              <a:rPr lang="en-US" b="1" dirty="0" smtClean="0"/>
              <a:t>6 + 3 = 9</a:t>
            </a:r>
            <a:endParaRPr lang="en-US" dirty="0" smtClean="0"/>
          </a:p>
          <a:p>
            <a:r>
              <a:rPr lang="en-US" dirty="0" smtClean="0"/>
              <a:t>Storage overhead factor = </a:t>
            </a:r>
            <a:r>
              <a:rPr lang="en-US" b="1" dirty="0" smtClean="0"/>
              <a:t>9 / 6 = 1.5</a:t>
            </a:r>
            <a:endParaRPr lang="en-US" dirty="0" smtClean="0"/>
          </a:p>
          <a:p>
            <a:r>
              <a:rPr lang="en-US" dirty="0" smtClean="0"/>
              <a:t>Total Storage=900×1.5=1350 TB</a:t>
            </a:r>
          </a:p>
          <a:p>
            <a:r>
              <a:rPr lang="en-US" b="1" dirty="0" smtClean="0"/>
              <a:t>Storage Savings</a:t>
            </a:r>
          </a:p>
          <a:p>
            <a:r>
              <a:rPr lang="en-US" dirty="0" smtClean="0"/>
              <a:t>Savings=2700−1350=1350 TB</a:t>
            </a:r>
            <a:r>
              <a:rPr lang="en-US" baseline="0" dirty="0" smtClean="0"/>
              <a:t> </a:t>
            </a:r>
            <a:r>
              <a:rPr lang="en-US" dirty="0" smtClean="0"/>
              <a:t>✔ </a:t>
            </a:r>
            <a:r>
              <a:rPr lang="en-US" b="1" dirty="0" smtClean="0"/>
              <a:t>50% reduction in storage</a:t>
            </a:r>
            <a:endParaRPr lang="en-US" b="0" dirty="0" smtClean="0"/>
          </a:p>
          <a:p>
            <a:r>
              <a:rPr lang="en-US" b="1" dirty="0" smtClean="0"/>
              <a:t>Design Decision</a:t>
            </a:r>
          </a:p>
          <a:p>
            <a:endParaRPr lang="en-US" dirty="0" smtClean="0"/>
          </a:p>
          <a:p>
            <a:r>
              <a:rPr lang="en-US" dirty="0" smtClean="0"/>
              <a:t>✅ </a:t>
            </a:r>
            <a:r>
              <a:rPr lang="en-US" b="1" dirty="0" smtClean="0"/>
              <a:t>Erasure Coding is better</a:t>
            </a:r>
            <a:r>
              <a:rPr lang="en-US" dirty="0" smtClean="0"/>
              <a:t> for cold log data because:</a:t>
            </a:r>
          </a:p>
          <a:p>
            <a:r>
              <a:rPr lang="en-US" dirty="0" smtClean="0"/>
              <a:t>Logs are rarely read</a:t>
            </a:r>
          </a:p>
          <a:p>
            <a:r>
              <a:rPr lang="en-US" dirty="0" smtClean="0"/>
              <a:t>Storage efficiency is critical</a:t>
            </a:r>
          </a:p>
          <a:p>
            <a:r>
              <a:rPr lang="en-US" dirty="0" smtClean="0"/>
              <a:t>Slight latency increase is acceptable</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40</a:t>
            </a:fld>
            <a:endParaRPr lang="en-US"/>
          </a:p>
        </p:txBody>
      </p:sp>
    </p:spTree>
    <p:extLst>
      <p:ext uri="{BB962C8B-B14F-4D97-AF65-F5344CB8AC3E}">
        <p14:creationId xmlns:p14="http://schemas.microsoft.com/office/powerpoint/2010/main" val="23226059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41</a:t>
            </a:fld>
            <a:endParaRPr lang="en-US"/>
          </a:p>
        </p:txBody>
      </p:sp>
    </p:spTree>
    <p:extLst>
      <p:ext uri="{BB962C8B-B14F-4D97-AF65-F5344CB8AC3E}">
        <p14:creationId xmlns:p14="http://schemas.microsoft.com/office/powerpoint/2010/main" val="20384083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Block Pool-</a:t>
            </a:r>
            <a:r>
              <a:rPr lang="en-US" sz="1200" b="0" i="0" kern="1200" dirty="0" smtClean="0">
                <a:solidFill>
                  <a:schemeClr val="tx1"/>
                </a:solidFill>
                <a:effectLst/>
                <a:latin typeface="+mn-lt"/>
                <a:ea typeface="+mn-ea"/>
                <a:cs typeface="+mn-cs"/>
              </a:rPr>
              <a:t> Block pool is nothing but the set of blocks that belong to a single namespace. There are set of blocks in the HDFS federation and each block is managed independently.</a:t>
            </a:r>
          </a:p>
          <a:p>
            <a:pPr fontAlgn="base"/>
            <a:r>
              <a:rPr lang="en-US" sz="1200" b="1" i="0" kern="1200" dirty="0" smtClean="0">
                <a:solidFill>
                  <a:schemeClr val="tx1"/>
                </a:solidFill>
                <a:effectLst/>
                <a:latin typeface="+mn-lt"/>
                <a:ea typeface="+mn-ea"/>
                <a:cs typeface="+mn-cs"/>
              </a:rPr>
              <a:t>Namespace Volume-</a:t>
            </a:r>
            <a:r>
              <a:rPr lang="en-US" sz="1200" b="0" i="0" kern="1200" dirty="0" smtClean="0">
                <a:solidFill>
                  <a:schemeClr val="tx1"/>
                </a:solidFill>
                <a:effectLst/>
                <a:latin typeface="+mn-lt"/>
                <a:ea typeface="+mn-ea"/>
                <a:cs typeface="+mn-cs"/>
              </a:rPr>
              <a:t> Namespace along with its block pool is namespace volume. You can find many namespace volumes in HDFS federation. Again, all these namespace volumes work independently.</a:t>
            </a:r>
          </a:p>
          <a:p>
            <a:endParaRPr lang="en-US" dirty="0" smtClean="0"/>
          </a:p>
          <a:p>
            <a:endParaRPr lang="en-US" dirty="0" smtClean="0"/>
          </a:p>
          <a:p>
            <a:r>
              <a:rPr lang="en-US" b="1" dirty="0" smtClean="0"/>
              <a:t>The problem it solves</a:t>
            </a:r>
          </a:p>
          <a:p>
            <a:r>
              <a:rPr lang="en-US" dirty="0" smtClean="0"/>
              <a:t>The </a:t>
            </a:r>
            <a:r>
              <a:rPr lang="en-US" b="1" dirty="0" err="1" smtClean="0"/>
              <a:t>NameNode</a:t>
            </a:r>
            <a:r>
              <a:rPr lang="en-US" b="1" dirty="0" smtClean="0"/>
              <a:t> keeps all metadata in memory</a:t>
            </a:r>
            <a:r>
              <a:rPr lang="en-US" dirty="0" smtClean="0"/>
              <a:t> (files, directories, blocks).</a:t>
            </a:r>
          </a:p>
          <a:p>
            <a:r>
              <a:rPr lang="en-US" dirty="0" smtClean="0"/>
              <a:t>As clusters grow (millions of files), </a:t>
            </a:r>
            <a:r>
              <a:rPr lang="en-US" b="1" dirty="0" err="1" smtClean="0"/>
              <a:t>NameNode</a:t>
            </a:r>
            <a:r>
              <a:rPr lang="en-US" b="1" dirty="0" smtClean="0"/>
              <a:t> memory becomes the scaling bottleneck</a:t>
            </a:r>
            <a:r>
              <a:rPr lang="en-US" dirty="0" smtClean="0"/>
              <a:t>.</a:t>
            </a:r>
          </a:p>
          <a:p>
            <a:r>
              <a:rPr lang="en-US" dirty="0" smtClean="0"/>
              <a:t>Even if you add more </a:t>
            </a:r>
            <a:r>
              <a:rPr lang="en-US" dirty="0" err="1" smtClean="0"/>
              <a:t>DataNodes</a:t>
            </a:r>
            <a:r>
              <a:rPr lang="en-US" dirty="0" smtClean="0"/>
              <a:t>, </a:t>
            </a:r>
            <a:r>
              <a:rPr lang="en-US" b="1" dirty="0" smtClean="0"/>
              <a:t>one </a:t>
            </a:r>
            <a:r>
              <a:rPr lang="en-US" b="1" dirty="0" err="1" smtClean="0"/>
              <a:t>NameNode</a:t>
            </a:r>
            <a:r>
              <a:rPr lang="en-US" b="1" dirty="0" smtClean="0"/>
              <a:t> limits the entire system</a:t>
            </a:r>
            <a:r>
              <a:rPr lang="en-US" dirty="0" smtClean="0"/>
              <a:t>.</a:t>
            </a:r>
          </a:p>
          <a:p>
            <a:endParaRPr lang="en-US" dirty="0" smtClean="0"/>
          </a:p>
          <a:p>
            <a:r>
              <a:rPr lang="en-US" b="1" dirty="0" smtClean="0"/>
              <a:t>What HDFS Federation does</a:t>
            </a:r>
          </a:p>
          <a:p>
            <a:r>
              <a:rPr lang="en-US" dirty="0" smtClean="0"/>
              <a:t>HDFS Federation allows </a:t>
            </a:r>
            <a:r>
              <a:rPr lang="en-US" b="1" dirty="0" smtClean="0"/>
              <a:t>multiple </a:t>
            </a:r>
            <a:r>
              <a:rPr lang="en-US" b="1" dirty="0" err="1" smtClean="0"/>
              <a:t>NameNodes</a:t>
            </a:r>
            <a:r>
              <a:rPr lang="en-US" dirty="0" smtClean="0"/>
              <a:t> in the same cluster.</a:t>
            </a:r>
          </a:p>
          <a:p>
            <a:r>
              <a:rPr lang="en-US" dirty="0" smtClean="0"/>
              <a:t>Each </a:t>
            </a:r>
            <a:r>
              <a:rPr lang="en-US" dirty="0" err="1" smtClean="0"/>
              <a:t>NameNode</a:t>
            </a:r>
            <a:r>
              <a:rPr lang="en-US" dirty="0" smtClean="0"/>
              <a:t> manages </a:t>
            </a:r>
            <a:r>
              <a:rPr lang="en-US" b="1" dirty="0" smtClean="0"/>
              <a:t>only a portion of the </a:t>
            </a:r>
            <a:r>
              <a:rPr lang="en-US" b="1" dirty="0" err="1" smtClean="0"/>
              <a:t>filesystem</a:t>
            </a:r>
            <a:r>
              <a:rPr lang="en-US" b="1" dirty="0" smtClean="0"/>
              <a:t> namespace</a:t>
            </a:r>
            <a:r>
              <a:rPr lang="en-US" dirty="0" smtClean="0"/>
              <a:t>.</a:t>
            </a:r>
          </a:p>
          <a:p>
            <a:r>
              <a:rPr lang="en-US" dirty="0" smtClean="0"/>
              <a:t>Example:</a:t>
            </a:r>
          </a:p>
          <a:p>
            <a:pPr lvl="1"/>
            <a:r>
              <a:rPr lang="en-US" dirty="0" err="1" smtClean="0"/>
              <a:t>NameNode</a:t>
            </a:r>
            <a:r>
              <a:rPr lang="en-US" dirty="0" smtClean="0"/>
              <a:t> 1 → /user</a:t>
            </a:r>
          </a:p>
          <a:p>
            <a:pPr lvl="1"/>
            <a:r>
              <a:rPr lang="en-US" dirty="0" err="1" smtClean="0"/>
              <a:t>NameNode</a:t>
            </a:r>
            <a:r>
              <a:rPr lang="en-US" dirty="0" smtClean="0"/>
              <a:t> 2 → /share</a:t>
            </a:r>
          </a:p>
          <a:p>
            <a:r>
              <a:rPr lang="en-US" dirty="0" smtClean="0"/>
              <a:t>This splits metadata responsibility and </a:t>
            </a:r>
            <a:r>
              <a:rPr lang="en-US" b="1" dirty="0" smtClean="0"/>
              <a:t>removes the single-</a:t>
            </a:r>
            <a:r>
              <a:rPr lang="en-US" b="1" dirty="0" err="1" smtClean="0"/>
              <a:t>NameNode</a:t>
            </a:r>
            <a:r>
              <a:rPr lang="en-US" b="1" dirty="0" smtClean="0"/>
              <a:t> scalability limit</a:t>
            </a:r>
            <a:r>
              <a:rPr lang="en-US" dirty="0" smtClean="0"/>
              <a:t>.</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1" u="none" strike="noStrike" cap="none" normalizeH="0" baseline="0" dirty="0" smtClean="0">
                <a:ln>
                  <a:noFill/>
                </a:ln>
                <a:solidFill>
                  <a:srgbClr val="C00000"/>
                </a:solidFill>
                <a:effectLst/>
              </a:rPr>
              <a:t>HDFS Federation scales metadata management by splitting the </a:t>
            </a:r>
            <a:r>
              <a:rPr kumimoji="0" lang="en-US" altLang="en-US" sz="1200" b="1" i="1" u="none" strike="noStrike" cap="none" normalizeH="0" baseline="0" dirty="0" err="1" smtClean="0">
                <a:ln>
                  <a:noFill/>
                </a:ln>
                <a:solidFill>
                  <a:srgbClr val="C00000"/>
                </a:solidFill>
                <a:effectLst/>
              </a:rPr>
              <a:t>filesystem</a:t>
            </a:r>
            <a:r>
              <a:rPr kumimoji="0" lang="en-US" altLang="en-US" sz="1200" b="1" i="1" u="none" strike="noStrike" cap="none" normalizeH="0" baseline="0" dirty="0" smtClean="0">
                <a:ln>
                  <a:noFill/>
                </a:ln>
                <a:solidFill>
                  <a:srgbClr val="C00000"/>
                </a:solidFill>
                <a:effectLst/>
              </a:rPr>
              <a:t> namespace across multiple independent </a:t>
            </a:r>
            <a:r>
              <a:rPr kumimoji="0" lang="en-US" altLang="en-US" sz="1200" b="1" i="1" u="none" strike="noStrike" cap="none" normalizeH="0" baseline="0" dirty="0" err="1" smtClean="0">
                <a:ln>
                  <a:noFill/>
                </a:ln>
                <a:solidFill>
                  <a:srgbClr val="C00000"/>
                </a:solidFill>
                <a:effectLst/>
              </a:rPr>
              <a:t>NameNodes</a:t>
            </a:r>
            <a:r>
              <a:rPr kumimoji="0" lang="en-US" altLang="en-US" sz="1200" b="1" i="1" u="none" strike="noStrike" cap="none" normalizeH="0" baseline="0" dirty="0" smtClean="0">
                <a:ln>
                  <a:noFill/>
                </a:ln>
                <a:solidFill>
                  <a:srgbClr val="C00000"/>
                </a:solidFill>
                <a:effectLst/>
              </a:rPr>
              <a:t> while sharing the same </a:t>
            </a:r>
            <a:r>
              <a:rPr kumimoji="0" lang="en-US" altLang="en-US" sz="1200" b="1" i="1" u="none" strike="noStrike" cap="none" normalizeH="0" baseline="0" dirty="0" err="1" smtClean="0">
                <a:ln>
                  <a:noFill/>
                </a:ln>
                <a:solidFill>
                  <a:srgbClr val="C00000"/>
                </a:solidFill>
                <a:effectLst/>
              </a:rPr>
              <a:t>DataNodes</a:t>
            </a:r>
            <a:r>
              <a:rPr kumimoji="0" lang="en-US" altLang="en-US" sz="1200" b="1" i="1" u="none" strike="noStrike" cap="none" normalizeH="0" baseline="0" dirty="0" smtClean="0">
                <a:ln>
                  <a:noFill/>
                </a:ln>
                <a:solidFill>
                  <a:srgbClr val="C00000"/>
                </a:solidFill>
                <a:effectLst/>
              </a:rPr>
              <a: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Isolation-</a:t>
            </a:r>
            <a:r>
              <a:rPr lang="en-US" sz="1200" b="0" i="0" kern="1200" dirty="0" smtClean="0">
                <a:solidFill>
                  <a:schemeClr val="tx1"/>
                </a:solidFill>
                <a:effectLst/>
                <a:latin typeface="+mn-lt"/>
                <a:ea typeface="+mn-ea"/>
                <a:cs typeface="+mn-cs"/>
              </a:rPr>
              <a:t> Earlier with Hadoop 1 there was no isolation involved with multi-user scenario. This has been overcome by using the HDFS federation where different applications can be isolated to a different namespace by using multiple </a:t>
            </a:r>
            <a:r>
              <a:rPr lang="en-US" sz="1200" b="0" i="0" kern="1200" dirty="0" err="1" smtClean="0">
                <a:solidFill>
                  <a:schemeClr val="tx1"/>
                </a:solidFill>
                <a:effectLst/>
                <a:latin typeface="+mn-lt"/>
                <a:ea typeface="+mn-ea"/>
                <a:cs typeface="+mn-cs"/>
              </a:rPr>
              <a:t>namenode</a:t>
            </a:r>
            <a:r>
              <a:rPr lang="en-US" sz="1200" b="0" i="0" kern="1200" dirty="0" smtClean="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42</a:t>
            </a:fld>
            <a:endParaRPr lang="en-US"/>
          </a:p>
        </p:txBody>
      </p:sp>
    </p:spTree>
    <p:extLst>
      <p:ext uri="{BB962C8B-B14F-4D97-AF65-F5344CB8AC3E}">
        <p14:creationId xmlns:p14="http://schemas.microsoft.com/office/powerpoint/2010/main" val="39996921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https://hdfstutorial.com/blog/hdfs-federation-vs-high-availability/</a:t>
            </a:r>
          </a:p>
          <a:p>
            <a:endParaRPr lang="en-US" dirty="0" smtClean="0"/>
          </a:p>
          <a:p>
            <a:r>
              <a:rPr lang="en-US" sz="1200" b="1" dirty="0" smtClean="0">
                <a:solidFill>
                  <a:srgbClr val="C00000"/>
                </a:solidFill>
              </a:rPr>
              <a:t>HDFS High Availability (HA)</a:t>
            </a:r>
          </a:p>
          <a:p>
            <a:r>
              <a:rPr lang="en-US" sz="1200" dirty="0" smtClean="0"/>
              <a:t>Hadoop HA eliminates the </a:t>
            </a:r>
            <a:r>
              <a:rPr lang="en-US" sz="1200" dirty="0" err="1" smtClean="0"/>
              <a:t>Namenode</a:t>
            </a:r>
            <a:r>
              <a:rPr lang="en-US" sz="1200" dirty="0" smtClean="0"/>
              <a:t> single point of failure using active Standby </a:t>
            </a:r>
            <a:r>
              <a:rPr lang="en-US" sz="1200" dirty="0" err="1" smtClean="0"/>
              <a:t>Namenodes</a:t>
            </a:r>
            <a:r>
              <a:rPr lang="en-US" sz="1200" dirty="0" smtClean="0"/>
              <a:t>.</a:t>
            </a:r>
          </a:p>
          <a:p>
            <a:r>
              <a:rPr lang="en-US" sz="1200" dirty="0" smtClean="0"/>
              <a:t>Shared edit logs keep metadata synchronized between </a:t>
            </a:r>
            <a:r>
              <a:rPr lang="en-US" sz="1200" dirty="0" err="1" smtClean="0"/>
              <a:t>Namenodes</a:t>
            </a:r>
            <a:r>
              <a:rPr lang="en-US" sz="1200" dirty="0" smtClean="0"/>
              <a:t>.</a:t>
            </a:r>
          </a:p>
          <a:p>
            <a:r>
              <a:rPr lang="en-US" sz="1200" dirty="0" err="1" smtClean="0"/>
              <a:t>ZooKeeper</a:t>
            </a:r>
            <a:r>
              <a:rPr lang="en-US" sz="1200" dirty="0" smtClean="0"/>
              <a:t> coordinates automatic failover, enabling recovery within seconds instead of long outages</a:t>
            </a:r>
          </a:p>
          <a:p>
            <a:pPr marL="0" indent="0">
              <a:lnSpc>
                <a:spcPct val="100000"/>
              </a:lnSpc>
              <a:spcBef>
                <a:spcPts val="0"/>
              </a:spcBef>
              <a:spcAft>
                <a:spcPts val="0"/>
              </a:spcAft>
              <a:buClrTx/>
              <a:buSzTx/>
              <a:buNone/>
              <a:defRPr/>
            </a:pPr>
            <a:r>
              <a:rPr lang="en-US" sz="1200" b="1" i="1" dirty="0" smtClean="0">
                <a:solidFill>
                  <a:srgbClr val="C00000"/>
                </a:solidFill>
              </a:rPr>
              <a:t>Standby </a:t>
            </a:r>
            <a:r>
              <a:rPr lang="en-US" sz="1200" b="1" i="1" dirty="0" err="1" smtClean="0">
                <a:solidFill>
                  <a:srgbClr val="C00000"/>
                </a:solidFill>
              </a:rPr>
              <a:t>NameNode</a:t>
            </a:r>
            <a:r>
              <a:rPr lang="en-US" sz="1200" b="1" i="1" dirty="0" smtClean="0">
                <a:solidFill>
                  <a:srgbClr val="C00000"/>
                </a:solidFill>
              </a:rPr>
              <a:t> replaces the Secondary </a:t>
            </a:r>
            <a:r>
              <a:rPr lang="en-US" sz="1200" b="1" i="1" dirty="0" err="1" smtClean="0">
                <a:solidFill>
                  <a:srgbClr val="C00000"/>
                </a:solidFill>
              </a:rPr>
              <a:t>NameNode</a:t>
            </a:r>
            <a:r>
              <a:rPr lang="en-US" sz="1200" b="1" i="1" dirty="0" smtClean="0">
                <a:solidFill>
                  <a:srgbClr val="C00000"/>
                </a:solidFill>
              </a:rPr>
              <a:t> in Hadoop HA clusters by providing both </a:t>
            </a:r>
            <a:r>
              <a:rPr lang="en-US" sz="1200" b="1" i="1" dirty="0" err="1" smtClean="0">
                <a:solidFill>
                  <a:srgbClr val="C00000"/>
                </a:solidFill>
              </a:rPr>
              <a:t>checkpointing</a:t>
            </a:r>
            <a:r>
              <a:rPr lang="en-US" sz="1200" b="1" i="1" dirty="0" smtClean="0">
                <a:solidFill>
                  <a:srgbClr val="C00000"/>
                </a:solidFill>
              </a:rPr>
              <a:t> and automatic failover.</a:t>
            </a:r>
            <a:endParaRPr lang="en-US" sz="1200" i="1" dirty="0" smtClean="0">
              <a:solidFill>
                <a:srgbClr val="C00000"/>
              </a:solidFill>
            </a:endParaRPr>
          </a:p>
          <a:p>
            <a:r>
              <a:rPr lang="en-US" sz="1200" b="1" dirty="0" smtClean="0"/>
              <a:t>Secondary </a:t>
            </a:r>
            <a:r>
              <a:rPr lang="en-US" sz="1200" b="1" dirty="0" err="1" smtClean="0"/>
              <a:t>NameNode</a:t>
            </a:r>
            <a:r>
              <a:rPr lang="en-US" sz="1200" dirty="0" smtClean="0"/>
              <a:t> → restart optimization</a:t>
            </a:r>
          </a:p>
          <a:p>
            <a:r>
              <a:rPr lang="en-US" sz="1200" b="1" dirty="0" smtClean="0"/>
              <a:t>Standby </a:t>
            </a:r>
            <a:r>
              <a:rPr lang="en-US" sz="1200" b="1" dirty="0" err="1" smtClean="0"/>
              <a:t>NameNode</a:t>
            </a:r>
            <a:r>
              <a:rPr lang="en-US" sz="1200" dirty="0" smtClean="0"/>
              <a:t> → availability + recovery + </a:t>
            </a:r>
            <a:r>
              <a:rPr lang="en-US" sz="1200" dirty="0" err="1" smtClean="0"/>
              <a:t>checkpointing</a:t>
            </a:r>
            <a:endParaRPr lang="en-US" sz="1200" dirty="0" smtClean="0"/>
          </a:p>
          <a:p>
            <a:endParaRPr lang="en-US" sz="1200"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43</a:t>
            </a:fld>
            <a:endParaRPr lang="en-US"/>
          </a:p>
        </p:txBody>
      </p:sp>
    </p:spTree>
    <p:extLst>
      <p:ext uri="{BB962C8B-B14F-4D97-AF65-F5344CB8AC3E}">
        <p14:creationId xmlns:p14="http://schemas.microsoft.com/office/powerpoint/2010/main" val="2938186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Federation</a:t>
            </a:r>
            <a:r>
              <a:rPr lang="en-US" dirty="0" smtClean="0"/>
              <a:t> splits the namespace across multiple </a:t>
            </a:r>
            <a:r>
              <a:rPr lang="en-US" dirty="0" err="1" smtClean="0"/>
              <a:t>NameNodes</a:t>
            </a:r>
            <a:r>
              <a:rPr lang="en-US" dirty="0" smtClean="0"/>
              <a:t> for </a:t>
            </a:r>
            <a:r>
              <a:rPr lang="en-US" b="1" dirty="0" smtClean="0"/>
              <a:t>scalability</a:t>
            </a:r>
            <a:r>
              <a:rPr lang="en-US" dirty="0" smtClean="0"/>
              <a:t>. </a:t>
            </a:r>
          </a:p>
          <a:p>
            <a:r>
              <a:rPr lang="en-US" b="1" dirty="0" smtClean="0"/>
              <a:t>High Availability</a:t>
            </a:r>
            <a:r>
              <a:rPr lang="en-US" dirty="0" smtClean="0"/>
              <a:t> ensures </a:t>
            </a:r>
            <a:r>
              <a:rPr lang="en-US" b="1" dirty="0" smtClean="0"/>
              <a:t>no downtime</a:t>
            </a:r>
            <a:r>
              <a:rPr lang="en-US" dirty="0" smtClean="0"/>
              <a:t> when a </a:t>
            </a:r>
            <a:r>
              <a:rPr lang="en-US" dirty="0" err="1" smtClean="0"/>
              <a:t>NameNode</a:t>
            </a:r>
            <a:r>
              <a:rPr lang="en-US" dirty="0" smtClean="0"/>
              <a:t> fails by using an active-standby pair. </a:t>
            </a:r>
          </a:p>
          <a:p>
            <a:r>
              <a:rPr lang="en-US" dirty="0" smtClean="0"/>
              <a:t>Both features are part of </a:t>
            </a:r>
            <a:r>
              <a:rPr lang="en-US" b="1" dirty="0" smtClean="0"/>
              <a:t>Hadoop 2.x+ architecture improvements</a:t>
            </a:r>
            <a:r>
              <a:rPr lang="en-US" dirty="0" smtClean="0"/>
              <a:t> that make HDFS more robust for large clusters. </a:t>
            </a:r>
          </a:p>
          <a:p>
            <a:endParaRPr lang="en-US" dirty="0" smtClean="0"/>
          </a:p>
          <a:p>
            <a:endParaRPr lang="en-US" dirty="0" smtClean="0"/>
          </a:p>
          <a:p>
            <a:r>
              <a:rPr lang="en-US" dirty="0" smtClean="0"/>
              <a:t>In a federated HDFS cluster, each </a:t>
            </a:r>
            <a:r>
              <a:rPr lang="en-US" dirty="0" err="1" smtClean="0"/>
              <a:t>NameNode</a:t>
            </a:r>
            <a:r>
              <a:rPr lang="en-US" dirty="0" smtClean="0"/>
              <a:t> can (and usually should) have its own Standby </a:t>
            </a:r>
            <a:r>
              <a:rPr lang="en-US" dirty="0" err="1" smtClean="0"/>
              <a:t>NameNode</a:t>
            </a:r>
            <a:r>
              <a:rPr lang="en-US" dirty="0" smtClean="0"/>
              <a:t>.</a:t>
            </a:r>
          </a:p>
          <a:p>
            <a:endParaRPr lang="en-US" dirty="0" smtClean="0"/>
          </a:p>
          <a:p>
            <a:r>
              <a:rPr lang="en-US" dirty="0" smtClean="0"/>
              <a:t>Federation </a:t>
            </a:r>
            <a:r>
              <a:rPr lang="en-US" b="1" dirty="0" smtClean="0"/>
              <a:t>solves scalability</a:t>
            </a:r>
            <a:r>
              <a:rPr lang="en-US" dirty="0" smtClean="0"/>
              <a:t> (metadata size &amp; performance).</a:t>
            </a:r>
          </a:p>
          <a:p>
            <a:r>
              <a:rPr lang="en-US" dirty="0" smtClean="0"/>
              <a:t>HA </a:t>
            </a:r>
            <a:r>
              <a:rPr lang="en-US" b="1" dirty="0" smtClean="0"/>
              <a:t>solves availability</a:t>
            </a:r>
            <a:r>
              <a:rPr lang="en-US" dirty="0" smtClean="0"/>
              <a:t> (no downtime if a </a:t>
            </a:r>
            <a:r>
              <a:rPr lang="en-US" dirty="0" err="1" smtClean="0"/>
              <a:t>NameNode</a:t>
            </a:r>
            <a:r>
              <a:rPr lang="en-US" dirty="0" smtClean="0"/>
              <a:t> fails).</a:t>
            </a:r>
          </a:p>
          <a:p>
            <a:r>
              <a:rPr lang="en-US" dirty="0" smtClean="0"/>
              <a:t>Without a standby, </a:t>
            </a:r>
            <a:r>
              <a:rPr lang="en-US" b="1" dirty="0" smtClean="0"/>
              <a:t>each federated </a:t>
            </a:r>
            <a:r>
              <a:rPr lang="en-US" b="1" dirty="0" err="1" smtClean="0"/>
              <a:t>NameNode</a:t>
            </a:r>
            <a:r>
              <a:rPr lang="en-US" b="1" dirty="0" smtClean="0"/>
              <a:t> would still be a SPOF</a:t>
            </a:r>
            <a:r>
              <a:rPr lang="en-US" dirty="0" smtClean="0"/>
              <a:t>.</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44</a:t>
            </a:fld>
            <a:endParaRPr lang="en-US"/>
          </a:p>
        </p:txBody>
      </p:sp>
    </p:spTree>
    <p:extLst>
      <p:ext uri="{BB962C8B-B14F-4D97-AF65-F5344CB8AC3E}">
        <p14:creationId xmlns:p14="http://schemas.microsoft.com/office/powerpoint/2010/main" val="39832397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46</a:t>
            </a:fld>
            <a:endParaRPr lang="en-US"/>
          </a:p>
        </p:txBody>
      </p:sp>
    </p:spTree>
    <p:extLst>
      <p:ext uri="{BB962C8B-B14F-4D97-AF65-F5344CB8AC3E}">
        <p14:creationId xmlns:p14="http://schemas.microsoft.com/office/powerpoint/2010/main" val="15836214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Normally, </a:t>
            </a:r>
            <a:r>
              <a:rPr lang="en-US" dirty="0" err="1" smtClean="0"/>
              <a:t>DataNodes</a:t>
            </a:r>
            <a:r>
              <a:rPr lang="en-US" dirty="0" smtClean="0"/>
              <a:t> read HDFS blocks from </a:t>
            </a:r>
            <a:r>
              <a:rPr lang="en-US" b="1" dirty="0" smtClean="0"/>
              <a:t>disk</a:t>
            </a:r>
            <a:r>
              <a:rPr lang="en-US" dirty="0" smtClean="0"/>
              <a:t>, which provides high throughput but has higher latency than memory. For files that are accessed repeatedly (hot data), HDFS allows blocks to be </a:t>
            </a:r>
            <a:r>
              <a:rPr lang="en-US" b="1" dirty="0" smtClean="0"/>
              <a:t>cached in </a:t>
            </a:r>
            <a:r>
              <a:rPr lang="en-US" b="1" dirty="0" err="1" smtClean="0"/>
              <a:t>DataNode</a:t>
            </a:r>
            <a:r>
              <a:rPr lang="en-US" b="1" dirty="0" smtClean="0"/>
              <a:t> memory (RAM)</a:t>
            </a:r>
            <a:r>
              <a:rPr lang="en-US" dirty="0" smtClean="0"/>
              <a:t> to significantly speed up read operations.</a:t>
            </a:r>
          </a:p>
          <a:p>
            <a:r>
              <a:rPr lang="en-US" dirty="0" smtClean="0"/>
              <a:t>Block caching is </a:t>
            </a:r>
            <a:r>
              <a:rPr lang="en-US" b="1" dirty="0" smtClean="0"/>
              <a:t>explicit</a:t>
            </a:r>
            <a:r>
              <a:rPr lang="en-US" dirty="0" smtClean="0"/>
              <a:t>, meaning users or applications must mark which files should be cached. Once enabled, selected block replicas are loaded into an </a:t>
            </a:r>
            <a:r>
              <a:rPr lang="en-US" b="1" dirty="0" smtClean="0"/>
              <a:t>off-heap memory cache</a:t>
            </a:r>
            <a:r>
              <a:rPr lang="en-US" dirty="0" smtClean="0"/>
              <a:t> on </a:t>
            </a:r>
            <a:r>
              <a:rPr lang="en-US" dirty="0" err="1" smtClean="0"/>
              <a:t>DataNodes</a:t>
            </a:r>
            <a:r>
              <a:rPr lang="en-US" dirty="0" smtClean="0"/>
              <a:t>. By default, </a:t>
            </a:r>
            <a:r>
              <a:rPr lang="en-US" b="1" dirty="0" smtClean="0"/>
              <a:t>only one replica of each block is cached</a:t>
            </a:r>
            <a:r>
              <a:rPr lang="en-US" dirty="0" smtClean="0"/>
              <a:t>, but this can be increased if needed for higher availability or parallel access.</a:t>
            </a:r>
          </a:p>
          <a:p>
            <a:r>
              <a:rPr lang="en-US" dirty="0" smtClean="0"/>
              <a:t>The </a:t>
            </a:r>
            <a:r>
              <a:rPr lang="en-US" b="1" dirty="0" err="1" smtClean="0"/>
              <a:t>NameNode</a:t>
            </a:r>
            <a:r>
              <a:rPr lang="en-US" b="1" dirty="0" smtClean="0"/>
              <a:t> manages and tracks caching metadata</a:t>
            </a:r>
            <a:r>
              <a:rPr lang="en-US" dirty="0" smtClean="0"/>
              <a:t>, including which blocks are cached and on which </a:t>
            </a:r>
            <a:r>
              <a:rPr lang="en-US" dirty="0" err="1" smtClean="0"/>
              <a:t>DataNodes</a:t>
            </a:r>
            <a:r>
              <a:rPr lang="en-US" dirty="0" smtClean="0"/>
              <a:t>. Job schedulers such as </a:t>
            </a:r>
            <a:r>
              <a:rPr lang="en-US" b="1" dirty="0" err="1" smtClean="0"/>
              <a:t>MapReduce</a:t>
            </a:r>
            <a:r>
              <a:rPr lang="en-US" b="1" dirty="0" smtClean="0"/>
              <a:t> and Spark</a:t>
            </a:r>
            <a:r>
              <a:rPr lang="en-US" dirty="0" smtClean="0"/>
              <a:t> are cache-aware and try to schedule tasks on </a:t>
            </a:r>
            <a:r>
              <a:rPr lang="en-US" dirty="0" err="1" smtClean="0"/>
              <a:t>DataNodes</a:t>
            </a:r>
            <a:r>
              <a:rPr lang="en-US" dirty="0" smtClean="0"/>
              <a:t> where cached blocks reside, maximizing </a:t>
            </a:r>
            <a:r>
              <a:rPr lang="en-US" b="1" dirty="0" smtClean="0"/>
              <a:t>data locality</a:t>
            </a:r>
            <a:r>
              <a:rPr lang="en-US" dirty="0" smtClean="0"/>
              <a:t> and improving performance.</a:t>
            </a:r>
          </a:p>
          <a:p>
            <a:r>
              <a:rPr lang="en-US" dirty="0" smtClean="0"/>
              <a:t>Block caching is especially useful for </a:t>
            </a:r>
            <a:r>
              <a:rPr lang="en-US" b="1" dirty="0" smtClean="0"/>
              <a:t>small, frequently accessed datasets</a:t>
            </a:r>
            <a:r>
              <a:rPr lang="en-US" dirty="0" smtClean="0"/>
              <a:t>, such as lookup tables used in joins or reference data reused across multiple jobs.</a:t>
            </a:r>
          </a:p>
          <a:p>
            <a:endParaRPr lang="en-US" b="1" dirty="0"/>
          </a:p>
        </p:txBody>
      </p:sp>
      <p:sp>
        <p:nvSpPr>
          <p:cNvPr id="4" name="Slide Number Placeholder 3"/>
          <p:cNvSpPr>
            <a:spLocks noGrp="1"/>
          </p:cNvSpPr>
          <p:nvPr>
            <p:ph type="sldNum" sz="quarter" idx="10"/>
          </p:nvPr>
        </p:nvSpPr>
        <p:spPr/>
        <p:txBody>
          <a:bodyPr/>
          <a:lstStyle/>
          <a:p>
            <a:fld id="{EB363088-F16C-4FAF-8BB4-7C6C9F3D1EC9}" type="slidenum">
              <a:rPr lang="en-US" smtClean="0"/>
              <a:t>47</a:t>
            </a:fld>
            <a:endParaRPr lang="en-US"/>
          </a:p>
        </p:txBody>
      </p:sp>
    </p:spTree>
    <p:extLst>
      <p:ext uri="{BB962C8B-B14F-4D97-AF65-F5344CB8AC3E}">
        <p14:creationId xmlns:p14="http://schemas.microsoft.com/office/powerpoint/2010/main" val="17380415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Cache Management</a:t>
            </a:r>
          </a:p>
          <a:p>
            <a:r>
              <a:rPr lang="en-US" dirty="0" smtClean="0"/>
              <a:t>Users or applications add </a:t>
            </a:r>
            <a:r>
              <a:rPr lang="en-US" b="1" dirty="0" smtClean="0"/>
              <a:t>cache directives</a:t>
            </a:r>
            <a:r>
              <a:rPr lang="en-US" dirty="0" smtClean="0"/>
              <a:t> to specify:</a:t>
            </a:r>
          </a:p>
          <a:p>
            <a:pPr lvl="1"/>
            <a:r>
              <a:rPr lang="en-US" dirty="0" smtClean="0"/>
              <a:t>Which files to cache</a:t>
            </a:r>
          </a:p>
          <a:p>
            <a:pPr lvl="1"/>
            <a:r>
              <a:rPr lang="en-US" dirty="0" smtClean="0"/>
              <a:t>How long they should stay cached</a:t>
            </a:r>
          </a:p>
          <a:p>
            <a:r>
              <a:rPr lang="en-US" dirty="0" smtClean="0"/>
              <a:t>Cache directives are grouped into </a:t>
            </a:r>
            <a:r>
              <a:rPr lang="en-US" b="1" dirty="0" smtClean="0"/>
              <a:t>cache pools</a:t>
            </a:r>
            <a:r>
              <a:rPr lang="en-US" dirty="0" smtClean="0"/>
              <a:t> for:</a:t>
            </a:r>
          </a:p>
          <a:p>
            <a:pPr lvl="1"/>
            <a:r>
              <a:rPr lang="en-US" dirty="0" smtClean="0"/>
              <a:t>Access control</a:t>
            </a:r>
          </a:p>
          <a:p>
            <a:pPr lvl="1"/>
            <a:r>
              <a:rPr lang="en-US" dirty="0" smtClean="0"/>
              <a:t>Resource and memory usage management</a:t>
            </a:r>
          </a:p>
          <a:p>
            <a:r>
              <a:rPr lang="en-US" b="1" dirty="0" smtClean="0"/>
              <a:t>Typical Use Cases</a:t>
            </a:r>
          </a:p>
          <a:p>
            <a:r>
              <a:rPr lang="en-US" dirty="0" smtClean="0"/>
              <a:t>Lookup tables used in </a:t>
            </a:r>
            <a:r>
              <a:rPr lang="en-US" b="1" dirty="0" smtClean="0"/>
              <a:t>join operations</a:t>
            </a:r>
            <a:endParaRPr lang="en-US" dirty="0" smtClean="0"/>
          </a:p>
          <a:p>
            <a:r>
              <a:rPr lang="en-US" dirty="0" smtClean="0"/>
              <a:t>Reference datasets accessed repeatedly</a:t>
            </a:r>
          </a:p>
          <a:p>
            <a:r>
              <a:rPr lang="en-US" dirty="0" smtClean="0"/>
              <a:t>Hot data shared across multiple jobs</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48</a:t>
            </a:fld>
            <a:endParaRPr lang="en-US"/>
          </a:p>
        </p:txBody>
      </p:sp>
    </p:spTree>
    <p:extLst>
      <p:ext uri="{BB962C8B-B14F-4D97-AF65-F5344CB8AC3E}">
        <p14:creationId xmlns:p14="http://schemas.microsoft.com/office/powerpoint/2010/main" val="9510918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source:</a:t>
            </a:r>
            <a:r>
              <a:rPr lang="en-US" baseline="0" dirty="0" smtClean="0"/>
              <a:t> https://data-flair.training/blogs/wp-content/uploads/sites/2/2020/02/hadoop-hdfs-architecture.gif</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49</a:t>
            </a:fld>
            <a:endParaRPr lang="en-US"/>
          </a:p>
        </p:txBody>
      </p:sp>
    </p:spTree>
    <p:extLst>
      <p:ext uri="{BB962C8B-B14F-4D97-AF65-F5344CB8AC3E}">
        <p14:creationId xmlns:p14="http://schemas.microsoft.com/office/powerpoint/2010/main" val="15979377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Low-latency data access:</a:t>
            </a:r>
            <a:r>
              <a:rPr lang="en-US" dirty="0" smtClean="0"/>
              <a:t> Real-time applications such as online transaction processing (OLTP), recommendation engines, and user-facing dashboards require millisecond responses and are better served by systems like </a:t>
            </a:r>
            <a:r>
              <a:rPr lang="en-US" dirty="0" err="1" smtClean="0"/>
              <a:t>HBase</a:t>
            </a:r>
            <a:r>
              <a:rPr lang="en-US" dirty="0" smtClean="0"/>
              <a:t>.</a:t>
            </a:r>
          </a:p>
          <a:p>
            <a:r>
              <a:rPr lang="en-US" b="1" dirty="0" smtClean="0"/>
              <a:t>Large numbers of small files:</a:t>
            </a:r>
            <a:r>
              <a:rPr lang="en-US" dirty="0" smtClean="0"/>
              <a:t> Applications generating millions of logs, images, </a:t>
            </a:r>
            <a:r>
              <a:rPr lang="en-US" dirty="0" err="1" smtClean="0"/>
              <a:t>IoT</a:t>
            </a:r>
            <a:r>
              <a:rPr lang="en-US" dirty="0" smtClean="0"/>
              <a:t> sensor files, or email messages perform poorly on HDFS due to </a:t>
            </a:r>
            <a:r>
              <a:rPr lang="en-US" dirty="0" err="1" smtClean="0"/>
              <a:t>NameNode</a:t>
            </a:r>
            <a:r>
              <a:rPr lang="en-US" dirty="0" smtClean="0"/>
              <a:t> memory constraints.</a:t>
            </a:r>
          </a:p>
          <a:p>
            <a:r>
              <a:rPr lang="en-US" sz="1200" b="0" i="0" u="none" strike="noStrike" kern="1200" baseline="0" dirty="0" smtClean="0">
                <a:solidFill>
                  <a:schemeClr val="tx1"/>
                </a:solidFill>
                <a:latin typeface="+mn-lt"/>
                <a:ea typeface="+mn-ea"/>
                <a:cs typeface="+mn-cs"/>
              </a:rPr>
              <a:t>Because the </a:t>
            </a:r>
            <a:r>
              <a:rPr lang="en-US" sz="1200" b="0" i="0" u="none" strike="noStrike" kern="1200" baseline="0" dirty="0" err="1" smtClean="0">
                <a:solidFill>
                  <a:schemeClr val="tx1"/>
                </a:solidFill>
                <a:latin typeface="+mn-lt"/>
                <a:ea typeface="+mn-ea"/>
                <a:cs typeface="+mn-cs"/>
              </a:rPr>
              <a:t>namenode</a:t>
            </a:r>
            <a:r>
              <a:rPr lang="en-US" sz="1200" b="0" i="0" u="none" strike="noStrike" kern="1200" baseline="0" dirty="0" smtClean="0">
                <a:solidFill>
                  <a:schemeClr val="tx1"/>
                </a:solidFill>
                <a:latin typeface="+mn-lt"/>
                <a:ea typeface="+mn-ea"/>
                <a:cs typeface="+mn-cs"/>
              </a:rPr>
              <a:t> holds </a:t>
            </a:r>
            <a:r>
              <a:rPr lang="en-US" sz="1200" b="0" i="0" u="none" strike="noStrike" kern="1200" baseline="0" dirty="0" err="1" smtClean="0">
                <a:solidFill>
                  <a:schemeClr val="tx1"/>
                </a:solidFill>
                <a:latin typeface="+mn-lt"/>
                <a:ea typeface="+mn-ea"/>
                <a:cs typeface="+mn-cs"/>
              </a:rPr>
              <a:t>filesystem</a:t>
            </a:r>
            <a:r>
              <a:rPr lang="en-US" sz="1200" b="0" i="0" u="none" strike="noStrike" kern="1200" baseline="0" dirty="0" smtClean="0">
                <a:solidFill>
                  <a:schemeClr val="tx1"/>
                </a:solidFill>
                <a:latin typeface="+mn-lt"/>
                <a:ea typeface="+mn-ea"/>
                <a:cs typeface="+mn-cs"/>
              </a:rPr>
              <a:t> metadata in memory, the limit to the number of files in a </a:t>
            </a:r>
            <a:r>
              <a:rPr lang="en-US" sz="1200" b="0" i="0" u="none" strike="noStrike" kern="1200" baseline="0" dirty="0" err="1" smtClean="0">
                <a:solidFill>
                  <a:schemeClr val="tx1"/>
                </a:solidFill>
                <a:latin typeface="+mn-lt"/>
                <a:ea typeface="+mn-ea"/>
                <a:cs typeface="+mn-cs"/>
              </a:rPr>
              <a:t>filesystem</a:t>
            </a:r>
            <a:r>
              <a:rPr lang="en-US" sz="1200" b="0" i="0" u="none" strike="noStrike" kern="1200" baseline="0" dirty="0" smtClean="0">
                <a:solidFill>
                  <a:schemeClr val="tx1"/>
                </a:solidFill>
                <a:latin typeface="+mn-lt"/>
                <a:ea typeface="+mn-ea"/>
                <a:cs typeface="+mn-cs"/>
              </a:rPr>
              <a:t> is governed by the amount of memory on the </a:t>
            </a:r>
            <a:r>
              <a:rPr lang="en-US" sz="1200" b="0" i="0" u="none" strike="noStrike" kern="1200" baseline="0" dirty="0" err="1" smtClean="0">
                <a:solidFill>
                  <a:schemeClr val="tx1"/>
                </a:solidFill>
                <a:latin typeface="+mn-lt"/>
                <a:ea typeface="+mn-ea"/>
                <a:cs typeface="+mn-cs"/>
              </a:rPr>
              <a:t>namenode</a:t>
            </a:r>
            <a:r>
              <a:rPr lang="en-US" sz="1200" b="0" i="0" u="none" strike="noStrike" kern="1200" baseline="0" dirty="0" smtClean="0">
                <a:solidFill>
                  <a:schemeClr val="tx1"/>
                </a:solidFill>
                <a:latin typeface="+mn-lt"/>
                <a:ea typeface="+mn-ea"/>
                <a:cs typeface="+mn-cs"/>
              </a:rPr>
              <a:t>. As a rule of thumb, each file, directory, and block takes about 150 bytes. So, for example, if you had one million files, each taking one block, you would need at least 300 MB of memory. Although storing millions of files is feasible, billions is beyond the capability of current hardware</a:t>
            </a:r>
            <a:endParaRPr lang="en-US" dirty="0" smtClean="0"/>
          </a:p>
          <a:p>
            <a:r>
              <a:rPr lang="en-US" b="1" dirty="0" smtClean="0"/>
              <a:t>Multiple writers &amp; random updates:</a:t>
            </a:r>
            <a:r>
              <a:rPr lang="en-US" dirty="0" smtClean="0"/>
              <a:t> Collaborative editing systems, financial trading platforms, and applications requiring frequent record updates are not suitable for HDFS because it only supports single-writer, append-only files.</a:t>
            </a:r>
          </a:p>
          <a:p>
            <a:r>
              <a:rPr lang="en-US" sz="1200" b="0" i="1" u="none" strike="noStrike" kern="1200" baseline="0" dirty="0" smtClean="0">
                <a:solidFill>
                  <a:schemeClr val="tx1"/>
                </a:solidFill>
                <a:latin typeface="+mn-lt"/>
                <a:ea typeface="+mn-ea"/>
                <a:cs typeface="+mn-cs"/>
              </a:rPr>
              <a:t>Multiple writers, arbitrary file modifications</a:t>
            </a:r>
          </a:p>
          <a:p>
            <a:r>
              <a:rPr lang="en-US" sz="1200" b="0" i="0" u="none" strike="noStrike" kern="1200" baseline="0" dirty="0" smtClean="0">
                <a:solidFill>
                  <a:schemeClr val="tx1"/>
                </a:solidFill>
                <a:latin typeface="+mn-lt"/>
                <a:ea typeface="+mn-ea"/>
                <a:cs typeface="+mn-cs"/>
              </a:rPr>
              <a:t>Files in HDFS may be written to by a single writer. Writes are always made at the end of the file, in append-only fashion. There is no support for multiple writers or for modifications at arbitrary offsets in the file. (These might be supported in the future, but they are likely to be relatively inefficient.)</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50</a:t>
            </a:fld>
            <a:endParaRPr lang="en-US"/>
          </a:p>
        </p:txBody>
      </p:sp>
    </p:spTree>
    <p:extLst>
      <p:ext uri="{BB962C8B-B14F-4D97-AF65-F5344CB8AC3E}">
        <p14:creationId xmlns:p14="http://schemas.microsoft.com/office/powerpoint/2010/main" val="279764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5797D48-18D6-46A1-BFDC-9D5A26102823}"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652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2429846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797D48-18D6-46A1-BFDC-9D5A26102823}"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186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5797D48-18D6-46A1-BFDC-9D5A26102823}"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388982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797D48-18D6-46A1-BFDC-9D5A26102823}" type="datetimeFigureOut">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2789544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797D48-18D6-46A1-BFDC-9D5A26102823}"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3640393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797D48-18D6-46A1-BFDC-9D5A26102823}" type="datetimeFigureOut">
              <a:rPr lang="en-US" smtClean="0"/>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85206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5797D48-18D6-46A1-BFDC-9D5A26102823}"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550910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797D48-18D6-46A1-BFDC-9D5A26102823}"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840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668647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22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5797D48-18D6-46A1-BFDC-9D5A26102823}" type="datetimeFigureOut">
              <a:rPr lang="en-US" smtClean="0"/>
              <a:t>3/1/2026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01C03CC-440E-473E-81B8-A9146396321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173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586588"/>
            <a:ext cx="8229600" cy="1463040"/>
          </a:xfrm>
        </p:spPr>
        <p:txBody>
          <a:bodyPr>
            <a:normAutofit/>
          </a:bodyPr>
          <a:lstStyle/>
          <a:p>
            <a:pPr algn="ctr"/>
            <a:r>
              <a:rPr lang="en-US" sz="4800" b="1" dirty="0" err="1" smtClean="0">
                <a:latin typeface="Times New Roman" panose="02020603050405020304" pitchFamily="18" charset="0"/>
                <a:cs typeface="Times New Roman" panose="02020603050405020304" pitchFamily="18" charset="0"/>
              </a:rPr>
              <a:t>Hadoob</a:t>
            </a:r>
            <a:r>
              <a:rPr lang="en-US" sz="4800" b="1" dirty="0" smtClean="0">
                <a:latin typeface="Times New Roman" panose="02020603050405020304" pitchFamily="18" charset="0"/>
                <a:cs typeface="Times New Roman" panose="02020603050405020304" pitchFamily="18" charset="0"/>
              </a:rPr>
              <a:t> Ecosystem</a:t>
            </a:r>
            <a:endParaRPr lang="en-US" sz="36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326120" y="4472457"/>
            <a:ext cx="4109720" cy="1463040"/>
          </a:xfrm>
        </p:spPr>
        <p:txBody>
          <a:bodyPr>
            <a:normAutofit/>
          </a:bodyPr>
          <a:lstStyle/>
          <a:p>
            <a:pPr algn="ctr"/>
            <a:r>
              <a:rPr lang="en-US" sz="3200" b="1" dirty="0" smtClean="0">
                <a:latin typeface="Times New Roman" panose="02020603050405020304" pitchFamily="18" charset="0"/>
                <a:cs typeface="Times New Roman" panose="02020603050405020304" pitchFamily="18" charset="0"/>
              </a:rPr>
              <a:t>Spring 2026</a:t>
            </a:r>
          </a:p>
          <a:p>
            <a:r>
              <a:rPr lang="en-US" sz="3200" b="1" dirty="0" err="1" smtClean="0">
                <a:solidFill>
                  <a:srgbClr val="C00000"/>
                </a:solidFill>
                <a:latin typeface="Times New Roman" panose="02020603050405020304" pitchFamily="18" charset="0"/>
                <a:cs typeface="Times New Roman" panose="02020603050405020304" pitchFamily="18" charset="0"/>
              </a:rPr>
              <a:t>Dr</a:t>
            </a:r>
            <a:r>
              <a:rPr lang="en-US" sz="3200" b="1" dirty="0" smtClean="0">
                <a:solidFill>
                  <a:srgbClr val="C00000"/>
                </a:solidFill>
                <a:latin typeface="Times New Roman" panose="02020603050405020304" pitchFamily="18" charset="0"/>
                <a:cs typeface="Times New Roman" panose="02020603050405020304" pitchFamily="18" charset="0"/>
              </a:rPr>
              <a:t> </a:t>
            </a:r>
            <a:r>
              <a:rPr lang="en-US" sz="3200" b="1" dirty="0" err="1" smtClean="0">
                <a:solidFill>
                  <a:srgbClr val="C00000"/>
                </a:solidFill>
                <a:latin typeface="Times New Roman" panose="02020603050405020304" pitchFamily="18" charset="0"/>
                <a:cs typeface="Times New Roman" panose="02020603050405020304" pitchFamily="18" charset="0"/>
              </a:rPr>
              <a:t>Mayada</a:t>
            </a:r>
            <a:r>
              <a:rPr lang="en-US" sz="3200" b="1" dirty="0" smtClean="0">
                <a:solidFill>
                  <a:srgbClr val="C00000"/>
                </a:solidFill>
                <a:latin typeface="Times New Roman" panose="02020603050405020304" pitchFamily="18" charset="0"/>
                <a:cs typeface="Times New Roman" panose="02020603050405020304" pitchFamily="18" charset="0"/>
              </a:rPr>
              <a:t> </a:t>
            </a:r>
            <a:r>
              <a:rPr lang="en-US" sz="3200" b="1" dirty="0" err="1" smtClean="0">
                <a:solidFill>
                  <a:srgbClr val="C00000"/>
                </a:solidFill>
                <a:latin typeface="Times New Roman" panose="02020603050405020304" pitchFamily="18" charset="0"/>
                <a:cs typeface="Times New Roman" panose="02020603050405020304" pitchFamily="18" charset="0"/>
              </a:rPr>
              <a:t>Hadhoud</a:t>
            </a:r>
            <a:r>
              <a:rPr lang="en-US" sz="3200" b="1" dirty="0" smtClean="0">
                <a:solidFill>
                  <a:srgbClr val="C00000"/>
                </a:solidFill>
                <a:latin typeface="Times New Roman" panose="02020603050405020304" pitchFamily="18" charset="0"/>
                <a:cs typeface="Times New Roman" panose="02020603050405020304" pitchFamily="18" charset="0"/>
              </a:rPr>
              <a:t> </a:t>
            </a:r>
            <a:endParaRPr lang="en-US" sz="32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6017091"/>
            <a:ext cx="3474976" cy="812172"/>
          </a:xfrm>
          <a:prstGeom prst="rect">
            <a:avLst/>
          </a:prstGeom>
        </p:spPr>
      </p:pic>
    </p:spTree>
    <p:extLst>
      <p:ext uri="{BB962C8B-B14F-4D97-AF65-F5344CB8AC3E}">
        <p14:creationId xmlns:p14="http://schemas.microsoft.com/office/powerpoint/2010/main" val="11466674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outline</a:t>
            </a:r>
            <a:endParaRPr lang="en-US" b="1" dirty="0"/>
          </a:p>
        </p:txBody>
      </p:sp>
      <p:sp>
        <p:nvSpPr>
          <p:cNvPr id="3" name="Content Placeholder 2"/>
          <p:cNvSpPr>
            <a:spLocks noGrp="1"/>
          </p:cNvSpPr>
          <p:nvPr>
            <p:ph idx="1"/>
          </p:nvPr>
        </p:nvSpPr>
        <p:spPr>
          <a:xfrm>
            <a:off x="1024128" y="1708879"/>
            <a:ext cx="10012840" cy="4868384"/>
          </a:xfrm>
        </p:spPr>
        <p:txBody>
          <a:bodyPr>
            <a:normAutofit lnSpcReduction="10000"/>
          </a:bodyPr>
          <a:lstStyle/>
          <a:p>
            <a:pPr>
              <a:buFont typeface="Wingdings" panose="05000000000000000000" pitchFamily="2" charset="2"/>
              <a:buChar char="q"/>
            </a:pPr>
            <a:r>
              <a:rPr lang="en-US" sz="2800" dirty="0" smtClean="0"/>
              <a:t>Introduction </a:t>
            </a:r>
          </a:p>
          <a:p>
            <a:pPr>
              <a:buFont typeface="Wingdings" panose="05000000000000000000" pitchFamily="2" charset="2"/>
              <a:buChar char="q"/>
            </a:pPr>
            <a:r>
              <a:rPr lang="en-US" sz="2800" dirty="0" smtClean="0"/>
              <a:t>Hadoop </a:t>
            </a:r>
            <a:r>
              <a:rPr lang="en-US" sz="2800" dirty="0"/>
              <a:t>Ecosystem </a:t>
            </a:r>
            <a:r>
              <a:rPr lang="en-US" sz="2800" dirty="0" smtClean="0"/>
              <a:t>Components</a:t>
            </a:r>
          </a:p>
          <a:p>
            <a:pPr>
              <a:buFont typeface="Wingdings" panose="05000000000000000000" pitchFamily="2" charset="2"/>
              <a:buChar char="q"/>
            </a:pPr>
            <a:r>
              <a:rPr lang="en-US" sz="2800" dirty="0"/>
              <a:t>Big Data Architecture Layers vs. Hadoop </a:t>
            </a:r>
            <a:r>
              <a:rPr lang="en-US" sz="2800" dirty="0" smtClean="0"/>
              <a:t>Ecosystem</a:t>
            </a:r>
          </a:p>
          <a:p>
            <a:pPr>
              <a:buFont typeface="Wingdings" panose="05000000000000000000" pitchFamily="2" charset="2"/>
              <a:buChar char="q"/>
            </a:pPr>
            <a:r>
              <a:rPr lang="en-US" sz="2800" dirty="0"/>
              <a:t>Hadoop Distributed File System (</a:t>
            </a:r>
            <a:r>
              <a:rPr lang="en-US" sz="2800" b="1" dirty="0">
                <a:solidFill>
                  <a:srgbClr val="C00000"/>
                </a:solidFill>
              </a:rPr>
              <a:t>HDFS</a:t>
            </a:r>
            <a:r>
              <a:rPr lang="en-US" sz="2800" dirty="0" smtClean="0"/>
              <a:t>)</a:t>
            </a:r>
          </a:p>
          <a:p>
            <a:pPr>
              <a:buFont typeface="Wingdings" panose="05000000000000000000" pitchFamily="2" charset="2"/>
              <a:buChar char="q"/>
            </a:pPr>
            <a:r>
              <a:rPr lang="en-US" sz="2800" b="1" dirty="0" smtClean="0">
                <a:solidFill>
                  <a:srgbClr val="C00000"/>
                </a:solidFill>
              </a:rPr>
              <a:t>HDFS</a:t>
            </a:r>
            <a:r>
              <a:rPr lang="en-US" sz="2800" dirty="0"/>
              <a:t> </a:t>
            </a:r>
            <a:r>
              <a:rPr lang="en-US" sz="2800" dirty="0" smtClean="0"/>
              <a:t>Storage Concepts  </a:t>
            </a:r>
          </a:p>
          <a:p>
            <a:pPr>
              <a:buFont typeface="Wingdings" panose="05000000000000000000" pitchFamily="2" charset="2"/>
              <a:buChar char="q"/>
            </a:pPr>
            <a:r>
              <a:rPr lang="en-US" sz="2800" b="1" dirty="0">
                <a:solidFill>
                  <a:srgbClr val="C00000"/>
                </a:solidFill>
              </a:rPr>
              <a:t>HDFS</a:t>
            </a:r>
            <a:r>
              <a:rPr lang="en-US" sz="2800" dirty="0"/>
              <a:t> Architecture </a:t>
            </a:r>
          </a:p>
          <a:p>
            <a:pPr>
              <a:buFont typeface="Wingdings" panose="05000000000000000000" pitchFamily="2" charset="2"/>
              <a:buChar char="q"/>
            </a:pPr>
            <a:r>
              <a:rPr lang="en-US" sz="2800" b="1" dirty="0">
                <a:solidFill>
                  <a:srgbClr val="C00000"/>
                </a:solidFill>
              </a:rPr>
              <a:t>HDFS</a:t>
            </a:r>
            <a:r>
              <a:rPr lang="en-US" sz="2800" dirty="0"/>
              <a:t> </a:t>
            </a:r>
            <a:r>
              <a:rPr lang="en-US" sz="2800" dirty="0" smtClean="0"/>
              <a:t>Dataflow </a:t>
            </a:r>
          </a:p>
          <a:p>
            <a:pPr>
              <a:buFont typeface="Wingdings" panose="05000000000000000000" pitchFamily="2" charset="2"/>
              <a:buChar char="q"/>
            </a:pPr>
            <a:r>
              <a:rPr lang="en-US" sz="2800" b="1" dirty="0" err="1">
                <a:solidFill>
                  <a:srgbClr val="C00000"/>
                </a:solidFill>
              </a:rPr>
              <a:t>Hdfs</a:t>
            </a:r>
            <a:r>
              <a:rPr lang="en-US" sz="2800" b="1" dirty="0"/>
              <a:t> </a:t>
            </a:r>
            <a:r>
              <a:rPr lang="en-US" sz="2800" dirty="0"/>
              <a:t>Reliability &amp; Scalability</a:t>
            </a:r>
            <a:r>
              <a:rPr lang="en-US" sz="2800" dirty="0" smtClean="0"/>
              <a:t>  </a:t>
            </a:r>
          </a:p>
          <a:p>
            <a:pPr>
              <a:buFont typeface="Wingdings" panose="05000000000000000000" pitchFamily="2" charset="2"/>
              <a:buChar char="q"/>
            </a:pPr>
            <a:r>
              <a:rPr lang="en-US" sz="2800" dirty="0"/>
              <a:t>When </a:t>
            </a:r>
            <a:r>
              <a:rPr lang="en-US" sz="2800" b="1" dirty="0" smtClean="0">
                <a:solidFill>
                  <a:srgbClr val="C00000"/>
                </a:solidFill>
              </a:rPr>
              <a:t>HDFS</a:t>
            </a:r>
            <a:r>
              <a:rPr lang="en-US" sz="2800" dirty="0" smtClean="0"/>
              <a:t> </a:t>
            </a:r>
            <a:r>
              <a:rPr lang="en-US" sz="2800" dirty="0"/>
              <a:t>Is Not the Right Choice</a:t>
            </a:r>
          </a:p>
          <a:p>
            <a:pPr>
              <a:buFont typeface="Wingdings" panose="05000000000000000000" pitchFamily="2" charset="2"/>
              <a:buChar char="q"/>
            </a:pPr>
            <a:endParaRPr lang="en-US" sz="2800" dirty="0" smtClean="0"/>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1651801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idx="1"/>
          </p:nvPr>
        </p:nvSpPr>
        <p:spPr>
          <a:xfrm>
            <a:off x="646757" y="1920239"/>
            <a:ext cx="10906615" cy="4023360"/>
          </a:xfrm>
        </p:spPr>
        <p:txBody>
          <a:bodyPr>
            <a:noAutofit/>
          </a:bodyPr>
          <a:lstStyle/>
          <a:p>
            <a:pPr marL="0" lvl="0" indent="0" eaLnBrk="0" fontAlgn="base" hangingPunct="0">
              <a:lnSpc>
                <a:spcPct val="100000"/>
              </a:lnSpc>
              <a:spcBef>
                <a:spcPct val="0"/>
              </a:spcBef>
              <a:spcAft>
                <a:spcPct val="0"/>
              </a:spcAft>
              <a:buClrTx/>
              <a:buSzTx/>
              <a:buNone/>
            </a:pPr>
            <a:r>
              <a:rPr lang="en-US" altLang="en-US" sz="2800" b="1" dirty="0"/>
              <a:t>Hadoop</a:t>
            </a:r>
            <a:r>
              <a:rPr lang="en-US" altLang="en-US" sz="2800" dirty="0"/>
              <a:t> is an </a:t>
            </a:r>
            <a:r>
              <a:rPr lang="en-US" altLang="en-US" sz="2800" b="1" dirty="0"/>
              <a:t>open-source Big Data </a:t>
            </a:r>
            <a:r>
              <a:rPr lang="en-US" altLang="en-US" sz="2800" b="1" dirty="0" smtClean="0"/>
              <a:t>framework</a:t>
            </a:r>
            <a:r>
              <a:rPr lang="en-US" altLang="en-US" sz="2800" dirty="0"/>
              <a:t> </a:t>
            </a:r>
            <a:r>
              <a:rPr lang="en-US" altLang="en-US" sz="2800" dirty="0" smtClean="0"/>
              <a:t>for </a:t>
            </a:r>
            <a:r>
              <a:rPr lang="en-US" altLang="en-US" sz="2800" dirty="0"/>
              <a:t>storing and processing large-scale data across distributed clusters using commodity hardware. </a:t>
            </a:r>
          </a:p>
          <a:p>
            <a:pPr marL="0" lvl="0" indent="0" eaLnBrk="0" fontAlgn="base" hangingPunct="0">
              <a:lnSpc>
                <a:spcPct val="100000"/>
              </a:lnSpc>
              <a:spcBef>
                <a:spcPct val="0"/>
              </a:spcBef>
              <a:spcAft>
                <a:spcPct val="0"/>
              </a:spcAft>
              <a:buClrTx/>
              <a:buSzTx/>
              <a:buNone/>
            </a:pPr>
            <a:r>
              <a:rPr lang="en-US" altLang="en-US" sz="2800" b="1" dirty="0" smtClean="0"/>
              <a:t>Designed </a:t>
            </a:r>
            <a:r>
              <a:rPr lang="en-US" altLang="en-US" sz="2800" b="1" dirty="0"/>
              <a:t>to:</a:t>
            </a:r>
          </a:p>
          <a:p>
            <a:pPr marL="173736" lvl="1" indent="0" eaLnBrk="0" fontAlgn="base" hangingPunct="0">
              <a:lnSpc>
                <a:spcPct val="100000"/>
              </a:lnSpc>
              <a:spcBef>
                <a:spcPct val="0"/>
              </a:spcBef>
              <a:spcAft>
                <a:spcPct val="0"/>
              </a:spcAft>
              <a:buClrTx/>
              <a:buFontTx/>
              <a:buChar char="•"/>
            </a:pPr>
            <a:r>
              <a:rPr lang="en-US" altLang="en-US" sz="2400" dirty="0"/>
              <a:t>Store </a:t>
            </a:r>
            <a:r>
              <a:rPr lang="en-US" altLang="en-US" sz="2400" b="1" dirty="0"/>
              <a:t>massive datasets</a:t>
            </a:r>
            <a:endParaRPr lang="en-US" altLang="en-US" sz="2400" dirty="0"/>
          </a:p>
          <a:p>
            <a:pPr marL="173736" lvl="1" indent="0" eaLnBrk="0" fontAlgn="base" hangingPunct="0">
              <a:lnSpc>
                <a:spcPct val="100000"/>
              </a:lnSpc>
              <a:spcBef>
                <a:spcPct val="0"/>
              </a:spcBef>
              <a:spcAft>
                <a:spcPct val="0"/>
              </a:spcAft>
              <a:buClrTx/>
              <a:buFontTx/>
              <a:buChar char="•"/>
            </a:pPr>
            <a:r>
              <a:rPr lang="en-US" altLang="en-US" sz="2400" dirty="0"/>
              <a:t>On </a:t>
            </a:r>
            <a:r>
              <a:rPr lang="en-US" altLang="en-US" sz="2400" b="1" dirty="0"/>
              <a:t>clusters of low-cost machines</a:t>
            </a:r>
            <a:endParaRPr lang="en-US" altLang="en-US" sz="2400" dirty="0"/>
          </a:p>
          <a:p>
            <a:pPr marL="173736" lvl="1" indent="0" eaLnBrk="0" fontAlgn="base" hangingPunct="0">
              <a:lnSpc>
                <a:spcPct val="100000"/>
              </a:lnSpc>
              <a:spcBef>
                <a:spcPct val="0"/>
              </a:spcBef>
              <a:spcAft>
                <a:spcPct val="0"/>
              </a:spcAft>
              <a:buClrTx/>
              <a:buFontTx/>
              <a:buChar char="•"/>
            </a:pPr>
            <a:r>
              <a:rPr lang="en-US" altLang="en-US" sz="2400" dirty="0"/>
              <a:t>Using </a:t>
            </a:r>
            <a:r>
              <a:rPr lang="en-US" altLang="en-US" sz="2400" b="1" dirty="0"/>
              <a:t>distributed storage and computing</a:t>
            </a:r>
            <a:endParaRPr lang="en-US" altLang="en-US" sz="2400" dirty="0"/>
          </a:p>
          <a:p>
            <a:pPr marL="0" lvl="0" indent="0" eaLnBrk="0" fontAlgn="base" hangingPunct="0">
              <a:lnSpc>
                <a:spcPct val="100000"/>
              </a:lnSpc>
              <a:spcBef>
                <a:spcPct val="0"/>
              </a:spcBef>
              <a:spcAft>
                <a:spcPct val="0"/>
              </a:spcAft>
              <a:buClrTx/>
              <a:buSzTx/>
              <a:buNone/>
            </a:pPr>
            <a:r>
              <a:rPr lang="en-US" altLang="en-US" sz="2800" b="1" dirty="0" smtClean="0"/>
              <a:t>Provides:</a:t>
            </a:r>
          </a:p>
          <a:p>
            <a:pPr marL="173736" lvl="1" indent="0" eaLnBrk="0" fontAlgn="base" hangingPunct="0">
              <a:lnSpc>
                <a:spcPct val="100000"/>
              </a:lnSpc>
              <a:spcBef>
                <a:spcPct val="0"/>
              </a:spcBef>
              <a:spcAft>
                <a:spcPct val="0"/>
              </a:spcAft>
              <a:buClrTx/>
              <a:buFontTx/>
              <a:buChar char="•"/>
            </a:pPr>
            <a:r>
              <a:rPr lang="en-US" altLang="en-US" sz="2400" b="1" dirty="0" smtClean="0"/>
              <a:t>Distributed file storage (HDFS)</a:t>
            </a:r>
            <a:endParaRPr lang="en-US" altLang="en-US" sz="2400" dirty="0" smtClean="0"/>
          </a:p>
          <a:p>
            <a:pPr marL="173736" lvl="1" indent="0" eaLnBrk="0" fontAlgn="base" hangingPunct="0">
              <a:lnSpc>
                <a:spcPct val="100000"/>
              </a:lnSpc>
              <a:spcBef>
                <a:spcPct val="0"/>
              </a:spcBef>
              <a:spcAft>
                <a:spcPct val="0"/>
              </a:spcAft>
              <a:buClrTx/>
              <a:buFontTx/>
              <a:buChar char="•"/>
            </a:pPr>
            <a:r>
              <a:rPr lang="en-US" altLang="en-US" sz="2400" b="1" dirty="0" smtClean="0"/>
              <a:t>Distributed data processing</a:t>
            </a:r>
            <a:endParaRPr lang="en-US" altLang="en-US" sz="2400" dirty="0" smtClean="0"/>
          </a:p>
          <a:p>
            <a:pPr marL="0" lvl="0" indent="0" eaLnBrk="0" fontAlgn="base" hangingPunct="0">
              <a:lnSpc>
                <a:spcPct val="100000"/>
              </a:lnSpc>
              <a:spcBef>
                <a:spcPct val="0"/>
              </a:spcBef>
              <a:spcAft>
                <a:spcPct val="0"/>
              </a:spcAft>
              <a:buClrTx/>
              <a:buSzTx/>
              <a:buNone/>
            </a:pPr>
            <a:endParaRPr lang="en-US" altLang="en-US" sz="2800" dirty="0"/>
          </a:p>
        </p:txBody>
      </p:sp>
      <p:sp>
        <p:nvSpPr>
          <p:cNvPr id="6" name="Rectangle 3"/>
          <p:cNvSpPr>
            <a:spLocks noChangeArrowheads="1"/>
          </p:cNvSpPr>
          <p:nvPr/>
        </p:nvSpPr>
        <p:spPr bwMode="auto">
          <a:xfrm>
            <a:off x="1288578" y="5611689"/>
            <a:ext cx="962297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1" u="none" strike="noStrike" cap="none" normalizeH="0" baseline="0" dirty="0" smtClean="0">
                <a:ln>
                  <a:noFill/>
                </a:ln>
                <a:solidFill>
                  <a:srgbClr val="C00000"/>
                </a:solidFill>
                <a:effectLst/>
              </a:rPr>
              <a:t>Hadoop enables Big Data storage and analytics by distributing data and computation across clusters of machines.</a:t>
            </a:r>
          </a:p>
        </p:txBody>
      </p:sp>
    </p:spTree>
    <p:extLst>
      <p:ext uri="{BB962C8B-B14F-4D97-AF65-F5344CB8AC3E}">
        <p14:creationId xmlns:p14="http://schemas.microsoft.com/office/powerpoint/2010/main" val="254762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idx="1"/>
          </p:nvPr>
        </p:nvSpPr>
        <p:spPr>
          <a:xfrm>
            <a:off x="1024128" y="1920240"/>
            <a:ext cx="10398615" cy="4023360"/>
          </a:xfrm>
        </p:spPr>
        <p:txBody>
          <a:bodyPr>
            <a:noAutofit/>
          </a:bodyPr>
          <a:lstStyle/>
          <a:p>
            <a:pPr marL="0" lvl="0" indent="0" eaLnBrk="0" fontAlgn="base" hangingPunct="0">
              <a:lnSpc>
                <a:spcPct val="100000"/>
              </a:lnSpc>
              <a:spcBef>
                <a:spcPct val="0"/>
              </a:spcBef>
              <a:spcAft>
                <a:spcPct val="0"/>
              </a:spcAft>
              <a:buClrTx/>
              <a:buSzTx/>
              <a:buNone/>
            </a:pPr>
            <a:r>
              <a:rPr lang="en-US" altLang="en-US" sz="3200" dirty="0" smtClean="0"/>
              <a:t>The </a:t>
            </a:r>
            <a:r>
              <a:rPr lang="en-US" altLang="en-US" sz="3200" b="1" dirty="0"/>
              <a:t>Hadoop Ecosystem </a:t>
            </a:r>
            <a:r>
              <a:rPr lang="en-US" altLang="en-US" sz="3200" dirty="0"/>
              <a:t>is a </a:t>
            </a:r>
            <a:r>
              <a:rPr lang="en-US" altLang="en-US" sz="3200" b="1" dirty="0">
                <a:solidFill>
                  <a:srgbClr val="C00000"/>
                </a:solidFill>
              </a:rPr>
              <a:t>suite of tools </a:t>
            </a:r>
            <a:r>
              <a:rPr lang="en-US" altLang="en-US" sz="3200" dirty="0"/>
              <a:t>and technologies built </a:t>
            </a:r>
            <a:r>
              <a:rPr lang="en-US" altLang="en-US" sz="3200" dirty="0" smtClean="0"/>
              <a:t>to </a:t>
            </a:r>
            <a:r>
              <a:rPr lang="en-US" altLang="en-US" sz="3200" dirty="0"/>
              <a:t>enhance its capabilities in </a:t>
            </a:r>
            <a:r>
              <a:rPr lang="en-US" altLang="en-US" sz="3200" b="1" dirty="0"/>
              <a:t>data storage</a:t>
            </a:r>
            <a:r>
              <a:rPr lang="en-US" altLang="en-US" sz="3200" dirty="0"/>
              <a:t>, </a:t>
            </a:r>
            <a:r>
              <a:rPr lang="en-US" altLang="en-US" sz="3200" b="1" dirty="0"/>
              <a:t>processing</a:t>
            </a:r>
            <a:r>
              <a:rPr lang="en-US" altLang="en-US" sz="3200" dirty="0"/>
              <a:t>, </a:t>
            </a:r>
            <a:r>
              <a:rPr lang="en-US" altLang="en-US" sz="3200" b="1" dirty="0"/>
              <a:t>analysis</a:t>
            </a:r>
            <a:r>
              <a:rPr lang="en-US" altLang="en-US" sz="3200" dirty="0"/>
              <a:t> and </a:t>
            </a:r>
            <a:r>
              <a:rPr lang="en-US" altLang="en-US" sz="3200" b="1" dirty="0"/>
              <a:t>management</a:t>
            </a:r>
            <a:r>
              <a:rPr lang="en-US" altLang="en-US" sz="3200" dirty="0" smtClean="0"/>
              <a:t>.</a:t>
            </a:r>
          </a:p>
          <a:p>
            <a:pPr marL="0" lvl="0" indent="0" eaLnBrk="0" fontAlgn="base" hangingPunct="0">
              <a:lnSpc>
                <a:spcPct val="100000"/>
              </a:lnSpc>
              <a:spcBef>
                <a:spcPct val="0"/>
              </a:spcBef>
              <a:spcAft>
                <a:spcPct val="0"/>
              </a:spcAft>
              <a:buClrTx/>
              <a:buSzTx/>
              <a:buNone/>
            </a:pPr>
            <a:endParaRPr lang="en-US" altLang="en-US" sz="3200" dirty="0"/>
          </a:p>
          <a:p>
            <a:pPr marL="0" lvl="0" indent="0" eaLnBrk="0" fontAlgn="base" hangingPunct="0">
              <a:lnSpc>
                <a:spcPct val="100000"/>
              </a:lnSpc>
              <a:spcBef>
                <a:spcPct val="0"/>
              </a:spcBef>
              <a:spcAft>
                <a:spcPct val="0"/>
              </a:spcAft>
              <a:buClrTx/>
              <a:buSzTx/>
              <a:buNone/>
            </a:pPr>
            <a:endParaRPr lang="en-US" altLang="en-US" sz="3200" dirty="0"/>
          </a:p>
        </p:txBody>
      </p:sp>
    </p:spTree>
    <p:extLst>
      <p:ext uri="{BB962C8B-B14F-4D97-AF65-F5344CB8AC3E}">
        <p14:creationId xmlns:p14="http://schemas.microsoft.com/office/powerpoint/2010/main" val="26124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Hadoob</a:t>
            </a:r>
            <a:r>
              <a:rPr lang="en-US" b="1" dirty="0" smtClean="0"/>
              <a:t> ecosystem </a:t>
            </a:r>
            <a:endParaRPr lang="en-US" b="1" dirty="0"/>
          </a:p>
        </p:txBody>
      </p:sp>
      <p:pic>
        <p:nvPicPr>
          <p:cNvPr id="2050" name="Picture 2" descr="Hadoop Ecosystem - 15 Must Know Hadoop Compon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93" y="1"/>
            <a:ext cx="1224469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693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Hadoob</a:t>
            </a:r>
            <a:r>
              <a:rPr lang="en-US" b="1" dirty="0"/>
              <a:t> ecosystem components </a:t>
            </a:r>
          </a:p>
        </p:txBody>
      </p:sp>
      <p:sp>
        <p:nvSpPr>
          <p:cNvPr id="3" name="Content Placeholder 2"/>
          <p:cNvSpPr>
            <a:spLocks noGrp="1"/>
          </p:cNvSpPr>
          <p:nvPr>
            <p:ph idx="1"/>
          </p:nvPr>
        </p:nvSpPr>
        <p:spPr>
          <a:xfrm>
            <a:off x="1024128" y="2084832"/>
            <a:ext cx="7176443" cy="4023360"/>
          </a:xfrm>
        </p:spPr>
        <p:txBody>
          <a:bodyPr>
            <a:noAutofit/>
          </a:bodyPr>
          <a:lstStyle/>
          <a:p>
            <a:pPr marL="0" lvl="0" indent="0" eaLnBrk="0" fontAlgn="base" hangingPunct="0">
              <a:lnSpc>
                <a:spcPct val="100000"/>
              </a:lnSpc>
              <a:spcBef>
                <a:spcPct val="0"/>
              </a:spcBef>
              <a:spcAft>
                <a:spcPct val="0"/>
              </a:spcAft>
              <a:buClrTx/>
              <a:buSzTx/>
              <a:buNone/>
            </a:pPr>
            <a:r>
              <a:rPr lang="en-US" altLang="en-US" sz="2800" b="1" dirty="0" err="1" smtClean="0">
                <a:solidFill>
                  <a:srgbClr val="C00000"/>
                </a:solidFill>
              </a:rPr>
              <a:t>Hadoob</a:t>
            </a:r>
            <a:r>
              <a:rPr lang="en-US" altLang="en-US" sz="2800" b="1" dirty="0" smtClean="0">
                <a:solidFill>
                  <a:srgbClr val="C00000"/>
                </a:solidFill>
              </a:rPr>
              <a:t> ecosystem core components:</a:t>
            </a:r>
          </a:p>
          <a:p>
            <a:pPr marL="0" lvl="0" indent="0" eaLnBrk="0" fontAlgn="base" hangingPunct="0">
              <a:lnSpc>
                <a:spcPct val="100000"/>
              </a:lnSpc>
              <a:spcBef>
                <a:spcPct val="0"/>
              </a:spcBef>
              <a:spcAft>
                <a:spcPct val="0"/>
              </a:spcAft>
              <a:buClrTx/>
              <a:buSzTx/>
              <a:buNone/>
            </a:pPr>
            <a:r>
              <a:rPr lang="en-US" altLang="en-US" sz="2800" dirty="0" smtClean="0"/>
              <a:t>• </a:t>
            </a:r>
            <a:r>
              <a:rPr lang="en-US" altLang="en-US" sz="2800" b="1" dirty="0" smtClean="0"/>
              <a:t>Hadoop </a:t>
            </a:r>
            <a:r>
              <a:rPr lang="en-US" altLang="en-US" sz="2800" b="1" dirty="0"/>
              <a:t>Distributed File System </a:t>
            </a:r>
            <a:r>
              <a:rPr lang="en-US" altLang="en-US" sz="2800" dirty="0"/>
              <a:t>(</a:t>
            </a:r>
            <a:r>
              <a:rPr lang="en-US" altLang="en-US" sz="2800" b="1" i="1" dirty="0"/>
              <a:t>HDFS</a:t>
            </a:r>
            <a:r>
              <a:rPr lang="en-US" altLang="en-US" sz="2800" dirty="0" smtClean="0"/>
              <a:t>): the distributed storage </a:t>
            </a:r>
            <a:r>
              <a:rPr lang="en-US" altLang="en-US" sz="2800" dirty="0"/>
              <a:t>layer of Hadoop.</a:t>
            </a:r>
          </a:p>
          <a:p>
            <a:pPr marL="0" lvl="0" indent="0" eaLnBrk="0" fontAlgn="base" hangingPunct="0">
              <a:lnSpc>
                <a:spcPct val="100000"/>
              </a:lnSpc>
              <a:spcBef>
                <a:spcPct val="0"/>
              </a:spcBef>
              <a:spcAft>
                <a:spcPct val="0"/>
              </a:spcAft>
              <a:buClrTx/>
              <a:buSzTx/>
              <a:buNone/>
            </a:pPr>
            <a:r>
              <a:rPr lang="en-US" altLang="en-US" sz="2800" dirty="0" smtClean="0"/>
              <a:t>• </a:t>
            </a:r>
            <a:r>
              <a:rPr lang="en-US" altLang="en-US" sz="2800" b="1" dirty="0" smtClean="0"/>
              <a:t>Map-Reduce</a:t>
            </a:r>
            <a:r>
              <a:rPr lang="en-US" altLang="en-US" sz="2800" dirty="0" smtClean="0"/>
              <a:t>: the parallel data </a:t>
            </a:r>
            <a:r>
              <a:rPr lang="en-US" altLang="en-US" sz="2800" dirty="0"/>
              <a:t>processing layer of Hadoop.</a:t>
            </a:r>
          </a:p>
          <a:p>
            <a:pPr marL="0" lvl="0" indent="0" eaLnBrk="0" fontAlgn="base" hangingPunct="0">
              <a:lnSpc>
                <a:spcPct val="100000"/>
              </a:lnSpc>
              <a:spcBef>
                <a:spcPct val="0"/>
              </a:spcBef>
              <a:spcAft>
                <a:spcPct val="0"/>
              </a:spcAft>
              <a:buClrTx/>
              <a:buSzTx/>
              <a:buNone/>
            </a:pPr>
            <a:r>
              <a:rPr lang="en-US" altLang="en-US" sz="2800" dirty="0" smtClean="0"/>
              <a:t>• </a:t>
            </a:r>
            <a:r>
              <a:rPr lang="en-US" altLang="en-US" sz="2800" b="1" dirty="0" smtClean="0"/>
              <a:t>YARN</a:t>
            </a:r>
            <a:r>
              <a:rPr lang="en-US" altLang="en-US" sz="2800" dirty="0" smtClean="0"/>
              <a:t>: the </a:t>
            </a:r>
            <a:r>
              <a:rPr lang="en-US" altLang="en-US" sz="2800" dirty="0"/>
              <a:t>resource </a:t>
            </a:r>
            <a:r>
              <a:rPr lang="en-US" altLang="en-US" sz="2800" dirty="0" smtClean="0"/>
              <a:t>management and job scheduling </a:t>
            </a:r>
            <a:r>
              <a:rPr lang="en-US" altLang="en-US" sz="2800" dirty="0"/>
              <a:t>layer of Hadoop.</a:t>
            </a:r>
          </a:p>
          <a:p>
            <a:pPr marL="0" lvl="0" indent="0" eaLnBrk="0" fontAlgn="base" hangingPunct="0">
              <a:lnSpc>
                <a:spcPct val="100000"/>
              </a:lnSpc>
              <a:spcBef>
                <a:spcPct val="0"/>
              </a:spcBef>
              <a:spcAft>
                <a:spcPct val="0"/>
              </a:spcAft>
              <a:buClrTx/>
              <a:buSzTx/>
              <a:buNone/>
            </a:pPr>
            <a:endParaRPr lang="en-US" altLang="en-US" sz="2800" dirty="0"/>
          </a:p>
          <a:p>
            <a:pPr marL="0" lvl="0" indent="0" eaLnBrk="0" fontAlgn="base" hangingPunct="0">
              <a:lnSpc>
                <a:spcPct val="100000"/>
              </a:lnSpc>
              <a:spcBef>
                <a:spcPct val="0"/>
              </a:spcBef>
              <a:spcAft>
                <a:spcPct val="0"/>
              </a:spcAft>
              <a:buClrTx/>
              <a:buSzTx/>
              <a:buNone/>
            </a:pPr>
            <a:endParaRPr lang="en-US" altLang="en-US" sz="2800" dirty="0"/>
          </a:p>
        </p:txBody>
      </p:sp>
      <p:pic>
        <p:nvPicPr>
          <p:cNvPr id="30722" name="Picture 2" descr="Index of /docs/r2.7.0/hadoop-project-dist/hadoop-hdfs/im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4147" y="2084832"/>
            <a:ext cx="2009775" cy="11239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adoop MapReduce Architecture. Hadoop MapReduce is the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61620" y="3381828"/>
            <a:ext cx="2604557" cy="89596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derstanding Hadoop Yarn. YARN — Yet Another Resource ..."/>
          <p:cNvPicPr>
            <a:picLocks noChangeAspect="1" noChangeArrowheads="1"/>
          </p:cNvPicPr>
          <p:nvPr/>
        </p:nvPicPr>
        <p:blipFill rotWithShape="1">
          <a:blip r:embed="rId5">
            <a:extLst>
              <a:ext uri="{28A0092B-C50C-407E-A947-70E740481C1C}">
                <a14:useLocalDpi xmlns:a14="http://schemas.microsoft.com/office/drawing/2010/main" val="0"/>
              </a:ext>
            </a:extLst>
          </a:blip>
          <a:srcRect l="14825" t="20970" r="12265" b="21715"/>
          <a:stretch/>
        </p:blipFill>
        <p:spPr bwMode="auto">
          <a:xfrm>
            <a:off x="8315992" y="4375876"/>
            <a:ext cx="3050185" cy="1198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77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30722"/>
                                        </p:tgtEl>
                                        <p:attrNameLst>
                                          <p:attrName>style.visibility</p:attrName>
                                        </p:attrNameLst>
                                      </p:cBhvr>
                                      <p:to>
                                        <p:strVal val="visible"/>
                                      </p:to>
                                    </p:set>
                                    <p:animEffect transition="in" filter="fade">
                                      <p:cBhvr>
                                        <p:cTn id="18" dur="500"/>
                                        <p:tgtEl>
                                          <p:spTgt spid="3072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028"/>
                                        </p:tgtEl>
                                        <p:attrNameLst>
                                          <p:attrName>style.visibility</p:attrName>
                                        </p:attrNameLst>
                                      </p:cBhvr>
                                      <p:to>
                                        <p:strVal val="visible"/>
                                      </p:to>
                                    </p:set>
                                    <p:animEffect transition="in" filter="fade">
                                      <p:cBhvr>
                                        <p:cTn id="28" dur="500"/>
                                        <p:tgtEl>
                                          <p:spTgt spid="102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 calcmode="lin" valueType="num">
                                      <p:cBhvr additive="base">
                                        <p:cTn id="3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1030"/>
                                        </p:tgtEl>
                                        <p:attrNameLst>
                                          <p:attrName>style.visibility</p:attrName>
                                        </p:attrNameLst>
                                      </p:cBhvr>
                                      <p:to>
                                        <p:strVal val="visible"/>
                                      </p:to>
                                    </p:set>
                                    <p:animEffect transition="in" filter="fade">
                                      <p:cBhvr>
                                        <p:cTn id="38"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Hadoob</a:t>
            </a:r>
            <a:r>
              <a:rPr lang="en-US" b="1" dirty="0" smtClean="0"/>
              <a:t> ecosystem components </a:t>
            </a:r>
            <a:endParaRPr lang="en-US" b="1" dirty="0"/>
          </a:p>
        </p:txBody>
      </p:sp>
      <p:sp>
        <p:nvSpPr>
          <p:cNvPr id="3" name="Content Placeholder 2"/>
          <p:cNvSpPr>
            <a:spLocks noGrp="1"/>
          </p:cNvSpPr>
          <p:nvPr>
            <p:ph idx="1"/>
          </p:nvPr>
        </p:nvSpPr>
        <p:spPr>
          <a:xfrm>
            <a:off x="1024128" y="2286000"/>
            <a:ext cx="8381129" cy="4023360"/>
          </a:xfrm>
        </p:spPr>
        <p:txBody>
          <a:bodyPr>
            <a:normAutofit/>
          </a:bodyPr>
          <a:lstStyle/>
          <a:p>
            <a:pPr>
              <a:lnSpc>
                <a:spcPct val="100000"/>
              </a:lnSpc>
              <a:spcBef>
                <a:spcPts val="0"/>
              </a:spcBef>
            </a:pPr>
            <a:r>
              <a:rPr lang="en-US" sz="2600" b="1" dirty="0" smtClean="0">
                <a:solidFill>
                  <a:srgbClr val="C00000"/>
                </a:solidFill>
              </a:rPr>
              <a:t>Data storage and query tools</a:t>
            </a:r>
          </a:p>
          <a:p>
            <a:pPr>
              <a:lnSpc>
                <a:spcPct val="100000"/>
              </a:lnSpc>
              <a:spcBef>
                <a:spcPts val="0"/>
              </a:spcBef>
            </a:pPr>
            <a:r>
              <a:rPr lang="en-US" sz="2600" b="1" dirty="0" err="1"/>
              <a:t>HBase</a:t>
            </a:r>
            <a:endParaRPr lang="en-US" sz="2600" b="1" dirty="0"/>
          </a:p>
          <a:p>
            <a:pPr>
              <a:lnSpc>
                <a:spcPct val="100000"/>
              </a:lnSpc>
              <a:spcBef>
                <a:spcPts val="0"/>
              </a:spcBef>
              <a:buFont typeface="Wingdings" panose="05000000000000000000" pitchFamily="2" charset="2"/>
              <a:buChar char="§"/>
            </a:pPr>
            <a:r>
              <a:rPr lang="en-US" sz="2600" dirty="0"/>
              <a:t>Column-oriented </a:t>
            </a:r>
            <a:r>
              <a:rPr lang="en-US" sz="2600" b="1" dirty="0"/>
              <a:t>NoSQL database</a:t>
            </a:r>
            <a:r>
              <a:rPr lang="en-US" sz="2600" dirty="0"/>
              <a:t> built on top of HDFS.</a:t>
            </a:r>
          </a:p>
          <a:p>
            <a:pPr>
              <a:lnSpc>
                <a:spcPct val="100000"/>
              </a:lnSpc>
              <a:spcBef>
                <a:spcPts val="0"/>
              </a:spcBef>
              <a:buFont typeface="Wingdings" panose="05000000000000000000" pitchFamily="2" charset="2"/>
              <a:buChar char="§"/>
            </a:pPr>
            <a:r>
              <a:rPr lang="en-US" sz="2600" dirty="0"/>
              <a:t>Supports </a:t>
            </a:r>
            <a:r>
              <a:rPr lang="en-US" sz="2600" b="1" dirty="0"/>
              <a:t>random, real-time read/write access</a:t>
            </a:r>
            <a:r>
              <a:rPr lang="en-US" sz="2600" dirty="0"/>
              <a:t> to large sparse datasets.</a:t>
            </a:r>
          </a:p>
          <a:p>
            <a:pPr>
              <a:lnSpc>
                <a:spcPct val="100000"/>
              </a:lnSpc>
              <a:spcBef>
                <a:spcPts val="0"/>
              </a:spcBef>
            </a:pPr>
            <a:r>
              <a:rPr lang="en-US" sz="2600" b="1" dirty="0" smtClean="0"/>
              <a:t>Hive</a:t>
            </a:r>
            <a:endParaRPr lang="en-US" sz="2600" b="1" dirty="0"/>
          </a:p>
          <a:p>
            <a:pPr>
              <a:lnSpc>
                <a:spcPct val="100000"/>
              </a:lnSpc>
              <a:spcBef>
                <a:spcPts val="0"/>
              </a:spcBef>
              <a:buFont typeface="Wingdings" panose="05000000000000000000" pitchFamily="2" charset="2"/>
              <a:buChar char="§"/>
            </a:pPr>
            <a:r>
              <a:rPr lang="en-US" sz="2600" dirty="0"/>
              <a:t>Data warehousing tool that provides </a:t>
            </a:r>
            <a:r>
              <a:rPr lang="en-US" sz="2600" b="1" dirty="0"/>
              <a:t>SQL-like querying (</a:t>
            </a:r>
            <a:r>
              <a:rPr lang="en-US" sz="2600" b="1" dirty="0" err="1"/>
              <a:t>HiveQL</a:t>
            </a:r>
            <a:r>
              <a:rPr lang="en-US" sz="2600" b="1" dirty="0"/>
              <a:t>)</a:t>
            </a:r>
            <a:r>
              <a:rPr lang="en-US" sz="2600" dirty="0"/>
              <a:t> on data stored in HDFS.</a:t>
            </a:r>
          </a:p>
          <a:p>
            <a:pPr>
              <a:lnSpc>
                <a:spcPct val="100000"/>
              </a:lnSpc>
              <a:spcBef>
                <a:spcPts val="0"/>
              </a:spcBef>
            </a:pPr>
            <a:endParaRPr lang="en-US" sz="2600" dirty="0"/>
          </a:p>
        </p:txBody>
      </p:sp>
      <p:pic>
        <p:nvPicPr>
          <p:cNvPr id="27652" name="Picture 4" descr="Download Apache HBase Logo in SVG Vector or PNG File Format ..."/>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0692" b="24945"/>
          <a:stretch/>
        </p:blipFill>
        <p:spPr bwMode="auto">
          <a:xfrm>
            <a:off x="8990331" y="2627086"/>
            <a:ext cx="2650127" cy="783771"/>
          </a:xfrm>
          <a:prstGeom prst="rect">
            <a:avLst/>
          </a:prstGeom>
          <a:noFill/>
          <a:extLst>
            <a:ext uri="{909E8E84-426E-40DD-AFC4-6F175D3DCCD1}">
              <a14:hiddenFill xmlns:a14="http://schemas.microsoft.com/office/drawing/2010/main">
                <a:solidFill>
                  <a:srgbClr val="FFFFFF"/>
                </a:solidFill>
              </a14:hiddenFill>
            </a:ext>
          </a:extLst>
        </p:spPr>
      </p:pic>
      <p:pic>
        <p:nvPicPr>
          <p:cNvPr id="27658" name="Picture 10" descr="Apache hive logo - Free Icon PNG, 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7004" y="4548196"/>
            <a:ext cx="2413454" cy="1206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6270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Hadoob</a:t>
            </a:r>
            <a:r>
              <a:rPr lang="en-US" b="1" dirty="0" smtClean="0"/>
              <a:t> ecosystem components </a:t>
            </a:r>
            <a:endParaRPr lang="en-US" b="1" dirty="0"/>
          </a:p>
        </p:txBody>
      </p:sp>
      <p:sp>
        <p:nvSpPr>
          <p:cNvPr id="3" name="Content Placeholder 2"/>
          <p:cNvSpPr>
            <a:spLocks noGrp="1"/>
          </p:cNvSpPr>
          <p:nvPr>
            <p:ph idx="1"/>
          </p:nvPr>
        </p:nvSpPr>
        <p:spPr>
          <a:xfrm>
            <a:off x="1024129" y="2286000"/>
            <a:ext cx="8003758" cy="4434114"/>
          </a:xfrm>
        </p:spPr>
        <p:txBody>
          <a:bodyPr>
            <a:normAutofit fontScale="62500" lnSpcReduction="20000"/>
          </a:bodyPr>
          <a:lstStyle/>
          <a:p>
            <a:pPr>
              <a:lnSpc>
                <a:spcPct val="100000"/>
              </a:lnSpc>
              <a:spcBef>
                <a:spcPts val="0"/>
              </a:spcBef>
            </a:pPr>
            <a:r>
              <a:rPr lang="en-US" sz="4200" b="1" dirty="0">
                <a:solidFill>
                  <a:srgbClr val="C00000"/>
                </a:solidFill>
              </a:rPr>
              <a:t>Data Processing &amp; Ingestion </a:t>
            </a:r>
            <a:r>
              <a:rPr lang="en-US" sz="4200" b="1" dirty="0" smtClean="0">
                <a:solidFill>
                  <a:srgbClr val="C00000"/>
                </a:solidFill>
              </a:rPr>
              <a:t>Tools</a:t>
            </a:r>
          </a:p>
          <a:p>
            <a:pPr>
              <a:lnSpc>
                <a:spcPct val="120000"/>
              </a:lnSpc>
              <a:spcBef>
                <a:spcPts val="0"/>
              </a:spcBef>
            </a:pPr>
            <a:r>
              <a:rPr lang="en-US" sz="3800" b="1" dirty="0"/>
              <a:t>Pig</a:t>
            </a:r>
          </a:p>
          <a:p>
            <a:pPr>
              <a:lnSpc>
                <a:spcPct val="120000"/>
              </a:lnSpc>
              <a:spcBef>
                <a:spcPts val="0"/>
              </a:spcBef>
            </a:pPr>
            <a:r>
              <a:rPr lang="en-US" sz="3800" dirty="0"/>
              <a:t>High-level scripting language for data processing on Hadoop.</a:t>
            </a:r>
          </a:p>
          <a:p>
            <a:pPr>
              <a:lnSpc>
                <a:spcPct val="120000"/>
              </a:lnSpc>
              <a:spcBef>
                <a:spcPts val="0"/>
              </a:spcBef>
            </a:pPr>
            <a:r>
              <a:rPr lang="en-US" sz="3800" b="1" dirty="0" smtClean="0"/>
              <a:t>Flume</a:t>
            </a:r>
            <a:endParaRPr lang="en-US" sz="3800" b="1" dirty="0"/>
          </a:p>
          <a:p>
            <a:pPr>
              <a:lnSpc>
                <a:spcPct val="120000"/>
              </a:lnSpc>
              <a:spcBef>
                <a:spcPts val="0"/>
              </a:spcBef>
              <a:buFont typeface="Wingdings" panose="05000000000000000000" pitchFamily="2" charset="2"/>
              <a:buChar char="§"/>
            </a:pPr>
            <a:r>
              <a:rPr lang="en-US" sz="3800" dirty="0"/>
              <a:t>Distributed service for </a:t>
            </a:r>
            <a:r>
              <a:rPr lang="en-US" sz="3800" b="1" dirty="0"/>
              <a:t>real-time log and event data ingestion</a:t>
            </a:r>
            <a:r>
              <a:rPr lang="en-US" sz="3800" dirty="0"/>
              <a:t> into HDFS or </a:t>
            </a:r>
            <a:r>
              <a:rPr lang="en-US" sz="3800" dirty="0" err="1"/>
              <a:t>HBase</a:t>
            </a:r>
            <a:r>
              <a:rPr lang="en-US" sz="3800" dirty="0"/>
              <a:t>.</a:t>
            </a:r>
          </a:p>
          <a:p>
            <a:pPr>
              <a:lnSpc>
                <a:spcPct val="120000"/>
              </a:lnSpc>
              <a:spcBef>
                <a:spcPts val="0"/>
              </a:spcBef>
              <a:buFont typeface="Wingdings" panose="05000000000000000000" pitchFamily="2" charset="2"/>
              <a:buChar char="§"/>
            </a:pPr>
            <a:r>
              <a:rPr lang="en-US" sz="3800" dirty="0"/>
              <a:t>Commonly used for collecting application and server logs.</a:t>
            </a:r>
          </a:p>
          <a:p>
            <a:pPr>
              <a:lnSpc>
                <a:spcPct val="120000"/>
              </a:lnSpc>
              <a:spcBef>
                <a:spcPts val="0"/>
              </a:spcBef>
            </a:pPr>
            <a:r>
              <a:rPr lang="en-US" sz="3800" b="1" dirty="0" err="1"/>
              <a:t>Sqoop</a:t>
            </a:r>
            <a:endParaRPr lang="en-US" sz="3800" b="1" dirty="0"/>
          </a:p>
          <a:p>
            <a:pPr>
              <a:lnSpc>
                <a:spcPct val="120000"/>
              </a:lnSpc>
              <a:spcBef>
                <a:spcPts val="0"/>
              </a:spcBef>
              <a:buFont typeface="Wingdings" panose="05000000000000000000" pitchFamily="2" charset="2"/>
              <a:buChar char="§"/>
            </a:pPr>
            <a:r>
              <a:rPr lang="en-US" sz="3800" dirty="0"/>
              <a:t>Tool for </a:t>
            </a:r>
            <a:r>
              <a:rPr lang="en-US" sz="3800" b="1" dirty="0"/>
              <a:t>bulk data transfer</a:t>
            </a:r>
            <a:r>
              <a:rPr lang="en-US" sz="3800" dirty="0"/>
              <a:t> between Hadoop and relational databases (RDBMS).</a:t>
            </a:r>
          </a:p>
          <a:p>
            <a:pPr>
              <a:lnSpc>
                <a:spcPct val="120000"/>
              </a:lnSpc>
              <a:spcBef>
                <a:spcPts val="0"/>
              </a:spcBef>
              <a:buFont typeface="Wingdings" panose="05000000000000000000" pitchFamily="2" charset="2"/>
              <a:buChar char="§"/>
            </a:pPr>
            <a:r>
              <a:rPr lang="en-US" sz="3800" dirty="0"/>
              <a:t>Supports importing/exporting data efficiently using parallelism</a:t>
            </a:r>
            <a:r>
              <a:rPr lang="en-US" sz="3800" dirty="0" smtClean="0"/>
              <a:t>.</a:t>
            </a:r>
            <a:endParaRPr lang="en-US" sz="3800" dirty="0"/>
          </a:p>
        </p:txBody>
      </p:sp>
      <p:pic>
        <p:nvPicPr>
          <p:cNvPr id="28680" name="Picture 8" descr="File:Apache Pig.png - Wikimedia Comm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24016" y="2394856"/>
            <a:ext cx="846990" cy="1265237"/>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10" descr="Welcome to Apache Flume — Apache Flu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8515" y="3781198"/>
            <a:ext cx="1406314" cy="1406315"/>
          </a:xfrm>
          <a:prstGeom prst="rect">
            <a:avLst/>
          </a:prstGeom>
          <a:noFill/>
          <a:extLst>
            <a:ext uri="{909E8E84-426E-40DD-AFC4-6F175D3DCCD1}">
              <a14:hiddenFill xmlns:a14="http://schemas.microsoft.com/office/drawing/2010/main">
                <a:solidFill>
                  <a:srgbClr val="FFFFFF"/>
                </a:solidFill>
              </a14:hiddenFill>
            </a:ext>
          </a:extLst>
        </p:spPr>
      </p:pic>
      <p:pic>
        <p:nvPicPr>
          <p:cNvPr id="28684" name="Picture 12" descr="Hadoop Data Capture: Flume and SQOOP | by 🇵🇹Jose Antonio ..."/>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27887" y="5388681"/>
            <a:ext cx="2338729" cy="114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1251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Hadoob</a:t>
            </a:r>
            <a:r>
              <a:rPr lang="en-US" b="1" dirty="0" smtClean="0"/>
              <a:t> ecosystem components </a:t>
            </a:r>
            <a:endParaRPr lang="en-US" b="1" dirty="0"/>
          </a:p>
        </p:txBody>
      </p:sp>
      <p:sp>
        <p:nvSpPr>
          <p:cNvPr id="3" name="Content Placeholder 2"/>
          <p:cNvSpPr>
            <a:spLocks noGrp="1"/>
          </p:cNvSpPr>
          <p:nvPr>
            <p:ph idx="1"/>
          </p:nvPr>
        </p:nvSpPr>
        <p:spPr>
          <a:xfrm>
            <a:off x="508000" y="1952172"/>
            <a:ext cx="8327117" cy="4905828"/>
          </a:xfrm>
        </p:spPr>
        <p:txBody>
          <a:bodyPr>
            <a:noAutofit/>
          </a:bodyPr>
          <a:lstStyle/>
          <a:p>
            <a:pPr>
              <a:lnSpc>
                <a:spcPct val="100000"/>
              </a:lnSpc>
              <a:spcBef>
                <a:spcPts val="0"/>
              </a:spcBef>
            </a:pPr>
            <a:r>
              <a:rPr lang="en-US" sz="2600" b="1" dirty="0">
                <a:solidFill>
                  <a:srgbClr val="C00000"/>
                </a:solidFill>
              </a:rPr>
              <a:t>Workflow, Coordination &amp; Analytics</a:t>
            </a:r>
            <a:endParaRPr lang="en-US" sz="2600" b="1" dirty="0" smtClean="0">
              <a:solidFill>
                <a:srgbClr val="C00000"/>
              </a:solidFill>
            </a:endParaRPr>
          </a:p>
          <a:p>
            <a:pPr>
              <a:lnSpc>
                <a:spcPct val="120000"/>
              </a:lnSpc>
              <a:spcBef>
                <a:spcPts val="0"/>
              </a:spcBef>
            </a:pPr>
            <a:r>
              <a:rPr lang="en-US" sz="2400" b="1" dirty="0" err="1"/>
              <a:t>Oozie</a:t>
            </a:r>
            <a:endParaRPr lang="en-US" sz="2400" b="1" dirty="0"/>
          </a:p>
          <a:p>
            <a:pPr>
              <a:lnSpc>
                <a:spcPct val="120000"/>
              </a:lnSpc>
              <a:spcBef>
                <a:spcPts val="0"/>
              </a:spcBef>
              <a:buFont typeface="Wingdings" panose="05000000000000000000" pitchFamily="2" charset="2"/>
              <a:buChar char="§"/>
            </a:pPr>
            <a:r>
              <a:rPr lang="en-US" sz="2400" dirty="0"/>
              <a:t>Workflow scheduler for Hadoop </a:t>
            </a:r>
            <a:r>
              <a:rPr lang="en-US" sz="2400" dirty="0" smtClean="0"/>
              <a:t>jobs. Allows </a:t>
            </a:r>
            <a:r>
              <a:rPr lang="en-US" sz="2400" dirty="0"/>
              <a:t>chaining multiple jobs (</a:t>
            </a:r>
            <a:r>
              <a:rPr lang="en-US" sz="2400" dirty="0" err="1"/>
              <a:t>MapReduce</a:t>
            </a:r>
            <a:r>
              <a:rPr lang="en-US" sz="2400" dirty="0"/>
              <a:t>, Hive, Pig, Spark) into a </a:t>
            </a:r>
            <a:r>
              <a:rPr lang="en-US" sz="2400" b="1" dirty="0"/>
              <a:t>single workflow</a:t>
            </a:r>
            <a:r>
              <a:rPr lang="en-US" sz="2400" dirty="0"/>
              <a:t>.</a:t>
            </a:r>
          </a:p>
          <a:p>
            <a:pPr>
              <a:lnSpc>
                <a:spcPct val="120000"/>
              </a:lnSpc>
              <a:spcBef>
                <a:spcPts val="0"/>
              </a:spcBef>
            </a:pPr>
            <a:r>
              <a:rPr lang="en-US" sz="2400" b="1" dirty="0" err="1"/>
              <a:t>ZooKeeper</a:t>
            </a:r>
            <a:endParaRPr lang="en-US" sz="2400" b="1" dirty="0"/>
          </a:p>
          <a:p>
            <a:pPr>
              <a:lnSpc>
                <a:spcPct val="120000"/>
              </a:lnSpc>
              <a:spcBef>
                <a:spcPts val="0"/>
              </a:spcBef>
              <a:buFont typeface="Wingdings" panose="05000000000000000000" pitchFamily="2" charset="2"/>
              <a:buChar char="§"/>
            </a:pPr>
            <a:r>
              <a:rPr lang="en-US" sz="2400" dirty="0"/>
              <a:t>Centralized coordination service for distributed systems.</a:t>
            </a:r>
          </a:p>
          <a:p>
            <a:pPr>
              <a:lnSpc>
                <a:spcPct val="120000"/>
              </a:lnSpc>
              <a:spcBef>
                <a:spcPts val="0"/>
              </a:spcBef>
              <a:buFont typeface="Wingdings" panose="05000000000000000000" pitchFamily="2" charset="2"/>
              <a:buChar char="§"/>
            </a:pPr>
            <a:r>
              <a:rPr lang="en-US" sz="2400" dirty="0"/>
              <a:t>Used for </a:t>
            </a:r>
            <a:r>
              <a:rPr lang="en-US" sz="2400" b="1" dirty="0"/>
              <a:t>configuration </a:t>
            </a:r>
            <a:r>
              <a:rPr lang="en-US" sz="2400" b="1" dirty="0" smtClean="0"/>
              <a:t>management, </a:t>
            </a:r>
            <a:r>
              <a:rPr lang="en-US" sz="2400" b="1" dirty="0"/>
              <a:t>and synchronization</a:t>
            </a:r>
            <a:r>
              <a:rPr lang="en-US" sz="2400" dirty="0"/>
              <a:t>.</a:t>
            </a:r>
          </a:p>
          <a:p>
            <a:pPr>
              <a:lnSpc>
                <a:spcPct val="120000"/>
              </a:lnSpc>
              <a:spcBef>
                <a:spcPts val="0"/>
              </a:spcBef>
            </a:pPr>
            <a:r>
              <a:rPr lang="en-US" sz="2400" b="1" dirty="0"/>
              <a:t>Mahout</a:t>
            </a:r>
          </a:p>
          <a:p>
            <a:pPr>
              <a:lnSpc>
                <a:spcPct val="120000"/>
              </a:lnSpc>
              <a:spcBef>
                <a:spcPts val="0"/>
              </a:spcBef>
              <a:buFont typeface="Wingdings" panose="05000000000000000000" pitchFamily="2" charset="2"/>
              <a:buChar char="§"/>
            </a:pPr>
            <a:r>
              <a:rPr lang="en-US" sz="2400" dirty="0"/>
              <a:t>Scalable </a:t>
            </a:r>
            <a:r>
              <a:rPr lang="en-US" sz="2400" b="1" dirty="0"/>
              <a:t>machine learning library</a:t>
            </a:r>
            <a:r>
              <a:rPr lang="en-US" sz="2400" dirty="0"/>
              <a:t> built on Hadoop.</a:t>
            </a:r>
          </a:p>
          <a:p>
            <a:pPr>
              <a:lnSpc>
                <a:spcPct val="120000"/>
              </a:lnSpc>
              <a:spcBef>
                <a:spcPts val="0"/>
              </a:spcBef>
              <a:buFont typeface="Wingdings" panose="05000000000000000000" pitchFamily="2" charset="2"/>
              <a:buChar char="§"/>
            </a:pPr>
            <a:r>
              <a:rPr lang="en-US" sz="2400" dirty="0"/>
              <a:t>Supports clustering, classification, and recommendation algorithms.</a:t>
            </a:r>
          </a:p>
        </p:txBody>
      </p:sp>
      <p:pic>
        <p:nvPicPr>
          <p:cNvPr id="29698" name="Picture 2" descr="File:Apache Oozie logo.svg - Wikimedia Comm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5117" y="2495893"/>
            <a:ext cx="2863397" cy="691988"/>
          </a:xfrm>
          <a:prstGeom prst="rect">
            <a:avLst/>
          </a:prstGeom>
          <a:noFill/>
          <a:extLst>
            <a:ext uri="{909E8E84-426E-40DD-AFC4-6F175D3DCCD1}">
              <a14:hiddenFill xmlns:a14="http://schemas.microsoft.com/office/drawing/2010/main">
                <a:solidFill>
                  <a:srgbClr val="FFFFFF"/>
                </a:solidFill>
              </a14:hiddenFill>
            </a:ext>
          </a:extLst>
        </p:spPr>
      </p:pic>
      <p:pic>
        <p:nvPicPr>
          <p:cNvPr id="29702" name="Picture 6" descr="File:Apache ZooKeeper logo.svg - Wikimedia Comm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3158" y="3422875"/>
            <a:ext cx="2745356" cy="1486353"/>
          </a:xfrm>
          <a:prstGeom prst="rect">
            <a:avLst/>
          </a:prstGeom>
          <a:noFill/>
          <a:extLst>
            <a:ext uri="{909E8E84-426E-40DD-AFC4-6F175D3DCCD1}">
              <a14:hiddenFill xmlns:a14="http://schemas.microsoft.com/office/drawing/2010/main">
                <a:solidFill>
                  <a:srgbClr val="FFFFFF"/>
                </a:solidFill>
              </a14:hiddenFill>
            </a:ext>
          </a:extLst>
        </p:spPr>
      </p:pic>
      <p:pic>
        <p:nvPicPr>
          <p:cNvPr id="29706" name="Picture 10" descr="Apache Mahout on Hadoop – Thomas J. Ackerman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35117" y="5112581"/>
            <a:ext cx="2863397" cy="119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5407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785944017"/>
              </p:ext>
            </p:extLst>
          </p:nvPr>
        </p:nvGraphicFramePr>
        <p:xfrm>
          <a:off x="319314" y="1277258"/>
          <a:ext cx="11524341" cy="5427569"/>
        </p:xfrm>
        <a:graphic>
          <a:graphicData uri="http://schemas.openxmlformats.org/drawingml/2006/table">
            <a:tbl>
              <a:tblPr>
                <a:tableStyleId>{F2DE63D5-997A-4646-A377-4702673A728D}</a:tableStyleId>
              </a:tblPr>
              <a:tblGrid>
                <a:gridCol w="2975428">
                  <a:extLst>
                    <a:ext uri="{9D8B030D-6E8A-4147-A177-3AD203B41FA5}">
                      <a16:colId xmlns:a16="http://schemas.microsoft.com/office/drawing/2014/main" val="3638741200"/>
                    </a:ext>
                  </a:extLst>
                </a:gridCol>
                <a:gridCol w="3706000">
                  <a:extLst>
                    <a:ext uri="{9D8B030D-6E8A-4147-A177-3AD203B41FA5}">
                      <a16:colId xmlns:a16="http://schemas.microsoft.com/office/drawing/2014/main" val="1745777334"/>
                    </a:ext>
                  </a:extLst>
                </a:gridCol>
                <a:gridCol w="4842913">
                  <a:extLst>
                    <a:ext uri="{9D8B030D-6E8A-4147-A177-3AD203B41FA5}">
                      <a16:colId xmlns:a16="http://schemas.microsoft.com/office/drawing/2014/main" val="3907351122"/>
                    </a:ext>
                  </a:extLst>
                </a:gridCol>
              </a:tblGrid>
              <a:tr h="446538">
                <a:tc>
                  <a:txBody>
                    <a:bodyPr/>
                    <a:lstStyle/>
                    <a:p>
                      <a:pPr algn="ctr"/>
                      <a:r>
                        <a:rPr lang="en-US" sz="2400" b="1" dirty="0"/>
                        <a:t>Architecture Layer</a:t>
                      </a:r>
                    </a:p>
                  </a:txBody>
                  <a:tcPr marL="67045" marR="67045" marT="33523" marB="33523" anchor="ctr"/>
                </a:tc>
                <a:tc>
                  <a:txBody>
                    <a:bodyPr/>
                    <a:lstStyle/>
                    <a:p>
                      <a:pPr algn="ctr"/>
                      <a:r>
                        <a:rPr lang="en-US" sz="2400" b="1" dirty="0"/>
                        <a:t>Purpose</a:t>
                      </a:r>
                    </a:p>
                  </a:txBody>
                  <a:tcPr marL="67045" marR="67045" marT="33523" marB="33523" anchor="ctr"/>
                </a:tc>
                <a:tc>
                  <a:txBody>
                    <a:bodyPr/>
                    <a:lstStyle/>
                    <a:p>
                      <a:pPr algn="ctr"/>
                      <a:r>
                        <a:rPr lang="en-US" sz="2400" b="1" dirty="0"/>
                        <a:t>Hadoop </a:t>
                      </a:r>
                      <a:r>
                        <a:rPr lang="en-US" sz="2400" b="1" dirty="0" smtClean="0"/>
                        <a:t>Tools</a:t>
                      </a:r>
                      <a:endParaRPr lang="en-US" sz="2400" b="1" dirty="0"/>
                    </a:p>
                  </a:txBody>
                  <a:tcPr marL="67045" marR="67045" marT="33523" marB="33523" anchor="ctr"/>
                </a:tc>
                <a:extLst>
                  <a:ext uri="{0D108BD9-81ED-4DB2-BD59-A6C34878D82A}">
                    <a16:rowId xmlns:a16="http://schemas.microsoft.com/office/drawing/2014/main" val="1347729854"/>
                  </a:ext>
                </a:extLst>
              </a:tr>
              <a:tr h="1106926">
                <a:tc>
                  <a:txBody>
                    <a:bodyPr/>
                    <a:lstStyle/>
                    <a:p>
                      <a:r>
                        <a:rPr lang="en-US" sz="2200" dirty="0"/>
                        <a:t>Layer 1: Data Sources</a:t>
                      </a:r>
                    </a:p>
                  </a:txBody>
                  <a:tcPr marL="67045" marR="67045" marT="33523" marB="33523" anchor="ctr"/>
                </a:tc>
                <a:tc>
                  <a:txBody>
                    <a:bodyPr/>
                    <a:lstStyle/>
                    <a:p>
                      <a:r>
                        <a:rPr lang="en-US" sz="2200"/>
                        <a:t>Identify internal &amp; external data sources (structured, semi-structured, unstructured)</a:t>
                      </a:r>
                    </a:p>
                  </a:txBody>
                  <a:tcPr marL="67045" marR="67045" marT="33523" marB="33523" anchor="ctr"/>
                </a:tc>
                <a:tc>
                  <a:txBody>
                    <a:bodyPr/>
                    <a:lstStyle/>
                    <a:p>
                      <a:r>
                        <a:rPr lang="en-US" sz="2200" dirty="0"/>
                        <a:t>Databases, Logs, Web apps, Sensors (external to Hadoop)</a:t>
                      </a:r>
                    </a:p>
                  </a:txBody>
                  <a:tcPr marL="67045" marR="67045" marT="33523" marB="33523" anchor="ctr"/>
                </a:tc>
                <a:extLst>
                  <a:ext uri="{0D108BD9-81ED-4DB2-BD59-A6C34878D82A}">
                    <a16:rowId xmlns:a16="http://schemas.microsoft.com/office/drawing/2014/main" val="2803353342"/>
                  </a:ext>
                </a:extLst>
              </a:tr>
              <a:tr h="761009">
                <a:tc>
                  <a:txBody>
                    <a:bodyPr/>
                    <a:lstStyle/>
                    <a:p>
                      <a:r>
                        <a:rPr lang="en-US" sz="2200"/>
                        <a:t>Layer 2: Data Ingestion &amp; Acquisition</a:t>
                      </a:r>
                    </a:p>
                  </a:txBody>
                  <a:tcPr marL="67045" marR="67045" marT="33523" marB="33523" anchor="ctr"/>
                </a:tc>
                <a:tc>
                  <a:txBody>
                    <a:bodyPr/>
                    <a:lstStyle/>
                    <a:p>
                      <a:r>
                        <a:rPr lang="en-US" sz="2200"/>
                        <a:t>Collect data in batch or real time, ELT, validation</a:t>
                      </a:r>
                    </a:p>
                  </a:txBody>
                  <a:tcPr marL="67045" marR="67045" marT="33523" marB="33523" anchor="ctr"/>
                </a:tc>
                <a:tc>
                  <a:txBody>
                    <a:bodyPr/>
                    <a:lstStyle/>
                    <a:p>
                      <a:r>
                        <a:rPr lang="en-US" sz="2200" b="1" dirty="0" err="1">
                          <a:solidFill>
                            <a:srgbClr val="C00000"/>
                          </a:solidFill>
                        </a:rPr>
                        <a:t>Sqoop</a:t>
                      </a:r>
                      <a:r>
                        <a:rPr lang="en-US" sz="2200" dirty="0"/>
                        <a:t> (RDBMS → Hadoop), </a:t>
                      </a:r>
                      <a:r>
                        <a:rPr lang="en-US" sz="2200" b="1" dirty="0">
                          <a:solidFill>
                            <a:srgbClr val="C00000"/>
                          </a:solidFill>
                        </a:rPr>
                        <a:t>Flume</a:t>
                      </a:r>
                      <a:r>
                        <a:rPr lang="en-US" sz="2200" dirty="0"/>
                        <a:t> (logs &amp; streams</a:t>
                      </a:r>
                      <a:r>
                        <a:rPr lang="en-US" sz="2200" dirty="0" smtClean="0"/>
                        <a:t>)</a:t>
                      </a:r>
                      <a:endParaRPr lang="en-US" sz="2200" dirty="0"/>
                    </a:p>
                  </a:txBody>
                  <a:tcPr marL="67045" marR="67045" marT="33523" marB="33523" anchor="ctr"/>
                </a:tc>
                <a:extLst>
                  <a:ext uri="{0D108BD9-81ED-4DB2-BD59-A6C34878D82A}">
                    <a16:rowId xmlns:a16="http://schemas.microsoft.com/office/drawing/2014/main" val="1304130607"/>
                  </a:ext>
                </a:extLst>
              </a:tr>
              <a:tr h="899244">
                <a:tc>
                  <a:txBody>
                    <a:bodyPr/>
                    <a:lstStyle/>
                    <a:p>
                      <a:r>
                        <a:rPr lang="en-US" sz="2200"/>
                        <a:t>Layer 3: Data Storage</a:t>
                      </a:r>
                    </a:p>
                  </a:txBody>
                  <a:tcPr marL="67045" marR="67045" marT="33523" marB="33523" anchor="ctr"/>
                </a:tc>
                <a:tc>
                  <a:txBody>
                    <a:bodyPr/>
                    <a:lstStyle/>
                    <a:p>
                      <a:r>
                        <a:rPr lang="en-US" sz="2200" dirty="0"/>
                        <a:t>Scalable, fault-tolerant storage and schema management</a:t>
                      </a:r>
                    </a:p>
                  </a:txBody>
                  <a:tcPr marL="67045" marR="67045" marT="33523" marB="33523" anchor="ctr"/>
                </a:tc>
                <a:tc>
                  <a:txBody>
                    <a:bodyPr/>
                    <a:lstStyle/>
                    <a:p>
                      <a:r>
                        <a:rPr lang="en-US" sz="2200" b="1" dirty="0">
                          <a:solidFill>
                            <a:srgbClr val="C00000"/>
                          </a:solidFill>
                        </a:rPr>
                        <a:t>HDFS </a:t>
                      </a:r>
                      <a:r>
                        <a:rPr lang="en-US" sz="2200" dirty="0"/>
                        <a:t>(distributed file system), </a:t>
                      </a:r>
                      <a:r>
                        <a:rPr lang="en-US" sz="2200" b="1" dirty="0" err="1">
                          <a:solidFill>
                            <a:srgbClr val="C00000"/>
                          </a:solidFill>
                        </a:rPr>
                        <a:t>HBase</a:t>
                      </a:r>
                      <a:r>
                        <a:rPr lang="en-US" sz="2200" dirty="0"/>
                        <a:t> (NoSQL column store</a:t>
                      </a:r>
                      <a:r>
                        <a:rPr lang="en-US" sz="2200" dirty="0" smtClean="0"/>
                        <a:t>)</a:t>
                      </a:r>
                      <a:endParaRPr lang="en-US" sz="2200" dirty="0"/>
                    </a:p>
                  </a:txBody>
                  <a:tcPr marL="67045" marR="67045" marT="33523" marB="33523" anchor="ctr"/>
                </a:tc>
                <a:extLst>
                  <a:ext uri="{0D108BD9-81ED-4DB2-BD59-A6C34878D82A}">
                    <a16:rowId xmlns:a16="http://schemas.microsoft.com/office/drawing/2014/main" val="1207471933"/>
                  </a:ext>
                </a:extLst>
              </a:tr>
              <a:tr h="1106926">
                <a:tc>
                  <a:txBody>
                    <a:bodyPr/>
                    <a:lstStyle/>
                    <a:p>
                      <a:r>
                        <a:rPr lang="en-US" sz="2200"/>
                        <a:t>Layer 4: Data Processing</a:t>
                      </a:r>
                    </a:p>
                  </a:txBody>
                  <a:tcPr marL="67045" marR="67045" marT="33523" marB="33523" anchor="ctr"/>
                </a:tc>
                <a:tc>
                  <a:txBody>
                    <a:bodyPr/>
                    <a:lstStyle/>
                    <a:p>
                      <a:r>
                        <a:rPr lang="en-US" sz="2200" dirty="0"/>
                        <a:t>Batch, interactive, and analytical processing</a:t>
                      </a:r>
                    </a:p>
                  </a:txBody>
                  <a:tcPr marL="67045" marR="67045" marT="33523" marB="33523" anchor="ctr"/>
                </a:tc>
                <a:tc>
                  <a:txBody>
                    <a:bodyPr/>
                    <a:lstStyle/>
                    <a:p>
                      <a:r>
                        <a:rPr lang="en-US" sz="2200" b="1" dirty="0" err="1">
                          <a:solidFill>
                            <a:srgbClr val="C00000"/>
                          </a:solidFill>
                        </a:rPr>
                        <a:t>MapReduce</a:t>
                      </a:r>
                      <a:r>
                        <a:rPr lang="en-US" sz="2200" dirty="0"/>
                        <a:t>, </a:t>
                      </a:r>
                      <a:r>
                        <a:rPr lang="en-US" sz="2200" b="1" dirty="0">
                          <a:solidFill>
                            <a:srgbClr val="C00000"/>
                          </a:solidFill>
                        </a:rPr>
                        <a:t>Hive</a:t>
                      </a:r>
                      <a:r>
                        <a:rPr lang="en-US" sz="2200" dirty="0"/>
                        <a:t> (SQL), </a:t>
                      </a:r>
                      <a:r>
                        <a:rPr lang="en-US" sz="2200" b="1" dirty="0">
                          <a:solidFill>
                            <a:srgbClr val="C00000"/>
                          </a:solidFill>
                        </a:rPr>
                        <a:t>Pig</a:t>
                      </a:r>
                      <a:r>
                        <a:rPr lang="en-US" sz="2200" dirty="0"/>
                        <a:t> (scripting), </a:t>
                      </a:r>
                    </a:p>
                  </a:txBody>
                  <a:tcPr marL="67045" marR="67045" marT="33523" marB="33523" anchor="ctr"/>
                </a:tc>
                <a:extLst>
                  <a:ext uri="{0D108BD9-81ED-4DB2-BD59-A6C34878D82A}">
                    <a16:rowId xmlns:a16="http://schemas.microsoft.com/office/drawing/2014/main" val="1940096582"/>
                  </a:ext>
                </a:extLst>
              </a:tr>
              <a:tr h="1106926">
                <a:tc>
                  <a:txBody>
                    <a:bodyPr/>
                    <a:lstStyle/>
                    <a:p>
                      <a:r>
                        <a:rPr lang="en-US" sz="2200"/>
                        <a:t>Layer 5: Data Consumption</a:t>
                      </a:r>
                    </a:p>
                  </a:txBody>
                  <a:tcPr marL="67045" marR="67045" marT="33523" marB="33523" anchor="ctr"/>
                </a:tc>
                <a:tc>
                  <a:txBody>
                    <a:bodyPr/>
                    <a:lstStyle/>
                    <a:p>
                      <a:r>
                        <a:rPr lang="en-US" sz="2200"/>
                        <a:t>Analytics, reporting, visualization, data export</a:t>
                      </a:r>
                    </a:p>
                  </a:txBody>
                  <a:tcPr marL="67045" marR="67045" marT="33523" marB="33523" anchor="ctr"/>
                </a:tc>
                <a:tc>
                  <a:txBody>
                    <a:bodyPr/>
                    <a:lstStyle/>
                    <a:p>
                      <a:r>
                        <a:rPr lang="en-US" sz="2200" dirty="0" smtClean="0"/>
                        <a:t>Hive(BI/SQL </a:t>
                      </a:r>
                      <a:r>
                        <a:rPr lang="en-US" sz="2200" dirty="0" err="1" smtClean="0"/>
                        <a:t>ana;ytics</a:t>
                      </a:r>
                      <a:r>
                        <a:rPr lang="en-US" sz="2200" dirty="0" smtClean="0"/>
                        <a:t>), </a:t>
                      </a:r>
                      <a:r>
                        <a:rPr lang="en-US" sz="2200" dirty="0" err="1"/>
                        <a:t>HBase</a:t>
                      </a:r>
                      <a:r>
                        <a:rPr lang="en-US" sz="2200" dirty="0"/>
                        <a:t> (applications</a:t>
                      </a:r>
                      <a:r>
                        <a:rPr lang="en-US" sz="2200" dirty="0" smtClean="0"/>
                        <a:t>)</a:t>
                      </a:r>
                      <a:endParaRPr lang="en-US" sz="2200" dirty="0"/>
                    </a:p>
                  </a:txBody>
                  <a:tcPr marL="67045" marR="67045" marT="33523" marB="33523" anchor="ctr"/>
                </a:tc>
                <a:extLst>
                  <a:ext uri="{0D108BD9-81ED-4DB2-BD59-A6C34878D82A}">
                    <a16:rowId xmlns:a16="http://schemas.microsoft.com/office/drawing/2014/main" val="524870607"/>
                  </a:ext>
                </a:extLst>
              </a:tr>
            </a:tbl>
          </a:graphicData>
        </a:graphic>
      </p:graphicFrame>
      <p:sp>
        <p:nvSpPr>
          <p:cNvPr id="5" name="Rectangle 4"/>
          <p:cNvSpPr/>
          <p:nvPr/>
        </p:nvSpPr>
        <p:spPr>
          <a:xfrm>
            <a:off x="1339288" y="326962"/>
            <a:ext cx="9484391" cy="615553"/>
          </a:xfrm>
          <a:prstGeom prst="rect">
            <a:avLst/>
          </a:prstGeom>
        </p:spPr>
        <p:txBody>
          <a:bodyPr wrap="none">
            <a:spAutoFit/>
          </a:bodyPr>
          <a:lstStyle/>
          <a:p>
            <a:r>
              <a:rPr lang="en-US" sz="3400" b="1" dirty="0">
                <a:solidFill>
                  <a:srgbClr val="C00000"/>
                </a:solidFill>
              </a:rPr>
              <a:t>Big Data Architecture Layers vs. Hadoop Ecosystem</a:t>
            </a:r>
          </a:p>
        </p:txBody>
      </p:sp>
    </p:spTree>
    <p:extLst>
      <p:ext uri="{BB962C8B-B14F-4D97-AF65-F5344CB8AC3E}">
        <p14:creationId xmlns:p14="http://schemas.microsoft.com/office/powerpoint/2010/main" val="42791237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1167872" cy="1499616"/>
          </a:xfrm>
        </p:spPr>
        <p:txBody>
          <a:bodyPr/>
          <a:lstStyle/>
          <a:p>
            <a:r>
              <a:rPr lang="en-US" altLang="en-US" sz="5400" b="1" dirty="0"/>
              <a:t>Hadoop Distributed File System </a:t>
            </a:r>
            <a:r>
              <a:rPr lang="en-US" altLang="en-US" sz="5400" dirty="0"/>
              <a:t>(</a:t>
            </a:r>
            <a:r>
              <a:rPr lang="en-US" altLang="en-US" sz="5400" b="1" dirty="0" smtClean="0">
                <a:solidFill>
                  <a:srgbClr val="C00000"/>
                </a:solidFill>
              </a:rPr>
              <a:t>HDFS</a:t>
            </a:r>
            <a:r>
              <a:rPr lang="en-US" altLang="en-US" sz="5400" dirty="0" smtClean="0"/>
              <a:t>)</a:t>
            </a:r>
            <a:endParaRPr lang="en-US" dirty="0"/>
          </a:p>
        </p:txBody>
      </p:sp>
      <p:sp>
        <p:nvSpPr>
          <p:cNvPr id="3" name="Content Placeholder 2"/>
          <p:cNvSpPr>
            <a:spLocks noGrp="1"/>
          </p:cNvSpPr>
          <p:nvPr>
            <p:ph idx="1"/>
          </p:nvPr>
        </p:nvSpPr>
        <p:spPr>
          <a:xfrm>
            <a:off x="595087" y="2261035"/>
            <a:ext cx="11059885" cy="4548197"/>
          </a:xfrm>
        </p:spPr>
        <p:txBody>
          <a:bodyPr>
            <a:normAutofit/>
          </a:bodyPr>
          <a:lstStyle/>
          <a:p>
            <a:r>
              <a:rPr lang="en-US" sz="2600" b="1" dirty="0">
                <a:solidFill>
                  <a:srgbClr val="C00000"/>
                </a:solidFill>
              </a:rPr>
              <a:t>HDFS</a:t>
            </a:r>
            <a:r>
              <a:rPr lang="en-US" sz="2600" b="1" dirty="0"/>
              <a:t> is a </a:t>
            </a:r>
            <a:r>
              <a:rPr lang="en-US" sz="2600" b="1" dirty="0" smtClean="0"/>
              <a:t>file system </a:t>
            </a:r>
            <a:r>
              <a:rPr lang="en-US" sz="2600" b="1" dirty="0"/>
              <a:t>designed for storing </a:t>
            </a:r>
            <a:r>
              <a:rPr lang="en-US" sz="2600" b="1" u="sng" dirty="0" smtClean="0"/>
              <a:t>very </a:t>
            </a:r>
            <a:r>
              <a:rPr lang="en-US" sz="2600" b="1" u="sng" dirty="0"/>
              <a:t>large files</a:t>
            </a:r>
            <a:r>
              <a:rPr lang="en-US" sz="2600" b="1" dirty="0"/>
              <a:t> with </a:t>
            </a:r>
            <a:r>
              <a:rPr lang="en-US" sz="2600" b="1" u="sng" dirty="0"/>
              <a:t>streaming data </a:t>
            </a:r>
            <a:r>
              <a:rPr lang="en-US" sz="2600" b="1" u="sng" dirty="0" smtClean="0"/>
              <a:t>access</a:t>
            </a:r>
            <a:r>
              <a:rPr lang="en-US" sz="2600" b="1" dirty="0" smtClean="0"/>
              <a:t> patterns</a:t>
            </a:r>
            <a:r>
              <a:rPr lang="en-US" sz="2600" b="1" dirty="0"/>
              <a:t>, running on </a:t>
            </a:r>
            <a:r>
              <a:rPr lang="en-US" sz="2600" b="1" u="sng" dirty="0"/>
              <a:t>clusters of commodity </a:t>
            </a:r>
            <a:r>
              <a:rPr lang="en-US" sz="2600" b="1" u="sng" dirty="0" smtClean="0"/>
              <a:t>hardware</a:t>
            </a:r>
          </a:p>
          <a:p>
            <a:pPr>
              <a:buFont typeface="Wingdings" panose="05000000000000000000" pitchFamily="2" charset="2"/>
              <a:buChar char="§"/>
            </a:pPr>
            <a:r>
              <a:rPr lang="en-US" sz="2400" b="1" i="1" dirty="0" smtClean="0"/>
              <a:t>Very large files </a:t>
            </a:r>
            <a:r>
              <a:rPr lang="en-US" sz="2400" dirty="0" smtClean="0">
                <a:sym typeface="Wingdings" panose="05000000000000000000" pitchFamily="2" charset="2"/>
              </a:rPr>
              <a:t> </a:t>
            </a:r>
            <a:r>
              <a:rPr lang="en-US" sz="2400" dirty="0"/>
              <a:t>HDFS is designed to store and process extremely large files ranging from hundreds of megabytes to petabytes across distributed clusters.</a:t>
            </a:r>
            <a:endParaRPr lang="en-US" sz="2400" dirty="0" smtClean="0">
              <a:sym typeface="Wingdings" panose="05000000000000000000" pitchFamily="2" charset="2"/>
            </a:endParaRPr>
          </a:p>
          <a:p>
            <a:r>
              <a:rPr lang="en-US" sz="2400" b="1" i="1" dirty="0" smtClean="0">
                <a:sym typeface="Wingdings" panose="05000000000000000000" pitchFamily="2" charset="2"/>
              </a:rPr>
              <a:t>Streaming data access</a:t>
            </a:r>
            <a:r>
              <a:rPr lang="en-US" sz="2400" dirty="0" smtClean="0">
                <a:sym typeface="Wingdings" panose="05000000000000000000" pitchFamily="2" charset="2"/>
              </a:rPr>
              <a:t>  </a:t>
            </a:r>
            <a:r>
              <a:rPr lang="en-US" sz="2400" dirty="0"/>
              <a:t>HDFS is optimized for write-once, read-many access </a:t>
            </a:r>
            <a:r>
              <a:rPr lang="en-US" sz="2400" dirty="0" smtClean="0"/>
              <a:t>patterns. It </a:t>
            </a:r>
            <a:r>
              <a:rPr lang="en-US" sz="2400" dirty="0"/>
              <a:t>is optimized for </a:t>
            </a:r>
            <a:r>
              <a:rPr lang="en-US" sz="2400" b="1" dirty="0"/>
              <a:t>high-throughput batch processing</a:t>
            </a:r>
            <a:r>
              <a:rPr lang="en-US" sz="2400" dirty="0"/>
              <a:t> rather than low-latency access, prioritizing </a:t>
            </a:r>
            <a:r>
              <a:rPr lang="en-US" sz="2400" b="1" dirty="0"/>
              <a:t>reading entire datasets quickly</a:t>
            </a:r>
            <a:r>
              <a:rPr lang="en-US" sz="2400" dirty="0"/>
              <a:t> over fast retrieval of individual records</a:t>
            </a:r>
            <a:r>
              <a:rPr lang="en-US" sz="2400" dirty="0" smtClean="0"/>
              <a:t>.</a:t>
            </a:r>
            <a:endParaRPr lang="en-US" sz="2400" dirty="0" smtClean="0">
              <a:sym typeface="Wingdings" panose="05000000000000000000" pitchFamily="2" charset="2"/>
            </a:endParaRPr>
          </a:p>
          <a:p>
            <a:pPr>
              <a:buFont typeface="Wingdings" panose="05000000000000000000" pitchFamily="2" charset="2"/>
              <a:buChar char="§"/>
            </a:pPr>
            <a:r>
              <a:rPr lang="en-US" sz="2400" b="1" i="1" dirty="0" smtClean="0">
                <a:sym typeface="Wingdings" panose="05000000000000000000" pitchFamily="2" charset="2"/>
              </a:rPr>
              <a:t>Commodity hardware</a:t>
            </a:r>
            <a:r>
              <a:rPr lang="en-US" sz="2400" dirty="0" smtClean="0">
                <a:sym typeface="Wingdings" panose="05000000000000000000" pitchFamily="2" charset="2"/>
              </a:rPr>
              <a:t>  </a:t>
            </a:r>
            <a:r>
              <a:rPr lang="en-US" sz="2400" dirty="0" smtClean="0"/>
              <a:t>Hadoop </a:t>
            </a:r>
            <a:r>
              <a:rPr lang="en-US" sz="2400" dirty="0"/>
              <a:t>runs on low-cost commodity hardware and remains fault-tolerant by automatically handling frequent node failures without disrupting users.</a:t>
            </a:r>
          </a:p>
        </p:txBody>
      </p:sp>
    </p:spTree>
    <p:extLst>
      <p:ext uri="{BB962C8B-B14F-4D97-AF65-F5344CB8AC3E}">
        <p14:creationId xmlns:p14="http://schemas.microsoft.com/office/powerpoint/2010/main" val="244155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storage concepts </a:t>
            </a:r>
            <a:endParaRPr lang="en-US" b="1" dirty="0"/>
          </a:p>
        </p:txBody>
      </p:sp>
      <p:sp>
        <p:nvSpPr>
          <p:cNvPr id="3" name="Content Placeholder 2"/>
          <p:cNvSpPr>
            <a:spLocks noGrp="1"/>
          </p:cNvSpPr>
          <p:nvPr>
            <p:ph idx="1"/>
          </p:nvPr>
        </p:nvSpPr>
        <p:spPr>
          <a:xfrm>
            <a:off x="167785" y="2084832"/>
            <a:ext cx="6678877" cy="4635281"/>
          </a:xfrm>
        </p:spPr>
        <p:txBody>
          <a:bodyPr>
            <a:normAutofit fontScale="92500" lnSpcReduction="10000"/>
          </a:bodyPr>
          <a:lstStyle/>
          <a:p>
            <a:pPr>
              <a:lnSpc>
                <a:spcPct val="100000"/>
              </a:lnSpc>
              <a:spcBef>
                <a:spcPts val="0"/>
              </a:spcBef>
            </a:pPr>
            <a:r>
              <a:rPr lang="en-US" sz="2800" b="1" dirty="0">
                <a:solidFill>
                  <a:srgbClr val="C00000"/>
                </a:solidFill>
              </a:rPr>
              <a:t>HDFS Blocks</a:t>
            </a:r>
          </a:p>
          <a:p>
            <a:pPr>
              <a:lnSpc>
                <a:spcPct val="100000"/>
              </a:lnSpc>
              <a:spcBef>
                <a:spcPts val="0"/>
              </a:spcBef>
              <a:buFont typeface="Wingdings" panose="05000000000000000000" pitchFamily="2" charset="2"/>
              <a:buChar char="§"/>
            </a:pPr>
            <a:r>
              <a:rPr lang="en-US" sz="2600" dirty="0"/>
              <a:t>HDFS stores files as large blocks (</a:t>
            </a:r>
            <a:r>
              <a:rPr lang="en-US" sz="2600" i="1" dirty="0"/>
              <a:t>128 MB by </a:t>
            </a:r>
            <a:r>
              <a:rPr lang="en-US" sz="2600" i="1" dirty="0" smtClean="0"/>
              <a:t>default – configurable</a:t>
            </a:r>
            <a:r>
              <a:rPr lang="en-US" sz="2600" dirty="0" smtClean="0"/>
              <a:t>) </a:t>
            </a:r>
            <a:r>
              <a:rPr lang="en-US" sz="2600" dirty="0"/>
              <a:t>to reduce disk seek overhead and maximize data transfer throughput.</a:t>
            </a:r>
          </a:p>
          <a:p>
            <a:pPr>
              <a:lnSpc>
                <a:spcPct val="100000"/>
              </a:lnSpc>
              <a:spcBef>
                <a:spcPts val="0"/>
              </a:spcBef>
              <a:buFont typeface="Wingdings" panose="05000000000000000000" pitchFamily="2" charset="2"/>
              <a:buChar char="§"/>
            </a:pPr>
            <a:r>
              <a:rPr lang="en-US" sz="2600" dirty="0"/>
              <a:t>Large blocks enable efficient batch processing but must be balanced to ensure enough parallel tasks in </a:t>
            </a:r>
            <a:r>
              <a:rPr lang="en-US" sz="2600" dirty="0" err="1"/>
              <a:t>MapReduce</a:t>
            </a:r>
            <a:r>
              <a:rPr lang="en-US" sz="2600" dirty="0"/>
              <a:t> or Spark jobs</a:t>
            </a:r>
            <a:r>
              <a:rPr lang="en-US" sz="2600" dirty="0" smtClean="0"/>
              <a:t>.</a:t>
            </a:r>
          </a:p>
          <a:p>
            <a:pPr>
              <a:lnSpc>
                <a:spcPct val="100000"/>
              </a:lnSpc>
              <a:spcBef>
                <a:spcPts val="0"/>
              </a:spcBef>
            </a:pPr>
            <a:r>
              <a:rPr lang="en-US" sz="2600" b="1" u="sng" dirty="0" smtClean="0"/>
              <a:t>Block Size Trade-off (</a:t>
            </a:r>
            <a:r>
              <a:rPr lang="en-US" sz="2600" b="1" i="1" u="sng" dirty="0" smtClean="0"/>
              <a:t>Balancing</a:t>
            </a:r>
            <a:r>
              <a:rPr lang="en-US" sz="2600" b="1" u="sng" dirty="0" smtClean="0"/>
              <a:t>): </a:t>
            </a:r>
          </a:p>
          <a:p>
            <a:pPr>
              <a:lnSpc>
                <a:spcPct val="100000"/>
              </a:lnSpc>
              <a:spcBef>
                <a:spcPts val="0"/>
              </a:spcBef>
              <a:buFont typeface="Wingdings" panose="05000000000000000000" pitchFamily="2" charset="2"/>
              <a:buChar char="§"/>
            </a:pPr>
            <a:r>
              <a:rPr lang="en-US" sz="2600" b="1" dirty="0"/>
              <a:t>T</a:t>
            </a:r>
            <a:r>
              <a:rPr lang="en-US" sz="2600" b="1" dirty="0" smtClean="0"/>
              <a:t>oo large blocks</a:t>
            </a:r>
            <a:r>
              <a:rPr lang="en-US" sz="2600" dirty="0" smtClean="0"/>
              <a:t>: </a:t>
            </a:r>
            <a:r>
              <a:rPr lang="en-US" sz="2600" dirty="0"/>
              <a:t>F</a:t>
            </a:r>
            <a:r>
              <a:rPr lang="en-US" sz="2600" dirty="0" smtClean="0"/>
              <a:t>ewer blocks, Fewer </a:t>
            </a:r>
            <a:r>
              <a:rPr lang="en-US" sz="2600" dirty="0"/>
              <a:t>tasks are </a:t>
            </a:r>
            <a:r>
              <a:rPr lang="en-US" sz="2600" dirty="0" smtClean="0"/>
              <a:t>created, so some </a:t>
            </a:r>
            <a:r>
              <a:rPr lang="en-US" sz="2600" dirty="0"/>
              <a:t>cluster nodes sit </a:t>
            </a:r>
            <a:r>
              <a:rPr lang="en-US" sz="2600" dirty="0" smtClean="0"/>
              <a:t>idle and Job </a:t>
            </a:r>
            <a:r>
              <a:rPr lang="en-US" sz="2600" dirty="0"/>
              <a:t>runs slower than it </a:t>
            </a:r>
            <a:r>
              <a:rPr lang="en-US" sz="2600" dirty="0" smtClean="0"/>
              <a:t>could </a:t>
            </a:r>
          </a:p>
          <a:p>
            <a:pPr>
              <a:lnSpc>
                <a:spcPct val="100000"/>
              </a:lnSpc>
              <a:spcBef>
                <a:spcPts val="0"/>
              </a:spcBef>
              <a:buFont typeface="Wingdings" panose="05000000000000000000" pitchFamily="2" charset="2"/>
              <a:buChar char="§"/>
            </a:pPr>
            <a:r>
              <a:rPr lang="en-US" sz="2600" b="1" dirty="0"/>
              <a:t>T</a:t>
            </a:r>
            <a:r>
              <a:rPr lang="en-US" sz="2600" b="1" dirty="0" smtClean="0"/>
              <a:t>oo small blocks</a:t>
            </a:r>
            <a:r>
              <a:rPr lang="en-US" sz="2600" dirty="0" smtClean="0"/>
              <a:t>: too </a:t>
            </a:r>
            <a:r>
              <a:rPr lang="en-US" sz="2600" dirty="0"/>
              <a:t>many </a:t>
            </a:r>
            <a:r>
              <a:rPr lang="en-US" sz="2600" dirty="0" smtClean="0"/>
              <a:t>tasks, High scheduling, and high task </a:t>
            </a:r>
            <a:r>
              <a:rPr lang="en-US" sz="2600" dirty="0"/>
              <a:t>startup </a:t>
            </a:r>
            <a:r>
              <a:rPr lang="en-US" sz="2600" dirty="0" smtClean="0"/>
              <a:t>overhead</a:t>
            </a:r>
            <a:endParaRPr lang="en-US" sz="2600" dirty="0"/>
          </a:p>
        </p:txBody>
      </p:sp>
      <p:pic>
        <p:nvPicPr>
          <p:cNvPr id="21506" name="Picture 2" descr="https://data-flair.training/blogs/wp-content/uploads/sites/2/2017/04/data-blocks-in-hadoop-HDFS.jpg"/>
          <p:cNvPicPr>
            <a:picLocks noChangeAspect="1" noChangeArrowheads="1"/>
          </p:cNvPicPr>
          <p:nvPr/>
        </p:nvPicPr>
        <p:blipFill rotWithShape="1">
          <a:blip r:embed="rId3">
            <a:extLst>
              <a:ext uri="{28A0092B-C50C-407E-A947-70E740481C1C}">
                <a14:useLocalDpi xmlns:a14="http://schemas.microsoft.com/office/drawing/2010/main" val="0"/>
              </a:ext>
            </a:extLst>
          </a:blip>
          <a:srcRect t="20040"/>
          <a:stretch/>
        </p:blipFill>
        <p:spPr bwMode="auto">
          <a:xfrm>
            <a:off x="6846662" y="3322811"/>
            <a:ext cx="5156653" cy="2159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89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21506"/>
                                        </p:tgtEl>
                                        <p:attrNameLst>
                                          <p:attrName>style.visibility</p:attrName>
                                        </p:attrNameLst>
                                      </p:cBhvr>
                                      <p:to>
                                        <p:strVal val="visible"/>
                                      </p:to>
                                    </p:set>
                                    <p:animEffect transition="in" filter="fade">
                                      <p:cBhvr>
                                        <p:cTn id="15" dur="500"/>
                                        <p:tgtEl>
                                          <p:spTgt spid="2150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additive="base">
                                        <p:cTn id="2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356523565"/>
              </p:ext>
            </p:extLst>
          </p:nvPr>
        </p:nvGraphicFramePr>
        <p:xfrm>
          <a:off x="617539" y="2153322"/>
          <a:ext cx="10834232" cy="3279093"/>
        </p:xfrm>
        <a:graphic>
          <a:graphicData uri="http://schemas.openxmlformats.org/drawingml/2006/table">
            <a:tbl>
              <a:tblPr>
                <a:tableStyleId>{8799B23B-EC83-4686-B30A-512413B5E67A}</a:tableStyleId>
              </a:tblPr>
              <a:tblGrid>
                <a:gridCol w="2708558">
                  <a:extLst>
                    <a:ext uri="{9D8B030D-6E8A-4147-A177-3AD203B41FA5}">
                      <a16:colId xmlns:a16="http://schemas.microsoft.com/office/drawing/2014/main" val="1794748382"/>
                    </a:ext>
                  </a:extLst>
                </a:gridCol>
                <a:gridCol w="2708558">
                  <a:extLst>
                    <a:ext uri="{9D8B030D-6E8A-4147-A177-3AD203B41FA5}">
                      <a16:colId xmlns:a16="http://schemas.microsoft.com/office/drawing/2014/main" val="3439515990"/>
                    </a:ext>
                  </a:extLst>
                </a:gridCol>
                <a:gridCol w="2708558">
                  <a:extLst>
                    <a:ext uri="{9D8B030D-6E8A-4147-A177-3AD203B41FA5}">
                      <a16:colId xmlns:a16="http://schemas.microsoft.com/office/drawing/2014/main" val="2118662937"/>
                    </a:ext>
                  </a:extLst>
                </a:gridCol>
                <a:gridCol w="2708558">
                  <a:extLst>
                    <a:ext uri="{9D8B030D-6E8A-4147-A177-3AD203B41FA5}">
                      <a16:colId xmlns:a16="http://schemas.microsoft.com/office/drawing/2014/main" val="3062466416"/>
                    </a:ext>
                  </a:extLst>
                </a:gridCol>
              </a:tblGrid>
              <a:tr h="564145">
                <a:tc>
                  <a:txBody>
                    <a:bodyPr/>
                    <a:lstStyle/>
                    <a:p>
                      <a:pPr algn="ctr"/>
                      <a:r>
                        <a:rPr lang="en-US" sz="2600" b="1" dirty="0"/>
                        <a:t>Block Size</a:t>
                      </a:r>
                    </a:p>
                  </a:txBody>
                  <a:tcPr anchor="ctr"/>
                </a:tc>
                <a:tc>
                  <a:txBody>
                    <a:bodyPr/>
                    <a:lstStyle/>
                    <a:p>
                      <a:pPr algn="ctr"/>
                      <a:r>
                        <a:rPr lang="en-US" sz="2600" b="1" dirty="0"/>
                        <a:t># Blocks</a:t>
                      </a:r>
                    </a:p>
                  </a:txBody>
                  <a:tcPr anchor="ctr"/>
                </a:tc>
                <a:tc>
                  <a:txBody>
                    <a:bodyPr/>
                    <a:lstStyle/>
                    <a:p>
                      <a:pPr algn="ctr"/>
                      <a:r>
                        <a:rPr lang="en-US" sz="2600" b="1" dirty="0"/>
                        <a:t># Parallel Tasks</a:t>
                      </a:r>
                    </a:p>
                  </a:txBody>
                  <a:tcPr anchor="ctr"/>
                </a:tc>
                <a:tc>
                  <a:txBody>
                    <a:bodyPr/>
                    <a:lstStyle/>
                    <a:p>
                      <a:pPr algn="ctr"/>
                      <a:r>
                        <a:rPr lang="en-US" sz="2600" b="1" dirty="0"/>
                        <a:t>Result</a:t>
                      </a:r>
                    </a:p>
                  </a:txBody>
                  <a:tcPr anchor="ctr"/>
                </a:tc>
                <a:extLst>
                  <a:ext uri="{0D108BD9-81ED-4DB2-BD59-A6C34878D82A}">
                    <a16:rowId xmlns:a16="http://schemas.microsoft.com/office/drawing/2014/main" val="688560449"/>
                  </a:ext>
                </a:extLst>
              </a:tr>
              <a:tr h="1022513">
                <a:tc>
                  <a:txBody>
                    <a:bodyPr/>
                    <a:lstStyle/>
                    <a:p>
                      <a:pPr algn="ctr"/>
                      <a:r>
                        <a:rPr lang="en-US" sz="2600" b="1"/>
                        <a:t>128 MB</a:t>
                      </a:r>
                    </a:p>
                  </a:txBody>
                  <a:tcPr anchor="ctr"/>
                </a:tc>
                <a:tc>
                  <a:txBody>
                    <a:bodyPr/>
                    <a:lstStyle/>
                    <a:p>
                      <a:pPr algn="ctr"/>
                      <a:r>
                        <a:rPr lang="en-US" sz="2600" dirty="0"/>
                        <a:t>~8,000</a:t>
                      </a:r>
                    </a:p>
                  </a:txBody>
                  <a:tcPr anchor="ctr"/>
                </a:tc>
                <a:tc>
                  <a:txBody>
                    <a:bodyPr/>
                    <a:lstStyle/>
                    <a:p>
                      <a:pPr algn="ctr"/>
                      <a:r>
                        <a:rPr lang="en-US" sz="2600"/>
                        <a:t>~8,000</a:t>
                      </a:r>
                    </a:p>
                  </a:txBody>
                  <a:tcPr anchor="ctr"/>
                </a:tc>
                <a:tc>
                  <a:txBody>
                    <a:bodyPr/>
                    <a:lstStyle/>
                    <a:p>
                      <a:r>
                        <a:rPr lang="en-US" sz="2600"/>
                        <a:t>Good parallelism</a:t>
                      </a:r>
                    </a:p>
                  </a:txBody>
                  <a:tcPr anchor="ctr"/>
                </a:tc>
                <a:extLst>
                  <a:ext uri="{0D108BD9-81ED-4DB2-BD59-A6C34878D82A}">
                    <a16:rowId xmlns:a16="http://schemas.microsoft.com/office/drawing/2014/main" val="2429575627"/>
                  </a:ext>
                </a:extLst>
              </a:tr>
              <a:tr h="564145">
                <a:tc>
                  <a:txBody>
                    <a:bodyPr/>
                    <a:lstStyle/>
                    <a:p>
                      <a:pPr algn="ctr"/>
                      <a:r>
                        <a:rPr lang="en-US" sz="2600" b="1"/>
                        <a:t>512 MB</a:t>
                      </a:r>
                    </a:p>
                  </a:txBody>
                  <a:tcPr anchor="ctr"/>
                </a:tc>
                <a:tc>
                  <a:txBody>
                    <a:bodyPr/>
                    <a:lstStyle/>
                    <a:p>
                      <a:pPr algn="ctr"/>
                      <a:r>
                        <a:rPr lang="en-US" sz="2600" dirty="0"/>
                        <a:t>~2,000</a:t>
                      </a:r>
                    </a:p>
                  </a:txBody>
                  <a:tcPr anchor="ctr"/>
                </a:tc>
                <a:tc>
                  <a:txBody>
                    <a:bodyPr/>
                    <a:lstStyle/>
                    <a:p>
                      <a:pPr algn="ctr"/>
                      <a:r>
                        <a:rPr lang="en-US" sz="2600"/>
                        <a:t>~2,000</a:t>
                      </a:r>
                    </a:p>
                  </a:txBody>
                  <a:tcPr anchor="ctr"/>
                </a:tc>
                <a:tc>
                  <a:txBody>
                    <a:bodyPr/>
                    <a:lstStyle/>
                    <a:p>
                      <a:r>
                        <a:rPr lang="en-US" sz="2600"/>
                        <a:t>OK parallelism</a:t>
                      </a:r>
                    </a:p>
                  </a:txBody>
                  <a:tcPr anchor="ctr"/>
                </a:tc>
                <a:extLst>
                  <a:ext uri="{0D108BD9-81ED-4DB2-BD59-A6C34878D82A}">
                    <a16:rowId xmlns:a16="http://schemas.microsoft.com/office/drawing/2014/main" val="2259556386"/>
                  </a:ext>
                </a:extLst>
              </a:tr>
              <a:tr h="564145">
                <a:tc>
                  <a:txBody>
                    <a:bodyPr/>
                    <a:lstStyle/>
                    <a:p>
                      <a:pPr algn="ctr"/>
                      <a:r>
                        <a:rPr lang="en-US" sz="2600" b="1"/>
                        <a:t>1 GB</a:t>
                      </a:r>
                    </a:p>
                  </a:txBody>
                  <a:tcPr anchor="ctr"/>
                </a:tc>
                <a:tc>
                  <a:txBody>
                    <a:bodyPr/>
                    <a:lstStyle/>
                    <a:p>
                      <a:pPr algn="ctr"/>
                      <a:r>
                        <a:rPr lang="en-US" sz="2600" dirty="0"/>
                        <a:t>~1,000</a:t>
                      </a:r>
                    </a:p>
                  </a:txBody>
                  <a:tcPr anchor="ctr"/>
                </a:tc>
                <a:tc>
                  <a:txBody>
                    <a:bodyPr/>
                    <a:lstStyle/>
                    <a:p>
                      <a:pPr algn="ctr"/>
                      <a:r>
                        <a:rPr lang="en-US" sz="2600" dirty="0"/>
                        <a:t>~1,000</a:t>
                      </a:r>
                    </a:p>
                  </a:txBody>
                  <a:tcPr anchor="ctr"/>
                </a:tc>
                <a:tc>
                  <a:txBody>
                    <a:bodyPr/>
                    <a:lstStyle/>
                    <a:p>
                      <a:r>
                        <a:rPr lang="en-US" sz="2600" dirty="0"/>
                        <a:t>Some nodes idle</a:t>
                      </a:r>
                    </a:p>
                  </a:txBody>
                  <a:tcPr anchor="ctr"/>
                </a:tc>
                <a:extLst>
                  <a:ext uri="{0D108BD9-81ED-4DB2-BD59-A6C34878D82A}">
                    <a16:rowId xmlns:a16="http://schemas.microsoft.com/office/drawing/2014/main" val="4281294090"/>
                  </a:ext>
                </a:extLst>
              </a:tr>
              <a:tr h="564145">
                <a:tc>
                  <a:txBody>
                    <a:bodyPr/>
                    <a:lstStyle/>
                    <a:p>
                      <a:pPr algn="ctr"/>
                      <a:r>
                        <a:rPr lang="en-US" sz="2600" b="1" dirty="0"/>
                        <a:t>10 GB</a:t>
                      </a:r>
                    </a:p>
                  </a:txBody>
                  <a:tcPr anchor="ctr"/>
                </a:tc>
                <a:tc>
                  <a:txBody>
                    <a:bodyPr/>
                    <a:lstStyle/>
                    <a:p>
                      <a:pPr algn="ctr"/>
                      <a:r>
                        <a:rPr lang="en-US" sz="2600"/>
                        <a:t>100</a:t>
                      </a:r>
                    </a:p>
                  </a:txBody>
                  <a:tcPr anchor="ctr"/>
                </a:tc>
                <a:tc>
                  <a:txBody>
                    <a:bodyPr/>
                    <a:lstStyle/>
                    <a:p>
                      <a:pPr algn="ctr"/>
                      <a:r>
                        <a:rPr lang="en-US" sz="2600" dirty="0"/>
                        <a:t>100</a:t>
                      </a:r>
                    </a:p>
                  </a:txBody>
                  <a:tcPr anchor="ctr"/>
                </a:tc>
                <a:tc>
                  <a:txBody>
                    <a:bodyPr/>
                    <a:lstStyle/>
                    <a:p>
                      <a:r>
                        <a:rPr lang="en-US" sz="2600" dirty="0"/>
                        <a:t>Poor parallelism</a:t>
                      </a:r>
                    </a:p>
                  </a:txBody>
                  <a:tcPr anchor="ctr"/>
                </a:tc>
                <a:extLst>
                  <a:ext uri="{0D108BD9-81ED-4DB2-BD59-A6C34878D82A}">
                    <a16:rowId xmlns:a16="http://schemas.microsoft.com/office/drawing/2014/main" val="3095072879"/>
                  </a:ext>
                </a:extLst>
              </a:tr>
            </a:tbl>
          </a:graphicData>
        </a:graphic>
      </p:graphicFrame>
      <p:sp>
        <p:nvSpPr>
          <p:cNvPr id="5" name="Rectangle 1"/>
          <p:cNvSpPr>
            <a:spLocks noChangeArrowheads="1"/>
          </p:cNvSpPr>
          <p:nvPr/>
        </p:nvSpPr>
        <p:spPr bwMode="auto">
          <a:xfrm>
            <a:off x="1023939" y="860660"/>
            <a:ext cx="273510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dirty="0" smtClean="0">
                <a:ln>
                  <a:noFill/>
                </a:ln>
                <a:solidFill>
                  <a:schemeClr val="tx1"/>
                </a:solidFill>
                <a:effectLst/>
              </a:rPr>
              <a:t>Dataset:</a:t>
            </a:r>
            <a:r>
              <a:rPr kumimoji="0" lang="en-US" altLang="en-US" sz="2600" b="0" i="0" u="none" strike="noStrike" cap="none" normalizeH="0" baseline="0" dirty="0" smtClean="0">
                <a:ln>
                  <a:noFill/>
                </a:ln>
                <a:solidFill>
                  <a:schemeClr val="tx1"/>
                </a:solidFill>
                <a:effectLst/>
              </a:rPr>
              <a:t> 1 TB</a:t>
            </a:r>
            <a:br>
              <a:rPr kumimoji="0" lang="en-US" altLang="en-US" sz="2600" b="0" i="0" u="none" strike="noStrike" cap="none" normalizeH="0" baseline="0" dirty="0" smtClean="0">
                <a:ln>
                  <a:noFill/>
                </a:ln>
                <a:solidFill>
                  <a:schemeClr val="tx1"/>
                </a:solidFill>
                <a:effectLst/>
              </a:rPr>
            </a:br>
            <a:r>
              <a:rPr kumimoji="0" lang="en-US" altLang="en-US" sz="2600" b="1" i="0" u="none" strike="noStrike" cap="none" normalizeH="0" baseline="0" dirty="0" smtClean="0">
                <a:ln>
                  <a:noFill/>
                </a:ln>
                <a:solidFill>
                  <a:schemeClr val="tx1"/>
                </a:solidFill>
                <a:effectLst/>
              </a:rPr>
              <a:t>Cluster:</a:t>
            </a:r>
            <a:r>
              <a:rPr kumimoji="0" lang="en-US" altLang="en-US" sz="2600" b="0" i="0" u="none" strike="noStrike" cap="none" normalizeH="0" baseline="0" dirty="0" smtClean="0">
                <a:ln>
                  <a:noFill/>
                </a:ln>
                <a:solidFill>
                  <a:schemeClr val="tx1"/>
                </a:solidFill>
                <a:effectLst/>
              </a:rPr>
              <a:t> 100 nodes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7079002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storage concepts </a:t>
            </a:r>
            <a:endParaRPr lang="en-US" b="1" dirty="0"/>
          </a:p>
        </p:txBody>
      </p:sp>
      <p:sp>
        <p:nvSpPr>
          <p:cNvPr id="3" name="Content Placeholder 2"/>
          <p:cNvSpPr>
            <a:spLocks noGrp="1"/>
          </p:cNvSpPr>
          <p:nvPr>
            <p:ph idx="1"/>
          </p:nvPr>
        </p:nvSpPr>
        <p:spPr>
          <a:xfrm>
            <a:off x="472587" y="1872343"/>
            <a:ext cx="11501701" cy="4049486"/>
          </a:xfrm>
        </p:spPr>
        <p:txBody>
          <a:bodyPr>
            <a:noAutofit/>
          </a:bodyPr>
          <a:lstStyle/>
          <a:p>
            <a:pPr>
              <a:lnSpc>
                <a:spcPct val="120000"/>
              </a:lnSpc>
              <a:spcBef>
                <a:spcPts val="0"/>
              </a:spcBef>
            </a:pPr>
            <a:r>
              <a:rPr lang="en-US" sz="2600" b="1" dirty="0" smtClean="0"/>
              <a:t>Block </a:t>
            </a:r>
            <a:r>
              <a:rPr lang="en-US" sz="2600" b="1" dirty="0"/>
              <a:t>abstraction</a:t>
            </a:r>
            <a:r>
              <a:rPr lang="en-US" sz="2600" dirty="0"/>
              <a:t> is the </a:t>
            </a:r>
            <a:r>
              <a:rPr lang="en-US" sz="2800" dirty="0" smtClean="0"/>
              <a:t>architectural </a:t>
            </a:r>
            <a:r>
              <a:rPr lang="en-US" sz="2600" dirty="0" smtClean="0"/>
              <a:t>foundation </a:t>
            </a:r>
            <a:r>
              <a:rPr lang="en-US" sz="2800" dirty="0"/>
              <a:t>that enables </a:t>
            </a:r>
            <a:r>
              <a:rPr lang="en-US" sz="2800" b="1" dirty="0"/>
              <a:t>HDFS</a:t>
            </a:r>
            <a:r>
              <a:rPr lang="en-US" sz="2800" dirty="0"/>
              <a:t> to achieve scalability, manageability, and fault tolerance.</a:t>
            </a:r>
            <a:endParaRPr lang="en-US" sz="2600" dirty="0" smtClean="0"/>
          </a:p>
          <a:p>
            <a:pPr>
              <a:lnSpc>
                <a:spcPct val="120000"/>
              </a:lnSpc>
              <a:spcBef>
                <a:spcPts val="0"/>
              </a:spcBef>
            </a:pPr>
            <a:r>
              <a:rPr lang="en-US" sz="2600" b="1" dirty="0">
                <a:solidFill>
                  <a:srgbClr val="C00000"/>
                </a:solidFill>
              </a:rPr>
              <a:t>Benefits of Block Abstraction in HDFS</a:t>
            </a:r>
          </a:p>
          <a:p>
            <a:pPr>
              <a:lnSpc>
                <a:spcPct val="120000"/>
              </a:lnSpc>
              <a:spcBef>
                <a:spcPts val="0"/>
              </a:spcBef>
              <a:buFont typeface="Wingdings" panose="05000000000000000000" pitchFamily="2" charset="2"/>
              <a:buChar char="§"/>
            </a:pPr>
            <a:r>
              <a:rPr lang="en-US" sz="2600" b="1" dirty="0"/>
              <a:t>Supports massive files:</a:t>
            </a:r>
            <a:r>
              <a:rPr lang="en-US" sz="2600" dirty="0"/>
              <a:t> Files are split into independent blocks that can be stored across many disks and machines, </a:t>
            </a:r>
            <a:r>
              <a:rPr lang="en-US" sz="2600" b="1" i="1" dirty="0" smtClean="0"/>
              <a:t>allowing</a:t>
            </a:r>
            <a:r>
              <a:rPr lang="en-US" sz="2600" dirty="0" smtClean="0"/>
              <a:t> </a:t>
            </a:r>
            <a:r>
              <a:rPr lang="en-US" sz="2600" b="1" i="1" dirty="0" smtClean="0"/>
              <a:t>file </a:t>
            </a:r>
            <a:r>
              <a:rPr lang="en-US" sz="2600" b="1" i="1" dirty="0"/>
              <a:t>sizes to exceed single-disk capacity</a:t>
            </a:r>
            <a:r>
              <a:rPr lang="en-US" sz="2600" dirty="0"/>
              <a:t>.</a:t>
            </a:r>
          </a:p>
          <a:p>
            <a:r>
              <a:rPr lang="en-US" sz="2600" b="1" dirty="0"/>
              <a:t>Simplifies storage management:</a:t>
            </a:r>
            <a:r>
              <a:rPr lang="en-US" sz="2600" dirty="0"/>
              <a:t> </a:t>
            </a:r>
            <a:r>
              <a:rPr lang="en-US" sz="2800" dirty="0"/>
              <a:t>Uniform block sizes simplify data placement, load balancing, replication, and recovery. The </a:t>
            </a:r>
            <a:r>
              <a:rPr lang="en-US" sz="2800" dirty="0" err="1"/>
              <a:t>NameNode</a:t>
            </a:r>
            <a:r>
              <a:rPr lang="en-US" sz="2800" dirty="0"/>
              <a:t> manages metadata separately from actual data storage.</a:t>
            </a:r>
          </a:p>
          <a:p>
            <a:pPr>
              <a:lnSpc>
                <a:spcPct val="120000"/>
              </a:lnSpc>
              <a:spcBef>
                <a:spcPts val="0"/>
              </a:spcBef>
              <a:buFont typeface="Wingdings" panose="05000000000000000000" pitchFamily="2" charset="2"/>
              <a:buChar char="§"/>
            </a:pPr>
            <a:r>
              <a:rPr lang="en-US" sz="2600" b="1" dirty="0" smtClean="0"/>
              <a:t>Enables </a:t>
            </a:r>
            <a:r>
              <a:rPr lang="en-US" sz="2600" b="1" dirty="0"/>
              <a:t>fault tolerance:</a:t>
            </a:r>
            <a:r>
              <a:rPr lang="en-US" sz="2600" dirty="0"/>
              <a:t> Blocks are replicated across multiple </a:t>
            </a:r>
            <a:r>
              <a:rPr lang="en-US" sz="2600" dirty="0" smtClean="0"/>
              <a:t>Nodes</a:t>
            </a:r>
            <a:r>
              <a:rPr lang="en-US" sz="2600" dirty="0"/>
              <a:t>, so failures are handled </a:t>
            </a:r>
            <a:r>
              <a:rPr lang="en-US" sz="2600" dirty="0" smtClean="0"/>
              <a:t>without </a:t>
            </a:r>
            <a:r>
              <a:rPr lang="en-US" sz="2600" dirty="0"/>
              <a:t>losing data</a:t>
            </a:r>
            <a:r>
              <a:rPr lang="en-US" sz="2600" dirty="0" smtClean="0"/>
              <a:t>.</a:t>
            </a:r>
            <a:endParaRPr lang="en-US" sz="2600" dirty="0"/>
          </a:p>
        </p:txBody>
      </p:sp>
    </p:spTree>
    <p:extLst>
      <p:ext uri="{BB962C8B-B14F-4D97-AF65-F5344CB8AC3E}">
        <p14:creationId xmlns:p14="http://schemas.microsoft.com/office/powerpoint/2010/main" val="254584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data-flair.training/blogs/wp-content/uploads/sites/2/2016/11/data-storage-in-hdfs-tutorial-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89" y="945921"/>
            <a:ext cx="11841902" cy="5092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285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a:t> </a:t>
            </a:r>
            <a:r>
              <a:rPr lang="en-US" b="1" dirty="0" smtClean="0"/>
              <a:t>architecture </a:t>
            </a:r>
            <a:endParaRPr lang="en-US" b="1" dirty="0"/>
          </a:p>
        </p:txBody>
      </p:sp>
      <p:sp>
        <p:nvSpPr>
          <p:cNvPr id="3" name="Content Placeholder 2"/>
          <p:cNvSpPr>
            <a:spLocks noGrp="1"/>
          </p:cNvSpPr>
          <p:nvPr>
            <p:ph idx="1"/>
          </p:nvPr>
        </p:nvSpPr>
        <p:spPr>
          <a:xfrm>
            <a:off x="1024128" y="2084832"/>
            <a:ext cx="10587302" cy="4606254"/>
          </a:xfrm>
        </p:spPr>
        <p:txBody>
          <a:bodyPr>
            <a:noAutofit/>
          </a:bodyPr>
          <a:lstStyle/>
          <a:p>
            <a:pPr marL="0" indent="0">
              <a:lnSpc>
                <a:spcPct val="100000"/>
              </a:lnSpc>
              <a:spcBef>
                <a:spcPts val="0"/>
              </a:spcBef>
              <a:buNone/>
            </a:pPr>
            <a:r>
              <a:rPr lang="en-US" sz="2800" b="1" dirty="0">
                <a:solidFill>
                  <a:srgbClr val="C00000"/>
                </a:solidFill>
              </a:rPr>
              <a:t>HDFS </a:t>
            </a:r>
            <a:r>
              <a:rPr lang="en-US" sz="2800" b="1" dirty="0" smtClean="0">
                <a:solidFill>
                  <a:srgbClr val="C00000"/>
                </a:solidFill>
              </a:rPr>
              <a:t>Nodes</a:t>
            </a:r>
          </a:p>
          <a:p>
            <a:pPr fontAlgn="base">
              <a:lnSpc>
                <a:spcPct val="100000"/>
              </a:lnSpc>
              <a:spcBef>
                <a:spcPts val="0"/>
              </a:spcBef>
              <a:buFont typeface="Wingdings" panose="05000000000000000000" pitchFamily="2" charset="2"/>
              <a:buChar char="§"/>
            </a:pPr>
            <a:r>
              <a:rPr lang="en-US" sz="2600" dirty="0"/>
              <a:t>HDFS follows a </a:t>
            </a:r>
            <a:r>
              <a:rPr lang="en-US" sz="2600" b="1" dirty="0"/>
              <a:t>master–worker architecture</a:t>
            </a:r>
            <a:r>
              <a:rPr lang="en-US" sz="2600" dirty="0"/>
              <a:t> with a </a:t>
            </a:r>
            <a:r>
              <a:rPr lang="en-US" sz="2600" b="1" dirty="0" err="1"/>
              <a:t>NameNode</a:t>
            </a:r>
            <a:r>
              <a:rPr lang="en-US" sz="2600" dirty="0"/>
              <a:t> (</a:t>
            </a:r>
            <a:r>
              <a:rPr lang="en-US" sz="2600" i="1" dirty="0"/>
              <a:t>master</a:t>
            </a:r>
            <a:r>
              <a:rPr lang="en-US" sz="2600" dirty="0"/>
              <a:t>) and multiple </a:t>
            </a:r>
            <a:r>
              <a:rPr lang="en-US" sz="2600" b="1" dirty="0" err="1"/>
              <a:t>DataNodes</a:t>
            </a:r>
            <a:r>
              <a:rPr lang="en-US" sz="2600" dirty="0"/>
              <a:t> (</a:t>
            </a:r>
            <a:r>
              <a:rPr lang="en-US" sz="2600" i="1" dirty="0"/>
              <a:t>workers</a:t>
            </a:r>
            <a:r>
              <a:rPr lang="en-US" sz="2600" dirty="0" smtClean="0"/>
              <a:t>).</a:t>
            </a:r>
          </a:p>
          <a:p>
            <a:pPr fontAlgn="base">
              <a:lnSpc>
                <a:spcPct val="100000"/>
              </a:lnSpc>
              <a:spcBef>
                <a:spcPts val="0"/>
              </a:spcBef>
              <a:buFont typeface="Wingdings" panose="05000000000000000000" pitchFamily="2" charset="2"/>
              <a:buChar char="§"/>
            </a:pPr>
            <a:r>
              <a:rPr lang="en-US" sz="2600" dirty="0"/>
              <a:t>The </a:t>
            </a:r>
            <a:r>
              <a:rPr lang="en-US" sz="2600" b="1" dirty="0" err="1"/>
              <a:t>NameNode</a:t>
            </a:r>
            <a:r>
              <a:rPr lang="en-US" sz="2600" dirty="0"/>
              <a:t> manages the </a:t>
            </a:r>
            <a:r>
              <a:rPr lang="en-US" sz="2600" dirty="0" smtClean="0"/>
              <a:t>file system </a:t>
            </a:r>
            <a:r>
              <a:rPr lang="en-US" sz="2600" dirty="0"/>
              <a:t>namespace and metadata, including the directory structure, file permissions, and file-to-block mapping.</a:t>
            </a:r>
          </a:p>
          <a:p>
            <a:pPr lvl="1" fontAlgn="base">
              <a:lnSpc>
                <a:spcPct val="100000"/>
              </a:lnSpc>
              <a:spcBef>
                <a:spcPts val="0"/>
              </a:spcBef>
              <a:buFont typeface="Wingdings" panose="05000000000000000000" pitchFamily="2" charset="2"/>
              <a:buChar char="§"/>
            </a:pPr>
            <a:r>
              <a:rPr lang="en-US" sz="2400" dirty="0"/>
              <a:t>Metadata is stored persistently as the namespace </a:t>
            </a:r>
            <a:r>
              <a:rPr lang="en-US" sz="2400" dirty="0" smtClean="0"/>
              <a:t>image (</a:t>
            </a:r>
            <a:r>
              <a:rPr lang="en-US" sz="2400" dirty="0" err="1" smtClean="0"/>
              <a:t>Fsimage</a:t>
            </a:r>
            <a:r>
              <a:rPr lang="en-US" sz="2400" dirty="0" smtClean="0"/>
              <a:t>) and </a:t>
            </a:r>
            <a:r>
              <a:rPr lang="en-US" sz="2400" dirty="0"/>
              <a:t>the edit log, while block locations are reconstructed from </a:t>
            </a:r>
            <a:r>
              <a:rPr lang="en-US" sz="2400" dirty="0" err="1"/>
              <a:t>DataNodes</a:t>
            </a:r>
            <a:r>
              <a:rPr lang="en-US" sz="2400" dirty="0"/>
              <a:t> at startup.</a:t>
            </a:r>
          </a:p>
          <a:p>
            <a:pPr fontAlgn="base">
              <a:lnSpc>
                <a:spcPct val="100000"/>
              </a:lnSpc>
              <a:spcBef>
                <a:spcPts val="0"/>
              </a:spcBef>
              <a:buFont typeface="Wingdings" panose="05000000000000000000" pitchFamily="2" charset="2"/>
              <a:buChar char="§"/>
            </a:pPr>
            <a:r>
              <a:rPr lang="en-US" sz="2600" dirty="0"/>
              <a:t>Clients interact with the </a:t>
            </a:r>
            <a:r>
              <a:rPr lang="en-US" sz="2600" dirty="0" smtClean="0"/>
              <a:t>file system </a:t>
            </a:r>
            <a:r>
              <a:rPr lang="en-US" sz="2600" dirty="0"/>
              <a:t>through </a:t>
            </a:r>
            <a:r>
              <a:rPr lang="en-US" sz="2600" dirty="0" smtClean="0"/>
              <a:t>an interface </a:t>
            </a:r>
            <a:r>
              <a:rPr lang="en-US" sz="2600" dirty="0"/>
              <a:t>by communicating with the </a:t>
            </a:r>
            <a:r>
              <a:rPr lang="en-US" sz="2600" dirty="0" err="1"/>
              <a:t>NameNode</a:t>
            </a:r>
            <a:r>
              <a:rPr lang="en-US" sz="2600" dirty="0"/>
              <a:t> for metadata and </a:t>
            </a:r>
            <a:r>
              <a:rPr lang="en-US" sz="2600" dirty="0" err="1"/>
              <a:t>DataNodes</a:t>
            </a:r>
            <a:r>
              <a:rPr lang="en-US" sz="2600" dirty="0"/>
              <a:t> for actual </a:t>
            </a:r>
            <a:r>
              <a:rPr lang="en-US" sz="2600" dirty="0" smtClean="0"/>
              <a:t>data</a:t>
            </a:r>
            <a:endParaRPr lang="en-US" sz="2600" dirty="0"/>
          </a:p>
        </p:txBody>
      </p:sp>
    </p:spTree>
    <p:extLst>
      <p:ext uri="{BB962C8B-B14F-4D97-AF65-F5344CB8AC3E}">
        <p14:creationId xmlns:p14="http://schemas.microsoft.com/office/powerpoint/2010/main" val="205276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architecture </a:t>
            </a:r>
          </a:p>
        </p:txBody>
      </p:sp>
      <p:sp>
        <p:nvSpPr>
          <p:cNvPr id="3" name="Content Placeholder 2"/>
          <p:cNvSpPr>
            <a:spLocks noGrp="1"/>
          </p:cNvSpPr>
          <p:nvPr>
            <p:ph idx="1"/>
          </p:nvPr>
        </p:nvSpPr>
        <p:spPr>
          <a:xfrm>
            <a:off x="1024128" y="2084832"/>
            <a:ext cx="10587302" cy="4023360"/>
          </a:xfrm>
        </p:spPr>
        <p:txBody>
          <a:bodyPr>
            <a:noAutofit/>
          </a:bodyPr>
          <a:lstStyle/>
          <a:p>
            <a:pPr marL="0" indent="0">
              <a:lnSpc>
                <a:spcPct val="100000"/>
              </a:lnSpc>
              <a:spcBef>
                <a:spcPts val="0"/>
              </a:spcBef>
              <a:buNone/>
            </a:pPr>
            <a:r>
              <a:rPr lang="en-US" sz="2800" b="1" dirty="0">
                <a:solidFill>
                  <a:srgbClr val="C00000"/>
                </a:solidFill>
              </a:rPr>
              <a:t>HDFS </a:t>
            </a:r>
            <a:r>
              <a:rPr lang="en-US" sz="2800" b="1" dirty="0" smtClean="0">
                <a:solidFill>
                  <a:srgbClr val="C00000"/>
                </a:solidFill>
              </a:rPr>
              <a:t>Nodes</a:t>
            </a:r>
          </a:p>
          <a:p>
            <a:pPr fontAlgn="base">
              <a:lnSpc>
                <a:spcPct val="100000"/>
              </a:lnSpc>
              <a:spcBef>
                <a:spcPts val="0"/>
              </a:spcBef>
              <a:buFont typeface="Wingdings" panose="05000000000000000000" pitchFamily="2" charset="2"/>
              <a:buChar char="§"/>
            </a:pPr>
            <a:r>
              <a:rPr lang="en-US" sz="2600" b="1" dirty="0" err="1"/>
              <a:t>DataNodes</a:t>
            </a:r>
            <a:r>
              <a:rPr lang="en-US" sz="2600" dirty="0"/>
              <a:t> are inexpensive commodity </a:t>
            </a:r>
            <a:r>
              <a:rPr lang="en-US" sz="2600" dirty="0" smtClean="0"/>
              <a:t>hardware. They store </a:t>
            </a:r>
            <a:r>
              <a:rPr lang="en-US" sz="2600" dirty="0"/>
              <a:t>and retrieve data blocks, serve read/write requests, and periodically report block information to the </a:t>
            </a:r>
            <a:r>
              <a:rPr lang="en-US" sz="2600" dirty="0" err="1"/>
              <a:t>NameNode</a:t>
            </a:r>
            <a:r>
              <a:rPr lang="en-US" sz="2600" dirty="0"/>
              <a:t>.</a:t>
            </a:r>
          </a:p>
          <a:p>
            <a:pPr fontAlgn="base">
              <a:lnSpc>
                <a:spcPct val="100000"/>
              </a:lnSpc>
              <a:spcBef>
                <a:spcPts val="0"/>
              </a:spcBef>
              <a:buFont typeface="Wingdings" panose="05000000000000000000" pitchFamily="2" charset="2"/>
              <a:buChar char="§"/>
            </a:pPr>
            <a:r>
              <a:rPr lang="en-US" sz="2600" dirty="0"/>
              <a:t>The </a:t>
            </a:r>
            <a:r>
              <a:rPr lang="en-US" sz="2600" b="1" dirty="0" err="1"/>
              <a:t>NameNode</a:t>
            </a:r>
            <a:r>
              <a:rPr lang="en-US" sz="2600" dirty="0"/>
              <a:t> is critical to </a:t>
            </a:r>
            <a:r>
              <a:rPr lang="en-US" sz="2600" dirty="0" smtClean="0"/>
              <a:t>file system </a:t>
            </a:r>
            <a:r>
              <a:rPr lang="en-US" sz="2600" dirty="0"/>
              <a:t>operation; without it, files cannot be reconstructed from blocks.</a:t>
            </a:r>
          </a:p>
          <a:p>
            <a:pPr fontAlgn="base">
              <a:lnSpc>
                <a:spcPct val="100000"/>
              </a:lnSpc>
              <a:spcBef>
                <a:spcPts val="0"/>
              </a:spcBef>
              <a:buFont typeface="Wingdings" panose="05000000000000000000" pitchFamily="2" charset="2"/>
              <a:buChar char="§"/>
            </a:pPr>
            <a:r>
              <a:rPr lang="en-US" sz="2600" dirty="0"/>
              <a:t>To improve reliability, </a:t>
            </a:r>
            <a:r>
              <a:rPr lang="en-US" sz="2600" dirty="0" err="1"/>
              <a:t>NameNode</a:t>
            </a:r>
            <a:r>
              <a:rPr lang="en-US" sz="2600" dirty="0"/>
              <a:t> metadata can be backed up to multiple storage locations, and a Secondary </a:t>
            </a:r>
            <a:r>
              <a:rPr lang="en-US" sz="2600" dirty="0" err="1"/>
              <a:t>NameNode</a:t>
            </a:r>
            <a:r>
              <a:rPr lang="en-US" sz="2600" dirty="0"/>
              <a:t> can create checkpoints by merging the </a:t>
            </a:r>
            <a:r>
              <a:rPr lang="en-US" sz="2600" dirty="0" err="1"/>
              <a:t>fsimage</a:t>
            </a:r>
            <a:r>
              <a:rPr lang="en-US" sz="2600" dirty="0"/>
              <a:t> and edit log.</a:t>
            </a:r>
          </a:p>
        </p:txBody>
      </p:sp>
      <p:sp>
        <p:nvSpPr>
          <p:cNvPr id="5" name="Rectangle 4"/>
          <p:cNvSpPr/>
          <p:nvPr/>
        </p:nvSpPr>
        <p:spPr>
          <a:xfrm>
            <a:off x="783771" y="5821411"/>
            <a:ext cx="10136850" cy="892552"/>
          </a:xfrm>
          <a:prstGeom prst="rect">
            <a:avLst/>
          </a:prstGeom>
        </p:spPr>
        <p:txBody>
          <a:bodyPr wrap="square">
            <a:spAutoFit/>
          </a:bodyPr>
          <a:lstStyle/>
          <a:p>
            <a:pPr algn="ctr"/>
            <a:r>
              <a:rPr lang="en-US" sz="2600" b="1" i="1" dirty="0">
                <a:solidFill>
                  <a:srgbClr val="C00000"/>
                </a:solidFill>
              </a:rPr>
              <a:t>The </a:t>
            </a:r>
            <a:r>
              <a:rPr lang="en-US" sz="2600" b="1" i="1" dirty="0" err="1">
                <a:solidFill>
                  <a:srgbClr val="C00000"/>
                </a:solidFill>
              </a:rPr>
              <a:t>NameNode</a:t>
            </a:r>
            <a:r>
              <a:rPr lang="en-US" sz="2600" b="1" i="1" dirty="0">
                <a:solidFill>
                  <a:srgbClr val="C00000"/>
                </a:solidFill>
              </a:rPr>
              <a:t> manages metadata and coordination, while </a:t>
            </a:r>
            <a:r>
              <a:rPr lang="en-US" sz="2600" b="1" i="1" dirty="0" err="1">
                <a:solidFill>
                  <a:srgbClr val="C00000"/>
                </a:solidFill>
              </a:rPr>
              <a:t>DataNodes</a:t>
            </a:r>
            <a:r>
              <a:rPr lang="en-US" sz="2600" b="1" i="1" dirty="0">
                <a:solidFill>
                  <a:srgbClr val="C00000"/>
                </a:solidFill>
              </a:rPr>
              <a:t> store the actual data blocks and perform all data I/O.</a:t>
            </a:r>
          </a:p>
        </p:txBody>
      </p:sp>
    </p:spTree>
    <p:extLst>
      <p:ext uri="{BB962C8B-B14F-4D97-AF65-F5344CB8AC3E}">
        <p14:creationId xmlns:p14="http://schemas.microsoft.com/office/powerpoint/2010/main" val="162005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amenode-and-Datanode"/>
          <p:cNvPicPr/>
          <p:nvPr/>
        </p:nvPicPr>
        <p:blipFill rotWithShape="1">
          <a:blip r:embed="rId3">
            <a:extLst>
              <a:ext uri="{28A0092B-C50C-407E-A947-70E740481C1C}">
                <a14:useLocalDpi xmlns:a14="http://schemas.microsoft.com/office/drawing/2010/main" val="0"/>
              </a:ext>
            </a:extLst>
          </a:blip>
          <a:srcRect l="3853" r="3531" b="7150"/>
          <a:stretch/>
        </p:blipFill>
        <p:spPr bwMode="auto">
          <a:xfrm>
            <a:off x="3614056" y="514625"/>
            <a:ext cx="8374743" cy="5277575"/>
          </a:xfrm>
          <a:prstGeom prst="rect">
            <a:avLst/>
          </a:prstGeom>
          <a:noFill/>
          <a:ln>
            <a:noFill/>
          </a:ln>
        </p:spPr>
      </p:pic>
      <p:sp>
        <p:nvSpPr>
          <p:cNvPr id="5" name="Rectangle 4"/>
          <p:cNvSpPr/>
          <p:nvPr/>
        </p:nvSpPr>
        <p:spPr>
          <a:xfrm>
            <a:off x="232228" y="830758"/>
            <a:ext cx="3251201" cy="2923877"/>
          </a:xfrm>
          <a:prstGeom prst="rect">
            <a:avLst/>
          </a:prstGeom>
        </p:spPr>
        <p:txBody>
          <a:bodyPr wrap="square">
            <a:spAutoFit/>
          </a:bodyPr>
          <a:lstStyle/>
          <a:p>
            <a:pPr fontAlgn="base"/>
            <a:r>
              <a:rPr lang="en-US" sz="2000" b="1" dirty="0">
                <a:solidFill>
                  <a:srgbClr val="C00000"/>
                </a:solidFill>
              </a:rPr>
              <a:t>Tasks of HDFS </a:t>
            </a:r>
            <a:r>
              <a:rPr lang="en-US" sz="2000" b="1" dirty="0" err="1">
                <a:solidFill>
                  <a:srgbClr val="C00000"/>
                </a:solidFill>
              </a:rPr>
              <a:t>NameNode</a:t>
            </a:r>
            <a:r>
              <a:rPr lang="en-US" sz="2000" b="1" dirty="0">
                <a:solidFill>
                  <a:srgbClr val="C00000"/>
                </a:solidFill>
              </a:rPr>
              <a:t> (</a:t>
            </a:r>
            <a:r>
              <a:rPr lang="en-US" sz="2000" b="1" i="1" dirty="0">
                <a:solidFill>
                  <a:srgbClr val="C00000"/>
                </a:solidFill>
              </a:rPr>
              <a:t>Master</a:t>
            </a:r>
            <a:r>
              <a:rPr lang="en-US" sz="2000" b="1" dirty="0">
                <a:solidFill>
                  <a:srgbClr val="C00000"/>
                </a:solidFill>
              </a:rPr>
              <a:t>)</a:t>
            </a:r>
            <a:endParaRPr lang="en-US" sz="2000" dirty="0">
              <a:solidFill>
                <a:srgbClr val="C00000"/>
              </a:solidFill>
            </a:endParaRPr>
          </a:p>
          <a:p>
            <a:pPr marL="285750" lvl="0" indent="-285750" fontAlgn="base">
              <a:lnSpc>
                <a:spcPct val="100000"/>
              </a:lnSpc>
              <a:spcBef>
                <a:spcPts val="0"/>
              </a:spcBef>
              <a:buFont typeface="Wingdings" panose="05000000000000000000" pitchFamily="2" charset="2"/>
              <a:buChar char="§"/>
            </a:pPr>
            <a:r>
              <a:rPr lang="en-US" dirty="0"/>
              <a:t>Manages the </a:t>
            </a:r>
            <a:r>
              <a:rPr lang="en-US" dirty="0" err="1"/>
              <a:t>filesystem</a:t>
            </a:r>
            <a:r>
              <a:rPr lang="en-US" dirty="0"/>
              <a:t> namespace and file metadata (directories, permissions, block mapping).</a:t>
            </a:r>
          </a:p>
          <a:p>
            <a:pPr marL="285750" lvl="0" indent="-285750" fontAlgn="base">
              <a:lnSpc>
                <a:spcPct val="100000"/>
              </a:lnSpc>
              <a:spcBef>
                <a:spcPts val="0"/>
              </a:spcBef>
              <a:buFont typeface="Wingdings" panose="05000000000000000000" pitchFamily="2" charset="2"/>
              <a:buChar char="§"/>
            </a:pPr>
            <a:r>
              <a:rPr lang="en-US" dirty="0"/>
              <a:t>Tracks which </a:t>
            </a:r>
            <a:r>
              <a:rPr lang="en-US" dirty="0" err="1"/>
              <a:t>DataNodes</a:t>
            </a:r>
            <a:r>
              <a:rPr lang="en-US" dirty="0"/>
              <a:t> store each data block.</a:t>
            </a:r>
          </a:p>
          <a:p>
            <a:pPr marL="285750" lvl="0" indent="-285750" fontAlgn="base">
              <a:lnSpc>
                <a:spcPct val="100000"/>
              </a:lnSpc>
              <a:spcBef>
                <a:spcPts val="0"/>
              </a:spcBef>
              <a:buFont typeface="Wingdings" panose="05000000000000000000" pitchFamily="2" charset="2"/>
              <a:buChar char="§"/>
            </a:pPr>
            <a:r>
              <a:rPr lang="en-US" dirty="0"/>
              <a:t>Coordinates client access and monitors </a:t>
            </a:r>
            <a:r>
              <a:rPr lang="en-US" dirty="0" err="1"/>
              <a:t>DataNode</a:t>
            </a:r>
            <a:r>
              <a:rPr lang="en-US" dirty="0"/>
              <a:t> health.</a:t>
            </a:r>
          </a:p>
        </p:txBody>
      </p:sp>
      <p:sp>
        <p:nvSpPr>
          <p:cNvPr id="6" name="Rectangle 5"/>
          <p:cNvSpPr/>
          <p:nvPr/>
        </p:nvSpPr>
        <p:spPr>
          <a:xfrm>
            <a:off x="232228" y="3865119"/>
            <a:ext cx="3381828" cy="2369880"/>
          </a:xfrm>
          <a:prstGeom prst="rect">
            <a:avLst/>
          </a:prstGeom>
        </p:spPr>
        <p:txBody>
          <a:bodyPr wrap="square">
            <a:spAutoFit/>
          </a:bodyPr>
          <a:lstStyle/>
          <a:p>
            <a:pPr fontAlgn="base"/>
            <a:r>
              <a:rPr lang="en-US" sz="2000" b="1" dirty="0">
                <a:solidFill>
                  <a:srgbClr val="C00000"/>
                </a:solidFill>
              </a:rPr>
              <a:t>Tasks of HDFS </a:t>
            </a:r>
            <a:r>
              <a:rPr lang="en-US" sz="2000" b="1" dirty="0" err="1">
                <a:solidFill>
                  <a:srgbClr val="C00000"/>
                </a:solidFill>
              </a:rPr>
              <a:t>DataNode</a:t>
            </a:r>
            <a:r>
              <a:rPr lang="en-US" sz="2000" b="1" dirty="0">
                <a:solidFill>
                  <a:srgbClr val="C00000"/>
                </a:solidFill>
              </a:rPr>
              <a:t> (</a:t>
            </a:r>
            <a:r>
              <a:rPr lang="en-US" sz="2000" b="1" i="1" dirty="0">
                <a:solidFill>
                  <a:srgbClr val="C00000"/>
                </a:solidFill>
              </a:rPr>
              <a:t>Slave</a:t>
            </a:r>
            <a:r>
              <a:rPr lang="en-US" sz="2000" b="1" dirty="0">
                <a:solidFill>
                  <a:srgbClr val="C00000"/>
                </a:solidFill>
              </a:rPr>
              <a:t>)</a:t>
            </a:r>
            <a:endParaRPr lang="en-US" sz="2000" dirty="0">
              <a:solidFill>
                <a:srgbClr val="C00000"/>
              </a:solidFill>
            </a:endParaRPr>
          </a:p>
          <a:p>
            <a:pPr marL="285750" lvl="0" indent="-285750" fontAlgn="base">
              <a:lnSpc>
                <a:spcPct val="100000"/>
              </a:lnSpc>
              <a:spcBef>
                <a:spcPts val="0"/>
              </a:spcBef>
              <a:buFont typeface="Wingdings" panose="05000000000000000000" pitchFamily="2" charset="2"/>
              <a:buChar char="§"/>
            </a:pPr>
            <a:r>
              <a:rPr lang="en-US" dirty="0"/>
              <a:t>Stores and serves actual data blocks on local disks</a:t>
            </a:r>
            <a:r>
              <a:rPr lang="en-US" dirty="0" smtClean="0"/>
              <a:t>.</a:t>
            </a:r>
          </a:p>
          <a:p>
            <a:pPr marL="285750" lvl="0" indent="-285750" fontAlgn="base">
              <a:lnSpc>
                <a:spcPct val="100000"/>
              </a:lnSpc>
              <a:spcBef>
                <a:spcPts val="0"/>
              </a:spcBef>
              <a:buFont typeface="Wingdings" panose="05000000000000000000" pitchFamily="2" charset="2"/>
              <a:buChar char="§"/>
            </a:pPr>
            <a:r>
              <a:rPr lang="en-US" dirty="0" smtClean="0"/>
              <a:t>Handles </a:t>
            </a:r>
            <a:r>
              <a:rPr lang="en-US" dirty="0"/>
              <a:t>read/write requests from clients</a:t>
            </a:r>
            <a:r>
              <a:rPr lang="en-US" dirty="0" smtClean="0"/>
              <a:t>.</a:t>
            </a:r>
          </a:p>
          <a:p>
            <a:pPr marL="285750" lvl="0" indent="-285750" fontAlgn="base">
              <a:lnSpc>
                <a:spcPct val="100000"/>
              </a:lnSpc>
              <a:spcBef>
                <a:spcPts val="0"/>
              </a:spcBef>
              <a:buFont typeface="Wingdings" panose="05000000000000000000" pitchFamily="2" charset="2"/>
              <a:buChar char="§"/>
            </a:pPr>
            <a:r>
              <a:rPr lang="en-US" dirty="0" smtClean="0"/>
              <a:t>Reports </a:t>
            </a:r>
            <a:r>
              <a:rPr lang="en-US" dirty="0"/>
              <a:t>block status and health information to the </a:t>
            </a:r>
            <a:r>
              <a:rPr lang="en-US" dirty="0" err="1"/>
              <a:t>NameNode</a:t>
            </a:r>
            <a:r>
              <a:rPr lang="en-US" dirty="0"/>
              <a:t>.</a:t>
            </a:r>
          </a:p>
        </p:txBody>
      </p:sp>
    </p:spTree>
    <p:extLst>
      <p:ext uri="{BB962C8B-B14F-4D97-AF65-F5344CB8AC3E}">
        <p14:creationId xmlns:p14="http://schemas.microsoft.com/office/powerpoint/2010/main" val="27113985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Heartbeats and Block Reports</a:t>
            </a:r>
          </a:p>
        </p:txBody>
      </p:sp>
      <p:sp>
        <p:nvSpPr>
          <p:cNvPr id="6" name="Rectangle 3"/>
          <p:cNvSpPr>
            <a:spLocks noGrp="1" noChangeArrowheads="1"/>
          </p:cNvSpPr>
          <p:nvPr>
            <p:ph idx="1"/>
          </p:nvPr>
        </p:nvSpPr>
        <p:spPr bwMode="auto">
          <a:xfrm>
            <a:off x="1024128" y="1883088"/>
            <a:ext cx="10514729" cy="4623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smtClean="0">
                <a:ln>
                  <a:noFill/>
                </a:ln>
                <a:solidFill>
                  <a:srgbClr val="C00000"/>
                </a:solidFill>
                <a:effectLst/>
              </a:rPr>
              <a:t>How does </a:t>
            </a:r>
            <a:r>
              <a:rPr kumimoji="0" lang="en-US" altLang="en-US" sz="2800" b="1" i="0" u="none" strike="noStrike" cap="none" normalizeH="0" baseline="0" dirty="0" err="1" smtClean="0">
                <a:ln>
                  <a:noFill/>
                </a:ln>
                <a:solidFill>
                  <a:srgbClr val="C00000"/>
                </a:solidFill>
                <a:effectLst/>
              </a:rPr>
              <a:t>NameNode</a:t>
            </a:r>
            <a:r>
              <a:rPr kumimoji="0" lang="en-US" altLang="en-US" sz="2800" b="1" i="0" u="none" strike="noStrike" cap="none" normalizeH="0" baseline="0" dirty="0" smtClean="0">
                <a:ln>
                  <a:noFill/>
                </a:ln>
                <a:solidFill>
                  <a:srgbClr val="C00000"/>
                </a:solidFill>
                <a:effectLst/>
              </a:rPr>
              <a:t> know a node failed?</a:t>
            </a:r>
          </a:p>
          <a:p>
            <a:pPr marL="457200" lvl="0" indent="-457200" algn="just" eaLnBrk="0" fontAlgn="base" hangingPunct="0">
              <a:lnSpc>
                <a:spcPct val="100000"/>
              </a:lnSpc>
              <a:spcBef>
                <a:spcPct val="0"/>
              </a:spcBef>
              <a:spcAft>
                <a:spcPct val="0"/>
              </a:spcAft>
              <a:buClrTx/>
              <a:buSzTx/>
              <a:buFont typeface="+mj-lt"/>
              <a:buAutoNum type="arabicPeriod"/>
            </a:pPr>
            <a:r>
              <a:rPr lang="en-US" sz="2400" dirty="0" smtClean="0"/>
              <a:t>Each </a:t>
            </a:r>
            <a:r>
              <a:rPr lang="en-US" sz="2400" dirty="0" err="1" smtClean="0"/>
              <a:t>DataNode</a:t>
            </a:r>
            <a:r>
              <a:rPr lang="en-US" sz="2400" dirty="0" smtClean="0"/>
              <a:t> in the Hadoop Distributed File System (HDFS) cluster is responsible for </a:t>
            </a:r>
            <a:r>
              <a:rPr lang="en-US" sz="2400" b="1" dirty="0" smtClean="0"/>
              <a:t>sending regular </a:t>
            </a:r>
            <a:r>
              <a:rPr lang="en-US" sz="2400" b="1" dirty="0" smtClean="0">
                <a:solidFill>
                  <a:srgbClr val="C00000"/>
                </a:solidFill>
              </a:rPr>
              <a:t>heartbeat</a:t>
            </a:r>
            <a:r>
              <a:rPr lang="en-US" sz="2400" b="1" dirty="0" smtClean="0"/>
              <a:t> messages</a:t>
            </a:r>
            <a:r>
              <a:rPr lang="en-US" sz="2400" dirty="0" smtClean="0"/>
              <a:t> (</a:t>
            </a:r>
            <a:r>
              <a:rPr lang="en-US" sz="2400" i="1" dirty="0" smtClean="0"/>
              <a:t>typically every 3 seconds</a:t>
            </a:r>
            <a:r>
              <a:rPr lang="en-US" sz="2400" dirty="0" smtClean="0"/>
              <a:t>) to the </a:t>
            </a:r>
            <a:r>
              <a:rPr lang="en-US" sz="2400" dirty="0" err="1" smtClean="0"/>
              <a:t>NameNode</a:t>
            </a:r>
            <a:r>
              <a:rPr lang="en-US" sz="2400" dirty="0" smtClean="0"/>
              <a:t>. These heartbeats serve as an </a:t>
            </a:r>
            <a:r>
              <a:rPr lang="en-US" sz="2400" b="1" dirty="0" smtClean="0"/>
              <a:t>"I am alive" signal</a:t>
            </a:r>
            <a:r>
              <a:rPr lang="en-US" sz="2400" dirty="0" smtClean="0"/>
              <a:t>.</a:t>
            </a:r>
          </a:p>
          <a:p>
            <a:pPr marL="457200" indent="-457200" algn="just">
              <a:buFont typeface="+mj-lt"/>
              <a:buAutoNum type="arabicPeriod"/>
            </a:pPr>
            <a:r>
              <a:rPr lang="en-US" sz="2400" dirty="0" smtClean="0"/>
              <a:t>The </a:t>
            </a:r>
            <a:r>
              <a:rPr lang="en-US" sz="2400" dirty="0" err="1" smtClean="0"/>
              <a:t>NameNode</a:t>
            </a:r>
            <a:r>
              <a:rPr lang="en-US" sz="2400" dirty="0" smtClean="0"/>
              <a:t> maintains a record of the last time it received a heartbeat from each </a:t>
            </a:r>
            <a:r>
              <a:rPr lang="en-US" sz="2400" dirty="0" err="1" smtClean="0"/>
              <a:t>DataNode</a:t>
            </a:r>
            <a:r>
              <a:rPr lang="en-US" sz="2400" dirty="0" smtClean="0"/>
              <a:t>. </a:t>
            </a:r>
            <a:r>
              <a:rPr lang="en-US" sz="2400" b="1" dirty="0" smtClean="0"/>
              <a:t>If the </a:t>
            </a:r>
            <a:r>
              <a:rPr lang="en-US" sz="2400" b="1" dirty="0" err="1" smtClean="0"/>
              <a:t>NameNode</a:t>
            </a:r>
            <a:r>
              <a:rPr lang="en-US" sz="2400" b="1" dirty="0" smtClean="0"/>
              <a:t> does not receive a heartbeat within a predefined timeout period, it assumes the </a:t>
            </a:r>
            <a:r>
              <a:rPr lang="en-US" sz="2400" b="1" dirty="0" err="1" smtClean="0"/>
              <a:t>DataNode</a:t>
            </a:r>
            <a:r>
              <a:rPr lang="en-US" sz="2400" b="1" dirty="0" smtClean="0"/>
              <a:t> has failed or is unresponsive.</a:t>
            </a:r>
          </a:p>
          <a:p>
            <a:pPr marL="457200" indent="-457200" algn="just">
              <a:buFont typeface="+mj-lt"/>
              <a:buAutoNum type="arabicPeriod"/>
            </a:pPr>
            <a:r>
              <a:rPr lang="en-US" sz="2400" dirty="0" smtClean="0"/>
              <a:t>Once a node is marked as dead, the </a:t>
            </a:r>
            <a:r>
              <a:rPr lang="en-US" sz="2400" dirty="0" err="1" smtClean="0"/>
              <a:t>NameNode</a:t>
            </a:r>
            <a:r>
              <a:rPr lang="en-US" sz="2400" dirty="0" smtClean="0"/>
              <a:t> initiates a process to replicate the data blocks that were stored on the failed node to other active </a:t>
            </a:r>
            <a:r>
              <a:rPr lang="en-US" sz="2400" dirty="0" err="1" smtClean="0"/>
              <a:t>DataNodes</a:t>
            </a:r>
            <a:r>
              <a:rPr lang="en-US" sz="2400" dirty="0" smtClean="0"/>
              <a:t> in the cluster to maintain the configured replication factor and ensure data reliability . </a:t>
            </a:r>
            <a:endParaRPr kumimoji="0" lang="en-US" altLang="en-US" sz="2400" b="1"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24590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additive="base">
                                        <p:cTn id="1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Heartbeats and Block Reports</a:t>
            </a:r>
          </a:p>
        </p:txBody>
      </p:sp>
      <p:sp>
        <p:nvSpPr>
          <p:cNvPr id="6" name="Rectangle 3"/>
          <p:cNvSpPr>
            <a:spLocks noGrp="1" noChangeArrowheads="1"/>
          </p:cNvSpPr>
          <p:nvPr>
            <p:ph idx="1"/>
          </p:nvPr>
        </p:nvSpPr>
        <p:spPr bwMode="auto">
          <a:xfrm>
            <a:off x="1024128" y="2195395"/>
            <a:ext cx="991964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sz="2600" dirty="0" err="1" smtClean="0"/>
              <a:t>DataNodes</a:t>
            </a:r>
            <a:r>
              <a:rPr lang="en-US" sz="2600" dirty="0" smtClean="0"/>
              <a:t> periodically send "</a:t>
            </a:r>
            <a:r>
              <a:rPr lang="en-US" sz="2600" b="1" dirty="0" smtClean="0">
                <a:solidFill>
                  <a:srgbClr val="C00000"/>
                </a:solidFill>
              </a:rPr>
              <a:t>block reports</a:t>
            </a:r>
            <a:r>
              <a:rPr lang="en-US" sz="2600" dirty="0" smtClean="0"/>
              <a:t>" to the </a:t>
            </a:r>
            <a:r>
              <a:rPr lang="en-US" sz="2600" dirty="0" err="1" smtClean="0"/>
              <a:t>NameNode</a:t>
            </a:r>
            <a:r>
              <a:rPr lang="en-US" sz="2600" dirty="0" smtClean="0"/>
              <a:t> that contain </a:t>
            </a:r>
            <a:r>
              <a:rPr lang="en-US" sz="2600" b="1" dirty="0"/>
              <a:t>A complete list of all blocks currently stored on a </a:t>
            </a:r>
            <a:r>
              <a:rPr lang="en-US" sz="2600" b="1" dirty="0" smtClean="0"/>
              <a:t>this </a:t>
            </a:r>
            <a:r>
              <a:rPr lang="en-US" sz="2600" b="1" dirty="0" err="1" smtClean="0"/>
              <a:t>DataNode</a:t>
            </a:r>
            <a:r>
              <a:rPr lang="en-US" sz="2600" b="1" dirty="0" smtClean="0"/>
              <a:t>.</a:t>
            </a:r>
            <a:r>
              <a:rPr lang="en-US" sz="2600" dirty="0" smtClean="0"/>
              <a:t>. This helps the </a:t>
            </a:r>
            <a:r>
              <a:rPr lang="en-US" sz="2600" dirty="0" err="1" smtClean="0"/>
              <a:t>NameNode</a:t>
            </a:r>
            <a:r>
              <a:rPr lang="en-US" sz="2600" dirty="0" smtClean="0"/>
              <a:t> maintain an accurate and up-to-date map of data block locations across the cluster</a:t>
            </a:r>
          </a:p>
          <a:p>
            <a:pPr marL="0" lvl="0" indent="0" eaLnBrk="0" fontAlgn="base" hangingPunct="0">
              <a:lnSpc>
                <a:spcPct val="100000"/>
              </a:lnSpc>
              <a:spcBef>
                <a:spcPct val="0"/>
              </a:spcBef>
              <a:spcAft>
                <a:spcPct val="0"/>
              </a:spcAft>
              <a:buClrTx/>
              <a:buSzTx/>
              <a:buNone/>
            </a:pPr>
            <a:endParaRPr lang="en-US" altLang="en-US" sz="2600" dirty="0" smtClean="0"/>
          </a:p>
          <a:p>
            <a:pPr marL="0" lvl="0" indent="0" eaLnBrk="0" fontAlgn="base" hangingPunct="0">
              <a:lnSpc>
                <a:spcPct val="100000"/>
              </a:lnSpc>
              <a:spcBef>
                <a:spcPct val="0"/>
              </a:spcBef>
              <a:spcAft>
                <a:spcPct val="0"/>
              </a:spcAft>
              <a:buClrTx/>
              <a:buSzTx/>
              <a:buFontTx/>
              <a:buChar char="•"/>
            </a:pPr>
            <a:r>
              <a:rPr lang="en-US" altLang="en-US" sz="2600" b="1" dirty="0" err="1" smtClean="0">
                <a:solidFill>
                  <a:srgbClr val="C00000"/>
                </a:solidFill>
              </a:rPr>
              <a:t>NameNode</a:t>
            </a:r>
            <a:r>
              <a:rPr lang="en-US" altLang="en-US" sz="2600" b="1" dirty="0" smtClean="0">
                <a:solidFill>
                  <a:srgbClr val="C00000"/>
                </a:solidFill>
              </a:rPr>
              <a:t> </a:t>
            </a:r>
            <a:r>
              <a:rPr lang="en-US" altLang="en-US" sz="2600" b="1" dirty="0">
                <a:solidFill>
                  <a:srgbClr val="C00000"/>
                </a:solidFill>
              </a:rPr>
              <a:t>uses block reports to:</a:t>
            </a:r>
          </a:p>
          <a:p>
            <a:pPr marL="173736" lvl="1" indent="0" eaLnBrk="0" fontAlgn="base" hangingPunct="0">
              <a:lnSpc>
                <a:spcPct val="100000"/>
              </a:lnSpc>
              <a:spcBef>
                <a:spcPct val="0"/>
              </a:spcBef>
              <a:spcAft>
                <a:spcPct val="0"/>
              </a:spcAft>
              <a:buClrTx/>
              <a:buFontTx/>
              <a:buChar char="•"/>
            </a:pPr>
            <a:r>
              <a:rPr lang="en-US" altLang="en-US" sz="2600" dirty="0"/>
              <a:t>Track block locations</a:t>
            </a:r>
          </a:p>
          <a:p>
            <a:pPr marL="173736" lvl="1" indent="0" eaLnBrk="0" fontAlgn="base" hangingPunct="0">
              <a:lnSpc>
                <a:spcPct val="100000"/>
              </a:lnSpc>
              <a:spcBef>
                <a:spcPct val="0"/>
              </a:spcBef>
              <a:spcAft>
                <a:spcPct val="0"/>
              </a:spcAft>
              <a:buClrTx/>
              <a:buFontTx/>
              <a:buChar char="•"/>
            </a:pPr>
            <a:r>
              <a:rPr lang="en-US" altLang="en-US" sz="2600" dirty="0"/>
              <a:t>Detect under-replication</a:t>
            </a:r>
          </a:p>
          <a:p>
            <a:pPr marL="173736" lvl="1" indent="0" eaLnBrk="0" fontAlgn="base" hangingPunct="0">
              <a:lnSpc>
                <a:spcPct val="100000"/>
              </a:lnSpc>
              <a:spcBef>
                <a:spcPct val="0"/>
              </a:spcBef>
              <a:spcAft>
                <a:spcPct val="0"/>
              </a:spcAft>
              <a:buClrTx/>
              <a:buFontTx/>
              <a:buChar char="•"/>
            </a:pPr>
            <a:r>
              <a:rPr lang="en-US" altLang="en-US" sz="2600" dirty="0"/>
              <a:t>Failed blocks are </a:t>
            </a:r>
            <a:r>
              <a:rPr lang="en-US" altLang="en-US" sz="2600" b="1" dirty="0"/>
              <a:t>automatically re-replicated</a:t>
            </a:r>
            <a:endParaRPr lang="en-US" altLang="en-US" sz="2600" dirty="0"/>
          </a:p>
        </p:txBody>
      </p:sp>
    </p:spTree>
    <p:extLst>
      <p:ext uri="{BB962C8B-B14F-4D97-AF65-F5344CB8AC3E}">
        <p14:creationId xmlns:p14="http://schemas.microsoft.com/office/powerpoint/2010/main" val="31334809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architecture  </a:t>
            </a:r>
            <a:endParaRPr lang="en-US" b="1" dirty="0"/>
          </a:p>
        </p:txBody>
      </p:sp>
      <p:sp>
        <p:nvSpPr>
          <p:cNvPr id="3" name="Content Placeholder 2"/>
          <p:cNvSpPr>
            <a:spLocks noGrp="1"/>
          </p:cNvSpPr>
          <p:nvPr>
            <p:ph idx="1"/>
          </p:nvPr>
        </p:nvSpPr>
        <p:spPr>
          <a:xfrm>
            <a:off x="1024128" y="2084832"/>
            <a:ext cx="10587302" cy="4023360"/>
          </a:xfrm>
        </p:spPr>
        <p:txBody>
          <a:bodyPr>
            <a:noAutofit/>
          </a:bodyPr>
          <a:lstStyle/>
          <a:p>
            <a:pPr marL="0" indent="0">
              <a:lnSpc>
                <a:spcPct val="100000"/>
              </a:lnSpc>
              <a:spcBef>
                <a:spcPts val="0"/>
              </a:spcBef>
              <a:buNone/>
            </a:pPr>
            <a:r>
              <a:rPr lang="en-US" sz="2600" b="1" dirty="0">
                <a:solidFill>
                  <a:srgbClr val="C00000"/>
                </a:solidFill>
              </a:rPr>
              <a:t>HDFS </a:t>
            </a:r>
            <a:r>
              <a:rPr lang="en-US" sz="2600" b="1" dirty="0" smtClean="0">
                <a:solidFill>
                  <a:srgbClr val="C00000"/>
                </a:solidFill>
              </a:rPr>
              <a:t>Nodes</a:t>
            </a:r>
          </a:p>
          <a:p>
            <a:pPr marL="0" indent="0">
              <a:lnSpc>
                <a:spcPct val="100000"/>
              </a:lnSpc>
              <a:spcBef>
                <a:spcPts val="0"/>
              </a:spcBef>
              <a:buNone/>
            </a:pPr>
            <a:r>
              <a:rPr lang="en-US" sz="2400" b="1" dirty="0" smtClean="0"/>
              <a:t>Secondary </a:t>
            </a:r>
            <a:r>
              <a:rPr lang="en-US" sz="2400" b="1" dirty="0" err="1" smtClean="0"/>
              <a:t>NameNode</a:t>
            </a:r>
            <a:r>
              <a:rPr lang="en-US" sz="2400" b="1" dirty="0" smtClean="0"/>
              <a:t> </a:t>
            </a:r>
            <a:r>
              <a:rPr lang="en-US" sz="2400" dirty="0"/>
              <a:t>is a </a:t>
            </a:r>
            <a:r>
              <a:rPr lang="en-US" sz="2400" b="1" dirty="0"/>
              <a:t>helper node</a:t>
            </a:r>
            <a:r>
              <a:rPr lang="en-US" sz="2400" dirty="0"/>
              <a:t> in HDFS that supports the </a:t>
            </a:r>
            <a:r>
              <a:rPr lang="en-US" sz="2400" b="1" dirty="0"/>
              <a:t>primary </a:t>
            </a:r>
            <a:r>
              <a:rPr lang="en-US" sz="2400" b="1" dirty="0" err="1"/>
              <a:t>NameNode</a:t>
            </a:r>
            <a:r>
              <a:rPr lang="en-US" sz="2400" dirty="0"/>
              <a:t>, but </a:t>
            </a:r>
            <a:r>
              <a:rPr lang="en-US" sz="2400" b="1" dirty="0"/>
              <a:t>it is NOT a backup or replacement</a:t>
            </a:r>
            <a:r>
              <a:rPr lang="en-US" sz="2400" dirty="0"/>
              <a:t>.</a:t>
            </a:r>
          </a:p>
          <a:p>
            <a:pPr marL="0" indent="0">
              <a:lnSpc>
                <a:spcPct val="100000"/>
              </a:lnSpc>
              <a:spcBef>
                <a:spcPts val="0"/>
              </a:spcBef>
              <a:buNone/>
            </a:pPr>
            <a:r>
              <a:rPr lang="en-US" sz="2400" b="1" dirty="0"/>
              <a:t>Why It </a:t>
            </a:r>
            <a:r>
              <a:rPr lang="en-US" sz="2400" b="1" dirty="0" smtClean="0"/>
              <a:t>Exists ???</a:t>
            </a:r>
            <a:endParaRPr lang="en-US" sz="2400" b="1" dirty="0"/>
          </a:p>
          <a:p>
            <a:pPr marL="0" indent="0">
              <a:lnSpc>
                <a:spcPct val="100000"/>
              </a:lnSpc>
              <a:spcBef>
                <a:spcPts val="0"/>
              </a:spcBef>
              <a:buNone/>
            </a:pPr>
            <a:r>
              <a:rPr lang="en-US" sz="2400" dirty="0"/>
              <a:t>The </a:t>
            </a:r>
            <a:r>
              <a:rPr lang="en-US" sz="2400" dirty="0" err="1"/>
              <a:t>NameNode</a:t>
            </a:r>
            <a:r>
              <a:rPr lang="en-US" sz="2400" dirty="0"/>
              <a:t> stores </a:t>
            </a:r>
            <a:r>
              <a:rPr lang="en-US" sz="2400" dirty="0" smtClean="0"/>
              <a:t>file system </a:t>
            </a:r>
            <a:r>
              <a:rPr lang="en-US" sz="2400" dirty="0"/>
              <a:t>metadata in two files:</a:t>
            </a:r>
          </a:p>
          <a:p>
            <a:pPr lvl="1">
              <a:lnSpc>
                <a:spcPct val="100000"/>
              </a:lnSpc>
              <a:spcBef>
                <a:spcPts val="0"/>
              </a:spcBef>
            </a:pPr>
            <a:r>
              <a:rPr lang="en-US" sz="2400" b="1" dirty="0" err="1"/>
              <a:t>FsImage</a:t>
            </a:r>
            <a:r>
              <a:rPr lang="en-US" sz="2400" dirty="0"/>
              <a:t> → snapshot of the </a:t>
            </a:r>
            <a:r>
              <a:rPr lang="en-US" sz="2400" dirty="0" smtClean="0"/>
              <a:t>file system</a:t>
            </a:r>
            <a:endParaRPr lang="en-US" sz="2400" dirty="0"/>
          </a:p>
          <a:p>
            <a:pPr lvl="1">
              <a:lnSpc>
                <a:spcPct val="100000"/>
              </a:lnSpc>
              <a:spcBef>
                <a:spcPts val="0"/>
              </a:spcBef>
            </a:pPr>
            <a:r>
              <a:rPr lang="en-US" sz="2400" b="1" dirty="0"/>
              <a:t>Edit Log</a:t>
            </a:r>
            <a:r>
              <a:rPr lang="en-US" sz="2400" dirty="0"/>
              <a:t> → all recent changes</a:t>
            </a:r>
          </a:p>
          <a:p>
            <a:pPr marL="0" indent="0">
              <a:lnSpc>
                <a:spcPct val="100000"/>
              </a:lnSpc>
              <a:spcBef>
                <a:spcPts val="0"/>
              </a:spcBef>
              <a:buNone/>
            </a:pPr>
            <a:r>
              <a:rPr lang="en-US" sz="2400" dirty="0"/>
              <a:t>Since the </a:t>
            </a:r>
            <a:r>
              <a:rPr lang="en-US" sz="2400" dirty="0" err="1"/>
              <a:t>NameNode</a:t>
            </a:r>
            <a:r>
              <a:rPr lang="en-US" sz="2400" dirty="0"/>
              <a:t> runs continuously, the </a:t>
            </a:r>
            <a:r>
              <a:rPr lang="en-US" sz="2400" b="1" dirty="0"/>
              <a:t>edit log keeps </a:t>
            </a:r>
            <a:r>
              <a:rPr lang="en-US" sz="2400" b="1" dirty="0" smtClean="0"/>
              <a:t>growing</a:t>
            </a:r>
            <a:r>
              <a:rPr lang="en-US" sz="2400" dirty="0" smtClean="0"/>
              <a:t> which causes</a:t>
            </a:r>
            <a:r>
              <a:rPr lang="en-US" sz="2400" dirty="0"/>
              <a:t>:</a:t>
            </a:r>
          </a:p>
          <a:p>
            <a:pPr lvl="1">
              <a:lnSpc>
                <a:spcPct val="100000"/>
              </a:lnSpc>
              <a:spcBef>
                <a:spcPts val="0"/>
              </a:spcBef>
            </a:pPr>
            <a:r>
              <a:rPr lang="en-US" sz="2400" b="1" dirty="0"/>
              <a:t>Slow </a:t>
            </a:r>
            <a:r>
              <a:rPr lang="en-US" sz="2400" b="1" dirty="0" err="1"/>
              <a:t>NameNode</a:t>
            </a:r>
            <a:r>
              <a:rPr lang="en-US" sz="2400" b="1" dirty="0"/>
              <a:t> restart</a:t>
            </a:r>
            <a:endParaRPr lang="en-US" sz="2400" dirty="0"/>
          </a:p>
          <a:p>
            <a:pPr lvl="1">
              <a:lnSpc>
                <a:spcPct val="100000"/>
              </a:lnSpc>
              <a:spcBef>
                <a:spcPts val="0"/>
              </a:spcBef>
            </a:pPr>
            <a:r>
              <a:rPr lang="en-US" sz="2400" dirty="0"/>
              <a:t>High memory and processing overhead during recovery</a:t>
            </a:r>
          </a:p>
        </p:txBody>
      </p:sp>
    </p:spTree>
    <p:extLst>
      <p:ext uri="{BB962C8B-B14F-4D97-AF65-F5344CB8AC3E}">
        <p14:creationId xmlns:p14="http://schemas.microsoft.com/office/powerpoint/2010/main" val="188096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Architecture  </a:t>
            </a:r>
            <a:endParaRPr lang="en-US" b="1" dirty="0"/>
          </a:p>
        </p:txBody>
      </p:sp>
      <p:sp>
        <p:nvSpPr>
          <p:cNvPr id="3" name="Content Placeholder 2"/>
          <p:cNvSpPr>
            <a:spLocks noGrp="1"/>
          </p:cNvSpPr>
          <p:nvPr>
            <p:ph idx="1"/>
          </p:nvPr>
        </p:nvSpPr>
        <p:spPr>
          <a:xfrm>
            <a:off x="1024128" y="1809060"/>
            <a:ext cx="5957243" cy="4023360"/>
          </a:xfrm>
        </p:spPr>
        <p:txBody>
          <a:bodyPr>
            <a:noAutofit/>
          </a:bodyPr>
          <a:lstStyle/>
          <a:p>
            <a:pPr marL="0" indent="0">
              <a:lnSpc>
                <a:spcPct val="100000"/>
              </a:lnSpc>
              <a:spcBef>
                <a:spcPts val="0"/>
              </a:spcBef>
              <a:buNone/>
            </a:pPr>
            <a:r>
              <a:rPr lang="en-US" sz="2600" b="1" dirty="0">
                <a:solidFill>
                  <a:srgbClr val="C00000"/>
                </a:solidFill>
              </a:rPr>
              <a:t>HDFS </a:t>
            </a:r>
            <a:r>
              <a:rPr lang="en-US" sz="2600" b="1" dirty="0" smtClean="0">
                <a:solidFill>
                  <a:srgbClr val="C00000"/>
                </a:solidFill>
              </a:rPr>
              <a:t>Nodes</a:t>
            </a:r>
          </a:p>
          <a:p>
            <a:pPr marL="0" indent="0">
              <a:lnSpc>
                <a:spcPct val="100000"/>
              </a:lnSpc>
              <a:spcBef>
                <a:spcPts val="0"/>
              </a:spcBef>
              <a:buNone/>
            </a:pPr>
            <a:r>
              <a:rPr lang="en-US" sz="2400" b="1" dirty="0"/>
              <a:t>What the Secondary </a:t>
            </a:r>
            <a:r>
              <a:rPr lang="en-US" sz="2400" b="1" dirty="0" err="1"/>
              <a:t>NameNode</a:t>
            </a:r>
            <a:r>
              <a:rPr lang="en-US" sz="2400" b="1" dirty="0"/>
              <a:t> </a:t>
            </a:r>
            <a:r>
              <a:rPr lang="en-US" sz="2400" b="1" dirty="0" smtClean="0"/>
              <a:t>Does:</a:t>
            </a:r>
            <a:endParaRPr lang="en-US" sz="2400" b="1" dirty="0"/>
          </a:p>
          <a:p>
            <a:pPr>
              <a:lnSpc>
                <a:spcPct val="100000"/>
              </a:lnSpc>
              <a:spcBef>
                <a:spcPts val="0"/>
              </a:spcBef>
              <a:buFont typeface="Wingdings" panose="05000000000000000000" pitchFamily="2" charset="2"/>
              <a:buChar char="§"/>
            </a:pPr>
            <a:r>
              <a:rPr lang="en-US" sz="2400" b="1" dirty="0"/>
              <a:t>Periodically copies</a:t>
            </a:r>
            <a:r>
              <a:rPr lang="en-US" sz="2400" dirty="0"/>
              <a:t> </a:t>
            </a:r>
            <a:r>
              <a:rPr lang="en-US" sz="2400" dirty="0" err="1"/>
              <a:t>FsImage</a:t>
            </a:r>
            <a:r>
              <a:rPr lang="en-US" sz="2400" dirty="0"/>
              <a:t> and Edit Logs from the </a:t>
            </a:r>
            <a:r>
              <a:rPr lang="en-US" sz="2400" dirty="0" err="1"/>
              <a:t>NameNode</a:t>
            </a:r>
            <a:endParaRPr lang="en-US" sz="2400" dirty="0"/>
          </a:p>
          <a:p>
            <a:pPr>
              <a:lnSpc>
                <a:spcPct val="100000"/>
              </a:lnSpc>
              <a:spcBef>
                <a:spcPts val="0"/>
              </a:spcBef>
              <a:buFont typeface="Wingdings" panose="05000000000000000000" pitchFamily="2" charset="2"/>
              <a:buChar char="§"/>
            </a:pPr>
            <a:r>
              <a:rPr lang="en-US" sz="2400" b="1" dirty="0"/>
              <a:t>Merges</a:t>
            </a:r>
            <a:r>
              <a:rPr lang="en-US" sz="2400" dirty="0"/>
              <a:t> the Edit Logs into the </a:t>
            </a:r>
            <a:r>
              <a:rPr lang="en-US" sz="2400" dirty="0" err="1"/>
              <a:t>FsImage</a:t>
            </a:r>
            <a:r>
              <a:rPr lang="en-US" sz="2400" dirty="0"/>
              <a:t> (</a:t>
            </a:r>
            <a:r>
              <a:rPr lang="en-US" sz="2400" dirty="0" err="1"/>
              <a:t>checkpointing</a:t>
            </a:r>
            <a:r>
              <a:rPr lang="en-US" sz="2400" dirty="0"/>
              <a:t>)</a:t>
            </a:r>
          </a:p>
          <a:p>
            <a:pPr>
              <a:lnSpc>
                <a:spcPct val="100000"/>
              </a:lnSpc>
              <a:spcBef>
                <a:spcPts val="0"/>
              </a:spcBef>
              <a:buFont typeface="Wingdings" panose="05000000000000000000" pitchFamily="2" charset="2"/>
              <a:buChar char="§"/>
            </a:pPr>
            <a:r>
              <a:rPr lang="en-US" sz="2400" b="1" dirty="0"/>
              <a:t>Creates a new updated </a:t>
            </a:r>
            <a:r>
              <a:rPr lang="en-US" sz="2400" b="1" dirty="0" err="1"/>
              <a:t>FsImage</a:t>
            </a:r>
            <a:endParaRPr lang="en-US" sz="2400" dirty="0"/>
          </a:p>
          <a:p>
            <a:pPr>
              <a:lnSpc>
                <a:spcPct val="100000"/>
              </a:lnSpc>
              <a:spcBef>
                <a:spcPts val="0"/>
              </a:spcBef>
              <a:buFont typeface="Wingdings" panose="05000000000000000000" pitchFamily="2" charset="2"/>
              <a:buChar char="§"/>
            </a:pPr>
            <a:r>
              <a:rPr lang="en-US" sz="2400" b="1" dirty="0"/>
              <a:t>Sends the updated </a:t>
            </a:r>
            <a:r>
              <a:rPr lang="en-US" sz="2400" b="1" dirty="0" err="1"/>
              <a:t>FsImage</a:t>
            </a:r>
            <a:r>
              <a:rPr lang="en-US" sz="2400" b="1" dirty="0"/>
              <a:t> back</a:t>
            </a:r>
            <a:r>
              <a:rPr lang="en-US" sz="2400" dirty="0"/>
              <a:t> to the </a:t>
            </a:r>
            <a:r>
              <a:rPr lang="en-US" sz="2400" dirty="0" err="1"/>
              <a:t>NameNode</a:t>
            </a:r>
            <a:endParaRPr lang="en-US" sz="2400" dirty="0"/>
          </a:p>
          <a:p>
            <a:pPr>
              <a:lnSpc>
                <a:spcPct val="100000"/>
              </a:lnSpc>
              <a:spcBef>
                <a:spcPts val="0"/>
              </a:spcBef>
              <a:buFont typeface="Wingdings" panose="05000000000000000000" pitchFamily="2" charset="2"/>
              <a:buChar char="§"/>
            </a:pPr>
            <a:r>
              <a:rPr lang="en-US" sz="2400" dirty="0"/>
              <a:t>This keeps the edit log </a:t>
            </a:r>
            <a:r>
              <a:rPr lang="en-US" sz="2400" b="1" dirty="0"/>
              <a:t>small and manageable</a:t>
            </a:r>
            <a:endParaRPr lang="en-US" sz="2400" dirty="0"/>
          </a:p>
        </p:txBody>
      </p:sp>
      <p:sp>
        <p:nvSpPr>
          <p:cNvPr id="4" name="Rectangle 3"/>
          <p:cNvSpPr/>
          <p:nvPr/>
        </p:nvSpPr>
        <p:spPr>
          <a:xfrm>
            <a:off x="475778" y="5943784"/>
            <a:ext cx="11411422" cy="892552"/>
          </a:xfrm>
          <a:prstGeom prst="rect">
            <a:avLst/>
          </a:prstGeom>
        </p:spPr>
        <p:txBody>
          <a:bodyPr wrap="square">
            <a:spAutoFit/>
          </a:bodyPr>
          <a:lstStyle/>
          <a:p>
            <a:pPr algn="ctr"/>
            <a:r>
              <a:rPr lang="en-US" sz="2600" b="1" i="1" dirty="0" smtClean="0">
                <a:solidFill>
                  <a:srgbClr val="C00000"/>
                </a:solidFill>
              </a:rPr>
              <a:t>Secondary </a:t>
            </a:r>
            <a:r>
              <a:rPr lang="en-US" sz="2600" b="1" i="1" dirty="0" err="1">
                <a:solidFill>
                  <a:srgbClr val="C00000"/>
                </a:solidFill>
              </a:rPr>
              <a:t>NameNode</a:t>
            </a:r>
            <a:r>
              <a:rPr lang="en-US" sz="2600" b="1" i="1" dirty="0">
                <a:solidFill>
                  <a:srgbClr val="C00000"/>
                </a:solidFill>
              </a:rPr>
              <a:t> does not take over automatically if </a:t>
            </a:r>
            <a:r>
              <a:rPr lang="en-US" sz="2600" b="1" i="1" dirty="0" err="1">
                <a:solidFill>
                  <a:srgbClr val="C00000"/>
                </a:solidFill>
              </a:rPr>
              <a:t>NameNode</a:t>
            </a:r>
            <a:r>
              <a:rPr lang="en-US" sz="2600" b="1" i="1" dirty="0">
                <a:solidFill>
                  <a:srgbClr val="C00000"/>
                </a:solidFill>
              </a:rPr>
              <a:t> </a:t>
            </a:r>
            <a:r>
              <a:rPr lang="en-US" sz="2600" b="1" i="1" dirty="0" smtClean="0">
                <a:solidFill>
                  <a:srgbClr val="C00000"/>
                </a:solidFill>
              </a:rPr>
              <a:t>fails but It </a:t>
            </a:r>
            <a:r>
              <a:rPr lang="en-US" sz="2600" b="1" i="1" dirty="0">
                <a:solidFill>
                  <a:srgbClr val="C00000"/>
                </a:solidFill>
              </a:rPr>
              <a:t>helps recovery by providing a recent checkpoint</a:t>
            </a:r>
          </a:p>
        </p:txBody>
      </p:sp>
      <p:pic>
        <p:nvPicPr>
          <p:cNvPr id="15362" name="Picture 2" descr="https://data-flair.training/blogs/wp-content/uploads/sites/2/2017/06/HDFS-secondary-namenod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8685" y="1809060"/>
            <a:ext cx="5326813" cy="345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75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endParaRPr lang="en-US" b="1" dirty="0"/>
          </a:p>
        </p:txBody>
      </p:sp>
      <p:sp>
        <p:nvSpPr>
          <p:cNvPr id="3" name="Content Placeholder 2"/>
          <p:cNvSpPr>
            <a:spLocks noGrp="1"/>
          </p:cNvSpPr>
          <p:nvPr>
            <p:ph idx="1"/>
          </p:nvPr>
        </p:nvSpPr>
        <p:spPr>
          <a:xfrm>
            <a:off x="641685" y="1812758"/>
            <a:ext cx="10924674" cy="5045242"/>
          </a:xfrm>
        </p:spPr>
        <p:txBody>
          <a:bodyPr>
            <a:noAutofit/>
          </a:bodyPr>
          <a:lstStyle/>
          <a:p>
            <a:r>
              <a:rPr lang="en-US" sz="2400" dirty="0"/>
              <a:t>An organization operates a large </a:t>
            </a:r>
            <a:r>
              <a:rPr lang="en-US" sz="2400" b="1" dirty="0"/>
              <a:t>HDFS-based data platform</a:t>
            </a:r>
            <a:r>
              <a:rPr lang="en-US" sz="2400" dirty="0"/>
              <a:t> used to </a:t>
            </a:r>
            <a:r>
              <a:rPr lang="en-US" sz="2400" dirty="0" smtClean="0"/>
              <a:t>store: Application logs, Images, and Analytical </a:t>
            </a:r>
            <a:r>
              <a:rPr lang="en-US" sz="2400" dirty="0"/>
              <a:t>datasets</a:t>
            </a:r>
          </a:p>
          <a:p>
            <a:r>
              <a:rPr lang="en-US" sz="2400" dirty="0"/>
              <a:t>In </a:t>
            </a:r>
            <a:r>
              <a:rPr lang="en-US" sz="2400" dirty="0" smtClean="0"/>
              <a:t>HDFS: The </a:t>
            </a:r>
            <a:r>
              <a:rPr lang="en-US" sz="2400" b="1" dirty="0"/>
              <a:t>default block size is 128 </a:t>
            </a:r>
            <a:r>
              <a:rPr lang="en-US" sz="2400" b="1" dirty="0" smtClean="0"/>
              <a:t>MB</a:t>
            </a:r>
            <a:r>
              <a:rPr lang="en-US" sz="2400" dirty="0" smtClean="0"/>
              <a:t> and Each </a:t>
            </a:r>
            <a:r>
              <a:rPr lang="en-US" sz="2400" b="1" dirty="0" smtClean="0"/>
              <a:t>block</a:t>
            </a:r>
            <a:r>
              <a:rPr lang="en-US" sz="2400" dirty="0" smtClean="0"/>
              <a:t> </a:t>
            </a:r>
            <a:r>
              <a:rPr lang="en-US" sz="2400" dirty="0"/>
              <a:t>requires </a:t>
            </a:r>
            <a:r>
              <a:rPr lang="en-US" sz="2400" b="1" dirty="0"/>
              <a:t>150 bytes of metadata</a:t>
            </a:r>
            <a:r>
              <a:rPr lang="en-US" sz="2400" dirty="0"/>
              <a:t> stored in the </a:t>
            </a:r>
            <a:r>
              <a:rPr lang="en-US" sz="2400" dirty="0" err="1"/>
              <a:t>NameNode</a:t>
            </a:r>
            <a:r>
              <a:rPr lang="en-US" sz="2400" dirty="0"/>
              <a:t> </a:t>
            </a:r>
            <a:r>
              <a:rPr lang="en-US" sz="2400" dirty="0" smtClean="0"/>
              <a:t>memory</a:t>
            </a:r>
          </a:p>
          <a:p>
            <a:r>
              <a:rPr lang="en-US" sz="2400" dirty="0" smtClean="0"/>
              <a:t>The following is the dataset description </a:t>
            </a:r>
          </a:p>
          <a:p>
            <a:endParaRPr lang="en-US" sz="2400" dirty="0"/>
          </a:p>
          <a:p>
            <a:endParaRPr lang="en-US" sz="2400" dirty="0" smtClean="0"/>
          </a:p>
          <a:p>
            <a:endParaRPr lang="en-US" sz="2400" dirty="0"/>
          </a:p>
          <a:p>
            <a:endParaRPr lang="en-US" sz="2400" dirty="0" smtClean="0"/>
          </a:p>
          <a:p>
            <a:r>
              <a:rPr lang="en-US" sz="2400" b="1" dirty="0" smtClean="0"/>
              <a:t>Later</a:t>
            </a:r>
            <a:r>
              <a:rPr lang="en-US" sz="2400" b="1" dirty="0"/>
              <a:t>, the system ingests:3 million small files, each exactly </a:t>
            </a:r>
            <a:r>
              <a:rPr lang="en-US" sz="2400" b="1" dirty="0" smtClean="0"/>
              <a:t>1 </a:t>
            </a:r>
            <a:r>
              <a:rPr lang="en-US" sz="2400" b="1" dirty="0"/>
              <a:t>MB in size</a:t>
            </a:r>
            <a:endParaRPr lang="en-US" sz="2400" b="1" dirty="0" smtClean="0"/>
          </a:p>
        </p:txBody>
      </p:sp>
      <p:graphicFrame>
        <p:nvGraphicFramePr>
          <p:cNvPr id="4" name="Table 3"/>
          <p:cNvGraphicFramePr>
            <a:graphicFrameLocks noGrp="1"/>
          </p:cNvGraphicFramePr>
          <p:nvPr/>
        </p:nvGraphicFramePr>
        <p:xfrm>
          <a:off x="1023939" y="4015019"/>
          <a:ext cx="9720261" cy="1828800"/>
        </p:xfrm>
        <a:graphic>
          <a:graphicData uri="http://schemas.openxmlformats.org/drawingml/2006/table">
            <a:tbl>
              <a:tblPr>
                <a:tableStyleId>{8799B23B-EC83-4686-B30A-512413B5E67A}</a:tableStyleId>
              </a:tblPr>
              <a:tblGrid>
                <a:gridCol w="3240087">
                  <a:extLst>
                    <a:ext uri="{9D8B030D-6E8A-4147-A177-3AD203B41FA5}">
                      <a16:colId xmlns:a16="http://schemas.microsoft.com/office/drawing/2014/main" val="1585589930"/>
                    </a:ext>
                  </a:extLst>
                </a:gridCol>
                <a:gridCol w="3240087">
                  <a:extLst>
                    <a:ext uri="{9D8B030D-6E8A-4147-A177-3AD203B41FA5}">
                      <a16:colId xmlns:a16="http://schemas.microsoft.com/office/drawing/2014/main" val="906531354"/>
                    </a:ext>
                  </a:extLst>
                </a:gridCol>
                <a:gridCol w="3240087">
                  <a:extLst>
                    <a:ext uri="{9D8B030D-6E8A-4147-A177-3AD203B41FA5}">
                      <a16:colId xmlns:a16="http://schemas.microsoft.com/office/drawing/2014/main" val="344378124"/>
                    </a:ext>
                  </a:extLst>
                </a:gridCol>
              </a:tblGrid>
              <a:tr h="0">
                <a:tc>
                  <a:txBody>
                    <a:bodyPr/>
                    <a:lstStyle/>
                    <a:p>
                      <a:pPr algn="ctr"/>
                      <a:r>
                        <a:rPr lang="en-US" sz="2400" b="1"/>
                        <a:t>File Type</a:t>
                      </a:r>
                    </a:p>
                  </a:txBody>
                  <a:tcPr anchor="ctr"/>
                </a:tc>
                <a:tc>
                  <a:txBody>
                    <a:bodyPr/>
                    <a:lstStyle/>
                    <a:p>
                      <a:pPr algn="ctr"/>
                      <a:r>
                        <a:rPr lang="en-US" sz="2400" b="1"/>
                        <a:t>Number of Files</a:t>
                      </a:r>
                    </a:p>
                  </a:txBody>
                  <a:tcPr anchor="ctr"/>
                </a:tc>
                <a:tc>
                  <a:txBody>
                    <a:bodyPr/>
                    <a:lstStyle/>
                    <a:p>
                      <a:pPr algn="ctr"/>
                      <a:r>
                        <a:rPr lang="en-US" sz="2400" b="1" dirty="0"/>
                        <a:t>File Size</a:t>
                      </a:r>
                    </a:p>
                  </a:txBody>
                  <a:tcPr anchor="ctr"/>
                </a:tc>
                <a:extLst>
                  <a:ext uri="{0D108BD9-81ED-4DB2-BD59-A6C34878D82A}">
                    <a16:rowId xmlns:a16="http://schemas.microsoft.com/office/drawing/2014/main" val="606672300"/>
                  </a:ext>
                </a:extLst>
              </a:tr>
              <a:tr h="0">
                <a:tc>
                  <a:txBody>
                    <a:bodyPr/>
                    <a:lstStyle/>
                    <a:p>
                      <a:pPr algn="ctr"/>
                      <a:r>
                        <a:rPr lang="en-US" sz="2400" b="1"/>
                        <a:t>Log files</a:t>
                      </a:r>
                    </a:p>
                  </a:txBody>
                  <a:tcPr anchor="ctr"/>
                </a:tc>
                <a:tc>
                  <a:txBody>
                    <a:bodyPr/>
                    <a:lstStyle/>
                    <a:p>
                      <a:pPr algn="ctr"/>
                      <a:r>
                        <a:rPr lang="en-US" sz="2400"/>
                        <a:t>2 million</a:t>
                      </a:r>
                    </a:p>
                  </a:txBody>
                  <a:tcPr anchor="ctr"/>
                </a:tc>
                <a:tc>
                  <a:txBody>
                    <a:bodyPr/>
                    <a:lstStyle/>
                    <a:p>
                      <a:pPr algn="ctr"/>
                      <a:r>
                        <a:rPr lang="en-US" sz="2400"/>
                        <a:t>256 MB</a:t>
                      </a:r>
                    </a:p>
                  </a:txBody>
                  <a:tcPr anchor="ctr"/>
                </a:tc>
                <a:extLst>
                  <a:ext uri="{0D108BD9-81ED-4DB2-BD59-A6C34878D82A}">
                    <a16:rowId xmlns:a16="http://schemas.microsoft.com/office/drawing/2014/main" val="3726790090"/>
                  </a:ext>
                </a:extLst>
              </a:tr>
              <a:tr h="0">
                <a:tc>
                  <a:txBody>
                    <a:bodyPr/>
                    <a:lstStyle/>
                    <a:p>
                      <a:pPr algn="ctr"/>
                      <a:r>
                        <a:rPr lang="en-US" sz="2400" b="1"/>
                        <a:t>Image files</a:t>
                      </a:r>
                    </a:p>
                  </a:txBody>
                  <a:tcPr anchor="ctr"/>
                </a:tc>
                <a:tc>
                  <a:txBody>
                    <a:bodyPr/>
                    <a:lstStyle/>
                    <a:p>
                      <a:pPr algn="ctr"/>
                      <a:r>
                        <a:rPr lang="en-US" sz="2400"/>
                        <a:t>1 million</a:t>
                      </a:r>
                    </a:p>
                  </a:txBody>
                  <a:tcPr anchor="ctr"/>
                </a:tc>
                <a:tc>
                  <a:txBody>
                    <a:bodyPr/>
                    <a:lstStyle/>
                    <a:p>
                      <a:pPr algn="ctr"/>
                      <a:r>
                        <a:rPr lang="en-US" sz="2400"/>
                        <a:t>300 MB</a:t>
                      </a:r>
                    </a:p>
                  </a:txBody>
                  <a:tcPr anchor="ctr"/>
                </a:tc>
                <a:extLst>
                  <a:ext uri="{0D108BD9-81ED-4DB2-BD59-A6C34878D82A}">
                    <a16:rowId xmlns:a16="http://schemas.microsoft.com/office/drawing/2014/main" val="769573018"/>
                  </a:ext>
                </a:extLst>
              </a:tr>
              <a:tr h="0">
                <a:tc>
                  <a:txBody>
                    <a:bodyPr/>
                    <a:lstStyle/>
                    <a:p>
                      <a:pPr algn="ctr"/>
                      <a:r>
                        <a:rPr lang="en-US" sz="2400" b="1" dirty="0"/>
                        <a:t>Data files</a:t>
                      </a:r>
                    </a:p>
                  </a:txBody>
                  <a:tcPr anchor="ctr"/>
                </a:tc>
                <a:tc>
                  <a:txBody>
                    <a:bodyPr/>
                    <a:lstStyle/>
                    <a:p>
                      <a:pPr algn="ctr"/>
                      <a:r>
                        <a:rPr lang="en-US" sz="2400"/>
                        <a:t>500,000</a:t>
                      </a:r>
                    </a:p>
                  </a:txBody>
                  <a:tcPr anchor="ctr"/>
                </a:tc>
                <a:tc>
                  <a:txBody>
                    <a:bodyPr/>
                    <a:lstStyle/>
                    <a:p>
                      <a:pPr algn="ctr"/>
                      <a:r>
                        <a:rPr lang="en-US" sz="2400" dirty="0"/>
                        <a:t>512 MB</a:t>
                      </a:r>
                    </a:p>
                  </a:txBody>
                  <a:tcPr anchor="ctr"/>
                </a:tc>
                <a:extLst>
                  <a:ext uri="{0D108BD9-81ED-4DB2-BD59-A6C34878D82A}">
                    <a16:rowId xmlns:a16="http://schemas.microsoft.com/office/drawing/2014/main" val="162913353"/>
                  </a:ext>
                </a:extLst>
              </a:tr>
            </a:tbl>
          </a:graphicData>
        </a:graphic>
      </p:graphicFrame>
    </p:spTree>
    <p:extLst>
      <p:ext uri="{BB962C8B-B14F-4D97-AF65-F5344CB8AC3E}">
        <p14:creationId xmlns:p14="http://schemas.microsoft.com/office/powerpoint/2010/main" val="36361957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endParaRPr lang="en-US" b="1" dirty="0"/>
          </a:p>
        </p:txBody>
      </p:sp>
      <p:sp>
        <p:nvSpPr>
          <p:cNvPr id="3" name="Content Placeholder 2"/>
          <p:cNvSpPr>
            <a:spLocks noGrp="1"/>
          </p:cNvSpPr>
          <p:nvPr>
            <p:ph idx="1"/>
          </p:nvPr>
        </p:nvSpPr>
        <p:spPr>
          <a:xfrm>
            <a:off x="641685" y="1812758"/>
            <a:ext cx="10924674" cy="5045242"/>
          </a:xfrm>
        </p:spPr>
        <p:txBody>
          <a:bodyPr>
            <a:noAutofit/>
          </a:bodyPr>
          <a:lstStyle/>
          <a:p>
            <a:pPr>
              <a:lnSpc>
                <a:spcPct val="100000"/>
              </a:lnSpc>
              <a:spcBef>
                <a:spcPts val="0"/>
              </a:spcBef>
              <a:buFont typeface="Wingdings" panose="05000000000000000000" pitchFamily="2" charset="2"/>
              <a:buChar char="q"/>
            </a:pPr>
            <a:r>
              <a:rPr lang="en-US" sz="2800" dirty="0"/>
              <a:t>Calculate the </a:t>
            </a:r>
            <a:r>
              <a:rPr lang="en-US" sz="2800" b="1" dirty="0"/>
              <a:t>number of HDFS blocks required per file</a:t>
            </a:r>
            <a:r>
              <a:rPr lang="en-US" sz="2800" dirty="0"/>
              <a:t> for each file type</a:t>
            </a:r>
          </a:p>
          <a:p>
            <a:pPr>
              <a:lnSpc>
                <a:spcPct val="100000"/>
              </a:lnSpc>
              <a:spcBef>
                <a:spcPts val="0"/>
              </a:spcBef>
              <a:buFont typeface="Wingdings" panose="05000000000000000000" pitchFamily="2" charset="2"/>
              <a:buChar char="q"/>
            </a:pPr>
            <a:r>
              <a:rPr lang="en-US" sz="2800" dirty="0"/>
              <a:t>Calculate the </a:t>
            </a:r>
            <a:r>
              <a:rPr lang="en-US" sz="2800" b="1" dirty="0"/>
              <a:t>total number of HDFS blocks</a:t>
            </a:r>
            <a:r>
              <a:rPr lang="en-US" sz="2800" dirty="0"/>
              <a:t>:</a:t>
            </a:r>
          </a:p>
          <a:p>
            <a:pPr lvl="2">
              <a:lnSpc>
                <a:spcPct val="100000"/>
              </a:lnSpc>
              <a:spcBef>
                <a:spcPts val="0"/>
              </a:spcBef>
              <a:buFont typeface="Wingdings" panose="05000000000000000000" pitchFamily="2" charset="2"/>
              <a:buChar char="§"/>
            </a:pPr>
            <a:r>
              <a:rPr lang="en-US" sz="2400" dirty="0"/>
              <a:t>Before adding small files</a:t>
            </a:r>
          </a:p>
          <a:p>
            <a:pPr lvl="2">
              <a:lnSpc>
                <a:spcPct val="100000"/>
              </a:lnSpc>
              <a:spcBef>
                <a:spcPts val="0"/>
              </a:spcBef>
              <a:buFont typeface="Wingdings" panose="05000000000000000000" pitchFamily="2" charset="2"/>
              <a:buChar char="§"/>
            </a:pPr>
            <a:r>
              <a:rPr lang="en-US" sz="2400" dirty="0"/>
              <a:t>After adding small files</a:t>
            </a:r>
          </a:p>
          <a:p>
            <a:pPr>
              <a:lnSpc>
                <a:spcPct val="100000"/>
              </a:lnSpc>
              <a:spcBef>
                <a:spcPts val="0"/>
              </a:spcBef>
              <a:buFont typeface="Wingdings" panose="05000000000000000000" pitchFamily="2" charset="2"/>
              <a:buChar char="q"/>
            </a:pPr>
            <a:r>
              <a:rPr lang="en-US" sz="2800" dirty="0"/>
              <a:t>Compute the </a:t>
            </a:r>
            <a:r>
              <a:rPr lang="en-US" sz="2800" b="1" dirty="0"/>
              <a:t>total </a:t>
            </a:r>
            <a:r>
              <a:rPr lang="en-US" sz="2800" b="1" dirty="0" err="1"/>
              <a:t>NameNode</a:t>
            </a:r>
            <a:r>
              <a:rPr lang="en-US" sz="2800" b="1" dirty="0"/>
              <a:t> memory required for metadata</a:t>
            </a:r>
            <a:r>
              <a:rPr lang="en-US" sz="2800" dirty="0"/>
              <a:t> in both cases</a:t>
            </a:r>
          </a:p>
          <a:p>
            <a:pPr>
              <a:lnSpc>
                <a:spcPct val="100000"/>
              </a:lnSpc>
              <a:spcBef>
                <a:spcPts val="0"/>
              </a:spcBef>
              <a:buFont typeface="Wingdings" panose="05000000000000000000" pitchFamily="2" charset="2"/>
              <a:buChar char="q"/>
            </a:pPr>
            <a:r>
              <a:rPr lang="en-US" sz="2800" dirty="0"/>
              <a:t>Explain </a:t>
            </a:r>
            <a:r>
              <a:rPr lang="en-US" sz="2800" b="1" dirty="0"/>
              <a:t>how adding many small files impacts </a:t>
            </a:r>
            <a:r>
              <a:rPr lang="en-US" sz="2800" b="1" dirty="0" err="1"/>
              <a:t>NameNode</a:t>
            </a:r>
            <a:r>
              <a:rPr lang="en-US" sz="2800" b="1" dirty="0"/>
              <a:t> scalability</a:t>
            </a:r>
            <a:endParaRPr lang="en-US" sz="2800" dirty="0"/>
          </a:p>
        </p:txBody>
      </p:sp>
    </p:spTree>
    <p:extLst>
      <p:ext uri="{BB962C8B-B14F-4D97-AF65-F5344CB8AC3E}">
        <p14:creationId xmlns:p14="http://schemas.microsoft.com/office/powerpoint/2010/main" val="23659689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balancer </a:t>
            </a:r>
            <a:endParaRPr lang="en-US" b="1" dirty="0"/>
          </a:p>
        </p:txBody>
      </p:sp>
      <p:sp>
        <p:nvSpPr>
          <p:cNvPr id="3" name="Content Placeholder 2"/>
          <p:cNvSpPr>
            <a:spLocks noGrp="1"/>
          </p:cNvSpPr>
          <p:nvPr>
            <p:ph idx="1"/>
          </p:nvPr>
        </p:nvSpPr>
        <p:spPr>
          <a:xfrm>
            <a:off x="1024128" y="2141622"/>
            <a:ext cx="10157219" cy="4023360"/>
          </a:xfrm>
        </p:spPr>
        <p:txBody>
          <a:bodyPr>
            <a:noAutofit/>
          </a:bodyPr>
          <a:lstStyle/>
          <a:p>
            <a:pPr>
              <a:lnSpc>
                <a:spcPct val="100000"/>
              </a:lnSpc>
              <a:spcBef>
                <a:spcPts val="0"/>
              </a:spcBef>
            </a:pPr>
            <a:r>
              <a:rPr lang="en-US" sz="2600" b="1" dirty="0">
                <a:solidFill>
                  <a:srgbClr val="C00000"/>
                </a:solidFill>
              </a:rPr>
              <a:t>Why We Need the </a:t>
            </a:r>
            <a:r>
              <a:rPr lang="en-US" sz="2600" b="1" dirty="0" smtClean="0">
                <a:solidFill>
                  <a:srgbClr val="C00000"/>
                </a:solidFill>
              </a:rPr>
              <a:t>Balancer?</a:t>
            </a:r>
            <a:endParaRPr lang="en-US" sz="2600" b="1" dirty="0">
              <a:solidFill>
                <a:srgbClr val="C00000"/>
              </a:solidFill>
            </a:endParaRPr>
          </a:p>
          <a:p>
            <a:pPr>
              <a:lnSpc>
                <a:spcPct val="100000"/>
              </a:lnSpc>
              <a:spcBef>
                <a:spcPts val="0"/>
              </a:spcBef>
              <a:buFont typeface="Wingdings" panose="05000000000000000000" pitchFamily="2" charset="2"/>
              <a:buChar char="§"/>
            </a:pPr>
            <a:r>
              <a:rPr lang="en-US" sz="2600" dirty="0"/>
              <a:t>HDFS clusters </a:t>
            </a:r>
            <a:r>
              <a:rPr lang="en-US" sz="2600" b="1" dirty="0"/>
              <a:t>grow over time</a:t>
            </a:r>
            <a:r>
              <a:rPr lang="en-US" sz="2600" dirty="0"/>
              <a:t>. When you add new </a:t>
            </a:r>
            <a:r>
              <a:rPr lang="en-US" sz="2600" dirty="0" err="1"/>
              <a:t>DataNodes</a:t>
            </a:r>
            <a:r>
              <a:rPr lang="en-US" sz="2600" dirty="0"/>
              <a:t>:</a:t>
            </a:r>
          </a:p>
          <a:p>
            <a:pPr>
              <a:lnSpc>
                <a:spcPct val="100000"/>
              </a:lnSpc>
              <a:spcBef>
                <a:spcPts val="0"/>
              </a:spcBef>
              <a:buFont typeface="Wingdings" panose="05000000000000000000" pitchFamily="2" charset="2"/>
              <a:buChar char="§"/>
            </a:pPr>
            <a:r>
              <a:rPr lang="en-US" sz="2600" dirty="0"/>
              <a:t>Existing nodes already store </a:t>
            </a:r>
            <a:r>
              <a:rPr lang="en-US" sz="2600" b="1" dirty="0"/>
              <a:t>large amounts of data</a:t>
            </a:r>
            <a:endParaRPr lang="en-US" sz="2600" dirty="0"/>
          </a:p>
          <a:p>
            <a:pPr>
              <a:lnSpc>
                <a:spcPct val="100000"/>
              </a:lnSpc>
              <a:spcBef>
                <a:spcPts val="0"/>
              </a:spcBef>
              <a:buFont typeface="Wingdings" panose="05000000000000000000" pitchFamily="2" charset="2"/>
              <a:buChar char="§"/>
            </a:pPr>
            <a:r>
              <a:rPr lang="en-US" sz="2600" dirty="0"/>
              <a:t>New nodes start </a:t>
            </a:r>
            <a:r>
              <a:rPr lang="en-US" sz="2600" b="1" dirty="0"/>
              <a:t>completely </a:t>
            </a:r>
            <a:r>
              <a:rPr lang="en-US" sz="2600" b="1" dirty="0" smtClean="0"/>
              <a:t>empty</a:t>
            </a:r>
            <a:endParaRPr lang="en-US" sz="2600" dirty="0" smtClean="0"/>
          </a:p>
          <a:p>
            <a:pPr>
              <a:lnSpc>
                <a:spcPct val="100000"/>
              </a:lnSpc>
              <a:spcBef>
                <a:spcPts val="0"/>
              </a:spcBef>
              <a:buFont typeface="Wingdings" panose="05000000000000000000" pitchFamily="2" charset="2"/>
              <a:buChar char="§"/>
            </a:pPr>
            <a:r>
              <a:rPr lang="en-US" sz="2600" dirty="0" smtClean="0"/>
              <a:t>HDFS </a:t>
            </a:r>
            <a:r>
              <a:rPr lang="en-US" sz="2600" b="1" dirty="0"/>
              <a:t>does NOT automatically move old data</a:t>
            </a:r>
            <a:r>
              <a:rPr lang="en-US" sz="2600" dirty="0"/>
              <a:t> to new </a:t>
            </a:r>
            <a:r>
              <a:rPr lang="en-US" sz="2600" dirty="0" smtClean="0"/>
              <a:t>nodes</a:t>
            </a:r>
          </a:p>
          <a:p>
            <a:pPr marL="0" indent="0">
              <a:lnSpc>
                <a:spcPct val="100000"/>
              </a:lnSpc>
              <a:spcBef>
                <a:spcPts val="0"/>
              </a:spcBef>
              <a:buNone/>
            </a:pPr>
            <a:r>
              <a:rPr lang="en-US" sz="2600" dirty="0" smtClean="0"/>
              <a:t>This creates </a:t>
            </a:r>
            <a:r>
              <a:rPr lang="en-US" sz="2600" b="1" dirty="0" smtClean="0"/>
              <a:t>data skew</a:t>
            </a:r>
            <a:r>
              <a:rPr lang="en-US" sz="2600" dirty="0" smtClean="0"/>
              <a:t>:</a:t>
            </a:r>
          </a:p>
          <a:p>
            <a:pPr lvl="1">
              <a:lnSpc>
                <a:spcPct val="100000"/>
              </a:lnSpc>
              <a:spcBef>
                <a:spcPts val="0"/>
              </a:spcBef>
              <a:buFont typeface="Wingdings" panose="05000000000000000000" pitchFamily="2" charset="2"/>
              <a:buChar char="§"/>
            </a:pPr>
            <a:r>
              <a:rPr lang="en-US" sz="2200" dirty="0" smtClean="0"/>
              <a:t>Some </a:t>
            </a:r>
            <a:r>
              <a:rPr lang="en-US" sz="2200" dirty="0"/>
              <a:t>nodes are </a:t>
            </a:r>
            <a:r>
              <a:rPr lang="en-US" sz="2200" b="1" dirty="0"/>
              <a:t>90% full</a:t>
            </a:r>
            <a:endParaRPr lang="en-US" sz="2200" dirty="0"/>
          </a:p>
          <a:p>
            <a:pPr lvl="1">
              <a:lnSpc>
                <a:spcPct val="100000"/>
              </a:lnSpc>
              <a:spcBef>
                <a:spcPts val="0"/>
              </a:spcBef>
              <a:buFont typeface="Wingdings" panose="05000000000000000000" pitchFamily="2" charset="2"/>
              <a:buChar char="§"/>
            </a:pPr>
            <a:r>
              <a:rPr lang="en-US" sz="2200" dirty="0"/>
              <a:t>Others are </a:t>
            </a:r>
            <a:r>
              <a:rPr lang="en-US" sz="2200" b="1" dirty="0"/>
              <a:t>10% full</a:t>
            </a:r>
            <a:endParaRPr lang="en-US" sz="2200" dirty="0"/>
          </a:p>
          <a:p>
            <a:pPr>
              <a:lnSpc>
                <a:spcPct val="100000"/>
              </a:lnSpc>
              <a:spcBef>
                <a:spcPts val="0"/>
              </a:spcBef>
              <a:buFont typeface="Wingdings" panose="05000000000000000000" pitchFamily="2" charset="2"/>
              <a:buChar char="§"/>
            </a:pPr>
            <a:r>
              <a:rPr lang="en-US" sz="2600" dirty="0"/>
              <a:t>Jobs reading data become slower because:</a:t>
            </a:r>
          </a:p>
          <a:p>
            <a:pPr lvl="1">
              <a:lnSpc>
                <a:spcPct val="100000"/>
              </a:lnSpc>
              <a:spcBef>
                <a:spcPts val="0"/>
              </a:spcBef>
            </a:pPr>
            <a:r>
              <a:rPr lang="en-US" sz="2600" dirty="0"/>
              <a:t>Busy nodes serve most read requests</a:t>
            </a:r>
          </a:p>
          <a:p>
            <a:pPr lvl="1">
              <a:lnSpc>
                <a:spcPct val="100000"/>
              </a:lnSpc>
              <a:spcBef>
                <a:spcPts val="0"/>
              </a:spcBef>
            </a:pPr>
            <a:r>
              <a:rPr lang="en-US" sz="2600" dirty="0"/>
              <a:t>Network and disks on those nodes become overloaded</a:t>
            </a:r>
          </a:p>
        </p:txBody>
      </p:sp>
    </p:spTree>
    <p:extLst>
      <p:ext uri="{BB962C8B-B14F-4D97-AF65-F5344CB8AC3E}">
        <p14:creationId xmlns:p14="http://schemas.microsoft.com/office/powerpoint/2010/main" val="253916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2" fill="hold">
                            <p:stCondLst>
                              <p:cond delay="1000"/>
                            </p:stCondLst>
                            <p:childTnLst>
                              <p:par>
                                <p:cTn id="33" presetID="2" presetClass="entr" presetSubtype="4"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fill="hold" nodeType="after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 calcmode="lin" valueType="num">
                                      <p:cBhvr additive="base">
                                        <p:cTn id="40"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 calcmode="lin" valueType="num">
                                      <p:cBhvr additive="base">
                                        <p:cTn id="44"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 calcmode="lin" valueType="num">
                                      <p:cBhvr additive="base">
                                        <p:cTn id="4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balancer </a:t>
            </a:r>
            <a:endParaRPr lang="en-US" b="1" dirty="0"/>
          </a:p>
        </p:txBody>
      </p:sp>
      <p:sp>
        <p:nvSpPr>
          <p:cNvPr id="3" name="Content Placeholder 2"/>
          <p:cNvSpPr>
            <a:spLocks noGrp="1"/>
          </p:cNvSpPr>
          <p:nvPr>
            <p:ph idx="1"/>
          </p:nvPr>
        </p:nvSpPr>
        <p:spPr>
          <a:xfrm>
            <a:off x="1024128" y="2141622"/>
            <a:ext cx="10157219" cy="4023360"/>
          </a:xfrm>
        </p:spPr>
        <p:txBody>
          <a:bodyPr>
            <a:noAutofit/>
          </a:bodyPr>
          <a:lstStyle/>
          <a:p>
            <a:pPr marL="0" indent="0">
              <a:lnSpc>
                <a:spcPct val="100000"/>
              </a:lnSpc>
              <a:spcBef>
                <a:spcPts val="0"/>
              </a:spcBef>
              <a:buNone/>
            </a:pPr>
            <a:r>
              <a:rPr lang="en-US" sz="2600" dirty="0"/>
              <a:t>The </a:t>
            </a:r>
            <a:r>
              <a:rPr lang="en-US" sz="2600" b="1" dirty="0"/>
              <a:t>HDFS Balancer</a:t>
            </a:r>
            <a:r>
              <a:rPr lang="en-US" sz="2600" dirty="0"/>
              <a:t> is an </a:t>
            </a:r>
            <a:r>
              <a:rPr lang="en-US" sz="2600" b="1" dirty="0"/>
              <a:t>administrative background tool</a:t>
            </a:r>
            <a:r>
              <a:rPr lang="en-US" sz="2600" dirty="0"/>
              <a:t> that:</a:t>
            </a:r>
          </a:p>
          <a:p>
            <a:pPr>
              <a:lnSpc>
                <a:spcPct val="100000"/>
              </a:lnSpc>
              <a:spcBef>
                <a:spcPts val="0"/>
              </a:spcBef>
              <a:buFont typeface="Wingdings" panose="05000000000000000000" pitchFamily="2" charset="2"/>
              <a:buChar char="§"/>
            </a:pPr>
            <a:r>
              <a:rPr lang="en-US" sz="2600" dirty="0"/>
              <a:t>Monitors disk usage across all </a:t>
            </a:r>
            <a:r>
              <a:rPr lang="en-US" sz="2600" dirty="0" err="1"/>
              <a:t>DataNodes</a:t>
            </a:r>
            <a:endParaRPr lang="en-US" sz="2600" dirty="0"/>
          </a:p>
          <a:p>
            <a:pPr>
              <a:lnSpc>
                <a:spcPct val="100000"/>
              </a:lnSpc>
              <a:spcBef>
                <a:spcPts val="0"/>
              </a:spcBef>
              <a:buFont typeface="Wingdings" panose="05000000000000000000" pitchFamily="2" charset="2"/>
              <a:buChar char="§"/>
            </a:pPr>
            <a:r>
              <a:rPr lang="en-US" sz="2600" dirty="0" smtClean="0"/>
              <a:t>Identifies imbalances:</a:t>
            </a:r>
            <a:endParaRPr lang="en-US" sz="2600" dirty="0"/>
          </a:p>
          <a:p>
            <a:pPr lvl="1">
              <a:lnSpc>
                <a:spcPct val="100000"/>
              </a:lnSpc>
              <a:spcBef>
                <a:spcPts val="0"/>
              </a:spcBef>
              <a:buFont typeface="Wingdings" panose="05000000000000000000" pitchFamily="2" charset="2"/>
              <a:buChar char="§"/>
            </a:pPr>
            <a:r>
              <a:rPr lang="en-US" sz="2600" b="1" dirty="0"/>
              <a:t>Over-utilized nodes</a:t>
            </a:r>
            <a:r>
              <a:rPr lang="en-US" sz="2600" dirty="0"/>
              <a:t> (too full)</a:t>
            </a:r>
          </a:p>
          <a:p>
            <a:pPr lvl="1">
              <a:lnSpc>
                <a:spcPct val="100000"/>
              </a:lnSpc>
              <a:spcBef>
                <a:spcPts val="0"/>
              </a:spcBef>
              <a:buFont typeface="Wingdings" panose="05000000000000000000" pitchFamily="2" charset="2"/>
              <a:buChar char="§"/>
            </a:pPr>
            <a:r>
              <a:rPr lang="en-US" sz="2600" b="1" dirty="0"/>
              <a:t>Under-utilized nodes</a:t>
            </a:r>
            <a:r>
              <a:rPr lang="en-US" sz="2600" dirty="0"/>
              <a:t> (too empty)</a:t>
            </a:r>
          </a:p>
          <a:p>
            <a:pPr>
              <a:lnSpc>
                <a:spcPct val="100000"/>
              </a:lnSpc>
              <a:spcBef>
                <a:spcPts val="0"/>
              </a:spcBef>
              <a:buFont typeface="Wingdings" panose="05000000000000000000" pitchFamily="2" charset="2"/>
              <a:buChar char="§"/>
            </a:pPr>
            <a:r>
              <a:rPr lang="en-US" sz="2600" dirty="0"/>
              <a:t>Gradually moves blocks from full nodes to empty ones</a:t>
            </a:r>
          </a:p>
          <a:p>
            <a:pPr marL="0" indent="0">
              <a:lnSpc>
                <a:spcPct val="100000"/>
              </a:lnSpc>
              <a:spcBef>
                <a:spcPts val="0"/>
              </a:spcBef>
              <a:buNone/>
            </a:pPr>
            <a:r>
              <a:rPr lang="en-US" sz="2600" b="1" dirty="0"/>
              <a:t>Important details:</a:t>
            </a:r>
          </a:p>
          <a:p>
            <a:pPr>
              <a:lnSpc>
                <a:spcPct val="100000"/>
              </a:lnSpc>
              <a:spcBef>
                <a:spcPts val="0"/>
              </a:spcBef>
              <a:buFont typeface="Wingdings" panose="05000000000000000000" pitchFamily="2" charset="2"/>
              <a:buChar char="§"/>
            </a:pPr>
            <a:r>
              <a:rPr lang="en-US" sz="2600" dirty="0"/>
              <a:t>Balancing happens </a:t>
            </a:r>
            <a:r>
              <a:rPr lang="en-US" sz="2600" b="1" dirty="0"/>
              <a:t>without downtime</a:t>
            </a:r>
            <a:endParaRPr lang="en-US" sz="2600" dirty="0"/>
          </a:p>
          <a:p>
            <a:pPr>
              <a:lnSpc>
                <a:spcPct val="100000"/>
              </a:lnSpc>
              <a:spcBef>
                <a:spcPts val="0"/>
              </a:spcBef>
              <a:buFont typeface="Wingdings" panose="05000000000000000000" pitchFamily="2" charset="2"/>
              <a:buChar char="§"/>
            </a:pPr>
            <a:r>
              <a:rPr lang="en-US" sz="2600" dirty="0"/>
              <a:t>Data integrity and replication rules are preserved</a:t>
            </a:r>
          </a:p>
          <a:p>
            <a:pPr>
              <a:lnSpc>
                <a:spcPct val="100000"/>
              </a:lnSpc>
              <a:spcBef>
                <a:spcPts val="0"/>
              </a:spcBef>
              <a:buFont typeface="Wingdings" panose="05000000000000000000" pitchFamily="2" charset="2"/>
              <a:buChar char="§"/>
            </a:pPr>
            <a:r>
              <a:rPr lang="en-US" sz="2600" dirty="0"/>
              <a:t>Movement is throttled to avoid network congestion</a:t>
            </a:r>
          </a:p>
        </p:txBody>
      </p:sp>
    </p:spTree>
    <p:extLst>
      <p:ext uri="{BB962C8B-B14F-4D97-AF65-F5344CB8AC3E}">
        <p14:creationId xmlns:p14="http://schemas.microsoft.com/office/powerpoint/2010/main" val="273598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HDFS balancer example</a:t>
            </a:r>
            <a:endParaRPr lang="en-US" b="1" dirty="0"/>
          </a:p>
        </p:txBody>
      </p:sp>
      <p:sp>
        <p:nvSpPr>
          <p:cNvPr id="3" name="Content Placeholder 2"/>
          <p:cNvSpPr>
            <a:spLocks noGrp="1"/>
          </p:cNvSpPr>
          <p:nvPr>
            <p:ph idx="1"/>
          </p:nvPr>
        </p:nvSpPr>
        <p:spPr>
          <a:xfrm>
            <a:off x="1024128" y="2286000"/>
            <a:ext cx="10035758" cy="4303486"/>
          </a:xfrm>
        </p:spPr>
        <p:txBody>
          <a:bodyPr>
            <a:normAutofit lnSpcReduction="10000"/>
          </a:bodyPr>
          <a:lstStyle/>
          <a:p>
            <a:r>
              <a:rPr lang="en-US" sz="2600" dirty="0"/>
              <a:t>A Hadoop cluster consists of </a:t>
            </a:r>
            <a:r>
              <a:rPr lang="en-US" sz="2600" b="1" dirty="0"/>
              <a:t>3 </a:t>
            </a:r>
            <a:r>
              <a:rPr lang="en-US" sz="2600" b="1" dirty="0" err="1"/>
              <a:t>DataNodes</a:t>
            </a:r>
            <a:r>
              <a:rPr lang="en-US" sz="2600" dirty="0"/>
              <a:t>, each with a capacity of 100 GB. The current used space on each node is as follows</a:t>
            </a:r>
            <a:r>
              <a:rPr lang="en-US" sz="2600" dirty="0" smtClean="0"/>
              <a:t>:</a:t>
            </a:r>
          </a:p>
          <a:p>
            <a:endParaRPr lang="en-US" sz="2600" dirty="0"/>
          </a:p>
          <a:p>
            <a:endParaRPr lang="en-US" sz="2600" dirty="0" smtClean="0"/>
          </a:p>
          <a:p>
            <a:endParaRPr lang="en-US" sz="2600" dirty="0"/>
          </a:p>
          <a:p>
            <a:endParaRPr lang="en-US" sz="2600" dirty="0" smtClean="0"/>
          </a:p>
          <a:p>
            <a:pPr marL="0" indent="0">
              <a:buNone/>
            </a:pPr>
            <a:endParaRPr lang="en-US" sz="2600" dirty="0"/>
          </a:p>
          <a:p>
            <a:r>
              <a:rPr lang="en-US" sz="2600" dirty="0"/>
              <a:t>The cluster administrator wants to balance the HDFS data using the </a:t>
            </a:r>
            <a:r>
              <a:rPr lang="en-US" sz="2600" b="1" dirty="0"/>
              <a:t>HDFS Balancer</a:t>
            </a:r>
            <a:r>
              <a:rPr lang="en-US" sz="2600" dirty="0"/>
              <a:t>. The </a:t>
            </a:r>
            <a:r>
              <a:rPr lang="en-US" sz="2600" b="1" dirty="0"/>
              <a:t>balancer threshold is set to 10%</a:t>
            </a:r>
            <a:r>
              <a:rPr lang="en-US" sz="2600" dirty="0"/>
              <a:t>.</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958140364"/>
              </p:ext>
            </p:extLst>
          </p:nvPr>
        </p:nvGraphicFramePr>
        <p:xfrm>
          <a:off x="1023938" y="3275554"/>
          <a:ext cx="9720261" cy="1828800"/>
        </p:xfrm>
        <a:graphic>
          <a:graphicData uri="http://schemas.openxmlformats.org/drawingml/2006/table">
            <a:tbl>
              <a:tblPr>
                <a:tableStyleId>{5DA37D80-6434-44D0-A028-1B22A696006F}</a:tableStyleId>
              </a:tblPr>
              <a:tblGrid>
                <a:gridCol w="3240087">
                  <a:extLst>
                    <a:ext uri="{9D8B030D-6E8A-4147-A177-3AD203B41FA5}">
                      <a16:colId xmlns:a16="http://schemas.microsoft.com/office/drawing/2014/main" val="1580333084"/>
                    </a:ext>
                  </a:extLst>
                </a:gridCol>
                <a:gridCol w="3240087">
                  <a:extLst>
                    <a:ext uri="{9D8B030D-6E8A-4147-A177-3AD203B41FA5}">
                      <a16:colId xmlns:a16="http://schemas.microsoft.com/office/drawing/2014/main" val="1643412524"/>
                    </a:ext>
                  </a:extLst>
                </a:gridCol>
                <a:gridCol w="3240087">
                  <a:extLst>
                    <a:ext uri="{9D8B030D-6E8A-4147-A177-3AD203B41FA5}">
                      <a16:colId xmlns:a16="http://schemas.microsoft.com/office/drawing/2014/main" val="2962170440"/>
                    </a:ext>
                  </a:extLst>
                </a:gridCol>
              </a:tblGrid>
              <a:tr h="0">
                <a:tc>
                  <a:txBody>
                    <a:bodyPr/>
                    <a:lstStyle/>
                    <a:p>
                      <a:pPr algn="ctr"/>
                      <a:r>
                        <a:rPr lang="en-US" sz="2400" b="1" dirty="0" err="1"/>
                        <a:t>DataNode</a:t>
                      </a:r>
                      <a:endParaRPr lang="en-US" sz="2400" b="1" dirty="0"/>
                    </a:p>
                  </a:txBody>
                  <a:tcPr anchor="ctr"/>
                </a:tc>
                <a:tc>
                  <a:txBody>
                    <a:bodyPr/>
                    <a:lstStyle/>
                    <a:p>
                      <a:pPr algn="ctr"/>
                      <a:r>
                        <a:rPr lang="en-US" sz="2400" b="1" dirty="0"/>
                        <a:t>Capacity (GB)</a:t>
                      </a:r>
                    </a:p>
                  </a:txBody>
                  <a:tcPr anchor="ctr"/>
                </a:tc>
                <a:tc>
                  <a:txBody>
                    <a:bodyPr/>
                    <a:lstStyle/>
                    <a:p>
                      <a:pPr algn="ctr"/>
                      <a:r>
                        <a:rPr lang="en-US" sz="2400" b="1" dirty="0"/>
                        <a:t>Used (GB)</a:t>
                      </a:r>
                    </a:p>
                  </a:txBody>
                  <a:tcPr anchor="ctr"/>
                </a:tc>
                <a:extLst>
                  <a:ext uri="{0D108BD9-81ED-4DB2-BD59-A6C34878D82A}">
                    <a16:rowId xmlns:a16="http://schemas.microsoft.com/office/drawing/2014/main" val="4144274033"/>
                  </a:ext>
                </a:extLst>
              </a:tr>
              <a:tr h="0">
                <a:tc>
                  <a:txBody>
                    <a:bodyPr/>
                    <a:lstStyle/>
                    <a:p>
                      <a:pPr algn="ctr"/>
                      <a:r>
                        <a:rPr lang="en-US" sz="2400" dirty="0"/>
                        <a:t>Node1</a:t>
                      </a:r>
                    </a:p>
                  </a:txBody>
                  <a:tcPr anchor="ctr"/>
                </a:tc>
                <a:tc>
                  <a:txBody>
                    <a:bodyPr/>
                    <a:lstStyle/>
                    <a:p>
                      <a:pPr algn="ctr"/>
                      <a:r>
                        <a:rPr lang="en-US" sz="2400"/>
                        <a:t>100</a:t>
                      </a:r>
                    </a:p>
                  </a:txBody>
                  <a:tcPr anchor="ctr"/>
                </a:tc>
                <a:tc>
                  <a:txBody>
                    <a:bodyPr/>
                    <a:lstStyle/>
                    <a:p>
                      <a:pPr algn="ctr"/>
                      <a:r>
                        <a:rPr lang="en-US" sz="2400"/>
                        <a:t>90</a:t>
                      </a:r>
                    </a:p>
                  </a:txBody>
                  <a:tcPr anchor="ctr"/>
                </a:tc>
                <a:extLst>
                  <a:ext uri="{0D108BD9-81ED-4DB2-BD59-A6C34878D82A}">
                    <a16:rowId xmlns:a16="http://schemas.microsoft.com/office/drawing/2014/main" val="1834319537"/>
                  </a:ext>
                </a:extLst>
              </a:tr>
              <a:tr h="0">
                <a:tc>
                  <a:txBody>
                    <a:bodyPr/>
                    <a:lstStyle/>
                    <a:p>
                      <a:pPr algn="ctr"/>
                      <a:r>
                        <a:rPr lang="en-US" sz="2400" dirty="0"/>
                        <a:t>Node2</a:t>
                      </a:r>
                    </a:p>
                  </a:txBody>
                  <a:tcPr anchor="ctr"/>
                </a:tc>
                <a:tc>
                  <a:txBody>
                    <a:bodyPr/>
                    <a:lstStyle/>
                    <a:p>
                      <a:pPr algn="ctr"/>
                      <a:r>
                        <a:rPr lang="en-US" sz="2400"/>
                        <a:t>100</a:t>
                      </a:r>
                    </a:p>
                  </a:txBody>
                  <a:tcPr anchor="ctr"/>
                </a:tc>
                <a:tc>
                  <a:txBody>
                    <a:bodyPr/>
                    <a:lstStyle/>
                    <a:p>
                      <a:pPr algn="ctr"/>
                      <a:r>
                        <a:rPr lang="en-US" sz="2400"/>
                        <a:t>60</a:t>
                      </a:r>
                    </a:p>
                  </a:txBody>
                  <a:tcPr anchor="ctr"/>
                </a:tc>
                <a:extLst>
                  <a:ext uri="{0D108BD9-81ED-4DB2-BD59-A6C34878D82A}">
                    <a16:rowId xmlns:a16="http://schemas.microsoft.com/office/drawing/2014/main" val="621541381"/>
                  </a:ext>
                </a:extLst>
              </a:tr>
              <a:tr h="0">
                <a:tc>
                  <a:txBody>
                    <a:bodyPr/>
                    <a:lstStyle/>
                    <a:p>
                      <a:pPr algn="ctr"/>
                      <a:r>
                        <a:rPr lang="en-US" sz="2400" dirty="0"/>
                        <a:t>Node3</a:t>
                      </a:r>
                    </a:p>
                  </a:txBody>
                  <a:tcPr anchor="ctr"/>
                </a:tc>
                <a:tc>
                  <a:txBody>
                    <a:bodyPr/>
                    <a:lstStyle/>
                    <a:p>
                      <a:pPr algn="ctr"/>
                      <a:r>
                        <a:rPr lang="en-US" sz="2400" dirty="0"/>
                        <a:t>100</a:t>
                      </a:r>
                    </a:p>
                  </a:txBody>
                  <a:tcPr anchor="ctr"/>
                </a:tc>
                <a:tc>
                  <a:txBody>
                    <a:bodyPr/>
                    <a:lstStyle/>
                    <a:p>
                      <a:pPr algn="ctr"/>
                      <a:r>
                        <a:rPr lang="en-US" sz="2400" dirty="0"/>
                        <a:t>50</a:t>
                      </a:r>
                    </a:p>
                  </a:txBody>
                  <a:tcPr anchor="ctr"/>
                </a:tc>
                <a:extLst>
                  <a:ext uri="{0D108BD9-81ED-4DB2-BD59-A6C34878D82A}">
                    <a16:rowId xmlns:a16="http://schemas.microsoft.com/office/drawing/2014/main" val="2032940782"/>
                  </a:ext>
                </a:extLst>
              </a:tr>
            </a:tbl>
          </a:graphicData>
        </a:graphic>
      </p:graphicFrame>
    </p:spTree>
    <p:extLst>
      <p:ext uri="{BB962C8B-B14F-4D97-AF65-F5344CB8AC3E}">
        <p14:creationId xmlns:p14="http://schemas.microsoft.com/office/powerpoint/2010/main" val="25904891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HDFS balancer example</a:t>
            </a:r>
            <a:endParaRPr lang="en-US" b="1" dirty="0"/>
          </a:p>
        </p:txBody>
      </p:sp>
      <p:sp>
        <p:nvSpPr>
          <p:cNvPr id="3" name="Content Placeholder 2"/>
          <p:cNvSpPr>
            <a:spLocks noGrp="1"/>
          </p:cNvSpPr>
          <p:nvPr>
            <p:ph idx="1"/>
          </p:nvPr>
        </p:nvSpPr>
        <p:spPr>
          <a:xfrm>
            <a:off x="1024128" y="2286000"/>
            <a:ext cx="10035758" cy="4303486"/>
          </a:xfrm>
        </p:spPr>
        <p:txBody>
          <a:bodyPr>
            <a:normAutofit/>
          </a:bodyPr>
          <a:lstStyle/>
          <a:p>
            <a:r>
              <a:rPr lang="en-US" sz="2600" b="1" dirty="0" smtClean="0"/>
              <a:t>1- Compute </a:t>
            </a:r>
            <a:r>
              <a:rPr lang="en-US" sz="2600" b="1" dirty="0"/>
              <a:t>the current usage percentage</a:t>
            </a:r>
            <a:r>
              <a:rPr lang="en-US" sz="2600" dirty="0"/>
              <a:t> of each </a:t>
            </a:r>
            <a:r>
              <a:rPr lang="en-US" sz="2600" dirty="0" err="1"/>
              <a:t>DataNode</a:t>
            </a:r>
            <a:r>
              <a:rPr lang="en-US" sz="2600" dirty="0" smtClean="0"/>
              <a:t>.</a:t>
            </a:r>
          </a:p>
          <a:p>
            <a:r>
              <a:rPr lang="en-US" sz="2600" b="1" dirty="0" smtClean="0"/>
              <a:t>2- Compute </a:t>
            </a:r>
            <a:r>
              <a:rPr lang="en-US" sz="2600" b="1" dirty="0"/>
              <a:t>the cluster average usage</a:t>
            </a:r>
            <a:r>
              <a:rPr lang="en-US" sz="2600" dirty="0"/>
              <a:t>.</a:t>
            </a:r>
          </a:p>
          <a:p>
            <a:r>
              <a:rPr lang="en-US" sz="2600" b="1" dirty="0" smtClean="0"/>
              <a:t>3- Determine </a:t>
            </a:r>
            <a:r>
              <a:rPr lang="en-US" sz="2600" b="1" dirty="0"/>
              <a:t>the deviation</a:t>
            </a:r>
            <a:r>
              <a:rPr lang="en-US" sz="2600" dirty="0"/>
              <a:t> of each node from the cluster average.</a:t>
            </a:r>
          </a:p>
          <a:p>
            <a:r>
              <a:rPr lang="en-US" sz="2600" b="1" dirty="0" smtClean="0"/>
              <a:t>4- Identify </a:t>
            </a:r>
            <a:r>
              <a:rPr lang="en-US" sz="2600" b="1" dirty="0"/>
              <a:t>which nodes are unbalanced</a:t>
            </a:r>
            <a:r>
              <a:rPr lang="en-US" sz="2600" dirty="0"/>
              <a:t> (over-utilized or under-utilized) based on the threshold</a:t>
            </a:r>
            <a:r>
              <a:rPr lang="en-US" sz="2600" dirty="0" smtClean="0"/>
              <a:t>.</a:t>
            </a:r>
          </a:p>
          <a:p>
            <a:r>
              <a:rPr lang="en-US" sz="2600" b="1" dirty="0" smtClean="0"/>
              <a:t>5- Explain </a:t>
            </a:r>
            <a:r>
              <a:rPr lang="en-US" sz="2600" b="1" dirty="0"/>
              <a:t>which nodes will send/receive blocks</a:t>
            </a:r>
            <a:r>
              <a:rPr lang="en-US" sz="2600" dirty="0"/>
              <a:t> during balancing to achieve a balanced state.</a:t>
            </a:r>
          </a:p>
          <a:p>
            <a:endParaRPr lang="en-US" sz="2600" dirty="0"/>
          </a:p>
        </p:txBody>
      </p:sp>
    </p:spTree>
    <p:extLst>
      <p:ext uri="{BB962C8B-B14F-4D97-AF65-F5344CB8AC3E}">
        <p14:creationId xmlns:p14="http://schemas.microsoft.com/office/powerpoint/2010/main" val="15851648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data flow  </a:t>
            </a:r>
            <a:endParaRPr lang="en-US" b="1" dirty="0"/>
          </a:p>
        </p:txBody>
      </p:sp>
      <p:pic>
        <p:nvPicPr>
          <p:cNvPr id="17410" name="Picture 2" descr="https://miro.medium.com/v2/resize:fit:1050/1*FRLpwP1rZcp4zfwGQQkeF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0605" y="1853889"/>
            <a:ext cx="5635624" cy="484663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460380" y="1999662"/>
            <a:ext cx="602751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600" b="1" i="0" u="none" strike="noStrike" cap="none" normalizeH="0" baseline="0" dirty="0" smtClean="0">
                <a:ln>
                  <a:noFill/>
                </a:ln>
                <a:solidFill>
                  <a:srgbClr val="C00000"/>
                </a:solidFill>
                <a:effectLst/>
              </a:rPr>
              <a:t>Read Operation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smtClean="0">
                <a:ln>
                  <a:noFill/>
                </a:ln>
                <a:solidFill>
                  <a:schemeClr val="tx1"/>
                </a:solidFill>
                <a:effectLst/>
              </a:rPr>
              <a:t>Client contacts the </a:t>
            </a:r>
            <a:r>
              <a:rPr kumimoji="0" lang="en-US" altLang="en-US" sz="2400" b="1" i="0" u="none" strike="noStrike" cap="none" normalizeH="0" baseline="0" dirty="0" err="1" smtClean="0">
                <a:ln>
                  <a:noFill/>
                </a:ln>
                <a:solidFill>
                  <a:schemeClr val="tx1"/>
                </a:solidFill>
                <a:effectLst/>
              </a:rPr>
              <a:t>NameNode</a:t>
            </a:r>
            <a:r>
              <a:rPr kumimoji="0" lang="en-US" altLang="en-US" sz="2400" b="0" i="0" u="none" strike="noStrike" cap="none" normalizeH="0" baseline="0" dirty="0" smtClean="0">
                <a:ln>
                  <a:noFill/>
                </a:ln>
                <a:solidFill>
                  <a:schemeClr val="tx1"/>
                </a:solidFill>
                <a:effectLst/>
              </a:rPr>
              <a:t> to get file and block information.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err="1" smtClean="0">
                <a:ln>
                  <a:noFill/>
                </a:ln>
                <a:solidFill>
                  <a:schemeClr val="tx1"/>
                </a:solidFill>
                <a:effectLst/>
              </a:rPr>
              <a:t>NameNode</a:t>
            </a:r>
            <a:r>
              <a:rPr kumimoji="0" lang="en-US" altLang="en-US" sz="2400" b="0" i="0" u="none" strike="noStrike" cap="none" normalizeH="0" baseline="0" dirty="0" smtClean="0">
                <a:ln>
                  <a:noFill/>
                </a:ln>
                <a:solidFill>
                  <a:schemeClr val="tx1"/>
                </a:solidFill>
                <a:effectLst/>
              </a:rPr>
              <a:t> provides a list of </a:t>
            </a:r>
            <a:r>
              <a:rPr kumimoji="0" lang="en-US" altLang="en-US" sz="2400" b="1" i="0" u="none" strike="noStrike" cap="none" normalizeH="0" baseline="0" dirty="0" err="1" smtClean="0">
                <a:ln>
                  <a:noFill/>
                </a:ln>
                <a:solidFill>
                  <a:schemeClr val="tx1"/>
                </a:solidFill>
                <a:effectLst/>
              </a:rPr>
              <a:t>DataNodes</a:t>
            </a:r>
            <a:r>
              <a:rPr kumimoji="0" lang="en-US" altLang="en-US" sz="2400" b="0" i="0" u="none" strike="noStrike" cap="none" normalizeH="0" baseline="0" dirty="0" smtClean="0">
                <a:ln>
                  <a:noFill/>
                </a:ln>
                <a:solidFill>
                  <a:schemeClr val="tx1"/>
                </a:solidFill>
                <a:effectLst/>
              </a:rPr>
              <a:t> for each block (B1, B2,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smtClean="0">
                <a:ln>
                  <a:noFill/>
                </a:ln>
                <a:solidFill>
                  <a:schemeClr val="tx1"/>
                </a:solidFill>
                <a:effectLst/>
              </a:rPr>
              <a:t>Client connects </a:t>
            </a:r>
            <a:r>
              <a:rPr kumimoji="0" lang="en-US" altLang="en-US" sz="2400" b="1" i="0" u="none" strike="noStrike" cap="none" normalizeH="0" baseline="0" dirty="0" smtClean="0">
                <a:ln>
                  <a:noFill/>
                </a:ln>
                <a:solidFill>
                  <a:schemeClr val="tx1"/>
                </a:solidFill>
                <a:effectLst/>
              </a:rPr>
              <a:t>directly to </a:t>
            </a:r>
            <a:r>
              <a:rPr kumimoji="0" lang="en-US" altLang="en-US" sz="2400" b="1" i="0" u="none" strike="noStrike" cap="none" normalizeH="0" baseline="0" dirty="0" err="1" smtClean="0">
                <a:ln>
                  <a:noFill/>
                </a:ln>
                <a:solidFill>
                  <a:schemeClr val="tx1"/>
                </a:solidFill>
                <a:effectLst/>
              </a:rPr>
              <a:t>DataNodes</a:t>
            </a:r>
            <a:r>
              <a:rPr kumimoji="0" lang="en-US" altLang="en-US" sz="2400" b="0" i="0" u="none" strike="noStrike" cap="none" normalizeH="0" baseline="0" dirty="0" smtClean="0">
                <a:ln>
                  <a:noFill/>
                </a:ln>
                <a:solidFill>
                  <a:schemeClr val="tx1"/>
                </a:solidFill>
                <a:effectLst/>
              </a:rPr>
              <a:t> (</a:t>
            </a:r>
            <a:r>
              <a:rPr kumimoji="0" lang="en-US" altLang="en-US" sz="2400" b="0" i="1" u="none" strike="noStrike" cap="none" normalizeH="0" baseline="0" dirty="0" smtClean="0">
                <a:ln>
                  <a:noFill/>
                </a:ln>
                <a:solidFill>
                  <a:schemeClr val="tx1"/>
                </a:solidFill>
                <a:effectLst/>
              </a:rPr>
              <a:t>not through the </a:t>
            </a:r>
            <a:r>
              <a:rPr kumimoji="0" lang="en-US" altLang="en-US" sz="2400" b="0" i="1" u="none" strike="noStrike" cap="none" normalizeH="0" baseline="0" dirty="0" err="1" smtClean="0">
                <a:ln>
                  <a:noFill/>
                </a:ln>
                <a:solidFill>
                  <a:schemeClr val="tx1"/>
                </a:solidFill>
                <a:effectLst/>
              </a:rPr>
              <a:t>NameNode</a:t>
            </a:r>
            <a:r>
              <a:rPr kumimoji="0" lang="en-US" altLang="en-US" sz="2400" b="0" i="0" u="none" strike="noStrike" cap="none" normalizeH="0" baseline="0" dirty="0" smtClean="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smtClean="0">
                <a:ln>
                  <a:noFill/>
                </a:ln>
                <a:solidFill>
                  <a:schemeClr val="tx1"/>
                </a:solidFill>
                <a:effectLst/>
              </a:rPr>
              <a:t>Blocks are read </a:t>
            </a:r>
            <a:r>
              <a:rPr kumimoji="0" lang="en-US" altLang="en-US" sz="2400" b="1" i="0" u="none" strike="noStrike" cap="none" normalizeH="0" baseline="0" dirty="0" smtClean="0">
                <a:ln>
                  <a:noFill/>
                </a:ln>
                <a:solidFill>
                  <a:schemeClr val="tx1"/>
                </a:solidFill>
                <a:effectLst/>
              </a:rPr>
              <a:t>in parallel</a:t>
            </a:r>
            <a:r>
              <a:rPr kumimoji="0" lang="en-US" altLang="en-US" sz="2400" b="0" i="0" u="none" strike="noStrike" cap="none" normalizeH="0" baseline="0" dirty="0" smtClean="0">
                <a:ln>
                  <a:noFill/>
                </a:ln>
                <a:solidFill>
                  <a:schemeClr val="tx1"/>
                </a:solidFill>
                <a:effectLst/>
              </a:rPr>
              <a:t> from multiple </a:t>
            </a:r>
            <a:r>
              <a:rPr kumimoji="0" lang="en-US" altLang="en-US" sz="2400" b="0" i="0" u="none" strike="noStrike" cap="none" normalizeH="0" baseline="0" dirty="0" err="1" smtClean="0">
                <a:ln>
                  <a:noFill/>
                </a:ln>
                <a:solidFill>
                  <a:schemeClr val="tx1"/>
                </a:solidFill>
                <a:effectLst/>
              </a:rPr>
              <a:t>DataNodes</a:t>
            </a:r>
            <a:r>
              <a:rPr kumimoji="0" lang="en-US" altLang="en-US" sz="2400" b="0" i="0" u="none" strike="noStrike" cap="none" normalizeH="0" baseline="0" dirty="0" smtClean="0">
                <a:ln>
                  <a:noFill/>
                </a:ln>
                <a:solidFill>
                  <a:schemeClr val="tx1"/>
                </a:solidFill>
                <a:effectLst/>
              </a:rPr>
              <a:t> for higher throughput.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smtClean="0">
                <a:ln>
                  <a:noFill/>
                </a:ln>
                <a:solidFill>
                  <a:schemeClr val="tx1"/>
                </a:solidFill>
                <a:effectLst/>
              </a:rPr>
              <a:t>If a </a:t>
            </a:r>
            <a:r>
              <a:rPr kumimoji="0" lang="en-US" altLang="en-US" sz="2400" b="0" i="0" u="none" strike="noStrike" cap="none" normalizeH="0" baseline="0" dirty="0" err="1" smtClean="0">
                <a:ln>
                  <a:noFill/>
                </a:ln>
                <a:solidFill>
                  <a:schemeClr val="tx1"/>
                </a:solidFill>
                <a:effectLst/>
              </a:rPr>
              <a:t>DataNode</a:t>
            </a:r>
            <a:r>
              <a:rPr kumimoji="0" lang="en-US" altLang="en-US" sz="2400" b="0" i="0" u="none" strike="noStrike" cap="none" normalizeH="0" baseline="0" dirty="0" smtClean="0">
                <a:ln>
                  <a:noFill/>
                </a:ln>
                <a:solidFill>
                  <a:schemeClr val="tx1"/>
                </a:solidFill>
                <a:effectLst/>
              </a:rPr>
              <a:t> fails or a block is corrupted, the client automatically reads from the </a:t>
            </a:r>
            <a:r>
              <a:rPr kumimoji="0" lang="en-US" altLang="en-US" sz="2400" b="1" i="0" u="none" strike="noStrike" cap="none" normalizeH="0" baseline="0" dirty="0" smtClean="0">
                <a:ln>
                  <a:noFill/>
                </a:ln>
                <a:solidFill>
                  <a:schemeClr val="tx1"/>
                </a:solidFill>
                <a:effectLst/>
              </a:rPr>
              <a:t>next </a:t>
            </a:r>
            <a:r>
              <a:rPr kumimoji="0" lang="en-US" altLang="en-US" sz="2400" b="1" i="0" u="none" strike="noStrike" cap="none" normalizeH="0" baseline="0" dirty="0" err="1" smtClean="0">
                <a:ln>
                  <a:noFill/>
                </a:ln>
                <a:solidFill>
                  <a:schemeClr val="tx1"/>
                </a:solidFill>
                <a:effectLst/>
              </a:rPr>
              <a:t>DataNode</a:t>
            </a:r>
            <a:r>
              <a:rPr kumimoji="0" lang="en-US" altLang="en-US" sz="2400" b="1" i="0" u="none" strike="noStrike" cap="none" normalizeH="0" baseline="0" dirty="0" smtClean="0">
                <a:ln>
                  <a:noFill/>
                </a:ln>
                <a:solidFill>
                  <a:schemeClr val="tx1"/>
                </a:solidFill>
                <a:effectLst/>
              </a:rPr>
              <a:t> replica</a:t>
            </a:r>
            <a:r>
              <a:rPr kumimoji="0" lang="en-US" altLang="en-US" sz="2400" b="0" i="0" u="none" strike="noStrike" cap="none" normalizeH="0" baseline="0" dirty="0" smtClean="0">
                <a:ln>
                  <a:noFill/>
                </a:ln>
                <a:solidFill>
                  <a:schemeClr val="tx1"/>
                </a:solidFill>
                <a:effectLst/>
              </a:rPr>
              <a:t> in the list.</a:t>
            </a:r>
          </a:p>
        </p:txBody>
      </p:sp>
    </p:spTree>
    <p:extLst>
      <p:ext uri="{BB962C8B-B14F-4D97-AF65-F5344CB8AC3E}">
        <p14:creationId xmlns:p14="http://schemas.microsoft.com/office/powerpoint/2010/main" val="15314982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s://miro.medium.com/v2/resize:fit:1050/1*SygsHBVWV7wfCQIpANxqA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0204" y="1872753"/>
            <a:ext cx="5287282" cy="480890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b="1" dirty="0" err="1" smtClean="0">
                <a:solidFill>
                  <a:srgbClr val="C00000"/>
                </a:solidFill>
              </a:rPr>
              <a:t>Hdfs</a:t>
            </a:r>
            <a:r>
              <a:rPr lang="en-US" b="1" dirty="0" smtClean="0"/>
              <a:t> data flow </a:t>
            </a:r>
            <a:endParaRPr lang="en-US" b="1" dirty="0"/>
          </a:p>
        </p:txBody>
      </p:sp>
      <p:sp>
        <p:nvSpPr>
          <p:cNvPr id="6" name="Rectangle 3"/>
          <p:cNvSpPr>
            <a:spLocks noChangeArrowheads="1"/>
          </p:cNvSpPr>
          <p:nvPr/>
        </p:nvSpPr>
        <p:spPr bwMode="auto">
          <a:xfrm>
            <a:off x="0" y="1830380"/>
            <a:ext cx="718457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sz="2600" b="1" dirty="0" smtClean="0">
                <a:solidFill>
                  <a:srgbClr val="C00000"/>
                </a:solidFill>
              </a:rPr>
              <a:t>Write</a:t>
            </a:r>
            <a:r>
              <a:rPr kumimoji="0" lang="en-US" altLang="en-US" sz="2600" b="1" i="0" u="none" strike="noStrike" cap="none" normalizeH="0" baseline="0" dirty="0" smtClean="0">
                <a:ln>
                  <a:noFill/>
                </a:ln>
                <a:solidFill>
                  <a:srgbClr val="C00000"/>
                </a:solidFill>
                <a:effectLst/>
              </a:rPr>
              <a:t> Operation </a:t>
            </a:r>
          </a:p>
          <a:p>
            <a:pPr marL="800100" lvl="1" indent="-342900">
              <a:buFont typeface="+mj-lt"/>
              <a:buAutoNum type="arabicPeriod"/>
            </a:pPr>
            <a:r>
              <a:rPr lang="en-US" sz="2200" dirty="0" smtClean="0"/>
              <a:t>Client </a:t>
            </a:r>
            <a:r>
              <a:rPr lang="en-US" sz="2200" dirty="0"/>
              <a:t>contacts the </a:t>
            </a:r>
            <a:r>
              <a:rPr lang="en-US" sz="2200" b="1" dirty="0" err="1"/>
              <a:t>NameNode</a:t>
            </a:r>
            <a:r>
              <a:rPr lang="en-US" sz="2200" dirty="0"/>
              <a:t> to create a new file and request metadata.</a:t>
            </a:r>
          </a:p>
          <a:p>
            <a:pPr marL="800100" lvl="1" indent="-342900">
              <a:buFont typeface="+mj-lt"/>
              <a:buAutoNum type="arabicPeriod"/>
            </a:pPr>
            <a:r>
              <a:rPr lang="en-US" sz="2200" dirty="0" smtClean="0"/>
              <a:t>Verifies </a:t>
            </a:r>
            <a:r>
              <a:rPr lang="en-US" sz="2200" dirty="0"/>
              <a:t>file existence, permissions, and client authorization.</a:t>
            </a:r>
          </a:p>
          <a:p>
            <a:pPr marL="800100" lvl="1" indent="-342900">
              <a:buFont typeface="+mj-lt"/>
              <a:buAutoNum type="arabicPeriod"/>
            </a:pPr>
            <a:r>
              <a:rPr lang="en-US" sz="2200" dirty="0" err="1" smtClean="0"/>
              <a:t>NameNode</a:t>
            </a:r>
            <a:r>
              <a:rPr lang="en-US" sz="2200" dirty="0" smtClean="0"/>
              <a:t> returns Block ID, and a List </a:t>
            </a:r>
            <a:r>
              <a:rPr lang="en-US" sz="2200" dirty="0"/>
              <a:t>of </a:t>
            </a:r>
            <a:r>
              <a:rPr lang="en-US" sz="2200" b="1" dirty="0" err="1"/>
              <a:t>DataNodes</a:t>
            </a:r>
            <a:r>
              <a:rPr lang="en-US" sz="2200" dirty="0"/>
              <a:t> for </a:t>
            </a:r>
            <a:r>
              <a:rPr lang="en-US" sz="2200" dirty="0" smtClean="0"/>
              <a:t>replicas</a:t>
            </a:r>
            <a:endParaRPr lang="en-US" sz="2200" dirty="0"/>
          </a:p>
          <a:p>
            <a:pPr marL="800100" lvl="1" indent="-342900">
              <a:buFont typeface="+mj-lt"/>
              <a:buAutoNum type="arabicPeriod"/>
            </a:pPr>
            <a:r>
              <a:rPr lang="en-US" sz="2200" dirty="0" smtClean="0"/>
              <a:t>Client </a:t>
            </a:r>
            <a:r>
              <a:rPr lang="en-US" sz="2200" dirty="0"/>
              <a:t>writes data </a:t>
            </a:r>
            <a:r>
              <a:rPr lang="en-US" sz="2200" b="1" dirty="0"/>
              <a:t>directly to the first </a:t>
            </a:r>
            <a:r>
              <a:rPr lang="en-US" sz="2200" b="1" dirty="0" err="1" smtClean="0"/>
              <a:t>DataNode</a:t>
            </a:r>
            <a:r>
              <a:rPr lang="en-US" sz="2200" dirty="0" smtClean="0"/>
              <a:t>., and Data </a:t>
            </a:r>
            <a:r>
              <a:rPr lang="en-US" sz="2200" dirty="0"/>
              <a:t>is replicated in a </a:t>
            </a:r>
            <a:r>
              <a:rPr lang="en-US" sz="2200" b="1" dirty="0"/>
              <a:t>pipeline</a:t>
            </a:r>
            <a:r>
              <a:rPr lang="en-US" sz="2200" dirty="0"/>
              <a:t> to other </a:t>
            </a:r>
            <a:r>
              <a:rPr lang="en-US" sz="2200" dirty="0" err="1"/>
              <a:t>DataNodes</a:t>
            </a:r>
            <a:r>
              <a:rPr lang="en-US" sz="2200" dirty="0"/>
              <a:t>.</a:t>
            </a:r>
          </a:p>
          <a:p>
            <a:pPr marL="800100" lvl="1" indent="-342900">
              <a:buFont typeface="+mj-lt"/>
              <a:buAutoNum type="arabicPeriod"/>
            </a:pPr>
            <a:r>
              <a:rPr lang="en-US" sz="2200" dirty="0" smtClean="0"/>
              <a:t>If </a:t>
            </a:r>
            <a:r>
              <a:rPr lang="en-US" sz="2200" dirty="0"/>
              <a:t>a </a:t>
            </a:r>
            <a:r>
              <a:rPr lang="en-US" sz="2200" dirty="0" err="1"/>
              <a:t>DataNode</a:t>
            </a:r>
            <a:r>
              <a:rPr lang="en-US" sz="2200" dirty="0"/>
              <a:t> fails, data is written to remaining </a:t>
            </a:r>
            <a:r>
              <a:rPr lang="en-US" sz="2200" dirty="0" smtClean="0"/>
              <a:t>nodes. </a:t>
            </a:r>
            <a:r>
              <a:rPr lang="en-US" sz="2200" dirty="0" err="1" smtClean="0"/>
              <a:t>NameNode</a:t>
            </a:r>
            <a:r>
              <a:rPr lang="en-US" sz="2200" dirty="0" smtClean="0"/>
              <a:t> </a:t>
            </a:r>
            <a:r>
              <a:rPr lang="en-US" sz="2200" dirty="0"/>
              <a:t>detects </a:t>
            </a:r>
            <a:r>
              <a:rPr lang="en-US" sz="2200" b="1" dirty="0"/>
              <a:t>under-replication</a:t>
            </a:r>
            <a:r>
              <a:rPr lang="en-US" sz="2200" dirty="0"/>
              <a:t> and selects a new </a:t>
            </a:r>
            <a:r>
              <a:rPr lang="en-US" sz="2200" dirty="0" err="1" smtClean="0"/>
              <a:t>DataNode</a:t>
            </a:r>
            <a:r>
              <a:rPr lang="en-US" sz="2200" dirty="0" smtClean="0"/>
              <a:t>.</a:t>
            </a:r>
          </a:p>
          <a:p>
            <a:pPr marL="800100" lvl="1" indent="-342900">
              <a:buFont typeface="+mj-lt"/>
              <a:buAutoNum type="arabicPeriod"/>
            </a:pPr>
            <a:r>
              <a:rPr lang="en-US" sz="2200" dirty="0" smtClean="0"/>
              <a:t>After required replicas are created, </a:t>
            </a:r>
            <a:r>
              <a:rPr lang="en-US" sz="2200" b="1" dirty="0" smtClean="0"/>
              <a:t>success acknowledgment</a:t>
            </a:r>
            <a:r>
              <a:rPr lang="en-US" sz="2200" dirty="0" smtClean="0"/>
              <a:t> is sent to the client.</a:t>
            </a:r>
            <a:endParaRPr lang="en-US" sz="2200" dirty="0"/>
          </a:p>
        </p:txBody>
      </p:sp>
    </p:spTree>
    <p:extLst>
      <p:ext uri="{BB962C8B-B14F-4D97-AF65-F5344CB8AC3E}">
        <p14:creationId xmlns:p14="http://schemas.microsoft.com/office/powerpoint/2010/main" val="7622904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C00000"/>
                </a:solidFill>
              </a:rPr>
              <a:t>Hdfs</a:t>
            </a:r>
            <a:r>
              <a:rPr lang="en-US" b="1" dirty="0"/>
              <a:t> </a:t>
            </a:r>
            <a:r>
              <a:rPr lang="en-US" b="1" dirty="0" smtClean="0"/>
              <a:t>data flow </a:t>
            </a:r>
            <a:endParaRPr lang="en-US" b="1" dirty="0"/>
          </a:p>
        </p:txBody>
      </p:sp>
      <p:sp>
        <p:nvSpPr>
          <p:cNvPr id="3" name="Content Placeholder 2"/>
          <p:cNvSpPr>
            <a:spLocks noGrp="1"/>
          </p:cNvSpPr>
          <p:nvPr>
            <p:ph idx="1"/>
          </p:nvPr>
        </p:nvSpPr>
        <p:spPr/>
        <p:txBody>
          <a:bodyPr>
            <a:normAutofit/>
          </a:bodyPr>
          <a:lstStyle/>
          <a:p>
            <a:r>
              <a:rPr lang="en-US" sz="2800" dirty="0"/>
              <a:t>A client writes a block to HDFS with a replication factor of 3.</a:t>
            </a:r>
            <a:br>
              <a:rPr lang="en-US" sz="2800" dirty="0"/>
            </a:br>
            <a:r>
              <a:rPr lang="en-US" sz="2800" dirty="0"/>
              <a:t>If the acknowledgment from the second </a:t>
            </a:r>
            <a:r>
              <a:rPr lang="en-US" sz="2800" dirty="0" err="1"/>
              <a:t>DataNode</a:t>
            </a:r>
            <a:r>
              <a:rPr lang="en-US" sz="2800" dirty="0"/>
              <a:t> is delayed by 2 seconds, what happens to the client write operation</a:t>
            </a:r>
            <a:r>
              <a:rPr lang="en-US" sz="2800" dirty="0" smtClean="0"/>
              <a:t>?</a:t>
            </a:r>
          </a:p>
          <a:p>
            <a:endParaRPr lang="en-US" sz="2800" dirty="0"/>
          </a:p>
          <a:p>
            <a:r>
              <a:rPr lang="en-US" sz="2800" dirty="0">
                <a:solidFill>
                  <a:srgbClr val="C00000"/>
                </a:solidFill>
              </a:rPr>
              <a:t>The client </a:t>
            </a:r>
            <a:r>
              <a:rPr lang="en-US" sz="2800" b="1" dirty="0">
                <a:solidFill>
                  <a:srgbClr val="C00000"/>
                </a:solidFill>
              </a:rPr>
              <a:t>waits</a:t>
            </a:r>
            <a:endParaRPr lang="en-US" sz="2800" dirty="0">
              <a:solidFill>
                <a:srgbClr val="C00000"/>
              </a:solidFill>
            </a:endParaRPr>
          </a:p>
          <a:p>
            <a:r>
              <a:rPr lang="en-US" sz="2800" dirty="0">
                <a:solidFill>
                  <a:srgbClr val="C00000"/>
                </a:solidFill>
              </a:rPr>
              <a:t>The write is </a:t>
            </a:r>
            <a:r>
              <a:rPr lang="en-US" sz="2800" b="1" dirty="0">
                <a:solidFill>
                  <a:srgbClr val="C00000"/>
                </a:solidFill>
              </a:rPr>
              <a:t>not considered complete</a:t>
            </a:r>
            <a:endParaRPr lang="en-US" sz="2800" dirty="0">
              <a:solidFill>
                <a:srgbClr val="C00000"/>
              </a:solidFill>
            </a:endParaRPr>
          </a:p>
          <a:p>
            <a:r>
              <a:rPr lang="en-US" sz="2800" dirty="0">
                <a:solidFill>
                  <a:srgbClr val="C00000"/>
                </a:solidFill>
              </a:rPr>
              <a:t>HDFS commits the write </a:t>
            </a:r>
            <a:r>
              <a:rPr lang="en-US" sz="2800" b="1" dirty="0">
                <a:solidFill>
                  <a:srgbClr val="C00000"/>
                </a:solidFill>
              </a:rPr>
              <a:t>only after all ACKs are received</a:t>
            </a:r>
            <a:endParaRPr lang="en-US" sz="2800" dirty="0">
              <a:solidFill>
                <a:srgbClr val="C00000"/>
              </a:solidFill>
            </a:endParaRPr>
          </a:p>
          <a:p>
            <a:endParaRPr lang="en-US" sz="2800" dirty="0"/>
          </a:p>
        </p:txBody>
      </p:sp>
    </p:spTree>
    <p:extLst>
      <p:ext uri="{BB962C8B-B14F-4D97-AF65-F5344CB8AC3E}">
        <p14:creationId xmlns:p14="http://schemas.microsoft.com/office/powerpoint/2010/main" val="274691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Reliability &amp; Scalability</a:t>
            </a:r>
            <a:r>
              <a:rPr lang="en-US" b="1" dirty="0" smtClean="0"/>
              <a:t> </a:t>
            </a:r>
            <a:endParaRPr lang="en-US" b="1" dirty="0"/>
          </a:p>
        </p:txBody>
      </p:sp>
      <p:sp>
        <p:nvSpPr>
          <p:cNvPr id="3" name="Content Placeholder 2"/>
          <p:cNvSpPr>
            <a:spLocks noGrp="1"/>
          </p:cNvSpPr>
          <p:nvPr>
            <p:ph idx="1"/>
          </p:nvPr>
        </p:nvSpPr>
        <p:spPr>
          <a:xfrm>
            <a:off x="1024128" y="2084832"/>
            <a:ext cx="10413129" cy="4224528"/>
          </a:xfrm>
        </p:spPr>
        <p:txBody>
          <a:bodyPr>
            <a:noAutofit/>
          </a:bodyPr>
          <a:lstStyle/>
          <a:p>
            <a:pPr>
              <a:lnSpc>
                <a:spcPct val="100000"/>
              </a:lnSpc>
              <a:spcBef>
                <a:spcPts val="0"/>
              </a:spcBef>
            </a:pPr>
            <a:r>
              <a:rPr lang="en-US" sz="2600" b="1" dirty="0">
                <a:solidFill>
                  <a:srgbClr val="C00000"/>
                </a:solidFill>
              </a:rPr>
              <a:t>HDFS </a:t>
            </a:r>
            <a:r>
              <a:rPr lang="en-US" sz="2600" b="1" dirty="0" smtClean="0">
                <a:solidFill>
                  <a:srgbClr val="C00000"/>
                </a:solidFill>
              </a:rPr>
              <a:t>Fault Tolerance and </a:t>
            </a:r>
            <a:r>
              <a:rPr lang="en-US" sz="2600" b="1" dirty="0">
                <a:solidFill>
                  <a:srgbClr val="C00000"/>
                </a:solidFill>
              </a:rPr>
              <a:t>R</a:t>
            </a:r>
            <a:r>
              <a:rPr lang="en-US" sz="2600" b="1" dirty="0" smtClean="0">
                <a:solidFill>
                  <a:srgbClr val="C00000"/>
                </a:solidFill>
              </a:rPr>
              <a:t>eplication </a:t>
            </a:r>
            <a:r>
              <a:rPr lang="en-US" sz="2600" b="1" dirty="0">
                <a:solidFill>
                  <a:srgbClr val="C00000"/>
                </a:solidFill>
              </a:rPr>
              <a:t>M</a:t>
            </a:r>
            <a:r>
              <a:rPr lang="en-US" sz="2600" b="1" dirty="0" smtClean="0">
                <a:solidFill>
                  <a:srgbClr val="C00000"/>
                </a:solidFill>
              </a:rPr>
              <a:t>anagement </a:t>
            </a:r>
          </a:p>
          <a:p>
            <a:pPr>
              <a:lnSpc>
                <a:spcPct val="100000"/>
              </a:lnSpc>
              <a:spcBef>
                <a:spcPts val="0"/>
              </a:spcBef>
              <a:buFont typeface="Wingdings" panose="05000000000000000000" pitchFamily="2" charset="2"/>
              <a:buChar char="§"/>
            </a:pPr>
            <a:r>
              <a:rPr lang="en-US" sz="2600" dirty="0"/>
              <a:t>HDFS achieves fault tolerance through </a:t>
            </a:r>
            <a:r>
              <a:rPr lang="en-US" sz="2600" b="1" dirty="0"/>
              <a:t>data replication</a:t>
            </a:r>
            <a:r>
              <a:rPr lang="en-US" sz="2600" dirty="0"/>
              <a:t>.</a:t>
            </a:r>
          </a:p>
          <a:p>
            <a:pPr>
              <a:lnSpc>
                <a:spcPct val="100000"/>
              </a:lnSpc>
              <a:spcBef>
                <a:spcPts val="0"/>
              </a:spcBef>
              <a:buFont typeface="Wingdings" panose="05000000000000000000" pitchFamily="2" charset="2"/>
              <a:buChar char="§"/>
            </a:pPr>
            <a:r>
              <a:rPr lang="en-US" sz="2600" dirty="0"/>
              <a:t>Each file is split into </a:t>
            </a:r>
            <a:r>
              <a:rPr lang="en-US" sz="2600" b="1" dirty="0"/>
              <a:t>blocks</a:t>
            </a:r>
            <a:r>
              <a:rPr lang="en-US" sz="2600" dirty="0"/>
              <a:t>, and each block is stored on multiple </a:t>
            </a:r>
            <a:r>
              <a:rPr lang="en-US" sz="2600" dirty="0" err="1"/>
              <a:t>DataNodes</a:t>
            </a:r>
            <a:r>
              <a:rPr lang="en-US" sz="2600" dirty="0"/>
              <a:t>.</a:t>
            </a:r>
          </a:p>
          <a:p>
            <a:pPr>
              <a:lnSpc>
                <a:spcPct val="100000"/>
              </a:lnSpc>
              <a:spcBef>
                <a:spcPts val="0"/>
              </a:spcBef>
              <a:buFont typeface="Wingdings" panose="05000000000000000000" pitchFamily="2" charset="2"/>
              <a:buChar char="§"/>
            </a:pPr>
            <a:r>
              <a:rPr lang="en-US" sz="2600" b="1" dirty="0"/>
              <a:t>Replication factor</a:t>
            </a:r>
            <a:r>
              <a:rPr lang="en-US" sz="2600" dirty="0"/>
              <a:t> defines </a:t>
            </a:r>
            <a:r>
              <a:rPr lang="en-US" sz="2600" dirty="0" smtClean="0"/>
              <a:t>“how </a:t>
            </a:r>
            <a:r>
              <a:rPr lang="en-US" sz="2600" dirty="0"/>
              <a:t>many copies of each block are </a:t>
            </a:r>
            <a:r>
              <a:rPr lang="en-US" sz="2600" dirty="0" smtClean="0"/>
              <a:t>stored”.</a:t>
            </a:r>
            <a:endParaRPr lang="en-US" sz="2600" dirty="0"/>
          </a:p>
          <a:p>
            <a:pPr lvl="1">
              <a:lnSpc>
                <a:spcPct val="100000"/>
              </a:lnSpc>
              <a:spcBef>
                <a:spcPts val="0"/>
              </a:spcBef>
              <a:buFont typeface="Wingdings" panose="05000000000000000000" pitchFamily="2" charset="2"/>
              <a:buChar char="§"/>
            </a:pPr>
            <a:r>
              <a:rPr lang="en-US" sz="2400" dirty="0"/>
              <a:t>Example: Replication factor = 3 → </a:t>
            </a:r>
            <a:r>
              <a:rPr lang="en-US" sz="2400" b="1" dirty="0"/>
              <a:t>3 copies of each block</a:t>
            </a:r>
            <a:r>
              <a:rPr lang="en-US" sz="2400" dirty="0"/>
              <a:t> on different </a:t>
            </a:r>
            <a:r>
              <a:rPr lang="en-US" sz="2400" dirty="0" err="1"/>
              <a:t>DataNodes</a:t>
            </a:r>
            <a:r>
              <a:rPr lang="en-US" sz="2400" dirty="0"/>
              <a:t>.</a:t>
            </a:r>
          </a:p>
          <a:p>
            <a:pPr>
              <a:lnSpc>
                <a:spcPct val="100000"/>
              </a:lnSpc>
              <a:spcBef>
                <a:spcPts val="0"/>
              </a:spcBef>
              <a:buFont typeface="Wingdings" panose="05000000000000000000" pitchFamily="2" charset="2"/>
              <a:buChar char="§"/>
            </a:pPr>
            <a:r>
              <a:rPr lang="en-US" sz="2600" dirty="0"/>
              <a:t>If one </a:t>
            </a:r>
            <a:r>
              <a:rPr lang="en-US" sz="2600" dirty="0" err="1"/>
              <a:t>DataNode</a:t>
            </a:r>
            <a:r>
              <a:rPr lang="en-US" sz="2600" dirty="0"/>
              <a:t> fails, data is still available from </a:t>
            </a:r>
            <a:r>
              <a:rPr lang="en-US" sz="2600" b="1" dirty="0"/>
              <a:t>other replicas</a:t>
            </a:r>
            <a:r>
              <a:rPr lang="en-US" sz="2600" dirty="0"/>
              <a:t>.</a:t>
            </a:r>
          </a:p>
          <a:p>
            <a:pPr>
              <a:lnSpc>
                <a:spcPct val="100000"/>
              </a:lnSpc>
              <a:spcBef>
                <a:spcPts val="0"/>
              </a:spcBef>
              <a:buFont typeface="Wingdings" panose="05000000000000000000" pitchFamily="2" charset="2"/>
              <a:buChar char="§"/>
            </a:pPr>
            <a:r>
              <a:rPr lang="en-US" sz="2600" b="1" dirty="0"/>
              <a:t>Storage trade-off:</a:t>
            </a:r>
          </a:p>
          <a:p>
            <a:pPr lvl="1">
              <a:lnSpc>
                <a:spcPct val="100000"/>
              </a:lnSpc>
              <a:spcBef>
                <a:spcPts val="0"/>
              </a:spcBef>
              <a:buFont typeface="Wingdings" panose="05000000000000000000" pitchFamily="2" charset="2"/>
              <a:buChar char="§"/>
            </a:pPr>
            <a:r>
              <a:rPr lang="en-US" sz="2600" dirty="0"/>
              <a:t>128 MB block × 3 replicas = </a:t>
            </a:r>
            <a:r>
              <a:rPr lang="en-US" sz="2600" b="1" dirty="0"/>
              <a:t>384 MB total storage</a:t>
            </a:r>
            <a:endParaRPr lang="en-US" sz="2600" dirty="0"/>
          </a:p>
          <a:p>
            <a:pPr>
              <a:lnSpc>
                <a:spcPct val="100000"/>
              </a:lnSpc>
              <a:spcBef>
                <a:spcPts val="0"/>
              </a:spcBef>
              <a:buFont typeface="Wingdings" panose="05000000000000000000" pitchFamily="2" charset="2"/>
              <a:buChar char="§"/>
            </a:pPr>
            <a:r>
              <a:rPr lang="en-US" sz="2600" dirty="0"/>
              <a:t>Replication ensures </a:t>
            </a:r>
            <a:r>
              <a:rPr lang="en-US" sz="2600" b="1" dirty="0"/>
              <a:t>high availability and reliability</a:t>
            </a:r>
            <a:r>
              <a:rPr lang="en-US" sz="2600" dirty="0"/>
              <a:t> of data.</a:t>
            </a:r>
          </a:p>
        </p:txBody>
      </p:sp>
    </p:spTree>
    <p:extLst>
      <p:ext uri="{BB962C8B-B14F-4D97-AF65-F5344CB8AC3E}">
        <p14:creationId xmlns:p14="http://schemas.microsoft.com/office/powerpoint/2010/main" val="242468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Reliability &amp; Scalability</a:t>
            </a:r>
          </a:p>
        </p:txBody>
      </p:sp>
      <p:sp>
        <p:nvSpPr>
          <p:cNvPr id="3" name="Content Placeholder 2"/>
          <p:cNvSpPr>
            <a:spLocks noGrp="1"/>
          </p:cNvSpPr>
          <p:nvPr>
            <p:ph idx="1"/>
          </p:nvPr>
        </p:nvSpPr>
        <p:spPr>
          <a:xfrm>
            <a:off x="1024127" y="2084832"/>
            <a:ext cx="4534844" cy="1558254"/>
          </a:xfrm>
        </p:spPr>
        <p:txBody>
          <a:bodyPr>
            <a:noAutofit/>
          </a:bodyPr>
          <a:lstStyle/>
          <a:p>
            <a:pPr>
              <a:lnSpc>
                <a:spcPct val="100000"/>
              </a:lnSpc>
              <a:spcBef>
                <a:spcPts val="0"/>
              </a:spcBef>
            </a:pPr>
            <a:r>
              <a:rPr lang="en-US" sz="2600" b="1" dirty="0">
                <a:solidFill>
                  <a:srgbClr val="C00000"/>
                </a:solidFill>
              </a:rPr>
              <a:t>HDFS </a:t>
            </a:r>
            <a:r>
              <a:rPr lang="en-US" sz="2600" b="1" dirty="0" smtClean="0">
                <a:solidFill>
                  <a:srgbClr val="C00000"/>
                </a:solidFill>
              </a:rPr>
              <a:t>Fault Tolerance and </a:t>
            </a:r>
            <a:r>
              <a:rPr lang="en-US" sz="2600" b="1" dirty="0">
                <a:solidFill>
                  <a:srgbClr val="C00000"/>
                </a:solidFill>
              </a:rPr>
              <a:t>R</a:t>
            </a:r>
            <a:r>
              <a:rPr lang="en-US" sz="2600" b="1" dirty="0" smtClean="0">
                <a:solidFill>
                  <a:srgbClr val="C00000"/>
                </a:solidFill>
              </a:rPr>
              <a:t>eplication </a:t>
            </a:r>
            <a:r>
              <a:rPr lang="en-US" sz="2600" b="1" dirty="0">
                <a:solidFill>
                  <a:srgbClr val="C00000"/>
                </a:solidFill>
              </a:rPr>
              <a:t>M</a:t>
            </a:r>
            <a:r>
              <a:rPr lang="en-US" sz="2600" b="1" dirty="0" smtClean="0">
                <a:solidFill>
                  <a:srgbClr val="C00000"/>
                </a:solidFill>
              </a:rPr>
              <a:t>anagement </a:t>
            </a:r>
          </a:p>
          <a:p>
            <a:pPr>
              <a:lnSpc>
                <a:spcPct val="100000"/>
              </a:lnSpc>
              <a:spcBef>
                <a:spcPts val="0"/>
              </a:spcBef>
              <a:buFont typeface="Wingdings" panose="05000000000000000000" pitchFamily="2" charset="2"/>
              <a:buChar char="§"/>
            </a:pPr>
            <a:r>
              <a:rPr lang="en-US" sz="2600" dirty="0"/>
              <a:t>A </a:t>
            </a:r>
            <a:r>
              <a:rPr lang="en-US" sz="2600" b="1" dirty="0">
                <a:solidFill>
                  <a:srgbClr val="C00000"/>
                </a:solidFill>
              </a:rPr>
              <a:t>rack</a:t>
            </a:r>
            <a:r>
              <a:rPr lang="en-US" sz="2600" dirty="0"/>
              <a:t> is a group of </a:t>
            </a:r>
            <a:r>
              <a:rPr lang="en-US" sz="2600" dirty="0" err="1"/>
              <a:t>DataNodes</a:t>
            </a:r>
            <a:r>
              <a:rPr lang="en-US" sz="2600" dirty="0"/>
              <a:t> </a:t>
            </a:r>
            <a:r>
              <a:rPr lang="en-US" sz="2600" dirty="0" smtClean="0"/>
              <a:t>(</a:t>
            </a:r>
            <a:r>
              <a:rPr lang="en-US" sz="2600" i="1" dirty="0" smtClean="0"/>
              <a:t>40 – 50</a:t>
            </a:r>
            <a:r>
              <a:rPr lang="en-US" sz="2600" dirty="0" smtClean="0"/>
              <a:t>) connected </a:t>
            </a:r>
            <a:r>
              <a:rPr lang="en-US" sz="2600" dirty="0"/>
              <a:t>to the same network switch.</a:t>
            </a:r>
          </a:p>
          <a:p>
            <a:pPr>
              <a:lnSpc>
                <a:spcPct val="100000"/>
              </a:lnSpc>
              <a:spcBef>
                <a:spcPts val="0"/>
              </a:spcBef>
              <a:buFont typeface="Wingdings" panose="05000000000000000000" pitchFamily="2" charset="2"/>
              <a:buChar char="§"/>
            </a:pPr>
            <a:r>
              <a:rPr lang="en-US" b="1" dirty="0"/>
              <a:t>If a rack fails, all nodes in that rack become unavailable</a:t>
            </a:r>
            <a:r>
              <a:rPr lang="en-US" b="1" dirty="0" smtClean="0"/>
              <a:t>.</a:t>
            </a:r>
            <a:endParaRPr lang="en-US" b="1" dirty="0"/>
          </a:p>
        </p:txBody>
      </p:sp>
      <p:pic>
        <p:nvPicPr>
          <p:cNvPr id="1026" name="Picture 2" descr="https://data-flair.training/blogs/wp-content/uploads/sites/2/2020/02/hadoop-clust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8971" y="1597477"/>
            <a:ext cx="6633029" cy="5260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38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Reliability &amp; Scalability</a:t>
            </a:r>
          </a:p>
        </p:txBody>
      </p:sp>
      <p:sp>
        <p:nvSpPr>
          <p:cNvPr id="3" name="Content Placeholder 2"/>
          <p:cNvSpPr>
            <a:spLocks noGrp="1"/>
          </p:cNvSpPr>
          <p:nvPr>
            <p:ph idx="1"/>
          </p:nvPr>
        </p:nvSpPr>
        <p:spPr>
          <a:xfrm>
            <a:off x="1024127" y="2084832"/>
            <a:ext cx="11022730" cy="4224528"/>
          </a:xfrm>
        </p:spPr>
        <p:txBody>
          <a:bodyPr>
            <a:noAutofit/>
          </a:bodyPr>
          <a:lstStyle/>
          <a:p>
            <a:pPr>
              <a:lnSpc>
                <a:spcPct val="100000"/>
              </a:lnSpc>
              <a:spcBef>
                <a:spcPts val="0"/>
              </a:spcBef>
            </a:pPr>
            <a:r>
              <a:rPr lang="en-US" sz="2600" b="1" dirty="0">
                <a:solidFill>
                  <a:srgbClr val="C00000"/>
                </a:solidFill>
              </a:rPr>
              <a:t>HDFS </a:t>
            </a:r>
            <a:r>
              <a:rPr lang="en-US" sz="2600" b="1" dirty="0" smtClean="0">
                <a:solidFill>
                  <a:srgbClr val="C00000"/>
                </a:solidFill>
              </a:rPr>
              <a:t>Fault Tolerance and </a:t>
            </a:r>
            <a:r>
              <a:rPr lang="en-US" sz="2600" b="1" dirty="0">
                <a:solidFill>
                  <a:srgbClr val="C00000"/>
                </a:solidFill>
              </a:rPr>
              <a:t>R</a:t>
            </a:r>
            <a:r>
              <a:rPr lang="en-US" sz="2600" b="1" dirty="0" smtClean="0">
                <a:solidFill>
                  <a:srgbClr val="C00000"/>
                </a:solidFill>
              </a:rPr>
              <a:t>eplication </a:t>
            </a:r>
            <a:r>
              <a:rPr lang="en-US" sz="2600" b="1" dirty="0">
                <a:solidFill>
                  <a:srgbClr val="C00000"/>
                </a:solidFill>
              </a:rPr>
              <a:t>M</a:t>
            </a:r>
            <a:r>
              <a:rPr lang="en-US" sz="2600" b="1" dirty="0" smtClean="0">
                <a:solidFill>
                  <a:srgbClr val="C00000"/>
                </a:solidFill>
              </a:rPr>
              <a:t>anagement </a:t>
            </a:r>
          </a:p>
          <a:p>
            <a:pPr>
              <a:lnSpc>
                <a:spcPct val="100000"/>
              </a:lnSpc>
              <a:spcBef>
                <a:spcPts val="0"/>
              </a:spcBef>
              <a:buFont typeface="Wingdings" panose="05000000000000000000" pitchFamily="2" charset="2"/>
              <a:buChar char="§"/>
            </a:pPr>
            <a:r>
              <a:rPr lang="en-US" sz="2600" dirty="0"/>
              <a:t>A </a:t>
            </a:r>
            <a:r>
              <a:rPr lang="en-US" sz="2600" b="1" dirty="0">
                <a:solidFill>
                  <a:srgbClr val="C00000"/>
                </a:solidFill>
              </a:rPr>
              <a:t>rack</a:t>
            </a:r>
            <a:r>
              <a:rPr lang="en-US" sz="2600" dirty="0"/>
              <a:t> is a group of </a:t>
            </a:r>
            <a:r>
              <a:rPr lang="en-US" sz="2600" dirty="0" err="1"/>
              <a:t>DataNodes</a:t>
            </a:r>
            <a:r>
              <a:rPr lang="en-US" sz="2600" dirty="0"/>
              <a:t> </a:t>
            </a:r>
            <a:r>
              <a:rPr lang="en-US" sz="2600" dirty="0" smtClean="0"/>
              <a:t>(</a:t>
            </a:r>
            <a:r>
              <a:rPr lang="en-US" sz="2600" i="1" dirty="0" smtClean="0"/>
              <a:t>40 – 50</a:t>
            </a:r>
            <a:r>
              <a:rPr lang="en-US" sz="2600" dirty="0" smtClean="0"/>
              <a:t>) connected </a:t>
            </a:r>
            <a:r>
              <a:rPr lang="en-US" sz="2600" dirty="0"/>
              <a:t>to the same network switch.</a:t>
            </a:r>
          </a:p>
          <a:p>
            <a:pPr>
              <a:lnSpc>
                <a:spcPct val="100000"/>
              </a:lnSpc>
              <a:spcBef>
                <a:spcPts val="0"/>
              </a:spcBef>
              <a:buFont typeface="Wingdings" panose="05000000000000000000" pitchFamily="2" charset="2"/>
              <a:buChar char="§"/>
            </a:pPr>
            <a:r>
              <a:rPr lang="en-US" b="1" dirty="0"/>
              <a:t>If a rack fails, all nodes in that rack become unavailable.</a:t>
            </a:r>
          </a:p>
          <a:p>
            <a:pPr>
              <a:lnSpc>
                <a:spcPct val="100000"/>
              </a:lnSpc>
              <a:spcBef>
                <a:spcPts val="0"/>
              </a:spcBef>
              <a:buFont typeface="Wingdings" panose="05000000000000000000" pitchFamily="2" charset="2"/>
              <a:buChar char="§"/>
            </a:pPr>
            <a:r>
              <a:rPr lang="en-US" sz="2600" b="1" dirty="0">
                <a:solidFill>
                  <a:srgbClr val="C00000"/>
                </a:solidFill>
              </a:rPr>
              <a:t>Rack Awareness </a:t>
            </a:r>
            <a:r>
              <a:rPr lang="en-US" sz="2600" dirty="0"/>
              <a:t>helps HDFS place replicas intelligently across </a:t>
            </a:r>
            <a:r>
              <a:rPr lang="en-US" sz="2600" dirty="0" smtClean="0"/>
              <a:t>racks by avoiding </a:t>
            </a:r>
            <a:r>
              <a:rPr lang="en-US" sz="2600" dirty="0"/>
              <a:t>storing all replicas on the same rack.</a:t>
            </a:r>
          </a:p>
          <a:p>
            <a:pPr lvl="1">
              <a:lnSpc>
                <a:spcPct val="100000"/>
              </a:lnSpc>
              <a:spcBef>
                <a:spcPts val="0"/>
              </a:spcBef>
              <a:buFont typeface="Wingdings" panose="05000000000000000000" pitchFamily="2" charset="2"/>
              <a:buChar char="§"/>
            </a:pPr>
            <a:r>
              <a:rPr lang="en-US" sz="2200" b="1" dirty="0"/>
              <a:t>For replication factor = 3:</a:t>
            </a:r>
          </a:p>
          <a:p>
            <a:pPr lvl="1">
              <a:lnSpc>
                <a:spcPct val="100000"/>
              </a:lnSpc>
              <a:spcBef>
                <a:spcPts val="0"/>
              </a:spcBef>
              <a:buFont typeface="Wingdings" panose="05000000000000000000" pitchFamily="2" charset="2"/>
              <a:buChar char="§"/>
            </a:pPr>
            <a:r>
              <a:rPr lang="en-US" sz="2200" dirty="0"/>
              <a:t>First replica → local </a:t>
            </a:r>
            <a:r>
              <a:rPr lang="en-US" sz="2200" dirty="0" smtClean="0"/>
              <a:t>rack, Second </a:t>
            </a:r>
            <a:r>
              <a:rPr lang="en-US" sz="2200" dirty="0"/>
              <a:t>replica → </a:t>
            </a:r>
            <a:r>
              <a:rPr lang="en-US" sz="2200" dirty="0" smtClean="0"/>
              <a:t>another </a:t>
            </a:r>
            <a:r>
              <a:rPr lang="en-US" sz="2200" dirty="0" err="1" smtClean="0"/>
              <a:t>datanode</a:t>
            </a:r>
            <a:r>
              <a:rPr lang="en-US" sz="2200" dirty="0" smtClean="0"/>
              <a:t> in the same </a:t>
            </a:r>
            <a:r>
              <a:rPr lang="en-US" sz="2200" dirty="0" smtClean="0"/>
              <a:t>local</a:t>
            </a:r>
            <a:r>
              <a:rPr lang="en-US" sz="2200" dirty="0" smtClean="0"/>
              <a:t> rack </a:t>
            </a:r>
            <a:r>
              <a:rPr lang="en-US" sz="2200" dirty="0" smtClean="0"/>
              <a:t>and Third </a:t>
            </a:r>
            <a:r>
              <a:rPr lang="en-US" sz="2200" dirty="0"/>
              <a:t>replica → </a:t>
            </a:r>
            <a:r>
              <a:rPr lang="en-US" sz="2200" dirty="0" smtClean="0"/>
              <a:t>different rack</a:t>
            </a:r>
            <a:endParaRPr lang="en-US" sz="2200" dirty="0"/>
          </a:p>
          <a:p>
            <a:pPr>
              <a:lnSpc>
                <a:spcPct val="100000"/>
              </a:lnSpc>
              <a:spcBef>
                <a:spcPts val="0"/>
              </a:spcBef>
              <a:buFont typeface="Wingdings" panose="05000000000000000000" pitchFamily="2" charset="2"/>
              <a:buChar char="§"/>
            </a:pPr>
            <a:r>
              <a:rPr lang="en-US" b="1" dirty="0"/>
              <a:t>Benefits</a:t>
            </a:r>
            <a:r>
              <a:rPr lang="en-US" dirty="0"/>
              <a:t>:</a:t>
            </a:r>
          </a:p>
          <a:p>
            <a:pPr lvl="1">
              <a:lnSpc>
                <a:spcPct val="100000"/>
              </a:lnSpc>
              <a:spcBef>
                <a:spcPts val="0"/>
              </a:spcBef>
              <a:buFont typeface="Wingdings" panose="05000000000000000000" pitchFamily="2" charset="2"/>
              <a:buChar char="§"/>
            </a:pPr>
            <a:r>
              <a:rPr lang="en-US" sz="2200" dirty="0" smtClean="0"/>
              <a:t>Improved fault tolerance (node-level and rack-level failures)</a:t>
            </a:r>
          </a:p>
          <a:p>
            <a:pPr lvl="1">
              <a:lnSpc>
                <a:spcPct val="100000"/>
              </a:lnSpc>
              <a:spcBef>
                <a:spcPts val="0"/>
              </a:spcBef>
              <a:buFont typeface="Wingdings" panose="05000000000000000000" pitchFamily="2" charset="2"/>
              <a:buChar char="§"/>
            </a:pPr>
            <a:r>
              <a:rPr lang="en-US" sz="2200" dirty="0" smtClean="0"/>
              <a:t>Reduced network latency</a:t>
            </a:r>
          </a:p>
          <a:p>
            <a:pPr lvl="1">
              <a:lnSpc>
                <a:spcPct val="100000"/>
              </a:lnSpc>
              <a:spcBef>
                <a:spcPts val="0"/>
              </a:spcBef>
              <a:buFont typeface="Wingdings" panose="05000000000000000000" pitchFamily="2" charset="2"/>
              <a:buChar char="§"/>
            </a:pPr>
            <a:r>
              <a:rPr lang="en-US" sz="2200" dirty="0" smtClean="0"/>
              <a:t>Better read/write performance</a:t>
            </a:r>
          </a:p>
          <a:p>
            <a:pPr>
              <a:lnSpc>
                <a:spcPct val="100000"/>
              </a:lnSpc>
              <a:spcBef>
                <a:spcPts val="0"/>
              </a:spcBef>
              <a:buFont typeface="Wingdings" panose="05000000000000000000" pitchFamily="2" charset="2"/>
              <a:buChar char="§"/>
            </a:pPr>
            <a:endParaRPr lang="en-US" dirty="0"/>
          </a:p>
        </p:txBody>
      </p:sp>
    </p:spTree>
    <p:extLst>
      <p:ext uri="{BB962C8B-B14F-4D97-AF65-F5344CB8AC3E}">
        <p14:creationId xmlns:p14="http://schemas.microsoft.com/office/powerpoint/2010/main" val="165144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data-flair.training/blogs/wp-content/uploads/sites/2/2017/01/HDFS-rack-awareness.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45129" y="102405"/>
            <a:ext cx="9604291" cy="6649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1411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endParaRPr lang="en-US" b="1" dirty="0"/>
          </a:p>
        </p:txBody>
      </p:sp>
      <p:sp>
        <p:nvSpPr>
          <p:cNvPr id="3" name="Content Placeholder 2"/>
          <p:cNvSpPr>
            <a:spLocks noGrp="1"/>
          </p:cNvSpPr>
          <p:nvPr>
            <p:ph idx="1"/>
          </p:nvPr>
        </p:nvSpPr>
        <p:spPr>
          <a:xfrm>
            <a:off x="462654" y="1965158"/>
            <a:ext cx="5938146" cy="4483768"/>
          </a:xfrm>
        </p:spPr>
        <p:txBody>
          <a:bodyPr>
            <a:normAutofit/>
          </a:bodyPr>
          <a:lstStyle/>
          <a:p>
            <a:pPr marL="0" indent="0">
              <a:lnSpc>
                <a:spcPct val="100000"/>
              </a:lnSpc>
              <a:spcBef>
                <a:spcPts val="0"/>
              </a:spcBef>
              <a:spcAft>
                <a:spcPts val="0"/>
              </a:spcAft>
              <a:buNone/>
            </a:pPr>
            <a:r>
              <a:rPr lang="en-US" sz="2600" dirty="0"/>
              <a:t>An organization stores large analytical datasets in an </a:t>
            </a:r>
            <a:r>
              <a:rPr lang="en-US" sz="2600" b="1" dirty="0"/>
              <a:t>HDFS </a:t>
            </a:r>
            <a:r>
              <a:rPr lang="en-US" sz="2600" b="1" dirty="0" smtClean="0"/>
              <a:t>cluster</a:t>
            </a:r>
            <a:r>
              <a:rPr lang="en-US" sz="2600" dirty="0" smtClean="0"/>
              <a:t> configured </a:t>
            </a:r>
            <a:r>
              <a:rPr lang="en-US" sz="2600" dirty="0"/>
              <a:t>with </a:t>
            </a:r>
            <a:r>
              <a:rPr lang="en-US" sz="2600" b="1" dirty="0"/>
              <a:t>rack awareness</a:t>
            </a:r>
            <a:r>
              <a:rPr lang="en-US" sz="2600" dirty="0"/>
              <a:t>.</a:t>
            </a:r>
          </a:p>
          <a:p>
            <a:pPr marL="0" indent="0">
              <a:lnSpc>
                <a:spcPct val="100000"/>
              </a:lnSpc>
              <a:spcBef>
                <a:spcPts val="0"/>
              </a:spcBef>
              <a:spcAft>
                <a:spcPts val="0"/>
              </a:spcAft>
              <a:buNone/>
            </a:pPr>
            <a:r>
              <a:rPr lang="en-US" sz="2600" dirty="0"/>
              <a:t>The cluster has:</a:t>
            </a:r>
          </a:p>
          <a:p>
            <a:pPr>
              <a:lnSpc>
                <a:spcPct val="100000"/>
              </a:lnSpc>
              <a:spcBef>
                <a:spcPts val="0"/>
              </a:spcBef>
              <a:spcAft>
                <a:spcPts val="0"/>
              </a:spcAft>
              <a:buFont typeface="Wingdings" panose="05000000000000000000" pitchFamily="2" charset="2"/>
              <a:buChar char="§"/>
            </a:pPr>
            <a:r>
              <a:rPr lang="en-US" sz="2600" b="1" dirty="0"/>
              <a:t>3 racks</a:t>
            </a:r>
            <a:r>
              <a:rPr lang="en-US" sz="2600" dirty="0"/>
              <a:t> (Rack A, Rack B, Rack C)</a:t>
            </a:r>
          </a:p>
          <a:p>
            <a:pPr>
              <a:lnSpc>
                <a:spcPct val="100000"/>
              </a:lnSpc>
              <a:spcBef>
                <a:spcPts val="0"/>
              </a:spcBef>
              <a:spcAft>
                <a:spcPts val="0"/>
              </a:spcAft>
              <a:buFont typeface="Wingdings" panose="05000000000000000000" pitchFamily="2" charset="2"/>
              <a:buChar char="§"/>
            </a:pPr>
            <a:r>
              <a:rPr lang="en-US" sz="2600" b="1" dirty="0"/>
              <a:t>5 </a:t>
            </a:r>
            <a:r>
              <a:rPr lang="en-US" sz="2600" b="1" dirty="0" err="1"/>
              <a:t>DataNodes</a:t>
            </a:r>
            <a:r>
              <a:rPr lang="en-US" sz="2600" b="1" dirty="0"/>
              <a:t> per rack</a:t>
            </a:r>
            <a:r>
              <a:rPr lang="en-US" sz="2600" dirty="0"/>
              <a:t> (15 </a:t>
            </a:r>
            <a:r>
              <a:rPr lang="en-US" sz="2600" dirty="0" err="1"/>
              <a:t>DataNodes</a:t>
            </a:r>
            <a:r>
              <a:rPr lang="en-US" sz="2600" dirty="0"/>
              <a:t> total)</a:t>
            </a:r>
          </a:p>
          <a:p>
            <a:pPr>
              <a:lnSpc>
                <a:spcPct val="100000"/>
              </a:lnSpc>
              <a:spcBef>
                <a:spcPts val="0"/>
              </a:spcBef>
              <a:spcAft>
                <a:spcPts val="0"/>
              </a:spcAft>
              <a:buFont typeface="Wingdings" panose="05000000000000000000" pitchFamily="2" charset="2"/>
              <a:buChar char="§"/>
            </a:pPr>
            <a:r>
              <a:rPr lang="en-US" sz="2600" b="1" dirty="0"/>
              <a:t>HDFS block size = 128 MB</a:t>
            </a:r>
            <a:endParaRPr lang="en-US" sz="2600" dirty="0"/>
          </a:p>
          <a:p>
            <a:pPr>
              <a:lnSpc>
                <a:spcPct val="100000"/>
              </a:lnSpc>
              <a:spcBef>
                <a:spcPts val="0"/>
              </a:spcBef>
              <a:spcAft>
                <a:spcPts val="0"/>
              </a:spcAft>
              <a:buFont typeface="Wingdings" panose="05000000000000000000" pitchFamily="2" charset="2"/>
              <a:buChar char="§"/>
            </a:pPr>
            <a:r>
              <a:rPr lang="en-US" sz="2600" b="1" dirty="0"/>
              <a:t>Replication factor = 3</a:t>
            </a:r>
            <a:endParaRPr lang="en-US" sz="2600" dirty="0"/>
          </a:p>
          <a:p>
            <a:pPr marL="0" indent="0">
              <a:lnSpc>
                <a:spcPct val="100000"/>
              </a:lnSpc>
              <a:spcBef>
                <a:spcPts val="0"/>
              </a:spcBef>
              <a:spcAft>
                <a:spcPts val="0"/>
              </a:spcAft>
              <a:buNone/>
            </a:pPr>
            <a:r>
              <a:rPr lang="en-US" sz="2600" dirty="0"/>
              <a:t>A dataset of </a:t>
            </a:r>
            <a:r>
              <a:rPr lang="en-US" sz="2600" b="1" dirty="0"/>
              <a:t>2 TB</a:t>
            </a:r>
            <a:r>
              <a:rPr lang="en-US" sz="2600" dirty="0"/>
              <a:t> is uploaded to HDFS.</a:t>
            </a:r>
          </a:p>
        </p:txBody>
      </p:sp>
      <p:sp>
        <p:nvSpPr>
          <p:cNvPr id="4" name="Content Placeholder 2"/>
          <p:cNvSpPr txBox="1">
            <a:spLocks/>
          </p:cNvSpPr>
          <p:nvPr/>
        </p:nvSpPr>
        <p:spPr>
          <a:xfrm>
            <a:off x="6622822" y="1965158"/>
            <a:ext cx="5344589" cy="4023360"/>
          </a:xfrm>
          <a:prstGeom prst="rect">
            <a:avLst/>
          </a:prstGeom>
        </p:spPr>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nSpc>
                <a:spcPct val="100000"/>
              </a:lnSpc>
              <a:spcBef>
                <a:spcPts val="0"/>
              </a:spcBef>
              <a:spcAft>
                <a:spcPts val="0"/>
              </a:spcAft>
              <a:buNone/>
            </a:pPr>
            <a:r>
              <a:rPr lang="en-US" sz="2600" b="1" dirty="0" smtClean="0"/>
              <a:t>Requirements </a:t>
            </a:r>
          </a:p>
          <a:p>
            <a:pPr marL="514350" indent="-514350">
              <a:lnSpc>
                <a:spcPct val="100000"/>
              </a:lnSpc>
              <a:spcBef>
                <a:spcPts val="0"/>
              </a:spcBef>
              <a:spcAft>
                <a:spcPts val="0"/>
              </a:spcAft>
              <a:buFont typeface="+mj-lt"/>
              <a:buAutoNum type="arabicPeriod"/>
            </a:pPr>
            <a:r>
              <a:rPr lang="en-US" sz="2600" dirty="0" smtClean="0"/>
              <a:t>Calculate the number of HDFS blocks created for the dataset</a:t>
            </a:r>
          </a:p>
          <a:p>
            <a:pPr marL="514350" indent="-514350">
              <a:lnSpc>
                <a:spcPct val="100000"/>
              </a:lnSpc>
              <a:spcBef>
                <a:spcPts val="0"/>
              </a:spcBef>
              <a:spcAft>
                <a:spcPts val="0"/>
              </a:spcAft>
              <a:buFont typeface="+mj-lt"/>
              <a:buAutoNum type="arabicPeriod"/>
            </a:pPr>
            <a:r>
              <a:rPr lang="en-US" sz="2600" dirty="0" smtClean="0"/>
              <a:t>Calculate the total physical storage required due to replication</a:t>
            </a:r>
          </a:p>
          <a:p>
            <a:pPr marL="514350" indent="-514350">
              <a:lnSpc>
                <a:spcPct val="100000"/>
              </a:lnSpc>
              <a:spcBef>
                <a:spcPts val="0"/>
              </a:spcBef>
              <a:spcAft>
                <a:spcPts val="0"/>
              </a:spcAft>
              <a:buFont typeface="+mj-lt"/>
              <a:buAutoNum type="arabicPeriod"/>
            </a:pPr>
            <a:r>
              <a:rPr lang="en-US" sz="2600" dirty="0" smtClean="0"/>
              <a:t>Determine where replicas of each block are placed according to rack awareness</a:t>
            </a:r>
          </a:p>
        </p:txBody>
      </p:sp>
    </p:spTree>
    <p:extLst>
      <p:ext uri="{BB962C8B-B14F-4D97-AF65-F5344CB8AC3E}">
        <p14:creationId xmlns:p14="http://schemas.microsoft.com/office/powerpoint/2010/main" val="41345415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C00000"/>
                </a:solidFill>
              </a:rPr>
              <a:t>Hdfs</a:t>
            </a:r>
            <a:r>
              <a:rPr lang="en-US" b="1" dirty="0"/>
              <a:t> Reliability &amp; Scalability </a:t>
            </a:r>
            <a:endParaRPr lang="en-US" dirty="0"/>
          </a:p>
        </p:txBody>
      </p:sp>
      <p:sp>
        <p:nvSpPr>
          <p:cNvPr id="3" name="Content Placeholder 2"/>
          <p:cNvSpPr>
            <a:spLocks noGrp="1"/>
          </p:cNvSpPr>
          <p:nvPr>
            <p:ph idx="1"/>
          </p:nvPr>
        </p:nvSpPr>
        <p:spPr>
          <a:xfrm>
            <a:off x="1024128" y="1892968"/>
            <a:ext cx="10702651" cy="4416392"/>
          </a:xfrm>
        </p:spPr>
        <p:txBody>
          <a:bodyPr>
            <a:noAutofit/>
          </a:bodyPr>
          <a:lstStyle/>
          <a:p>
            <a:pPr marL="0" indent="0">
              <a:lnSpc>
                <a:spcPct val="100000"/>
              </a:lnSpc>
              <a:spcBef>
                <a:spcPts val="0"/>
              </a:spcBef>
              <a:buNone/>
            </a:pPr>
            <a:r>
              <a:rPr lang="en-US" sz="2600" b="1" dirty="0">
                <a:solidFill>
                  <a:srgbClr val="C00000"/>
                </a:solidFill>
              </a:rPr>
              <a:t>Erasure Coding (EC</a:t>
            </a:r>
            <a:r>
              <a:rPr lang="en-US" sz="2600" b="1" dirty="0" smtClean="0">
                <a:solidFill>
                  <a:srgbClr val="C00000"/>
                </a:solidFill>
              </a:rPr>
              <a:t>) (</a:t>
            </a:r>
            <a:r>
              <a:rPr lang="en-US" sz="2600" b="1" i="1" dirty="0">
                <a:solidFill>
                  <a:srgbClr val="C00000"/>
                </a:solidFill>
              </a:rPr>
              <a:t>i</a:t>
            </a:r>
            <a:r>
              <a:rPr lang="en-US" sz="2600" b="1" i="1" dirty="0" smtClean="0">
                <a:solidFill>
                  <a:srgbClr val="C00000"/>
                </a:solidFill>
              </a:rPr>
              <a:t>ntroduced in Hadoob</a:t>
            </a:r>
            <a:r>
              <a:rPr lang="en-US" sz="2600" b="1" i="1" dirty="0">
                <a:solidFill>
                  <a:srgbClr val="C00000"/>
                </a:solidFill>
              </a:rPr>
              <a:t>3</a:t>
            </a:r>
            <a:r>
              <a:rPr lang="en-US" sz="2600" b="1" dirty="0" smtClean="0">
                <a:solidFill>
                  <a:srgbClr val="C00000"/>
                </a:solidFill>
              </a:rPr>
              <a:t>)</a:t>
            </a:r>
            <a:endParaRPr lang="en-US" sz="2600" b="1" dirty="0" smtClean="0">
              <a:solidFill>
                <a:srgbClr val="C00000"/>
              </a:solidFill>
            </a:endParaRPr>
          </a:p>
          <a:p>
            <a:pPr marL="0" lvl="0" indent="0" eaLnBrk="0" fontAlgn="base" hangingPunct="0">
              <a:lnSpc>
                <a:spcPct val="100000"/>
              </a:lnSpc>
              <a:spcBef>
                <a:spcPts val="0"/>
              </a:spcBef>
              <a:spcAft>
                <a:spcPct val="0"/>
              </a:spcAft>
              <a:buClrTx/>
              <a:buSzTx/>
              <a:buNone/>
            </a:pPr>
            <a:r>
              <a:rPr lang="en-US" sz="2400" dirty="0"/>
              <a:t>Erasure Coding (EC) is an HDFS storage option that </a:t>
            </a:r>
            <a:r>
              <a:rPr lang="en-US" sz="2400" b="1" dirty="0"/>
              <a:t>provides fault tolerance like replication but with </a:t>
            </a:r>
            <a:r>
              <a:rPr lang="en-US" sz="2400" b="1" dirty="0">
                <a:solidFill>
                  <a:srgbClr val="C00000"/>
                </a:solidFill>
              </a:rPr>
              <a:t>much less storage overhead</a:t>
            </a:r>
            <a:r>
              <a:rPr lang="en-US" sz="2400" dirty="0">
                <a:solidFill>
                  <a:srgbClr val="C00000"/>
                </a:solidFill>
              </a:rPr>
              <a:t>.</a:t>
            </a:r>
            <a:br>
              <a:rPr lang="en-US" sz="2400" dirty="0">
                <a:solidFill>
                  <a:srgbClr val="C00000"/>
                </a:solidFill>
              </a:rPr>
            </a:br>
            <a:r>
              <a:rPr lang="en-US" sz="2400" dirty="0"/>
              <a:t>Instead of storing many full replicas, EC stores </a:t>
            </a:r>
            <a:r>
              <a:rPr lang="en-US" sz="2400" b="1" dirty="0"/>
              <a:t>data blocks + parity blocks</a:t>
            </a:r>
            <a:r>
              <a:rPr lang="en-US" sz="2400" dirty="0"/>
              <a:t> computed via encoding, similar to RAID techniques</a:t>
            </a:r>
            <a:r>
              <a:rPr lang="en-US" sz="2400" dirty="0" smtClean="0"/>
              <a:t>.</a:t>
            </a:r>
            <a:endParaRPr lang="en-US" altLang="en-US" sz="2400" dirty="0" smtClean="0"/>
          </a:p>
          <a:p>
            <a:pPr marL="0" indent="0">
              <a:lnSpc>
                <a:spcPct val="100000"/>
              </a:lnSpc>
              <a:spcBef>
                <a:spcPts val="0"/>
              </a:spcBef>
              <a:buNone/>
            </a:pPr>
            <a:r>
              <a:rPr lang="en-US" sz="2400" b="1" dirty="0"/>
              <a:t>Why Use Erasure Coding?</a:t>
            </a:r>
          </a:p>
          <a:p>
            <a:pPr>
              <a:lnSpc>
                <a:spcPct val="100000"/>
              </a:lnSpc>
              <a:spcBef>
                <a:spcPts val="0"/>
              </a:spcBef>
              <a:buFont typeface="Wingdings" panose="05000000000000000000" pitchFamily="2" charset="2"/>
              <a:buChar char="§"/>
            </a:pPr>
            <a:r>
              <a:rPr lang="en-US" sz="2400" b="1" dirty="0"/>
              <a:t>Lower Storage Overhead:</a:t>
            </a:r>
            <a:r>
              <a:rPr lang="en-US" sz="2400" dirty="0"/>
              <a:t> Much less than 3× replication</a:t>
            </a:r>
            <a:br>
              <a:rPr lang="en-US" sz="2400" dirty="0"/>
            </a:br>
            <a:r>
              <a:rPr lang="en-US" sz="2400" dirty="0"/>
              <a:t>Example: 6 data blocks + 3 parity blocks → 9 total blocks (≈50% overhead), vs replication’s 18 blocks. </a:t>
            </a:r>
          </a:p>
          <a:p>
            <a:pPr>
              <a:lnSpc>
                <a:spcPct val="100000"/>
              </a:lnSpc>
              <a:spcBef>
                <a:spcPts val="0"/>
              </a:spcBef>
              <a:buFont typeface="Wingdings" panose="05000000000000000000" pitchFamily="2" charset="2"/>
              <a:buChar char="§"/>
            </a:pPr>
            <a:r>
              <a:rPr lang="en-US" sz="2400" b="1" dirty="0"/>
              <a:t>Same Fault Tolerance:</a:t>
            </a:r>
            <a:r>
              <a:rPr lang="en-US" sz="2400" dirty="0"/>
              <a:t> Can recover missing data using parity</a:t>
            </a:r>
          </a:p>
          <a:p>
            <a:pPr>
              <a:lnSpc>
                <a:spcPct val="100000"/>
              </a:lnSpc>
              <a:spcBef>
                <a:spcPts val="0"/>
              </a:spcBef>
              <a:buFont typeface="Wingdings" panose="05000000000000000000" pitchFamily="2" charset="2"/>
              <a:buChar char="§"/>
            </a:pPr>
            <a:r>
              <a:rPr lang="en-US" sz="2400" b="1" dirty="0"/>
              <a:t>Good for Warm/Cold Data:</a:t>
            </a:r>
            <a:r>
              <a:rPr lang="en-US" sz="2400" dirty="0"/>
              <a:t> Less frequently accessed datasets benefit most</a:t>
            </a:r>
          </a:p>
          <a:p>
            <a:pPr>
              <a:lnSpc>
                <a:spcPct val="100000"/>
              </a:lnSpc>
              <a:spcBef>
                <a:spcPts val="0"/>
              </a:spcBef>
            </a:pPr>
            <a:endParaRPr lang="en-US" sz="2400" dirty="0" smtClean="0"/>
          </a:p>
          <a:p>
            <a:pPr>
              <a:lnSpc>
                <a:spcPct val="100000"/>
              </a:lnSpc>
              <a:spcBef>
                <a:spcPts val="0"/>
              </a:spcBef>
            </a:pPr>
            <a:endParaRPr lang="en-US" sz="2400" dirty="0"/>
          </a:p>
        </p:txBody>
      </p:sp>
    </p:spTree>
    <p:extLst>
      <p:ext uri="{BB962C8B-B14F-4D97-AF65-F5344CB8AC3E}">
        <p14:creationId xmlns:p14="http://schemas.microsoft.com/office/powerpoint/2010/main" val="26906469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data-flair.training/blogs/wp-content/uploads/sites/2/2016/12/HDFS-Erasure-coding-exam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26" y="749690"/>
            <a:ext cx="11843709" cy="5488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7668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C00000"/>
                </a:solidFill>
              </a:rPr>
              <a:t>Hdfs</a:t>
            </a:r>
            <a:r>
              <a:rPr lang="en-US" b="1" dirty="0"/>
              <a:t> Reliability &amp; Scalability </a:t>
            </a:r>
            <a:endParaRPr lang="en-US" dirty="0"/>
          </a:p>
        </p:txBody>
      </p:sp>
      <p:sp>
        <p:nvSpPr>
          <p:cNvPr id="3" name="Content Placeholder 2"/>
          <p:cNvSpPr>
            <a:spLocks noGrp="1"/>
          </p:cNvSpPr>
          <p:nvPr>
            <p:ph idx="1"/>
          </p:nvPr>
        </p:nvSpPr>
        <p:spPr>
          <a:xfrm>
            <a:off x="761082" y="1717604"/>
            <a:ext cx="11113592" cy="4416392"/>
          </a:xfrm>
        </p:spPr>
        <p:txBody>
          <a:bodyPr>
            <a:noAutofit/>
          </a:bodyPr>
          <a:lstStyle/>
          <a:p>
            <a:pPr marL="0" indent="0">
              <a:lnSpc>
                <a:spcPct val="100000"/>
              </a:lnSpc>
              <a:spcBef>
                <a:spcPts val="0"/>
              </a:spcBef>
              <a:buNone/>
            </a:pPr>
            <a:r>
              <a:rPr lang="en-US" sz="2600" b="1" dirty="0">
                <a:solidFill>
                  <a:srgbClr val="C00000"/>
                </a:solidFill>
              </a:rPr>
              <a:t>Erasure Coding (EC</a:t>
            </a:r>
            <a:r>
              <a:rPr lang="en-US" sz="2600" b="1" dirty="0" smtClean="0">
                <a:solidFill>
                  <a:srgbClr val="C00000"/>
                </a:solidFill>
              </a:rPr>
              <a:t>)</a:t>
            </a:r>
          </a:p>
          <a:p>
            <a:pPr marL="0" indent="0">
              <a:lnSpc>
                <a:spcPct val="100000"/>
              </a:lnSpc>
              <a:spcBef>
                <a:spcPts val="0"/>
              </a:spcBef>
              <a:buNone/>
            </a:pPr>
            <a:r>
              <a:rPr lang="en-US" sz="2400" b="1" dirty="0"/>
              <a:t>How It Works </a:t>
            </a:r>
          </a:p>
          <a:p>
            <a:pPr>
              <a:lnSpc>
                <a:spcPct val="100000"/>
              </a:lnSpc>
              <a:spcBef>
                <a:spcPts val="0"/>
              </a:spcBef>
              <a:buFont typeface="Wingdings" panose="05000000000000000000" pitchFamily="2" charset="2"/>
              <a:buChar char="§"/>
            </a:pPr>
            <a:r>
              <a:rPr lang="en-US" sz="2400" b="1" dirty="0"/>
              <a:t>Stripe:</a:t>
            </a:r>
            <a:r>
              <a:rPr lang="en-US" sz="2400" dirty="0"/>
              <a:t> Input file split into </a:t>
            </a:r>
            <a:r>
              <a:rPr lang="en-US" sz="2400" i="1" dirty="0"/>
              <a:t>data </a:t>
            </a:r>
            <a:r>
              <a:rPr lang="en-US" sz="2400" i="1" dirty="0" smtClean="0"/>
              <a:t>blocks or stripes</a:t>
            </a:r>
            <a:endParaRPr lang="en-US" sz="2400" dirty="0"/>
          </a:p>
          <a:p>
            <a:pPr>
              <a:lnSpc>
                <a:spcPct val="100000"/>
              </a:lnSpc>
              <a:spcBef>
                <a:spcPts val="0"/>
              </a:spcBef>
              <a:buFont typeface="Wingdings" panose="05000000000000000000" pitchFamily="2" charset="2"/>
              <a:buChar char="§"/>
            </a:pPr>
            <a:r>
              <a:rPr lang="en-US" sz="2400" b="1" dirty="0"/>
              <a:t>Encode:</a:t>
            </a:r>
            <a:r>
              <a:rPr lang="en-US" sz="2400" dirty="0"/>
              <a:t> Parity blocks generated based on EC </a:t>
            </a:r>
            <a:r>
              <a:rPr lang="en-US" sz="2400" dirty="0" smtClean="0"/>
              <a:t>policy</a:t>
            </a:r>
            <a:endParaRPr lang="en-US" sz="2400" dirty="0"/>
          </a:p>
          <a:p>
            <a:pPr>
              <a:lnSpc>
                <a:spcPct val="100000"/>
              </a:lnSpc>
              <a:spcBef>
                <a:spcPts val="0"/>
              </a:spcBef>
              <a:buFont typeface="Wingdings" panose="05000000000000000000" pitchFamily="2" charset="2"/>
              <a:buChar char="§"/>
            </a:pPr>
            <a:r>
              <a:rPr lang="en-US" sz="2400" b="1" dirty="0"/>
              <a:t>Distribute:</a:t>
            </a:r>
            <a:r>
              <a:rPr lang="en-US" sz="2400" dirty="0"/>
              <a:t> Blocks spread across </a:t>
            </a:r>
            <a:r>
              <a:rPr lang="en-US" sz="2400" dirty="0" err="1"/>
              <a:t>DataNodes</a:t>
            </a:r>
            <a:r>
              <a:rPr lang="en-US" sz="2400" dirty="0"/>
              <a:t> and racks for fault tolerance</a:t>
            </a:r>
          </a:p>
          <a:p>
            <a:pPr>
              <a:lnSpc>
                <a:spcPct val="100000"/>
              </a:lnSpc>
              <a:spcBef>
                <a:spcPts val="0"/>
              </a:spcBef>
              <a:buFont typeface="Wingdings" panose="05000000000000000000" pitchFamily="2" charset="2"/>
              <a:buChar char="§"/>
            </a:pPr>
            <a:r>
              <a:rPr lang="en-US" sz="2400" b="1" dirty="0"/>
              <a:t>Reconstruct:</a:t>
            </a:r>
            <a:r>
              <a:rPr lang="en-US" sz="2400" dirty="0"/>
              <a:t> If blocks fail, decode using surviving data + </a:t>
            </a:r>
            <a:r>
              <a:rPr lang="en-US" sz="2400" dirty="0" smtClean="0"/>
              <a:t>parity</a:t>
            </a:r>
          </a:p>
          <a:p>
            <a:pPr marL="0" indent="0">
              <a:lnSpc>
                <a:spcPct val="100000"/>
              </a:lnSpc>
              <a:spcBef>
                <a:spcPts val="0"/>
              </a:spcBef>
              <a:buNone/>
            </a:pPr>
            <a:endParaRPr lang="en-US" sz="2400" dirty="0" smtClean="0"/>
          </a:p>
          <a:p>
            <a:pPr marL="0" indent="0">
              <a:lnSpc>
                <a:spcPct val="100000"/>
              </a:lnSpc>
              <a:spcBef>
                <a:spcPts val="0"/>
              </a:spcBef>
              <a:buNone/>
            </a:pPr>
            <a:r>
              <a:rPr lang="en-US" sz="2400" dirty="0" smtClean="0"/>
              <a:t>An </a:t>
            </a:r>
            <a:r>
              <a:rPr lang="en-US" sz="2400" b="1" dirty="0"/>
              <a:t>Erasure Coding (EC) policy</a:t>
            </a:r>
            <a:r>
              <a:rPr lang="en-US" sz="2400" dirty="0"/>
              <a:t> defines how data and parity blocks are organized and how many failures HDFS can tolerate.</a:t>
            </a:r>
          </a:p>
          <a:p>
            <a:pPr marL="0" indent="0">
              <a:lnSpc>
                <a:spcPct val="100000"/>
              </a:lnSpc>
              <a:spcBef>
                <a:spcPts val="0"/>
              </a:spcBef>
              <a:buNone/>
            </a:pPr>
            <a:r>
              <a:rPr lang="en-US" sz="2400" dirty="0"/>
              <a:t>It is written </a:t>
            </a:r>
            <a:r>
              <a:rPr lang="en-US" sz="2400" dirty="0" smtClean="0"/>
              <a:t>as: RS-k-m (</a:t>
            </a:r>
            <a:r>
              <a:rPr lang="en-US" sz="2400" i="1" dirty="0" smtClean="0"/>
              <a:t>k </a:t>
            </a:r>
            <a:r>
              <a:rPr lang="en-US" sz="2400" i="1" dirty="0"/>
              <a:t>= data blocks, m = parity </a:t>
            </a:r>
            <a:r>
              <a:rPr lang="en-US" sz="2400" i="1" dirty="0" smtClean="0"/>
              <a:t>blocks</a:t>
            </a:r>
            <a:r>
              <a:rPr lang="en-US" sz="2400" dirty="0" smtClean="0"/>
              <a:t>)</a:t>
            </a:r>
          </a:p>
        </p:txBody>
      </p:sp>
    </p:spTree>
    <p:extLst>
      <p:ext uri="{BB962C8B-B14F-4D97-AF65-F5344CB8AC3E}">
        <p14:creationId xmlns:p14="http://schemas.microsoft.com/office/powerpoint/2010/main" val="5881025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a:xfrm>
            <a:off x="1024128" y="1933073"/>
            <a:ext cx="10734735" cy="4023360"/>
          </a:xfrm>
        </p:spPr>
        <p:txBody>
          <a:bodyPr>
            <a:noAutofit/>
          </a:bodyPr>
          <a:lstStyle/>
          <a:p>
            <a:pPr>
              <a:lnSpc>
                <a:spcPct val="100000"/>
              </a:lnSpc>
              <a:spcBef>
                <a:spcPts val="0"/>
              </a:spcBef>
              <a:spcAft>
                <a:spcPts val="0"/>
              </a:spcAft>
            </a:pPr>
            <a:r>
              <a:rPr lang="en-US" sz="2600" dirty="0"/>
              <a:t>An organization stores </a:t>
            </a:r>
            <a:r>
              <a:rPr lang="en-US" sz="2600" b="1" dirty="0"/>
              <a:t>900 TB</a:t>
            </a:r>
            <a:r>
              <a:rPr lang="en-US" sz="2600" dirty="0"/>
              <a:t> of log data in HDFS.</a:t>
            </a:r>
          </a:p>
          <a:p>
            <a:pPr>
              <a:lnSpc>
                <a:spcPct val="100000"/>
              </a:lnSpc>
              <a:spcBef>
                <a:spcPts val="0"/>
              </a:spcBef>
              <a:spcAft>
                <a:spcPts val="0"/>
              </a:spcAft>
            </a:pPr>
            <a:r>
              <a:rPr lang="en-US" sz="2600" dirty="0"/>
              <a:t>They are considering two storage strategies:</a:t>
            </a:r>
          </a:p>
          <a:p>
            <a:pPr>
              <a:lnSpc>
                <a:spcPct val="100000"/>
              </a:lnSpc>
              <a:spcBef>
                <a:spcPts val="0"/>
              </a:spcBef>
              <a:spcAft>
                <a:spcPts val="0"/>
              </a:spcAft>
            </a:pPr>
            <a:r>
              <a:rPr lang="en-US" sz="2600" b="1" dirty="0"/>
              <a:t>Option A: Replication</a:t>
            </a:r>
          </a:p>
          <a:p>
            <a:pPr>
              <a:lnSpc>
                <a:spcPct val="100000"/>
              </a:lnSpc>
              <a:spcBef>
                <a:spcPts val="0"/>
              </a:spcBef>
              <a:spcAft>
                <a:spcPts val="0"/>
              </a:spcAft>
            </a:pPr>
            <a:r>
              <a:rPr lang="en-US" sz="2600" dirty="0"/>
              <a:t>Replication Factor = </a:t>
            </a:r>
            <a:r>
              <a:rPr lang="en-US" sz="2600" b="1" dirty="0"/>
              <a:t>3</a:t>
            </a:r>
            <a:endParaRPr lang="en-US" sz="2600" dirty="0"/>
          </a:p>
          <a:p>
            <a:pPr>
              <a:lnSpc>
                <a:spcPct val="100000"/>
              </a:lnSpc>
              <a:spcBef>
                <a:spcPts val="0"/>
              </a:spcBef>
              <a:spcAft>
                <a:spcPts val="0"/>
              </a:spcAft>
            </a:pPr>
            <a:r>
              <a:rPr lang="en-US" sz="2600" b="1" dirty="0"/>
              <a:t>Option B: Erasure Coding</a:t>
            </a:r>
          </a:p>
          <a:p>
            <a:pPr>
              <a:lnSpc>
                <a:spcPct val="100000"/>
              </a:lnSpc>
              <a:spcBef>
                <a:spcPts val="0"/>
              </a:spcBef>
              <a:spcAft>
                <a:spcPts val="0"/>
              </a:spcAft>
            </a:pPr>
            <a:r>
              <a:rPr lang="en-US" sz="2600" dirty="0"/>
              <a:t>Policy = </a:t>
            </a:r>
            <a:r>
              <a:rPr lang="en-US" sz="2600" b="1" dirty="0"/>
              <a:t>RS-6-3</a:t>
            </a:r>
            <a:endParaRPr lang="en-US" sz="2600" dirty="0"/>
          </a:p>
          <a:p>
            <a:pPr>
              <a:lnSpc>
                <a:spcPct val="100000"/>
              </a:lnSpc>
              <a:spcBef>
                <a:spcPts val="0"/>
              </a:spcBef>
              <a:spcAft>
                <a:spcPts val="0"/>
              </a:spcAft>
            </a:pPr>
            <a:endParaRPr lang="en-US" sz="2600" dirty="0"/>
          </a:p>
          <a:p>
            <a:pPr marL="457200" indent="-457200">
              <a:lnSpc>
                <a:spcPct val="100000"/>
              </a:lnSpc>
              <a:spcBef>
                <a:spcPts val="0"/>
              </a:spcBef>
              <a:spcAft>
                <a:spcPts val="0"/>
              </a:spcAft>
              <a:buFont typeface="+mj-lt"/>
              <a:buAutoNum type="arabicPeriod"/>
            </a:pPr>
            <a:r>
              <a:rPr lang="en-US" sz="2600" b="1" dirty="0"/>
              <a:t>Calculate the total physical storage required</a:t>
            </a:r>
            <a:r>
              <a:rPr lang="en-US" sz="2600" dirty="0"/>
              <a:t> using </a:t>
            </a:r>
            <a:r>
              <a:rPr lang="en-US" sz="2600" b="1" dirty="0"/>
              <a:t>Replication (RF=3)</a:t>
            </a:r>
            <a:endParaRPr lang="en-US" sz="2600" dirty="0"/>
          </a:p>
          <a:p>
            <a:pPr marL="457200" indent="-457200">
              <a:lnSpc>
                <a:spcPct val="100000"/>
              </a:lnSpc>
              <a:spcBef>
                <a:spcPts val="0"/>
              </a:spcBef>
              <a:spcAft>
                <a:spcPts val="0"/>
              </a:spcAft>
              <a:buFont typeface="+mj-lt"/>
              <a:buAutoNum type="arabicPeriod"/>
            </a:pPr>
            <a:r>
              <a:rPr lang="en-US" sz="2600" b="1" dirty="0"/>
              <a:t>Calculate the total physical storage required</a:t>
            </a:r>
            <a:r>
              <a:rPr lang="en-US" sz="2600" dirty="0"/>
              <a:t> using </a:t>
            </a:r>
            <a:r>
              <a:rPr lang="en-US" sz="2600" b="1" dirty="0"/>
              <a:t>Erasure Coding (RS-6-3)</a:t>
            </a:r>
            <a:endParaRPr lang="en-US" sz="2600" dirty="0"/>
          </a:p>
          <a:p>
            <a:pPr marL="457200" indent="-457200">
              <a:lnSpc>
                <a:spcPct val="100000"/>
              </a:lnSpc>
              <a:spcBef>
                <a:spcPts val="0"/>
              </a:spcBef>
              <a:spcAft>
                <a:spcPts val="0"/>
              </a:spcAft>
              <a:buFont typeface="+mj-lt"/>
              <a:buAutoNum type="arabicPeriod"/>
            </a:pPr>
            <a:r>
              <a:rPr lang="en-US" sz="2600" b="1" dirty="0"/>
              <a:t>How much storage is saved</a:t>
            </a:r>
            <a:r>
              <a:rPr lang="en-US" sz="2600" dirty="0"/>
              <a:t> by using Erasure Coding instead of Replication?</a:t>
            </a:r>
          </a:p>
          <a:p>
            <a:pPr>
              <a:lnSpc>
                <a:spcPct val="100000"/>
              </a:lnSpc>
              <a:spcBef>
                <a:spcPts val="0"/>
              </a:spcBef>
              <a:spcAft>
                <a:spcPts val="0"/>
              </a:spcAft>
            </a:pPr>
            <a:endParaRPr lang="en-US" sz="2600" dirty="0"/>
          </a:p>
        </p:txBody>
      </p:sp>
    </p:spTree>
    <p:extLst>
      <p:ext uri="{BB962C8B-B14F-4D97-AF65-F5344CB8AC3E}">
        <p14:creationId xmlns:p14="http://schemas.microsoft.com/office/powerpoint/2010/main" val="2742996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Reliability &amp; Scalability </a:t>
            </a:r>
          </a:p>
        </p:txBody>
      </p:sp>
      <p:sp>
        <p:nvSpPr>
          <p:cNvPr id="3" name="Content Placeholder 2"/>
          <p:cNvSpPr>
            <a:spLocks noGrp="1"/>
          </p:cNvSpPr>
          <p:nvPr>
            <p:ph idx="1"/>
          </p:nvPr>
        </p:nvSpPr>
        <p:spPr/>
        <p:txBody>
          <a:bodyPr>
            <a:normAutofit/>
          </a:bodyPr>
          <a:lstStyle/>
          <a:p>
            <a:pPr marL="0" indent="0">
              <a:lnSpc>
                <a:spcPct val="100000"/>
              </a:lnSpc>
              <a:spcBef>
                <a:spcPts val="0"/>
              </a:spcBef>
              <a:buNone/>
            </a:pPr>
            <a:r>
              <a:rPr lang="en-US" sz="2600" dirty="0"/>
              <a:t>With Hadoop 1.x, </a:t>
            </a:r>
            <a:r>
              <a:rPr lang="en-US" sz="2600" b="1" dirty="0">
                <a:solidFill>
                  <a:srgbClr val="C00000"/>
                </a:solidFill>
              </a:rPr>
              <a:t>the </a:t>
            </a:r>
            <a:r>
              <a:rPr lang="en-US" sz="2600" b="1" dirty="0" err="1">
                <a:solidFill>
                  <a:srgbClr val="C00000"/>
                </a:solidFill>
              </a:rPr>
              <a:t>NameNode</a:t>
            </a:r>
            <a:r>
              <a:rPr lang="en-US" sz="2600" b="1" dirty="0">
                <a:solidFill>
                  <a:srgbClr val="C00000"/>
                </a:solidFill>
              </a:rPr>
              <a:t> was a single point of </a:t>
            </a:r>
            <a:r>
              <a:rPr lang="en-US" sz="2600" b="1" dirty="0" smtClean="0">
                <a:solidFill>
                  <a:srgbClr val="C00000"/>
                </a:solidFill>
              </a:rPr>
              <a:t>failure,</a:t>
            </a:r>
            <a:r>
              <a:rPr lang="en-US" sz="2600" dirty="0" smtClean="0"/>
              <a:t> </a:t>
            </a:r>
            <a:r>
              <a:rPr lang="en-US" sz="2600" dirty="0"/>
              <a:t>if it failed, the cluster went down. </a:t>
            </a:r>
          </a:p>
          <a:p>
            <a:pPr marL="0" indent="0">
              <a:lnSpc>
                <a:spcPct val="100000"/>
              </a:lnSpc>
              <a:spcBef>
                <a:spcPts val="0"/>
              </a:spcBef>
              <a:buNone/>
            </a:pPr>
            <a:r>
              <a:rPr lang="en-US" sz="2600" dirty="0"/>
              <a:t>Hadoop 2.x introduced two major improvements to solve this:</a:t>
            </a:r>
          </a:p>
          <a:p>
            <a:pPr>
              <a:lnSpc>
                <a:spcPct val="100000"/>
              </a:lnSpc>
              <a:spcBef>
                <a:spcPts val="0"/>
              </a:spcBef>
              <a:buFont typeface="Wingdings" panose="05000000000000000000" pitchFamily="2" charset="2"/>
              <a:buChar char="§"/>
            </a:pPr>
            <a:r>
              <a:rPr lang="en-US" sz="2600" b="1" dirty="0"/>
              <a:t>HDFS Federation</a:t>
            </a:r>
          </a:p>
          <a:p>
            <a:pPr>
              <a:lnSpc>
                <a:spcPct val="100000"/>
              </a:lnSpc>
              <a:spcBef>
                <a:spcPts val="0"/>
              </a:spcBef>
              <a:buFont typeface="Wingdings" panose="05000000000000000000" pitchFamily="2" charset="2"/>
              <a:buChar char="§"/>
            </a:pPr>
            <a:r>
              <a:rPr lang="en-US" sz="2600" b="1" dirty="0"/>
              <a:t>High Availability (HA)</a:t>
            </a:r>
          </a:p>
          <a:p>
            <a:pPr>
              <a:lnSpc>
                <a:spcPct val="100000"/>
              </a:lnSpc>
              <a:spcBef>
                <a:spcPts val="0"/>
              </a:spcBef>
            </a:pPr>
            <a:r>
              <a:rPr lang="en-US" sz="2600" dirty="0"/>
              <a:t>Both enhance cluster reliability but address different problems. </a:t>
            </a:r>
          </a:p>
        </p:txBody>
      </p:sp>
    </p:spTree>
    <p:extLst>
      <p:ext uri="{BB962C8B-B14F-4D97-AF65-F5344CB8AC3E}">
        <p14:creationId xmlns:p14="http://schemas.microsoft.com/office/powerpoint/2010/main" val="20591497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Reliability &amp; Scalability </a:t>
            </a:r>
          </a:p>
        </p:txBody>
      </p:sp>
      <p:sp>
        <p:nvSpPr>
          <p:cNvPr id="3" name="Content Placeholder 2"/>
          <p:cNvSpPr>
            <a:spLocks noGrp="1"/>
          </p:cNvSpPr>
          <p:nvPr>
            <p:ph idx="1"/>
          </p:nvPr>
        </p:nvSpPr>
        <p:spPr>
          <a:xfrm>
            <a:off x="711200" y="2084832"/>
            <a:ext cx="6473371" cy="4773168"/>
          </a:xfrm>
        </p:spPr>
        <p:txBody>
          <a:bodyPr>
            <a:noAutofit/>
          </a:bodyPr>
          <a:lstStyle/>
          <a:p>
            <a:pPr lvl="0" fontAlgn="base">
              <a:lnSpc>
                <a:spcPct val="100000"/>
              </a:lnSpc>
              <a:spcBef>
                <a:spcPts val="0"/>
              </a:spcBef>
              <a:buFont typeface="Wingdings" panose="05000000000000000000" pitchFamily="2" charset="2"/>
              <a:buChar char="§"/>
            </a:pPr>
            <a:r>
              <a:rPr lang="en-US" altLang="en-US" sz="2600" b="1" dirty="0"/>
              <a:t>HDFS Federation </a:t>
            </a:r>
            <a:r>
              <a:rPr lang="en-US" altLang="en-US" sz="2600" dirty="0"/>
              <a:t>allows multiple independent </a:t>
            </a:r>
            <a:r>
              <a:rPr lang="en-US" altLang="en-US" sz="2600" dirty="0" err="1"/>
              <a:t>NameNodes</a:t>
            </a:r>
            <a:r>
              <a:rPr lang="en-US" altLang="en-US" sz="2600" dirty="0"/>
              <a:t> to exist in the same cluster. </a:t>
            </a:r>
          </a:p>
          <a:p>
            <a:pPr lvl="0" fontAlgn="base">
              <a:lnSpc>
                <a:spcPct val="100000"/>
              </a:lnSpc>
              <a:spcBef>
                <a:spcPts val="0"/>
              </a:spcBef>
              <a:buFont typeface="Wingdings" panose="05000000000000000000" pitchFamily="2" charset="2"/>
              <a:buChar char="§"/>
            </a:pPr>
            <a:r>
              <a:rPr lang="en-US" altLang="en-US" sz="2600" dirty="0"/>
              <a:t>Each </a:t>
            </a:r>
            <a:r>
              <a:rPr lang="en-US" altLang="en-US" sz="2600" dirty="0" err="1"/>
              <a:t>NameNode</a:t>
            </a:r>
            <a:r>
              <a:rPr lang="en-US" altLang="en-US" sz="2600" dirty="0"/>
              <a:t> manages its own namespace and associated block pool. </a:t>
            </a:r>
          </a:p>
          <a:p>
            <a:pPr lvl="0" fontAlgn="base">
              <a:lnSpc>
                <a:spcPct val="100000"/>
              </a:lnSpc>
              <a:spcBef>
                <a:spcPts val="0"/>
              </a:spcBef>
              <a:buFont typeface="Wingdings" panose="05000000000000000000" pitchFamily="2" charset="2"/>
              <a:buChar char="§"/>
            </a:pPr>
            <a:r>
              <a:rPr lang="en-US" altLang="en-US" sz="2600" b="1" dirty="0"/>
              <a:t>Namespaces are independent</a:t>
            </a:r>
            <a:r>
              <a:rPr lang="en-US" altLang="en-US" sz="2600" dirty="0"/>
              <a:t>: one </a:t>
            </a:r>
            <a:r>
              <a:rPr lang="en-US" altLang="en-US" sz="2600" dirty="0" err="1"/>
              <a:t>NameNode’s</a:t>
            </a:r>
            <a:r>
              <a:rPr lang="en-US" altLang="en-US" sz="2600" dirty="0"/>
              <a:t> failure doesn’t affect others. </a:t>
            </a:r>
          </a:p>
          <a:p>
            <a:pPr lvl="0" fontAlgn="base">
              <a:lnSpc>
                <a:spcPct val="100000"/>
              </a:lnSpc>
              <a:spcBef>
                <a:spcPts val="0"/>
              </a:spcBef>
              <a:buFont typeface="Wingdings" panose="05000000000000000000" pitchFamily="2" charset="2"/>
              <a:buChar char="§"/>
            </a:pPr>
            <a:r>
              <a:rPr lang="en-US" altLang="en-US" sz="2600" dirty="0" err="1"/>
              <a:t>DataNodes</a:t>
            </a:r>
            <a:r>
              <a:rPr lang="en-US" altLang="en-US" sz="2600" dirty="0"/>
              <a:t> store blocks for all </a:t>
            </a:r>
            <a:r>
              <a:rPr lang="en-US" altLang="en-US" sz="2600" dirty="0" err="1"/>
              <a:t>NameNodes</a:t>
            </a:r>
            <a:r>
              <a:rPr lang="en-US" altLang="en-US" sz="2600" dirty="0"/>
              <a:t> and register with each one. </a:t>
            </a:r>
          </a:p>
          <a:p>
            <a:pPr lvl="0" fontAlgn="base">
              <a:lnSpc>
                <a:spcPct val="100000"/>
              </a:lnSpc>
              <a:spcBef>
                <a:spcPts val="0"/>
              </a:spcBef>
              <a:buFont typeface="Wingdings" panose="05000000000000000000" pitchFamily="2" charset="2"/>
              <a:buChar char="§"/>
            </a:pPr>
            <a:r>
              <a:rPr lang="en-US" altLang="en-US" sz="2600" dirty="0"/>
              <a:t>Federation improves </a:t>
            </a:r>
            <a:r>
              <a:rPr lang="en-US" altLang="en-US" sz="2600" b="1" dirty="0"/>
              <a:t>namespace scalability</a:t>
            </a:r>
            <a:r>
              <a:rPr lang="en-US" altLang="en-US" sz="2600" dirty="0"/>
              <a:t>, </a:t>
            </a:r>
            <a:r>
              <a:rPr lang="en-US" altLang="en-US" sz="2600" b="1" dirty="0"/>
              <a:t>isolation</a:t>
            </a:r>
            <a:r>
              <a:rPr lang="en-US" altLang="en-US" sz="2600" dirty="0"/>
              <a:t>, and </a:t>
            </a:r>
            <a:r>
              <a:rPr lang="en-US" altLang="en-US" sz="2600" b="1" dirty="0"/>
              <a:t>performance</a:t>
            </a:r>
            <a:r>
              <a:rPr lang="en-US" altLang="en-US" sz="2600" dirty="0"/>
              <a:t> by distributing metadata load.</a:t>
            </a:r>
          </a:p>
        </p:txBody>
      </p:sp>
      <p:pic>
        <p:nvPicPr>
          <p:cNvPr id="24580" name="Picture 4" descr="HDFS Federation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3365" y="2752489"/>
            <a:ext cx="5178635" cy="2922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913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Reliability &amp; </a:t>
            </a:r>
            <a:r>
              <a:rPr lang="en-US" b="1" dirty="0" smtClean="0"/>
              <a:t>Scalability </a:t>
            </a:r>
            <a:endParaRPr lang="en-US" b="1" dirty="0"/>
          </a:p>
        </p:txBody>
      </p:sp>
      <p:sp>
        <p:nvSpPr>
          <p:cNvPr id="3" name="Content Placeholder 2"/>
          <p:cNvSpPr>
            <a:spLocks noGrp="1"/>
          </p:cNvSpPr>
          <p:nvPr>
            <p:ph idx="1"/>
          </p:nvPr>
        </p:nvSpPr>
        <p:spPr>
          <a:xfrm>
            <a:off x="711200" y="2084832"/>
            <a:ext cx="6473371" cy="4773168"/>
          </a:xfrm>
        </p:spPr>
        <p:txBody>
          <a:bodyPr>
            <a:noAutofit/>
          </a:bodyPr>
          <a:lstStyle/>
          <a:p>
            <a:pPr lvl="0" fontAlgn="base">
              <a:lnSpc>
                <a:spcPct val="100000"/>
              </a:lnSpc>
              <a:spcBef>
                <a:spcPts val="0"/>
              </a:spcBef>
              <a:buFont typeface="Wingdings" panose="05000000000000000000" pitchFamily="2" charset="2"/>
              <a:buChar char="§"/>
            </a:pPr>
            <a:r>
              <a:rPr lang="en-US" altLang="en-US" sz="2600" b="1" dirty="0"/>
              <a:t>High Availability</a:t>
            </a:r>
            <a:r>
              <a:rPr lang="en-US" altLang="en-US" sz="2600" dirty="0"/>
              <a:t> uses a pair of </a:t>
            </a:r>
            <a:r>
              <a:rPr lang="en-US" altLang="en-US" sz="2600" dirty="0" err="1"/>
              <a:t>NameNodes</a:t>
            </a:r>
            <a:r>
              <a:rPr lang="en-US" altLang="en-US" sz="2600" dirty="0"/>
              <a:t> in active–standby mode. </a:t>
            </a:r>
          </a:p>
          <a:p>
            <a:pPr lvl="0" fontAlgn="base">
              <a:lnSpc>
                <a:spcPct val="100000"/>
              </a:lnSpc>
              <a:spcBef>
                <a:spcPts val="0"/>
              </a:spcBef>
              <a:buFont typeface="Wingdings" panose="05000000000000000000" pitchFamily="2" charset="2"/>
              <a:buChar char="§"/>
            </a:pPr>
            <a:r>
              <a:rPr lang="en-US" altLang="en-US" sz="2600" dirty="0"/>
              <a:t>The Active </a:t>
            </a:r>
            <a:r>
              <a:rPr lang="en-US" altLang="en-US" sz="2600" dirty="0" err="1"/>
              <a:t>NameNode</a:t>
            </a:r>
            <a:r>
              <a:rPr lang="en-US" altLang="en-US" sz="2600" dirty="0"/>
              <a:t> services client requests. </a:t>
            </a:r>
          </a:p>
          <a:p>
            <a:pPr lvl="0" fontAlgn="base">
              <a:lnSpc>
                <a:spcPct val="100000"/>
              </a:lnSpc>
              <a:spcBef>
                <a:spcPts val="0"/>
              </a:spcBef>
              <a:buFont typeface="Wingdings" panose="05000000000000000000" pitchFamily="2" charset="2"/>
              <a:buChar char="§"/>
            </a:pPr>
            <a:r>
              <a:rPr lang="en-US" altLang="en-US" sz="2600" dirty="0"/>
              <a:t>The Standby </a:t>
            </a:r>
            <a:r>
              <a:rPr lang="en-US" altLang="en-US" sz="2600" dirty="0" err="1"/>
              <a:t>NameNode</a:t>
            </a:r>
            <a:r>
              <a:rPr lang="en-US" altLang="en-US" sz="2600" dirty="0"/>
              <a:t> keeps its state synchronized </a:t>
            </a:r>
            <a:r>
              <a:rPr lang="en-US" altLang="en-US" sz="2600" dirty="0" smtClean="0"/>
              <a:t>and </a:t>
            </a:r>
            <a:r>
              <a:rPr lang="en-US" altLang="en-US" sz="2600" dirty="0"/>
              <a:t>can take over if the active fails. </a:t>
            </a:r>
          </a:p>
          <a:p>
            <a:pPr lvl="0" fontAlgn="base">
              <a:lnSpc>
                <a:spcPct val="100000"/>
              </a:lnSpc>
              <a:spcBef>
                <a:spcPts val="0"/>
              </a:spcBef>
              <a:buFont typeface="Wingdings" panose="05000000000000000000" pitchFamily="2" charset="2"/>
              <a:buChar char="§"/>
            </a:pPr>
            <a:r>
              <a:rPr lang="en-US" altLang="en-US" sz="2600" dirty="0"/>
              <a:t>HA removes the single point of failure problem by enabling fast failover. </a:t>
            </a:r>
          </a:p>
          <a:p>
            <a:pPr lvl="0" fontAlgn="base">
              <a:lnSpc>
                <a:spcPct val="100000"/>
              </a:lnSpc>
              <a:spcBef>
                <a:spcPts val="0"/>
              </a:spcBef>
              <a:buFont typeface="Wingdings" panose="05000000000000000000" pitchFamily="2" charset="2"/>
              <a:buChar char="§"/>
            </a:pPr>
            <a:r>
              <a:rPr lang="en-US" altLang="en-US" sz="2600" dirty="0"/>
              <a:t>Standby nodes maintain up-to-date metadata so clients experience minimal downtime.</a:t>
            </a:r>
          </a:p>
        </p:txBody>
      </p:sp>
      <p:pic>
        <p:nvPicPr>
          <p:cNvPr id="25603" name="Picture 3" descr="HDFS federation vs high availabi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6317" y="2084832"/>
            <a:ext cx="5323703" cy="3176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2693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00898568"/>
              </p:ext>
            </p:extLst>
          </p:nvPr>
        </p:nvGraphicFramePr>
        <p:xfrm>
          <a:off x="791710" y="1337174"/>
          <a:ext cx="10834233" cy="4815840"/>
        </p:xfrm>
        <a:graphic>
          <a:graphicData uri="http://schemas.openxmlformats.org/drawingml/2006/table">
            <a:tbl>
              <a:tblPr>
                <a:tableStyleId>{8799B23B-EC83-4686-B30A-512413B5E67A}</a:tableStyleId>
              </a:tblPr>
              <a:tblGrid>
                <a:gridCol w="3611411">
                  <a:extLst>
                    <a:ext uri="{9D8B030D-6E8A-4147-A177-3AD203B41FA5}">
                      <a16:colId xmlns:a16="http://schemas.microsoft.com/office/drawing/2014/main" val="954259821"/>
                    </a:ext>
                  </a:extLst>
                </a:gridCol>
                <a:gridCol w="3611411">
                  <a:extLst>
                    <a:ext uri="{9D8B030D-6E8A-4147-A177-3AD203B41FA5}">
                      <a16:colId xmlns:a16="http://schemas.microsoft.com/office/drawing/2014/main" val="1465865815"/>
                    </a:ext>
                  </a:extLst>
                </a:gridCol>
                <a:gridCol w="3611411">
                  <a:extLst>
                    <a:ext uri="{9D8B030D-6E8A-4147-A177-3AD203B41FA5}">
                      <a16:colId xmlns:a16="http://schemas.microsoft.com/office/drawing/2014/main" val="3392576665"/>
                    </a:ext>
                  </a:extLst>
                </a:gridCol>
              </a:tblGrid>
              <a:tr h="0">
                <a:tc>
                  <a:txBody>
                    <a:bodyPr/>
                    <a:lstStyle/>
                    <a:p>
                      <a:pPr algn="ctr"/>
                      <a:r>
                        <a:rPr lang="en-US" sz="2800" b="1" dirty="0"/>
                        <a:t>Feature</a:t>
                      </a:r>
                    </a:p>
                  </a:txBody>
                  <a:tcPr anchor="ctr"/>
                </a:tc>
                <a:tc>
                  <a:txBody>
                    <a:bodyPr/>
                    <a:lstStyle/>
                    <a:p>
                      <a:pPr algn="ctr"/>
                      <a:r>
                        <a:rPr lang="en-US" sz="2800" b="1" dirty="0"/>
                        <a:t>HDFS Federation</a:t>
                      </a:r>
                    </a:p>
                  </a:txBody>
                  <a:tcPr anchor="ctr"/>
                </a:tc>
                <a:tc>
                  <a:txBody>
                    <a:bodyPr/>
                    <a:lstStyle/>
                    <a:p>
                      <a:pPr algn="ctr"/>
                      <a:r>
                        <a:rPr lang="en-US" sz="2800" b="1" dirty="0"/>
                        <a:t>HDFS High Availability</a:t>
                      </a:r>
                    </a:p>
                  </a:txBody>
                  <a:tcPr anchor="ctr"/>
                </a:tc>
                <a:extLst>
                  <a:ext uri="{0D108BD9-81ED-4DB2-BD59-A6C34878D82A}">
                    <a16:rowId xmlns:a16="http://schemas.microsoft.com/office/drawing/2014/main" val="1683675972"/>
                  </a:ext>
                </a:extLst>
              </a:tr>
              <a:tr h="0">
                <a:tc>
                  <a:txBody>
                    <a:bodyPr/>
                    <a:lstStyle/>
                    <a:p>
                      <a:pPr algn="ctr"/>
                      <a:r>
                        <a:rPr lang="en-US" sz="2800" b="1"/>
                        <a:t>Purpose</a:t>
                      </a:r>
                    </a:p>
                  </a:txBody>
                  <a:tcPr anchor="ctr"/>
                </a:tc>
                <a:tc>
                  <a:txBody>
                    <a:bodyPr/>
                    <a:lstStyle/>
                    <a:p>
                      <a:r>
                        <a:rPr lang="en-US" sz="2800"/>
                        <a:t>Namespace scalability &amp; performance</a:t>
                      </a:r>
                    </a:p>
                  </a:txBody>
                  <a:tcPr anchor="ctr"/>
                </a:tc>
                <a:tc>
                  <a:txBody>
                    <a:bodyPr/>
                    <a:lstStyle/>
                    <a:p>
                      <a:r>
                        <a:rPr lang="en-US" sz="2800"/>
                        <a:t>NameNode fault tolerance &amp; uptime</a:t>
                      </a:r>
                    </a:p>
                  </a:txBody>
                  <a:tcPr anchor="ctr"/>
                </a:tc>
                <a:extLst>
                  <a:ext uri="{0D108BD9-81ED-4DB2-BD59-A6C34878D82A}">
                    <a16:rowId xmlns:a16="http://schemas.microsoft.com/office/drawing/2014/main" val="2792187146"/>
                  </a:ext>
                </a:extLst>
              </a:tr>
              <a:tr h="0">
                <a:tc>
                  <a:txBody>
                    <a:bodyPr/>
                    <a:lstStyle/>
                    <a:p>
                      <a:pPr algn="ctr"/>
                      <a:r>
                        <a:rPr lang="en-US" sz="2800" b="1"/>
                        <a:t>Number of NameNodes</a:t>
                      </a:r>
                    </a:p>
                  </a:txBody>
                  <a:tcPr anchor="ctr"/>
                </a:tc>
                <a:tc>
                  <a:txBody>
                    <a:bodyPr/>
                    <a:lstStyle/>
                    <a:p>
                      <a:r>
                        <a:rPr lang="en-US" sz="2800"/>
                        <a:t>Multiple independent</a:t>
                      </a:r>
                    </a:p>
                  </a:txBody>
                  <a:tcPr anchor="ctr"/>
                </a:tc>
                <a:tc>
                  <a:txBody>
                    <a:bodyPr/>
                    <a:lstStyle/>
                    <a:p>
                      <a:r>
                        <a:rPr lang="en-US" sz="2800"/>
                        <a:t>Two (Active + Standby)</a:t>
                      </a:r>
                    </a:p>
                  </a:txBody>
                  <a:tcPr anchor="ctr"/>
                </a:tc>
                <a:extLst>
                  <a:ext uri="{0D108BD9-81ED-4DB2-BD59-A6C34878D82A}">
                    <a16:rowId xmlns:a16="http://schemas.microsoft.com/office/drawing/2014/main" val="1907770373"/>
                  </a:ext>
                </a:extLst>
              </a:tr>
              <a:tr h="0">
                <a:tc>
                  <a:txBody>
                    <a:bodyPr/>
                    <a:lstStyle/>
                    <a:p>
                      <a:pPr algn="ctr"/>
                      <a:r>
                        <a:rPr lang="en-US" sz="2800" b="1"/>
                        <a:t>Relationship</a:t>
                      </a:r>
                    </a:p>
                  </a:txBody>
                  <a:tcPr anchor="ctr"/>
                </a:tc>
                <a:tc>
                  <a:txBody>
                    <a:bodyPr/>
                    <a:lstStyle/>
                    <a:p>
                      <a:r>
                        <a:rPr lang="en-US" sz="2800"/>
                        <a:t>Independent (no sync)</a:t>
                      </a:r>
                    </a:p>
                  </a:txBody>
                  <a:tcPr anchor="ctr"/>
                </a:tc>
                <a:tc>
                  <a:txBody>
                    <a:bodyPr/>
                    <a:lstStyle/>
                    <a:p>
                      <a:r>
                        <a:rPr lang="en-US" sz="2800"/>
                        <a:t>Synchronized metadata</a:t>
                      </a:r>
                    </a:p>
                  </a:txBody>
                  <a:tcPr anchor="ctr"/>
                </a:tc>
                <a:extLst>
                  <a:ext uri="{0D108BD9-81ED-4DB2-BD59-A6C34878D82A}">
                    <a16:rowId xmlns:a16="http://schemas.microsoft.com/office/drawing/2014/main" val="1320506025"/>
                  </a:ext>
                </a:extLst>
              </a:tr>
              <a:tr h="0">
                <a:tc>
                  <a:txBody>
                    <a:bodyPr/>
                    <a:lstStyle/>
                    <a:p>
                      <a:pPr algn="ctr"/>
                      <a:r>
                        <a:rPr lang="en-US" sz="2800" b="1"/>
                        <a:t>Failure impact</a:t>
                      </a:r>
                    </a:p>
                  </a:txBody>
                  <a:tcPr anchor="ctr"/>
                </a:tc>
                <a:tc>
                  <a:txBody>
                    <a:bodyPr/>
                    <a:lstStyle/>
                    <a:p>
                      <a:r>
                        <a:rPr lang="en-US" sz="2800"/>
                        <a:t>One NameNode fails, others continue</a:t>
                      </a:r>
                    </a:p>
                  </a:txBody>
                  <a:tcPr anchor="ctr"/>
                </a:tc>
                <a:tc>
                  <a:txBody>
                    <a:bodyPr/>
                    <a:lstStyle/>
                    <a:p>
                      <a:r>
                        <a:rPr lang="en-US" sz="2800"/>
                        <a:t>Standby takes over Active</a:t>
                      </a:r>
                    </a:p>
                  </a:txBody>
                  <a:tcPr anchor="ctr"/>
                </a:tc>
                <a:extLst>
                  <a:ext uri="{0D108BD9-81ED-4DB2-BD59-A6C34878D82A}">
                    <a16:rowId xmlns:a16="http://schemas.microsoft.com/office/drawing/2014/main" val="1987129912"/>
                  </a:ext>
                </a:extLst>
              </a:tr>
              <a:tr h="0">
                <a:tc>
                  <a:txBody>
                    <a:bodyPr/>
                    <a:lstStyle/>
                    <a:p>
                      <a:pPr algn="ctr"/>
                      <a:r>
                        <a:rPr lang="en-US" sz="2800" b="1" dirty="0"/>
                        <a:t>Namespace</a:t>
                      </a:r>
                    </a:p>
                  </a:txBody>
                  <a:tcPr anchor="ctr"/>
                </a:tc>
                <a:tc>
                  <a:txBody>
                    <a:bodyPr/>
                    <a:lstStyle/>
                    <a:p>
                      <a:r>
                        <a:rPr lang="en-US" sz="2800"/>
                        <a:t>Separate for each NameNode</a:t>
                      </a:r>
                    </a:p>
                  </a:txBody>
                  <a:tcPr anchor="ctr"/>
                </a:tc>
                <a:tc>
                  <a:txBody>
                    <a:bodyPr/>
                    <a:lstStyle/>
                    <a:p>
                      <a:r>
                        <a:rPr lang="en-US" sz="2800" dirty="0"/>
                        <a:t>Shared between Active &amp; Standby</a:t>
                      </a:r>
                    </a:p>
                  </a:txBody>
                  <a:tcPr anchor="ctr"/>
                </a:tc>
                <a:extLst>
                  <a:ext uri="{0D108BD9-81ED-4DB2-BD59-A6C34878D82A}">
                    <a16:rowId xmlns:a16="http://schemas.microsoft.com/office/drawing/2014/main" val="2645860450"/>
                  </a:ext>
                </a:extLst>
              </a:tr>
            </a:tbl>
          </a:graphicData>
        </a:graphic>
      </p:graphicFrame>
      <p:sp>
        <p:nvSpPr>
          <p:cNvPr id="5" name="Rectangle 4"/>
          <p:cNvSpPr/>
          <p:nvPr/>
        </p:nvSpPr>
        <p:spPr>
          <a:xfrm>
            <a:off x="3118685" y="283421"/>
            <a:ext cx="6180282" cy="646331"/>
          </a:xfrm>
          <a:prstGeom prst="rect">
            <a:avLst/>
          </a:prstGeom>
        </p:spPr>
        <p:txBody>
          <a:bodyPr wrap="none">
            <a:spAutoFit/>
          </a:bodyPr>
          <a:lstStyle/>
          <a:p>
            <a:r>
              <a:rPr lang="en-US" sz="3600" b="1" dirty="0">
                <a:solidFill>
                  <a:srgbClr val="C00000"/>
                </a:solidFill>
              </a:rPr>
              <a:t>Federation vs High Availability</a:t>
            </a:r>
          </a:p>
        </p:txBody>
      </p:sp>
    </p:spTree>
    <p:extLst>
      <p:ext uri="{BB962C8B-B14F-4D97-AF65-F5344CB8AC3E}">
        <p14:creationId xmlns:p14="http://schemas.microsoft.com/office/powerpoint/2010/main" val="8856599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endParaRPr lang="en-US" b="1" dirty="0"/>
          </a:p>
        </p:txBody>
      </p:sp>
      <p:sp>
        <p:nvSpPr>
          <p:cNvPr id="3" name="Content Placeholder 2"/>
          <p:cNvSpPr>
            <a:spLocks noGrp="1"/>
          </p:cNvSpPr>
          <p:nvPr>
            <p:ph idx="1"/>
          </p:nvPr>
        </p:nvSpPr>
        <p:spPr>
          <a:xfrm>
            <a:off x="1024128" y="1732547"/>
            <a:ext cx="10558272" cy="4576813"/>
          </a:xfrm>
        </p:spPr>
        <p:txBody>
          <a:bodyPr>
            <a:noAutofit/>
          </a:bodyPr>
          <a:lstStyle/>
          <a:p>
            <a:pPr marL="0" indent="0">
              <a:lnSpc>
                <a:spcPct val="100000"/>
              </a:lnSpc>
              <a:spcBef>
                <a:spcPts val="0"/>
              </a:spcBef>
              <a:spcAft>
                <a:spcPts val="0"/>
              </a:spcAft>
              <a:buNone/>
            </a:pPr>
            <a:r>
              <a:rPr lang="en-US" sz="2600" dirty="0"/>
              <a:t>A large enterprise runs an </a:t>
            </a:r>
            <a:r>
              <a:rPr lang="en-US" sz="2600" b="1" dirty="0"/>
              <a:t>HDFS cluster</a:t>
            </a:r>
            <a:r>
              <a:rPr lang="en-US" sz="2600" dirty="0"/>
              <a:t> to store data for multiple departments.</a:t>
            </a:r>
            <a:br>
              <a:rPr lang="en-US" sz="2600" dirty="0"/>
            </a:br>
            <a:r>
              <a:rPr lang="en-US" sz="2600" dirty="0"/>
              <a:t>To scale metadata management and ensure continuous availability, the cluster is configured </a:t>
            </a:r>
            <a:r>
              <a:rPr lang="en-US" sz="2600" dirty="0" smtClean="0"/>
              <a:t>with: </a:t>
            </a:r>
            <a:r>
              <a:rPr lang="en-US" sz="2600" b="1" dirty="0" smtClean="0"/>
              <a:t>HDFS Federation</a:t>
            </a:r>
            <a:r>
              <a:rPr lang="en-US" sz="2600" dirty="0" smtClean="0"/>
              <a:t>, and </a:t>
            </a:r>
            <a:r>
              <a:rPr lang="en-US" sz="2600" b="1" dirty="0" smtClean="0"/>
              <a:t>High </a:t>
            </a:r>
            <a:r>
              <a:rPr lang="en-US" sz="2600" b="1" dirty="0"/>
              <a:t>Availability (HA</a:t>
            </a:r>
            <a:r>
              <a:rPr lang="en-US" sz="2600" b="1" dirty="0" smtClean="0"/>
              <a:t>)</a:t>
            </a:r>
          </a:p>
          <a:p>
            <a:pPr marL="0" lvl="0" indent="0" eaLnBrk="0" fontAlgn="base" hangingPunct="0">
              <a:lnSpc>
                <a:spcPct val="100000"/>
              </a:lnSpc>
              <a:spcBef>
                <a:spcPts val="0"/>
              </a:spcBef>
              <a:spcAft>
                <a:spcPts val="0"/>
              </a:spcAft>
              <a:buClrTx/>
              <a:buSzTx/>
              <a:buNone/>
            </a:pPr>
            <a:r>
              <a:rPr lang="en-US" altLang="en-US" sz="2400" b="1" u="sng" dirty="0"/>
              <a:t>Cluster Configuration</a:t>
            </a:r>
          </a:p>
          <a:p>
            <a:pPr marL="0" lvl="0" indent="0" eaLnBrk="0" fontAlgn="base" hangingPunct="0">
              <a:lnSpc>
                <a:spcPct val="100000"/>
              </a:lnSpc>
              <a:spcBef>
                <a:spcPts val="0"/>
              </a:spcBef>
              <a:spcAft>
                <a:spcPts val="0"/>
              </a:spcAft>
              <a:buClrTx/>
              <a:buSzTx/>
              <a:buFontTx/>
              <a:buChar char="•"/>
            </a:pPr>
            <a:r>
              <a:rPr lang="en-US" altLang="en-US" sz="2400" dirty="0"/>
              <a:t>Total data stored: </a:t>
            </a:r>
            <a:r>
              <a:rPr lang="en-US" altLang="en-US" sz="2400" b="1" dirty="0"/>
              <a:t>12 TB</a:t>
            </a:r>
            <a:endParaRPr lang="en-US" altLang="en-US" sz="2400" dirty="0"/>
          </a:p>
          <a:p>
            <a:pPr marL="0" lvl="0" indent="0" eaLnBrk="0" fontAlgn="base" hangingPunct="0">
              <a:lnSpc>
                <a:spcPct val="100000"/>
              </a:lnSpc>
              <a:spcBef>
                <a:spcPts val="0"/>
              </a:spcBef>
              <a:spcAft>
                <a:spcPts val="0"/>
              </a:spcAft>
              <a:buClrTx/>
              <a:buSzTx/>
              <a:buFontTx/>
              <a:buChar char="•"/>
            </a:pPr>
            <a:r>
              <a:rPr lang="en-US" altLang="en-US" sz="2400" dirty="0"/>
              <a:t>HDFS block size: </a:t>
            </a:r>
            <a:r>
              <a:rPr lang="en-US" altLang="en-US" sz="2400" b="1" dirty="0"/>
              <a:t>128 MB</a:t>
            </a:r>
            <a:endParaRPr lang="en-US" altLang="en-US" sz="2400" dirty="0"/>
          </a:p>
          <a:p>
            <a:pPr marL="0" lvl="0" indent="0" eaLnBrk="0" fontAlgn="base" hangingPunct="0">
              <a:lnSpc>
                <a:spcPct val="100000"/>
              </a:lnSpc>
              <a:spcBef>
                <a:spcPts val="0"/>
              </a:spcBef>
              <a:spcAft>
                <a:spcPts val="0"/>
              </a:spcAft>
              <a:buClrTx/>
              <a:buSzTx/>
              <a:buFontTx/>
              <a:buChar char="•"/>
            </a:pPr>
            <a:r>
              <a:rPr lang="en-US" altLang="en-US" sz="2400" dirty="0"/>
              <a:t>Replication factor: </a:t>
            </a:r>
            <a:r>
              <a:rPr lang="en-US" altLang="en-US" sz="2400" b="1" dirty="0"/>
              <a:t>3</a:t>
            </a:r>
            <a:endParaRPr lang="en-US" altLang="en-US" sz="2400" dirty="0"/>
          </a:p>
          <a:p>
            <a:pPr marL="0" lvl="0" indent="0" eaLnBrk="0" fontAlgn="base" hangingPunct="0">
              <a:lnSpc>
                <a:spcPct val="100000"/>
              </a:lnSpc>
              <a:spcBef>
                <a:spcPts val="0"/>
              </a:spcBef>
              <a:spcAft>
                <a:spcPts val="0"/>
              </a:spcAft>
              <a:buClrTx/>
              <a:buSzTx/>
              <a:buFontTx/>
              <a:buChar char="•"/>
            </a:pPr>
            <a:r>
              <a:rPr lang="en-US" altLang="en-US" sz="2400" dirty="0"/>
              <a:t>Number of </a:t>
            </a:r>
            <a:r>
              <a:rPr lang="en-US" altLang="en-US" sz="2400" b="1" dirty="0" err="1"/>
              <a:t>NameNodes</a:t>
            </a:r>
            <a:r>
              <a:rPr lang="en-US" altLang="en-US" sz="2400" b="1" dirty="0"/>
              <a:t> (Federation)</a:t>
            </a:r>
            <a:r>
              <a:rPr lang="en-US" altLang="en-US" sz="2400" dirty="0"/>
              <a:t>: </a:t>
            </a:r>
            <a:r>
              <a:rPr lang="en-US" altLang="en-US" sz="2400" b="1" dirty="0"/>
              <a:t>3</a:t>
            </a:r>
            <a:endParaRPr lang="en-US" altLang="en-US" sz="2400" dirty="0"/>
          </a:p>
          <a:p>
            <a:pPr marL="457200" lvl="1" indent="0" eaLnBrk="0" fontAlgn="base" hangingPunct="0">
              <a:lnSpc>
                <a:spcPct val="100000"/>
              </a:lnSpc>
              <a:spcBef>
                <a:spcPts val="0"/>
              </a:spcBef>
              <a:spcAft>
                <a:spcPts val="0"/>
              </a:spcAft>
              <a:buClrTx/>
              <a:buFontTx/>
              <a:buChar char="•"/>
            </a:pPr>
            <a:r>
              <a:rPr lang="en-US" altLang="en-US" sz="2400" dirty="0"/>
              <a:t>NN1 → /user</a:t>
            </a:r>
          </a:p>
          <a:p>
            <a:pPr marL="457200" lvl="1" indent="0" eaLnBrk="0" fontAlgn="base" hangingPunct="0">
              <a:lnSpc>
                <a:spcPct val="100000"/>
              </a:lnSpc>
              <a:spcBef>
                <a:spcPts val="0"/>
              </a:spcBef>
              <a:spcAft>
                <a:spcPts val="0"/>
              </a:spcAft>
              <a:buClrTx/>
              <a:buFontTx/>
              <a:buChar char="•"/>
            </a:pPr>
            <a:r>
              <a:rPr lang="en-US" altLang="en-US" sz="2400" dirty="0"/>
              <a:t>NN2 → /logs</a:t>
            </a:r>
          </a:p>
          <a:p>
            <a:pPr marL="457200" lvl="1" indent="0" eaLnBrk="0" fontAlgn="base" hangingPunct="0">
              <a:lnSpc>
                <a:spcPct val="100000"/>
              </a:lnSpc>
              <a:spcBef>
                <a:spcPts val="0"/>
              </a:spcBef>
              <a:spcAft>
                <a:spcPts val="0"/>
              </a:spcAft>
              <a:buClrTx/>
              <a:buFontTx/>
              <a:buChar char="•"/>
            </a:pPr>
            <a:r>
              <a:rPr lang="en-US" altLang="en-US" sz="2400" dirty="0"/>
              <a:t>NN3 → /analytics</a:t>
            </a:r>
          </a:p>
          <a:p>
            <a:pPr marL="0" lvl="0" indent="0" eaLnBrk="0" fontAlgn="base" hangingPunct="0">
              <a:lnSpc>
                <a:spcPct val="100000"/>
              </a:lnSpc>
              <a:spcBef>
                <a:spcPts val="0"/>
              </a:spcBef>
              <a:spcAft>
                <a:spcPts val="0"/>
              </a:spcAft>
              <a:buClrTx/>
              <a:buSzTx/>
              <a:buFontTx/>
              <a:buChar char="•"/>
            </a:pPr>
            <a:r>
              <a:rPr lang="en-US" altLang="en-US" sz="2400" dirty="0"/>
              <a:t>Each namespace stores an </a:t>
            </a:r>
            <a:r>
              <a:rPr lang="en-US" altLang="en-US" sz="2400" b="1" dirty="0"/>
              <a:t>equal share of data</a:t>
            </a:r>
            <a:endParaRPr lang="en-US" altLang="en-US" sz="2400" dirty="0"/>
          </a:p>
          <a:p>
            <a:pPr marL="0" lvl="0" indent="0" eaLnBrk="0" fontAlgn="base" hangingPunct="0">
              <a:lnSpc>
                <a:spcPct val="100000"/>
              </a:lnSpc>
              <a:spcBef>
                <a:spcPts val="0"/>
              </a:spcBef>
              <a:spcAft>
                <a:spcPts val="0"/>
              </a:spcAft>
              <a:buClrTx/>
              <a:buSzTx/>
              <a:buFontTx/>
              <a:buChar char="•"/>
            </a:pPr>
            <a:r>
              <a:rPr lang="en-US" altLang="en-US" sz="2400" dirty="0"/>
              <a:t>Metadata size per block: </a:t>
            </a:r>
            <a:r>
              <a:rPr lang="en-US" altLang="en-US" sz="2400" b="1" dirty="0"/>
              <a:t>150 bytes</a:t>
            </a:r>
            <a:endParaRPr lang="en-US" altLang="en-US" sz="2400" dirty="0"/>
          </a:p>
          <a:p>
            <a:pPr marL="0" lvl="0" indent="0" eaLnBrk="0" fontAlgn="base" hangingPunct="0">
              <a:lnSpc>
                <a:spcPct val="100000"/>
              </a:lnSpc>
              <a:spcBef>
                <a:spcPts val="0"/>
              </a:spcBef>
              <a:spcAft>
                <a:spcPts val="0"/>
              </a:spcAft>
              <a:buClrTx/>
              <a:buSzTx/>
              <a:buNone/>
            </a:pPr>
            <a:endParaRPr lang="en-US" altLang="en-US" dirty="0"/>
          </a:p>
          <a:p>
            <a:pPr>
              <a:lnSpc>
                <a:spcPct val="100000"/>
              </a:lnSpc>
              <a:spcBef>
                <a:spcPts val="0"/>
              </a:spcBef>
              <a:spcAft>
                <a:spcPts val="0"/>
              </a:spcAft>
            </a:pPr>
            <a:endParaRPr lang="en-US" dirty="0"/>
          </a:p>
        </p:txBody>
      </p:sp>
    </p:spTree>
    <p:extLst>
      <p:ext uri="{BB962C8B-B14F-4D97-AF65-F5344CB8AC3E}">
        <p14:creationId xmlns:p14="http://schemas.microsoft.com/office/powerpoint/2010/main" val="184054667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endParaRPr lang="en-US" b="1" dirty="0"/>
          </a:p>
        </p:txBody>
      </p:sp>
      <p:sp>
        <p:nvSpPr>
          <p:cNvPr id="3" name="Content Placeholder 2"/>
          <p:cNvSpPr>
            <a:spLocks noGrp="1"/>
          </p:cNvSpPr>
          <p:nvPr>
            <p:ph idx="1"/>
          </p:nvPr>
        </p:nvSpPr>
        <p:spPr>
          <a:xfrm>
            <a:off x="1024128" y="1941093"/>
            <a:ext cx="10558272" cy="3481137"/>
          </a:xfrm>
        </p:spPr>
        <p:txBody>
          <a:bodyPr>
            <a:noAutofit/>
          </a:bodyPr>
          <a:lstStyle/>
          <a:p>
            <a:pPr marL="514350" indent="-514350">
              <a:lnSpc>
                <a:spcPct val="100000"/>
              </a:lnSpc>
              <a:spcBef>
                <a:spcPts val="0"/>
              </a:spcBef>
              <a:spcAft>
                <a:spcPts val="0"/>
              </a:spcAft>
              <a:buFont typeface="+mj-lt"/>
              <a:buAutoNum type="arabicPeriod"/>
            </a:pPr>
            <a:r>
              <a:rPr lang="en-US" sz="2600" dirty="0"/>
              <a:t>Calculate the total number of HDFS blocks in the cluster</a:t>
            </a:r>
          </a:p>
          <a:p>
            <a:pPr marL="514350" indent="-514350">
              <a:lnSpc>
                <a:spcPct val="100000"/>
              </a:lnSpc>
              <a:spcBef>
                <a:spcPts val="0"/>
              </a:spcBef>
              <a:spcAft>
                <a:spcPts val="0"/>
              </a:spcAft>
              <a:buFont typeface="+mj-lt"/>
              <a:buAutoNum type="arabicPeriod"/>
            </a:pPr>
            <a:r>
              <a:rPr lang="en-US" sz="2600" dirty="0"/>
              <a:t>Calculate the number of blocks managed by each </a:t>
            </a:r>
            <a:r>
              <a:rPr lang="en-US" sz="2600" dirty="0" err="1"/>
              <a:t>NameNode</a:t>
            </a:r>
            <a:endParaRPr lang="en-US" sz="2600" dirty="0"/>
          </a:p>
          <a:p>
            <a:pPr marL="514350" indent="-514350">
              <a:lnSpc>
                <a:spcPct val="100000"/>
              </a:lnSpc>
              <a:spcBef>
                <a:spcPts val="0"/>
              </a:spcBef>
              <a:spcAft>
                <a:spcPts val="0"/>
              </a:spcAft>
              <a:buFont typeface="+mj-lt"/>
              <a:buAutoNum type="arabicPeriod"/>
            </a:pPr>
            <a:r>
              <a:rPr lang="en-US" sz="2600" dirty="0"/>
              <a:t>Calculate the </a:t>
            </a:r>
            <a:r>
              <a:rPr lang="en-US" sz="2600" dirty="0" err="1"/>
              <a:t>NameNode</a:t>
            </a:r>
            <a:r>
              <a:rPr lang="en-US" sz="2600" dirty="0"/>
              <a:t> memory required per </a:t>
            </a:r>
            <a:r>
              <a:rPr lang="en-US" sz="2600" dirty="0" smtClean="0"/>
              <a:t>namespace</a:t>
            </a:r>
            <a:endParaRPr lang="en-US" sz="2600" dirty="0"/>
          </a:p>
        </p:txBody>
      </p:sp>
    </p:spTree>
    <p:extLst>
      <p:ext uri="{BB962C8B-B14F-4D97-AF65-F5344CB8AC3E}">
        <p14:creationId xmlns:p14="http://schemas.microsoft.com/office/powerpoint/2010/main" val="30990013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Performance Optimizations</a:t>
            </a:r>
            <a:r>
              <a:rPr lang="en-US" b="1" dirty="0" smtClean="0"/>
              <a:t> </a:t>
            </a:r>
            <a:endParaRPr lang="en-US" b="1" dirty="0"/>
          </a:p>
        </p:txBody>
      </p:sp>
      <p:sp>
        <p:nvSpPr>
          <p:cNvPr id="3" name="Content Placeholder 2"/>
          <p:cNvSpPr>
            <a:spLocks noGrp="1"/>
          </p:cNvSpPr>
          <p:nvPr>
            <p:ph idx="1"/>
          </p:nvPr>
        </p:nvSpPr>
        <p:spPr>
          <a:xfrm>
            <a:off x="1024128" y="2126340"/>
            <a:ext cx="10921129" cy="4023360"/>
          </a:xfrm>
        </p:spPr>
        <p:txBody>
          <a:bodyPr>
            <a:noAutofit/>
          </a:bodyPr>
          <a:lstStyle/>
          <a:p>
            <a:pPr>
              <a:lnSpc>
                <a:spcPct val="100000"/>
              </a:lnSpc>
              <a:spcBef>
                <a:spcPts val="0"/>
              </a:spcBef>
            </a:pPr>
            <a:r>
              <a:rPr lang="en-US" sz="2800" b="1" dirty="0">
                <a:solidFill>
                  <a:srgbClr val="C00000"/>
                </a:solidFill>
              </a:rPr>
              <a:t>HDFS </a:t>
            </a:r>
            <a:r>
              <a:rPr lang="en-US" sz="2800" b="1" dirty="0" smtClean="0">
                <a:solidFill>
                  <a:srgbClr val="C00000"/>
                </a:solidFill>
              </a:rPr>
              <a:t>Block Caching  </a:t>
            </a:r>
          </a:p>
          <a:p>
            <a:pPr marL="0" indent="0">
              <a:lnSpc>
                <a:spcPct val="100000"/>
              </a:lnSpc>
              <a:spcBef>
                <a:spcPts val="0"/>
              </a:spcBef>
              <a:buNone/>
            </a:pPr>
            <a:r>
              <a:rPr lang="en-US" sz="2600" dirty="0"/>
              <a:t>HDFS block caching accelerates read performance by keeping frequently accessed blocks in </a:t>
            </a:r>
            <a:r>
              <a:rPr lang="en-US" sz="2600" dirty="0" err="1"/>
              <a:t>DataNode</a:t>
            </a:r>
            <a:r>
              <a:rPr lang="en-US" sz="2600" dirty="0"/>
              <a:t> memory and scheduling computation close to cached data.</a:t>
            </a:r>
          </a:p>
          <a:p>
            <a:pPr>
              <a:lnSpc>
                <a:spcPct val="100000"/>
              </a:lnSpc>
              <a:spcBef>
                <a:spcPts val="0"/>
              </a:spcBef>
              <a:buFont typeface="Wingdings" panose="05000000000000000000" pitchFamily="2" charset="2"/>
              <a:buChar char="§"/>
            </a:pPr>
            <a:r>
              <a:rPr lang="en-US" sz="2600" dirty="0"/>
              <a:t>By default, HDFS reads data from disk, which is slower than RAM</a:t>
            </a:r>
          </a:p>
          <a:p>
            <a:pPr>
              <a:lnSpc>
                <a:spcPct val="100000"/>
              </a:lnSpc>
              <a:spcBef>
                <a:spcPts val="0"/>
              </a:spcBef>
              <a:buFont typeface="Wingdings" panose="05000000000000000000" pitchFamily="2" charset="2"/>
              <a:buChar char="§"/>
            </a:pPr>
            <a:r>
              <a:rPr lang="en-US" sz="2600" b="1" dirty="0"/>
              <a:t>Block caching stores selected HDFS blocks in </a:t>
            </a:r>
            <a:r>
              <a:rPr lang="en-US" sz="2600" b="1" dirty="0" err="1"/>
              <a:t>DataNode</a:t>
            </a:r>
            <a:r>
              <a:rPr lang="en-US" sz="2600" b="1" dirty="0"/>
              <a:t> memory</a:t>
            </a:r>
          </a:p>
          <a:p>
            <a:pPr>
              <a:lnSpc>
                <a:spcPct val="100000"/>
              </a:lnSpc>
              <a:spcBef>
                <a:spcPts val="0"/>
              </a:spcBef>
              <a:buFont typeface="Wingdings" panose="05000000000000000000" pitchFamily="2" charset="2"/>
              <a:buChar char="§"/>
            </a:pPr>
            <a:r>
              <a:rPr lang="en-US" sz="2600" dirty="0"/>
              <a:t>Used for frequently accessed (hot) data</a:t>
            </a:r>
          </a:p>
          <a:p>
            <a:pPr>
              <a:lnSpc>
                <a:spcPct val="100000"/>
              </a:lnSpc>
              <a:spcBef>
                <a:spcPts val="0"/>
              </a:spcBef>
              <a:buFont typeface="Wingdings" panose="05000000000000000000" pitchFamily="2" charset="2"/>
              <a:buChar char="§"/>
            </a:pPr>
            <a:r>
              <a:rPr lang="en-US" sz="2600" dirty="0" smtClean="0"/>
              <a:t>By </a:t>
            </a:r>
            <a:r>
              <a:rPr lang="en-US" sz="2600" dirty="0"/>
              <a:t>default, one replica per block is cached (</a:t>
            </a:r>
            <a:r>
              <a:rPr lang="en-US" sz="2600" i="1" dirty="0"/>
              <a:t>configurable</a:t>
            </a:r>
            <a:r>
              <a:rPr lang="en-US" sz="2600" dirty="0"/>
              <a:t>)</a:t>
            </a:r>
          </a:p>
          <a:p>
            <a:pPr>
              <a:lnSpc>
                <a:spcPct val="100000"/>
              </a:lnSpc>
              <a:spcBef>
                <a:spcPts val="0"/>
              </a:spcBef>
              <a:buFont typeface="Wingdings" panose="05000000000000000000" pitchFamily="2" charset="2"/>
              <a:buChar char="§"/>
            </a:pPr>
            <a:r>
              <a:rPr lang="en-US" sz="2600" dirty="0" err="1"/>
              <a:t>NameNode</a:t>
            </a:r>
            <a:r>
              <a:rPr lang="en-US" sz="2600" dirty="0"/>
              <a:t> tracks cached blocks and their </a:t>
            </a:r>
            <a:r>
              <a:rPr lang="en-US" sz="2600" dirty="0" smtClean="0"/>
              <a:t>locations</a:t>
            </a:r>
            <a:endParaRPr lang="en-US" sz="2600" dirty="0"/>
          </a:p>
        </p:txBody>
      </p:sp>
    </p:spTree>
    <p:extLst>
      <p:ext uri="{BB962C8B-B14F-4D97-AF65-F5344CB8AC3E}">
        <p14:creationId xmlns:p14="http://schemas.microsoft.com/office/powerpoint/2010/main" val="24342258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Hdfs</a:t>
            </a:r>
            <a:r>
              <a:rPr lang="en-US" b="1" dirty="0" smtClean="0"/>
              <a:t> </a:t>
            </a:r>
            <a:r>
              <a:rPr lang="en-US" b="1" dirty="0"/>
              <a:t>Performance Optimizations </a:t>
            </a:r>
          </a:p>
        </p:txBody>
      </p:sp>
      <p:sp>
        <p:nvSpPr>
          <p:cNvPr id="3" name="Content Placeholder 2"/>
          <p:cNvSpPr>
            <a:spLocks noGrp="1"/>
          </p:cNvSpPr>
          <p:nvPr>
            <p:ph idx="1"/>
          </p:nvPr>
        </p:nvSpPr>
        <p:spPr>
          <a:xfrm>
            <a:off x="1024128" y="2126340"/>
            <a:ext cx="10921129" cy="4023360"/>
          </a:xfrm>
        </p:spPr>
        <p:txBody>
          <a:bodyPr>
            <a:noAutofit/>
          </a:bodyPr>
          <a:lstStyle/>
          <a:p>
            <a:pPr>
              <a:lnSpc>
                <a:spcPct val="100000"/>
              </a:lnSpc>
              <a:spcBef>
                <a:spcPts val="0"/>
              </a:spcBef>
            </a:pPr>
            <a:r>
              <a:rPr lang="en-US" sz="2800" b="1" dirty="0">
                <a:solidFill>
                  <a:srgbClr val="C00000"/>
                </a:solidFill>
              </a:rPr>
              <a:t>HDFS </a:t>
            </a:r>
            <a:r>
              <a:rPr lang="en-US" sz="2800" b="1" dirty="0" smtClean="0">
                <a:solidFill>
                  <a:srgbClr val="C00000"/>
                </a:solidFill>
              </a:rPr>
              <a:t>Block Caching  </a:t>
            </a:r>
          </a:p>
          <a:p>
            <a:pPr>
              <a:lnSpc>
                <a:spcPct val="100000"/>
              </a:lnSpc>
              <a:spcBef>
                <a:spcPts val="0"/>
              </a:spcBef>
            </a:pPr>
            <a:r>
              <a:rPr lang="en-US" sz="2600" b="1" dirty="0"/>
              <a:t>Performance Benefits</a:t>
            </a:r>
          </a:p>
          <a:p>
            <a:pPr>
              <a:lnSpc>
                <a:spcPct val="100000"/>
              </a:lnSpc>
              <a:spcBef>
                <a:spcPts val="0"/>
              </a:spcBef>
              <a:buFont typeface="Wingdings" panose="05000000000000000000" pitchFamily="2" charset="2"/>
              <a:buChar char="§"/>
            </a:pPr>
            <a:r>
              <a:rPr lang="en-US" sz="2600" dirty="0"/>
              <a:t>Job schedulers (Spark, </a:t>
            </a:r>
            <a:r>
              <a:rPr lang="en-US" sz="2600" dirty="0" err="1"/>
              <a:t>MapReduce</a:t>
            </a:r>
            <a:r>
              <a:rPr lang="en-US" sz="2600" dirty="0"/>
              <a:t>) place tasks on </a:t>
            </a:r>
            <a:r>
              <a:rPr lang="en-US" sz="2600" b="1" dirty="0" err="1"/>
              <a:t>DataNodes</a:t>
            </a:r>
            <a:r>
              <a:rPr lang="en-US" sz="2600" b="1" dirty="0"/>
              <a:t> holding cached blocks</a:t>
            </a:r>
            <a:r>
              <a:rPr lang="en-US" sz="2600" dirty="0"/>
              <a:t>.</a:t>
            </a:r>
          </a:p>
          <a:p>
            <a:pPr>
              <a:lnSpc>
                <a:spcPct val="100000"/>
              </a:lnSpc>
              <a:spcBef>
                <a:spcPts val="0"/>
              </a:spcBef>
              <a:buFont typeface="Wingdings" panose="05000000000000000000" pitchFamily="2" charset="2"/>
              <a:buChar char="§"/>
            </a:pPr>
            <a:r>
              <a:rPr lang="en-US" sz="2600" dirty="0"/>
              <a:t>This eliminates disk I/O and reduces network usage.</a:t>
            </a:r>
          </a:p>
          <a:p>
            <a:pPr>
              <a:lnSpc>
                <a:spcPct val="100000"/>
              </a:lnSpc>
              <a:spcBef>
                <a:spcPts val="0"/>
              </a:spcBef>
              <a:buFont typeface="Wingdings" panose="05000000000000000000" pitchFamily="2" charset="2"/>
              <a:buChar char="§"/>
            </a:pPr>
            <a:r>
              <a:rPr lang="en-US" sz="2600" dirty="0"/>
              <a:t>Results in </a:t>
            </a:r>
            <a:r>
              <a:rPr lang="en-US" sz="2600" b="1" dirty="0"/>
              <a:t>significant read performance improvements</a:t>
            </a:r>
            <a:r>
              <a:rPr lang="en-US" sz="2600" dirty="0"/>
              <a:t>.</a:t>
            </a:r>
          </a:p>
          <a:p>
            <a:pPr marL="0" indent="0">
              <a:lnSpc>
                <a:spcPct val="100000"/>
              </a:lnSpc>
              <a:spcBef>
                <a:spcPts val="0"/>
              </a:spcBef>
              <a:buNone/>
            </a:pPr>
            <a:endParaRPr lang="en-US" sz="2600" dirty="0"/>
          </a:p>
        </p:txBody>
      </p:sp>
    </p:spTree>
    <p:extLst>
      <p:ext uri="{BB962C8B-B14F-4D97-AF65-F5344CB8AC3E}">
        <p14:creationId xmlns:p14="http://schemas.microsoft.com/office/powerpoint/2010/main" val="240155431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s://data-flair.training/blogs/wp-content/uploads/sites/2/2020/02/hadoop-hdfs-architecture.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75658" y="72570"/>
            <a:ext cx="9718550" cy="6734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4123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a:t>
            </a:r>
            <a:r>
              <a:rPr lang="en-US" b="1" dirty="0">
                <a:solidFill>
                  <a:srgbClr val="C00000"/>
                </a:solidFill>
              </a:rPr>
              <a:t>HDFS</a:t>
            </a:r>
            <a:r>
              <a:rPr lang="en-US" b="1" dirty="0"/>
              <a:t> Is </a:t>
            </a:r>
            <a:r>
              <a:rPr lang="en-US" b="1" i="1" dirty="0"/>
              <a:t>Not</a:t>
            </a:r>
            <a:r>
              <a:rPr lang="en-US" b="1" dirty="0"/>
              <a:t> the Right Choice</a:t>
            </a:r>
          </a:p>
        </p:txBody>
      </p:sp>
      <p:sp>
        <p:nvSpPr>
          <p:cNvPr id="3" name="Content Placeholder 2"/>
          <p:cNvSpPr>
            <a:spLocks noGrp="1"/>
          </p:cNvSpPr>
          <p:nvPr>
            <p:ph idx="1"/>
          </p:nvPr>
        </p:nvSpPr>
        <p:spPr>
          <a:xfrm>
            <a:off x="1024128" y="2286000"/>
            <a:ext cx="10587301" cy="4023360"/>
          </a:xfrm>
        </p:spPr>
        <p:txBody>
          <a:bodyPr>
            <a:noAutofit/>
          </a:bodyPr>
          <a:lstStyle/>
          <a:p>
            <a:r>
              <a:rPr lang="en-US" sz="2600" b="1" dirty="0">
                <a:solidFill>
                  <a:srgbClr val="C00000"/>
                </a:solidFill>
              </a:rPr>
              <a:t>Low-latency data access: </a:t>
            </a:r>
            <a:endParaRPr lang="en-US" sz="2600" b="1" dirty="0" smtClean="0">
              <a:solidFill>
                <a:srgbClr val="C00000"/>
              </a:solidFill>
            </a:endParaRPr>
          </a:p>
          <a:p>
            <a:r>
              <a:rPr lang="en-US" sz="2600" dirty="0" smtClean="0"/>
              <a:t>HDFS </a:t>
            </a:r>
            <a:r>
              <a:rPr lang="en-US" sz="2600" dirty="0"/>
              <a:t>is optimized for high-throughput batch reads, not millisecond-level access, making it unsuitable for real-time applications (</a:t>
            </a:r>
            <a:r>
              <a:rPr lang="en-US" sz="2600" i="1" dirty="0" err="1"/>
              <a:t>HBase</a:t>
            </a:r>
            <a:r>
              <a:rPr lang="en-US" sz="2600" i="1" dirty="0"/>
              <a:t> is a better fit</a:t>
            </a:r>
            <a:r>
              <a:rPr lang="en-US" sz="2600" dirty="0" smtClean="0"/>
              <a:t>).</a:t>
            </a:r>
          </a:p>
          <a:p>
            <a:r>
              <a:rPr lang="en-US" sz="2600" b="1" dirty="0" smtClean="0">
                <a:solidFill>
                  <a:srgbClr val="C00000"/>
                </a:solidFill>
              </a:rPr>
              <a:t>Large </a:t>
            </a:r>
            <a:r>
              <a:rPr lang="en-US" sz="2600" b="1" dirty="0">
                <a:solidFill>
                  <a:srgbClr val="C00000"/>
                </a:solidFill>
              </a:rPr>
              <a:t>numbers of small files: </a:t>
            </a:r>
            <a:endParaRPr lang="en-US" sz="2600" b="1" dirty="0" smtClean="0">
              <a:solidFill>
                <a:srgbClr val="C00000"/>
              </a:solidFill>
            </a:endParaRPr>
          </a:p>
          <a:p>
            <a:r>
              <a:rPr lang="en-US" sz="2600" dirty="0" smtClean="0"/>
              <a:t>Managing </a:t>
            </a:r>
            <a:r>
              <a:rPr lang="en-US" sz="2600" dirty="0"/>
              <a:t>millions or billions of small files overwhelms the </a:t>
            </a:r>
            <a:r>
              <a:rPr lang="en-US" sz="2600" dirty="0" err="1"/>
              <a:t>NameNode’s</a:t>
            </a:r>
            <a:r>
              <a:rPr lang="en-US" sz="2600" dirty="0"/>
              <a:t> memory, since all file metadata must be stored in RAM</a:t>
            </a:r>
            <a:r>
              <a:rPr lang="en-US" sz="2600" dirty="0" smtClean="0"/>
              <a:t>.</a:t>
            </a:r>
          </a:p>
          <a:p>
            <a:r>
              <a:rPr lang="en-US" sz="2600" b="1" dirty="0" smtClean="0">
                <a:solidFill>
                  <a:srgbClr val="C00000"/>
                </a:solidFill>
              </a:rPr>
              <a:t>Multiple </a:t>
            </a:r>
            <a:r>
              <a:rPr lang="en-US" sz="2600" b="1" dirty="0">
                <a:solidFill>
                  <a:srgbClr val="C00000"/>
                </a:solidFill>
              </a:rPr>
              <a:t>writers &amp; random updates: </a:t>
            </a:r>
            <a:endParaRPr lang="en-US" sz="2600" b="1" dirty="0" smtClean="0">
              <a:solidFill>
                <a:srgbClr val="C00000"/>
              </a:solidFill>
            </a:endParaRPr>
          </a:p>
          <a:p>
            <a:r>
              <a:rPr lang="en-US" sz="2600" dirty="0" smtClean="0"/>
              <a:t>HDFS </a:t>
            </a:r>
            <a:r>
              <a:rPr lang="en-US" sz="2600" dirty="0"/>
              <a:t>only supports single-writer, append-only files and does not allow concurrent writes or arbitrary file modifications.</a:t>
            </a:r>
          </a:p>
        </p:txBody>
      </p:sp>
    </p:spTree>
    <p:extLst>
      <p:ext uri="{BB962C8B-B14F-4D97-AF65-F5344CB8AC3E}">
        <p14:creationId xmlns:p14="http://schemas.microsoft.com/office/powerpoint/2010/main" val="205932089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12742</TotalTime>
  <Words>6062</Words>
  <Application>Microsoft Office PowerPoint</Application>
  <PresentationFormat>Widescreen</PresentationFormat>
  <Paragraphs>905</Paragraphs>
  <Slides>50</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Times New Roman</vt:lpstr>
      <vt:lpstr>Tw Cen MT</vt:lpstr>
      <vt:lpstr>Tw Cen MT Condensed</vt:lpstr>
      <vt:lpstr>Wingdings</vt:lpstr>
      <vt:lpstr>Wingdings 3</vt:lpstr>
      <vt:lpstr>Integral</vt:lpstr>
      <vt:lpstr>Hadoob Ecosystem</vt:lpstr>
      <vt:lpstr>outline</vt:lpstr>
      <vt:lpstr>Introduction</vt:lpstr>
      <vt:lpstr>Introduction</vt:lpstr>
      <vt:lpstr>Hadoob ecosystem </vt:lpstr>
      <vt:lpstr>Hadoob ecosystem components </vt:lpstr>
      <vt:lpstr>Hadoob ecosystem components </vt:lpstr>
      <vt:lpstr>Hadoob ecosystem components </vt:lpstr>
      <vt:lpstr>Hadoob ecosystem components </vt:lpstr>
      <vt:lpstr>PowerPoint Presentation</vt:lpstr>
      <vt:lpstr>Hadoop Distributed File System (HDFS)</vt:lpstr>
      <vt:lpstr>Hdfs storage concepts </vt:lpstr>
      <vt:lpstr>PowerPoint Presentation</vt:lpstr>
      <vt:lpstr>Hdfs storage concepts </vt:lpstr>
      <vt:lpstr>PowerPoint Presentation</vt:lpstr>
      <vt:lpstr>Hdfs architecture </vt:lpstr>
      <vt:lpstr>Hdfs architecture </vt:lpstr>
      <vt:lpstr>PowerPoint Presentation</vt:lpstr>
      <vt:lpstr>Heartbeats and Block Reports</vt:lpstr>
      <vt:lpstr>Heartbeats and Block Reports</vt:lpstr>
      <vt:lpstr>Hdfs architecture  </vt:lpstr>
      <vt:lpstr>Hdfs Architecture  </vt:lpstr>
      <vt:lpstr>Example </vt:lpstr>
      <vt:lpstr>Example </vt:lpstr>
      <vt:lpstr>Hdfs balancer </vt:lpstr>
      <vt:lpstr>Hdfs balancer </vt:lpstr>
      <vt:lpstr>HDFS balancer example</vt:lpstr>
      <vt:lpstr>HDFS balancer example</vt:lpstr>
      <vt:lpstr>Hdfs data flow  </vt:lpstr>
      <vt:lpstr>Hdfs data flow </vt:lpstr>
      <vt:lpstr>Hdfs data flow </vt:lpstr>
      <vt:lpstr>Hdfs Reliability &amp; Scalability </vt:lpstr>
      <vt:lpstr>Hdfs Reliability &amp; Scalability</vt:lpstr>
      <vt:lpstr>Hdfs Reliability &amp; Scalability</vt:lpstr>
      <vt:lpstr>PowerPoint Presentation</vt:lpstr>
      <vt:lpstr>Example </vt:lpstr>
      <vt:lpstr>Hdfs Reliability &amp; Scalability </vt:lpstr>
      <vt:lpstr>PowerPoint Presentation</vt:lpstr>
      <vt:lpstr>Hdfs Reliability &amp; Scalability </vt:lpstr>
      <vt:lpstr>example</vt:lpstr>
      <vt:lpstr>Hdfs Reliability &amp; Scalability </vt:lpstr>
      <vt:lpstr>Hdfs Reliability &amp; Scalability </vt:lpstr>
      <vt:lpstr>Hdfs Reliability &amp; Scalability </vt:lpstr>
      <vt:lpstr>PowerPoint Presentation</vt:lpstr>
      <vt:lpstr>Example </vt:lpstr>
      <vt:lpstr>Example </vt:lpstr>
      <vt:lpstr>Hdfs Performance Optimizations </vt:lpstr>
      <vt:lpstr>Hdfs Performance Optimizations </vt:lpstr>
      <vt:lpstr>PowerPoint Presentation</vt:lpstr>
      <vt:lpstr>When HDFS Is Not the Right Choice</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CSAI 253 – Machine Learning</dc:title>
  <dc:creator>Maher</dc:creator>
  <cp:lastModifiedBy>Mayada</cp:lastModifiedBy>
  <cp:revision>983</cp:revision>
  <dcterms:created xsi:type="dcterms:W3CDTF">2024-09-16T13:46:05Z</dcterms:created>
  <dcterms:modified xsi:type="dcterms:W3CDTF">2026-03-01T07:14:42Z</dcterms:modified>
</cp:coreProperties>
</file>